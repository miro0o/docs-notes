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9" r:id="rId2"/>
  </p:sldMasterIdLst>
  <p:notesMasterIdLst>
    <p:notesMasterId r:id="rId52"/>
  </p:notesMasterIdLst>
  <p:sldIdLst>
    <p:sldId id="257" r:id="rId3"/>
    <p:sldId id="344" r:id="rId4"/>
    <p:sldId id="258" r:id="rId5"/>
    <p:sldId id="386" r:id="rId6"/>
    <p:sldId id="259" r:id="rId7"/>
    <p:sldId id="260" r:id="rId8"/>
    <p:sldId id="261" r:id="rId9"/>
    <p:sldId id="262" r:id="rId10"/>
    <p:sldId id="263" r:id="rId11"/>
    <p:sldId id="264" r:id="rId12"/>
    <p:sldId id="265" r:id="rId13"/>
    <p:sldId id="266" r:id="rId14"/>
    <p:sldId id="339" r:id="rId15"/>
    <p:sldId id="271" r:id="rId16"/>
    <p:sldId id="388" r:id="rId17"/>
    <p:sldId id="268" r:id="rId18"/>
    <p:sldId id="269" r:id="rId19"/>
    <p:sldId id="270" r:id="rId20"/>
    <p:sldId id="277" r:id="rId21"/>
    <p:sldId id="389" r:id="rId22"/>
    <p:sldId id="390" r:id="rId23"/>
    <p:sldId id="278" r:id="rId24"/>
    <p:sldId id="345" r:id="rId25"/>
    <p:sldId id="279" r:id="rId26"/>
    <p:sldId id="281" r:id="rId27"/>
    <p:sldId id="340" r:id="rId28"/>
    <p:sldId id="283" r:id="rId29"/>
    <p:sldId id="391" r:id="rId30"/>
    <p:sldId id="346" r:id="rId31"/>
    <p:sldId id="392" r:id="rId32"/>
    <p:sldId id="285" r:id="rId33"/>
    <p:sldId id="286" r:id="rId34"/>
    <p:sldId id="287" r:id="rId35"/>
    <p:sldId id="289" r:id="rId36"/>
    <p:sldId id="290" r:id="rId37"/>
    <p:sldId id="291" r:id="rId38"/>
    <p:sldId id="347" r:id="rId39"/>
    <p:sldId id="348" r:id="rId40"/>
    <p:sldId id="349" r:id="rId41"/>
    <p:sldId id="350" r:id="rId42"/>
    <p:sldId id="351" r:id="rId43"/>
    <p:sldId id="292" r:id="rId44"/>
    <p:sldId id="293" r:id="rId45"/>
    <p:sldId id="354" r:id="rId46"/>
    <p:sldId id="294" r:id="rId47"/>
    <p:sldId id="352" r:id="rId48"/>
    <p:sldId id="353" r:id="rId49"/>
    <p:sldId id="295" r:id="rId50"/>
    <p:sldId id="296" r:id="rId5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0">
          <p15:clr>
            <a:srgbClr val="A4A3A4"/>
          </p15:clr>
        </p15:guide>
        <p15:guide id="2" pos="518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Joseph Hellerstein"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autoAdjust="0"/>
    <p:restoredTop sz="86377" autoAdjust="0"/>
  </p:normalViewPr>
  <p:slideViewPr>
    <p:cSldViewPr>
      <p:cViewPr varScale="1">
        <p:scale>
          <a:sx n="82" d="100"/>
          <a:sy n="82" d="100"/>
        </p:scale>
        <p:origin x="176" y="976"/>
      </p:cViewPr>
      <p:guideLst>
        <p:guide orient="horz" pos="2700"/>
        <p:guide pos="5184"/>
      </p:guideLst>
    </p:cSldViewPr>
  </p:slideViewPr>
  <p:outlineViewPr>
    <p:cViewPr>
      <p:scale>
        <a:sx n="33" d="100"/>
        <a:sy n="33" d="100"/>
      </p:scale>
      <p:origin x="0" y="-65544"/>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E7B2F-76B0-4CCC-83FA-00CA85CD8DA2}" type="datetimeFigureOut">
              <a:rPr lang="en-US" smtClean="0"/>
              <a:t>11/6/18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DA6495-08A5-4780-AF01-64577BB694EC}" type="slidenum">
              <a:rPr lang="en-US" smtClean="0"/>
              <a:t>‹#›</a:t>
            </a:fld>
            <a:endParaRPr lang="en-US"/>
          </a:p>
        </p:txBody>
      </p:sp>
    </p:spTree>
    <p:extLst>
      <p:ext uri="{BB962C8B-B14F-4D97-AF65-F5344CB8AC3E}">
        <p14:creationId xmlns:p14="http://schemas.microsoft.com/office/powerpoint/2010/main" val="159869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65200">
              <a:defRPr sz="1200">
                <a:solidFill>
                  <a:srgbClr val="CF0E30"/>
                </a:solidFill>
                <a:latin typeface="Book Antiqua" charset="0"/>
                <a:ea typeface="Osaka" charset="-128"/>
              </a:defRPr>
            </a:lvl1pPr>
            <a:lvl2pPr marL="742950" indent="-285750" defTabSz="965200">
              <a:defRPr sz="1200">
                <a:solidFill>
                  <a:srgbClr val="CF0E30"/>
                </a:solidFill>
                <a:latin typeface="Book Antiqua" charset="0"/>
                <a:ea typeface="Osaka" charset="-128"/>
              </a:defRPr>
            </a:lvl2pPr>
            <a:lvl3pPr marL="1143000" indent="-228600" defTabSz="965200">
              <a:defRPr sz="1200">
                <a:solidFill>
                  <a:srgbClr val="CF0E30"/>
                </a:solidFill>
                <a:latin typeface="Book Antiqua" charset="0"/>
                <a:ea typeface="Osaka" charset="-128"/>
              </a:defRPr>
            </a:lvl3pPr>
            <a:lvl4pPr marL="1600200" indent="-228600" defTabSz="965200">
              <a:defRPr sz="1200">
                <a:solidFill>
                  <a:srgbClr val="CF0E30"/>
                </a:solidFill>
                <a:latin typeface="Book Antiqua" charset="0"/>
                <a:ea typeface="Osaka" charset="-128"/>
              </a:defRPr>
            </a:lvl4pPr>
            <a:lvl5pPr marL="2057400" indent="-228600" defTabSz="965200">
              <a:defRPr sz="1200">
                <a:solidFill>
                  <a:srgbClr val="CF0E30"/>
                </a:solidFill>
                <a:latin typeface="Book Antiqua" charset="0"/>
                <a:ea typeface="Osaka" charset="-128"/>
              </a:defRPr>
            </a:lvl5pPr>
            <a:lvl6pPr marL="2514600" indent="-228600" defTabSz="965200" eaLnBrk="0" fontAlgn="base" hangingPunct="0">
              <a:spcBef>
                <a:spcPct val="0"/>
              </a:spcBef>
              <a:spcAft>
                <a:spcPct val="0"/>
              </a:spcAft>
              <a:defRPr sz="1200">
                <a:solidFill>
                  <a:srgbClr val="CF0E30"/>
                </a:solidFill>
                <a:latin typeface="Book Antiqua" charset="0"/>
                <a:ea typeface="Osaka" charset="-128"/>
              </a:defRPr>
            </a:lvl6pPr>
            <a:lvl7pPr marL="2971800" indent="-228600" defTabSz="965200" eaLnBrk="0" fontAlgn="base" hangingPunct="0">
              <a:spcBef>
                <a:spcPct val="0"/>
              </a:spcBef>
              <a:spcAft>
                <a:spcPct val="0"/>
              </a:spcAft>
              <a:defRPr sz="1200">
                <a:solidFill>
                  <a:srgbClr val="CF0E30"/>
                </a:solidFill>
                <a:latin typeface="Book Antiqua" charset="0"/>
                <a:ea typeface="Osaka" charset="-128"/>
              </a:defRPr>
            </a:lvl7pPr>
            <a:lvl8pPr marL="3429000" indent="-228600" defTabSz="965200" eaLnBrk="0" fontAlgn="base" hangingPunct="0">
              <a:spcBef>
                <a:spcPct val="0"/>
              </a:spcBef>
              <a:spcAft>
                <a:spcPct val="0"/>
              </a:spcAft>
              <a:defRPr sz="1200">
                <a:solidFill>
                  <a:srgbClr val="CF0E30"/>
                </a:solidFill>
                <a:latin typeface="Book Antiqua" charset="0"/>
                <a:ea typeface="Osaka" charset="-128"/>
              </a:defRPr>
            </a:lvl8pPr>
            <a:lvl9pPr marL="3886200" indent="-228600" defTabSz="965200" eaLnBrk="0" fontAlgn="base" hangingPunct="0">
              <a:spcBef>
                <a:spcPct val="0"/>
              </a:spcBef>
              <a:spcAft>
                <a:spcPct val="0"/>
              </a:spcAft>
              <a:defRPr sz="1200">
                <a:solidFill>
                  <a:srgbClr val="CF0E30"/>
                </a:solidFill>
                <a:latin typeface="Book Antiqua" charset="0"/>
                <a:ea typeface="Osaka" charset="-128"/>
              </a:defRPr>
            </a:lvl9pPr>
          </a:lstStyle>
          <a:p>
            <a:fld id="{224305B6-CF60-844B-A029-5CD3ABCFE7E0}" type="slidenum">
              <a:rPr lang="en-US" altLang="en-US" sz="1300"/>
              <a:pPr/>
              <a:t>1</a:t>
            </a:fld>
            <a:endParaRPr lang="en-US" altLang="en-US" sz="1300"/>
          </a:p>
        </p:txBody>
      </p:sp>
    </p:spTree>
    <p:extLst>
      <p:ext uri="{BB962C8B-B14F-4D97-AF65-F5344CB8AC3E}">
        <p14:creationId xmlns:p14="http://schemas.microsoft.com/office/powerpoint/2010/main" val="211524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301746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212141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149074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5</a:t>
            </a:fld>
            <a:endParaRPr lang="en-US" dirty="0"/>
          </a:p>
        </p:txBody>
      </p:sp>
    </p:spTree>
    <p:extLst>
      <p:ext uri="{BB962C8B-B14F-4D97-AF65-F5344CB8AC3E}">
        <p14:creationId xmlns:p14="http://schemas.microsoft.com/office/powerpoint/2010/main" val="70707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6</a:t>
            </a:fld>
            <a:endParaRPr lang="en-US" dirty="0"/>
          </a:p>
        </p:txBody>
      </p:sp>
    </p:spTree>
    <p:extLst>
      <p:ext uri="{BB962C8B-B14F-4D97-AF65-F5344CB8AC3E}">
        <p14:creationId xmlns:p14="http://schemas.microsoft.com/office/powerpoint/2010/main" val="1998251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7</a:t>
            </a:fld>
            <a:endParaRPr lang="en-US" dirty="0"/>
          </a:p>
        </p:txBody>
      </p:sp>
    </p:spTree>
    <p:extLst>
      <p:ext uri="{BB962C8B-B14F-4D97-AF65-F5344CB8AC3E}">
        <p14:creationId xmlns:p14="http://schemas.microsoft.com/office/powerpoint/2010/main" val="273094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8</a:t>
            </a:fld>
            <a:endParaRPr lang="en-US" dirty="0"/>
          </a:p>
        </p:txBody>
      </p:sp>
    </p:spTree>
    <p:extLst>
      <p:ext uri="{BB962C8B-B14F-4D97-AF65-F5344CB8AC3E}">
        <p14:creationId xmlns:p14="http://schemas.microsoft.com/office/powerpoint/2010/main" val="973797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9</a:t>
            </a:fld>
            <a:endParaRPr lang="en-US" dirty="0"/>
          </a:p>
        </p:txBody>
      </p:sp>
    </p:spTree>
    <p:extLst>
      <p:ext uri="{BB962C8B-B14F-4D97-AF65-F5344CB8AC3E}">
        <p14:creationId xmlns:p14="http://schemas.microsoft.com/office/powerpoint/2010/main" val="957950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10</a:t>
            </a:fld>
            <a:endParaRPr lang="en-US" dirty="0"/>
          </a:p>
        </p:txBody>
      </p:sp>
    </p:spTree>
    <p:extLst>
      <p:ext uri="{BB962C8B-B14F-4D97-AF65-F5344CB8AC3E}">
        <p14:creationId xmlns:p14="http://schemas.microsoft.com/office/powerpoint/2010/main" val="2501458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11</a:t>
            </a:fld>
            <a:endParaRPr lang="en-US" dirty="0"/>
          </a:p>
        </p:txBody>
      </p:sp>
    </p:spTree>
    <p:extLst>
      <p:ext uri="{BB962C8B-B14F-4D97-AF65-F5344CB8AC3E}">
        <p14:creationId xmlns:p14="http://schemas.microsoft.com/office/powerpoint/2010/main" val="814936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12</a:t>
            </a:fld>
            <a:endParaRPr lang="en-US" dirty="0"/>
          </a:p>
        </p:txBody>
      </p:sp>
    </p:spTree>
    <p:extLst>
      <p:ext uri="{BB962C8B-B14F-4D97-AF65-F5344CB8AC3E}">
        <p14:creationId xmlns:p14="http://schemas.microsoft.com/office/powerpoint/2010/main" val="1614573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14</a:t>
            </a:fld>
            <a:endParaRPr lang="en-US" dirty="0"/>
          </a:p>
        </p:txBody>
      </p:sp>
    </p:spTree>
    <p:extLst>
      <p:ext uri="{BB962C8B-B14F-4D97-AF65-F5344CB8AC3E}">
        <p14:creationId xmlns:p14="http://schemas.microsoft.com/office/powerpoint/2010/main" val="2467068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15</a:t>
            </a:fld>
            <a:endParaRPr lang="en-US" dirty="0"/>
          </a:p>
        </p:txBody>
      </p:sp>
    </p:spTree>
    <p:extLst>
      <p:ext uri="{BB962C8B-B14F-4D97-AF65-F5344CB8AC3E}">
        <p14:creationId xmlns:p14="http://schemas.microsoft.com/office/powerpoint/2010/main" val="726845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16</a:t>
            </a:fld>
            <a:endParaRPr lang="en-US" dirty="0"/>
          </a:p>
        </p:txBody>
      </p:sp>
    </p:spTree>
    <p:extLst>
      <p:ext uri="{BB962C8B-B14F-4D97-AF65-F5344CB8AC3E}">
        <p14:creationId xmlns:p14="http://schemas.microsoft.com/office/powerpoint/2010/main" val="3500700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17</a:t>
            </a:fld>
            <a:endParaRPr lang="en-US" dirty="0"/>
          </a:p>
        </p:txBody>
      </p:sp>
    </p:spTree>
    <p:extLst>
      <p:ext uri="{BB962C8B-B14F-4D97-AF65-F5344CB8AC3E}">
        <p14:creationId xmlns:p14="http://schemas.microsoft.com/office/powerpoint/2010/main" val="3284388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18</a:t>
            </a:fld>
            <a:endParaRPr lang="en-US" dirty="0"/>
          </a:p>
        </p:txBody>
      </p:sp>
    </p:spTree>
    <p:extLst>
      <p:ext uri="{BB962C8B-B14F-4D97-AF65-F5344CB8AC3E}">
        <p14:creationId xmlns:p14="http://schemas.microsoft.com/office/powerpoint/2010/main" val="2973806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19</a:t>
            </a:fld>
            <a:endParaRPr lang="en-US" dirty="0"/>
          </a:p>
        </p:txBody>
      </p:sp>
    </p:spTree>
    <p:extLst>
      <p:ext uri="{BB962C8B-B14F-4D97-AF65-F5344CB8AC3E}">
        <p14:creationId xmlns:p14="http://schemas.microsoft.com/office/powerpoint/2010/main" val="3526936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20</a:t>
            </a:fld>
            <a:endParaRPr lang="en-US" dirty="0"/>
          </a:p>
        </p:txBody>
      </p:sp>
    </p:spTree>
    <p:extLst>
      <p:ext uri="{BB962C8B-B14F-4D97-AF65-F5344CB8AC3E}">
        <p14:creationId xmlns:p14="http://schemas.microsoft.com/office/powerpoint/2010/main" val="269608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21</a:t>
            </a:fld>
            <a:endParaRPr lang="en-US" dirty="0"/>
          </a:p>
        </p:txBody>
      </p:sp>
    </p:spTree>
    <p:extLst>
      <p:ext uri="{BB962C8B-B14F-4D97-AF65-F5344CB8AC3E}">
        <p14:creationId xmlns:p14="http://schemas.microsoft.com/office/powerpoint/2010/main" val="900570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22</a:t>
            </a:fld>
            <a:endParaRPr lang="en-US" dirty="0"/>
          </a:p>
        </p:txBody>
      </p:sp>
    </p:spTree>
    <p:extLst>
      <p:ext uri="{BB962C8B-B14F-4D97-AF65-F5344CB8AC3E}">
        <p14:creationId xmlns:p14="http://schemas.microsoft.com/office/powerpoint/2010/main" val="2312365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23</a:t>
            </a:fld>
            <a:endParaRPr lang="en-US" dirty="0"/>
          </a:p>
        </p:txBody>
      </p:sp>
    </p:spTree>
    <p:extLst>
      <p:ext uri="{BB962C8B-B14F-4D97-AF65-F5344CB8AC3E}">
        <p14:creationId xmlns:p14="http://schemas.microsoft.com/office/powerpoint/2010/main" val="3753552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24</a:t>
            </a:fld>
            <a:endParaRPr lang="en-US" dirty="0"/>
          </a:p>
        </p:txBody>
      </p:sp>
    </p:spTree>
    <p:extLst>
      <p:ext uri="{BB962C8B-B14F-4D97-AF65-F5344CB8AC3E}">
        <p14:creationId xmlns:p14="http://schemas.microsoft.com/office/powerpoint/2010/main" val="418180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25</a:t>
            </a:fld>
            <a:endParaRPr lang="en-US" dirty="0"/>
          </a:p>
        </p:txBody>
      </p:sp>
    </p:spTree>
    <p:extLst>
      <p:ext uri="{BB962C8B-B14F-4D97-AF65-F5344CB8AC3E}">
        <p14:creationId xmlns:p14="http://schemas.microsoft.com/office/powerpoint/2010/main" val="16528318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27</a:t>
            </a:fld>
            <a:endParaRPr lang="en-US" dirty="0"/>
          </a:p>
        </p:txBody>
      </p:sp>
    </p:spTree>
    <p:extLst>
      <p:ext uri="{BB962C8B-B14F-4D97-AF65-F5344CB8AC3E}">
        <p14:creationId xmlns:p14="http://schemas.microsoft.com/office/powerpoint/2010/main" val="20360536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31</a:t>
            </a:fld>
            <a:endParaRPr lang="en-US" dirty="0"/>
          </a:p>
        </p:txBody>
      </p:sp>
    </p:spTree>
    <p:extLst>
      <p:ext uri="{BB962C8B-B14F-4D97-AF65-F5344CB8AC3E}">
        <p14:creationId xmlns:p14="http://schemas.microsoft.com/office/powerpoint/2010/main" val="3710215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32</a:t>
            </a:fld>
            <a:endParaRPr lang="en-US" dirty="0"/>
          </a:p>
        </p:txBody>
      </p:sp>
    </p:spTree>
    <p:extLst>
      <p:ext uri="{BB962C8B-B14F-4D97-AF65-F5344CB8AC3E}">
        <p14:creationId xmlns:p14="http://schemas.microsoft.com/office/powerpoint/2010/main" val="1563572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33</a:t>
            </a:fld>
            <a:endParaRPr lang="en-US" dirty="0"/>
          </a:p>
        </p:txBody>
      </p:sp>
    </p:spTree>
    <p:extLst>
      <p:ext uri="{BB962C8B-B14F-4D97-AF65-F5344CB8AC3E}">
        <p14:creationId xmlns:p14="http://schemas.microsoft.com/office/powerpoint/2010/main" val="1553905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34</a:t>
            </a:fld>
            <a:endParaRPr lang="en-US" dirty="0"/>
          </a:p>
        </p:txBody>
      </p:sp>
    </p:spTree>
    <p:extLst>
      <p:ext uri="{BB962C8B-B14F-4D97-AF65-F5344CB8AC3E}">
        <p14:creationId xmlns:p14="http://schemas.microsoft.com/office/powerpoint/2010/main" val="3502368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35</a:t>
            </a:fld>
            <a:endParaRPr lang="en-US" dirty="0"/>
          </a:p>
        </p:txBody>
      </p:sp>
    </p:spTree>
    <p:extLst>
      <p:ext uri="{BB962C8B-B14F-4D97-AF65-F5344CB8AC3E}">
        <p14:creationId xmlns:p14="http://schemas.microsoft.com/office/powerpoint/2010/main" val="282122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36</a:t>
            </a:fld>
            <a:endParaRPr lang="en-US" dirty="0"/>
          </a:p>
        </p:txBody>
      </p:sp>
    </p:spTree>
    <p:extLst>
      <p:ext uri="{BB962C8B-B14F-4D97-AF65-F5344CB8AC3E}">
        <p14:creationId xmlns:p14="http://schemas.microsoft.com/office/powerpoint/2010/main" val="38131337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37</a:t>
            </a:fld>
            <a:endParaRPr lang="en-US" dirty="0"/>
          </a:p>
        </p:txBody>
      </p:sp>
    </p:spTree>
    <p:extLst>
      <p:ext uri="{BB962C8B-B14F-4D97-AF65-F5344CB8AC3E}">
        <p14:creationId xmlns:p14="http://schemas.microsoft.com/office/powerpoint/2010/main" val="3285150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38</a:t>
            </a:fld>
            <a:endParaRPr lang="en-US" dirty="0"/>
          </a:p>
        </p:txBody>
      </p:sp>
    </p:spTree>
    <p:extLst>
      <p:ext uri="{BB962C8B-B14F-4D97-AF65-F5344CB8AC3E}">
        <p14:creationId xmlns:p14="http://schemas.microsoft.com/office/powerpoint/2010/main" val="39553540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39</a:t>
            </a:fld>
            <a:endParaRPr lang="en-US" dirty="0"/>
          </a:p>
        </p:txBody>
      </p:sp>
    </p:spTree>
    <p:extLst>
      <p:ext uri="{BB962C8B-B14F-4D97-AF65-F5344CB8AC3E}">
        <p14:creationId xmlns:p14="http://schemas.microsoft.com/office/powerpoint/2010/main" val="17025564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40</a:t>
            </a:fld>
            <a:endParaRPr lang="en-US" dirty="0"/>
          </a:p>
        </p:txBody>
      </p:sp>
    </p:spTree>
    <p:extLst>
      <p:ext uri="{BB962C8B-B14F-4D97-AF65-F5344CB8AC3E}">
        <p14:creationId xmlns:p14="http://schemas.microsoft.com/office/powerpoint/2010/main" val="8239787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41</a:t>
            </a:fld>
            <a:endParaRPr lang="en-US" dirty="0"/>
          </a:p>
        </p:txBody>
      </p:sp>
    </p:spTree>
    <p:extLst>
      <p:ext uri="{BB962C8B-B14F-4D97-AF65-F5344CB8AC3E}">
        <p14:creationId xmlns:p14="http://schemas.microsoft.com/office/powerpoint/2010/main" val="17924437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42</a:t>
            </a:fld>
            <a:endParaRPr lang="en-US" dirty="0"/>
          </a:p>
        </p:txBody>
      </p:sp>
    </p:spTree>
    <p:extLst>
      <p:ext uri="{BB962C8B-B14F-4D97-AF65-F5344CB8AC3E}">
        <p14:creationId xmlns:p14="http://schemas.microsoft.com/office/powerpoint/2010/main" val="29483116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43</a:t>
            </a:fld>
            <a:endParaRPr lang="en-US" dirty="0"/>
          </a:p>
        </p:txBody>
      </p:sp>
    </p:spTree>
    <p:extLst>
      <p:ext uri="{BB962C8B-B14F-4D97-AF65-F5344CB8AC3E}">
        <p14:creationId xmlns:p14="http://schemas.microsoft.com/office/powerpoint/2010/main" val="639395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44</a:t>
            </a:fld>
            <a:endParaRPr lang="en-US" dirty="0"/>
          </a:p>
        </p:txBody>
      </p:sp>
    </p:spTree>
    <p:extLst>
      <p:ext uri="{BB962C8B-B14F-4D97-AF65-F5344CB8AC3E}">
        <p14:creationId xmlns:p14="http://schemas.microsoft.com/office/powerpoint/2010/main" val="23168525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45</a:t>
            </a:fld>
            <a:endParaRPr lang="en-US" dirty="0"/>
          </a:p>
        </p:txBody>
      </p:sp>
    </p:spTree>
    <p:extLst>
      <p:ext uri="{BB962C8B-B14F-4D97-AF65-F5344CB8AC3E}">
        <p14:creationId xmlns:p14="http://schemas.microsoft.com/office/powerpoint/2010/main" val="23024962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46</a:t>
            </a:fld>
            <a:endParaRPr lang="en-US" dirty="0"/>
          </a:p>
        </p:txBody>
      </p:sp>
    </p:spTree>
    <p:extLst>
      <p:ext uri="{BB962C8B-B14F-4D97-AF65-F5344CB8AC3E}">
        <p14:creationId xmlns:p14="http://schemas.microsoft.com/office/powerpoint/2010/main" val="41049410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47</a:t>
            </a:fld>
            <a:endParaRPr lang="en-US" dirty="0"/>
          </a:p>
        </p:txBody>
      </p:sp>
    </p:spTree>
    <p:extLst>
      <p:ext uri="{BB962C8B-B14F-4D97-AF65-F5344CB8AC3E}">
        <p14:creationId xmlns:p14="http://schemas.microsoft.com/office/powerpoint/2010/main" val="37934338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48</a:t>
            </a:fld>
            <a:endParaRPr lang="en-US" dirty="0"/>
          </a:p>
        </p:txBody>
      </p:sp>
    </p:spTree>
    <p:extLst>
      <p:ext uri="{BB962C8B-B14F-4D97-AF65-F5344CB8AC3E}">
        <p14:creationId xmlns:p14="http://schemas.microsoft.com/office/powerpoint/2010/main" val="22501974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49</a:t>
            </a:fld>
            <a:endParaRPr lang="en-US" dirty="0"/>
          </a:p>
        </p:txBody>
      </p:sp>
    </p:spTree>
    <p:extLst>
      <p:ext uri="{BB962C8B-B14F-4D97-AF65-F5344CB8AC3E}">
        <p14:creationId xmlns:p14="http://schemas.microsoft.com/office/powerpoint/2010/main" val="10885908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Cover">
    <p:spTree>
      <p:nvGrpSpPr>
        <p:cNvPr id="1" name=""/>
        <p:cNvGrpSpPr/>
        <p:nvPr/>
      </p:nvGrpSpPr>
      <p:grpSpPr>
        <a:xfrm>
          <a:off x="0" y="0"/>
          <a:ext cx="0" cy="0"/>
          <a:chOff x="0" y="0"/>
          <a:chExt cx="0" cy="0"/>
        </a:xfrm>
      </p:grpSpPr>
      <p:sp>
        <p:nvSpPr>
          <p:cNvPr id="15" name="Title 1"/>
          <p:cNvSpPr>
            <a:spLocks noGrp="1"/>
          </p:cNvSpPr>
          <p:nvPr>
            <p:ph type="title"/>
          </p:nvPr>
        </p:nvSpPr>
        <p:spPr>
          <a:xfrm>
            <a:off x="246888" y="971550"/>
            <a:ext cx="6629400" cy="1600200"/>
          </a:xfrm>
        </p:spPr>
        <p:txBody>
          <a:bodyPr anchor="t">
            <a:normAutofit/>
          </a:bodyPr>
          <a:lstStyle>
            <a:lvl1pPr algn="l">
              <a:defRPr sz="4400" b="1" baseline="0">
                <a:solidFill>
                  <a:schemeClr val="tx1"/>
                </a:solidFill>
                <a:latin typeface="Helvetica Neue" charset="0"/>
                <a:cs typeface="Helvetica" panose="020B0604020202020204" pitchFamily="34" charset="0"/>
              </a:defRPr>
            </a:lvl1pPr>
          </a:lstStyle>
          <a:p>
            <a:r>
              <a:rPr lang="en-US"/>
              <a:t>Click to edit Master title style</a:t>
            </a:r>
            <a:endParaRPr lang="en-US" dirty="0"/>
          </a:p>
        </p:txBody>
      </p:sp>
      <p:sp>
        <p:nvSpPr>
          <p:cNvPr id="10" name="Content Placeholder 1"/>
          <p:cNvSpPr>
            <a:spLocks noGrp="1"/>
          </p:cNvSpPr>
          <p:nvPr>
            <p:ph sz="quarter" idx="10" hasCustomPrompt="1"/>
          </p:nvPr>
        </p:nvSpPr>
        <p:spPr>
          <a:xfrm>
            <a:off x="246888" y="2771486"/>
            <a:ext cx="5437632" cy="1565401"/>
          </a:xfrm>
        </p:spPr>
        <p:txBody>
          <a:bodyPr>
            <a:noAutofit/>
          </a:bodyPr>
          <a:lstStyle>
            <a:lvl1pPr marL="0" indent="0" algn="r">
              <a:buNone/>
              <a:defRPr sz="2800" baseline="0">
                <a:solidFill>
                  <a:sysClr val="windowText" lastClr="000000"/>
                </a:solidFill>
                <a:latin typeface="Helvetica Neue" charset="0"/>
              </a:defRPr>
            </a:lvl1pPr>
          </a:lstStyle>
          <a:p>
            <a:pPr lvl="0"/>
            <a:r>
              <a:rPr lang="en-US" dirty="0"/>
              <a:t>Lecture Name</a:t>
            </a:r>
          </a:p>
        </p:txBody>
      </p:sp>
      <p:pic>
        <p:nvPicPr>
          <p:cNvPr id="6" name="Shape 15" descr="skitched-3-4.jpg"/>
          <p:cNvPicPr preferRelativeResize="0"/>
          <p:nvPr userDrawn="1"/>
        </p:nvPicPr>
        <p:blipFill rotWithShape="1">
          <a:blip r:embed="rId2">
            <a:alphaModFix/>
          </a:blip>
          <a:srcRect/>
          <a:stretch/>
        </p:blipFill>
        <p:spPr>
          <a:xfrm>
            <a:off x="5791200" y="3257550"/>
            <a:ext cx="3132137" cy="1727200"/>
          </a:xfrm>
          <a:prstGeom prst="rect">
            <a:avLst/>
          </a:prstGeom>
          <a:noFill/>
          <a:ln>
            <a:noFill/>
          </a:ln>
        </p:spPr>
      </p:pic>
    </p:spTree>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lined Cover">
    <p:bg>
      <p:bgPr>
        <a:solidFill>
          <a:schemeClr val="bg1"/>
        </a:solidFill>
        <a:effectLst/>
      </p:bgPr>
    </p:bg>
    <p:spTree>
      <p:nvGrpSpPr>
        <p:cNvPr id="1" name=""/>
        <p:cNvGrpSpPr/>
        <p:nvPr/>
      </p:nvGrpSpPr>
      <p:grpSpPr>
        <a:xfrm>
          <a:off x="0" y="0"/>
          <a:ext cx="0" cy="0"/>
          <a:chOff x="0" y="0"/>
          <a:chExt cx="0" cy="0"/>
        </a:xfrm>
      </p:grpSpPr>
      <p:sp>
        <p:nvSpPr>
          <p:cNvPr id="15" name="Title 1"/>
          <p:cNvSpPr>
            <a:spLocks noGrp="1"/>
          </p:cNvSpPr>
          <p:nvPr>
            <p:ph type="title"/>
          </p:nvPr>
        </p:nvSpPr>
        <p:spPr>
          <a:xfrm>
            <a:off x="246888" y="285750"/>
            <a:ext cx="6534912" cy="1340358"/>
          </a:xfrm>
        </p:spPr>
        <p:txBody>
          <a:bodyPr anchor="t">
            <a:noAutofit/>
          </a:bodyPr>
          <a:lstStyle>
            <a:lvl1pPr algn="l">
              <a:defRPr sz="4400" b="1" baseline="0">
                <a:solidFill>
                  <a:schemeClr val="tx1"/>
                </a:solidFill>
                <a:latin typeface="Helvetica Neue" charset="0"/>
                <a:cs typeface="Helvetica" panose="020B0604020202020204" pitchFamily="34" charset="0"/>
              </a:defRPr>
            </a:lvl1pPr>
          </a:lstStyle>
          <a:p>
            <a:r>
              <a:rPr lang="en-US"/>
              <a:t>Click to edit Master title style</a:t>
            </a:r>
            <a:endParaRPr lang="en-US" dirty="0"/>
          </a:p>
        </p:txBody>
      </p:sp>
      <p:sp>
        <p:nvSpPr>
          <p:cNvPr id="10" name="Content Placeholder 1"/>
          <p:cNvSpPr>
            <a:spLocks noGrp="1"/>
          </p:cNvSpPr>
          <p:nvPr>
            <p:ph sz="quarter" idx="10"/>
          </p:nvPr>
        </p:nvSpPr>
        <p:spPr>
          <a:xfrm>
            <a:off x="246888" y="1962150"/>
            <a:ext cx="8741664" cy="2743200"/>
          </a:xfrm>
        </p:spPr>
        <p:txBody>
          <a:bodyPr>
            <a:noAutofit/>
          </a:bodyPr>
          <a:lstStyle>
            <a:lvl1pPr marL="0" indent="0" algn="l">
              <a:buNone/>
              <a:defRPr sz="3200" baseline="0">
                <a:solidFill>
                  <a:schemeClr val="tx1"/>
                </a:solidFill>
                <a:latin typeface="Helvetica Neue" charset="0"/>
                <a:cs typeface="Helvetica" panose="020B0604020202020204" pitchFamily="34" charset="0"/>
              </a:defRPr>
            </a:lvl1pPr>
          </a:lstStyle>
          <a:p>
            <a:pPr lvl="0"/>
            <a:r>
              <a:rPr lang="en-US"/>
              <a:t>Click to edit Master text styles</a:t>
            </a:r>
          </a:p>
        </p:txBody>
      </p:sp>
      <p:pic>
        <p:nvPicPr>
          <p:cNvPr id="5" name="Shape 15" descr="skitched-3-4.jpg"/>
          <p:cNvPicPr preferRelativeResize="0"/>
          <p:nvPr userDrawn="1"/>
        </p:nvPicPr>
        <p:blipFill rotWithShape="1">
          <a:blip r:embed="rId2">
            <a:alphaModFix/>
          </a:blip>
          <a:srcRect/>
          <a:stretch/>
        </p:blipFill>
        <p:spPr>
          <a:xfrm>
            <a:off x="7186942" y="285750"/>
            <a:ext cx="1830918" cy="1009650"/>
          </a:xfrm>
          <a:prstGeom prst="rect">
            <a:avLst/>
          </a:prstGeom>
          <a:noFill/>
          <a:ln>
            <a:noFill/>
          </a:ln>
        </p:spPr>
      </p:pic>
    </p:spTree>
    <p:extLst>
      <p:ext uri="{BB962C8B-B14F-4D97-AF65-F5344CB8AC3E}">
        <p14:creationId xmlns:p14="http://schemas.microsoft.com/office/powerpoint/2010/main" val="3801740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amp; Image R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6888" y="310896"/>
            <a:ext cx="7144512" cy="768096"/>
          </a:xfrm>
        </p:spPr>
        <p:txBody>
          <a:bodyPr anchor="t">
            <a:noAutofit/>
          </a:bodyPr>
          <a:lstStyle>
            <a:lvl1pPr algn="l">
              <a:defRPr sz="3200" baseline="0">
                <a:latin typeface="Helvetica Neue" charset="0"/>
                <a:cs typeface="Helvetica" panose="020B0604020202020204" pitchFamily="34" charset="0"/>
              </a:defRPr>
            </a:lvl1pPr>
          </a:lstStyle>
          <a:p>
            <a:r>
              <a:rPr lang="en-US"/>
              <a:t>Click to edit Master title style</a:t>
            </a:r>
            <a:endParaRPr lang="en-US" dirty="0"/>
          </a:p>
        </p:txBody>
      </p:sp>
      <p:sp>
        <p:nvSpPr>
          <p:cNvPr id="3" name="Content Placeholder 1"/>
          <p:cNvSpPr>
            <a:spLocks noGrp="1"/>
          </p:cNvSpPr>
          <p:nvPr>
            <p:ph sz="half" idx="1"/>
          </p:nvPr>
        </p:nvSpPr>
        <p:spPr>
          <a:xfrm>
            <a:off x="246888" y="1078992"/>
            <a:ext cx="4343400" cy="3017520"/>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2"/>
          <p:cNvSpPr>
            <a:spLocks noGrp="1"/>
          </p:cNvSpPr>
          <p:nvPr>
            <p:ph sz="half" idx="10"/>
          </p:nvPr>
        </p:nvSpPr>
        <p:spPr>
          <a:xfrm>
            <a:off x="4663440" y="1078992"/>
            <a:ext cx="4224528" cy="304495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p:cNvPicPr>
            <a:picLocks noChangeAspect="1"/>
          </p:cNvPicPr>
          <p:nvPr userDrawn="1"/>
        </p:nvPicPr>
        <p:blipFill>
          <a:blip r:embed="rId2"/>
          <a:stretch>
            <a:fillRect/>
          </a:stretch>
        </p:blipFill>
        <p:spPr>
          <a:xfrm>
            <a:off x="7487293" y="320736"/>
            <a:ext cx="1377815" cy="762066"/>
          </a:xfrm>
          <a:prstGeom prst="rect">
            <a:avLst/>
          </a:prstGeom>
        </p:spPr>
      </p:pic>
    </p:spTree>
    <p:extLst>
      <p:ext uri="{BB962C8B-B14F-4D97-AF65-F5344CB8AC3E}">
        <p14:creationId xmlns:p14="http://schemas.microsoft.com/office/powerpoint/2010/main" val="192910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 Title and Content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888" y="310896"/>
            <a:ext cx="7068312" cy="667512"/>
          </a:xfrm>
        </p:spPr>
        <p:txBody>
          <a:bodyPr anchor="t">
            <a:normAutofit/>
          </a:bodyPr>
          <a:lstStyle>
            <a:lvl1pPr algn="l">
              <a:defRPr sz="3200">
                <a:latin typeface="Helvetica" panose="020B0604020202020204" pitchFamily="34" charset="0"/>
                <a:cs typeface="Helvetica" panose="020B0604020202020204" pitchFamily="34" charset="0"/>
              </a:defRPr>
            </a:lvl1pPr>
          </a:lstStyle>
          <a:p>
            <a:r>
              <a:rPr lang="en-US" dirty="0"/>
              <a:t>Click3 to edit Master title style</a:t>
            </a:r>
          </a:p>
        </p:txBody>
      </p:sp>
      <p:sp>
        <p:nvSpPr>
          <p:cNvPr id="7" name="Content Placeholder 1"/>
          <p:cNvSpPr>
            <a:spLocks noGrp="1"/>
          </p:cNvSpPr>
          <p:nvPr>
            <p:ph sz="quarter" idx="13"/>
          </p:nvPr>
        </p:nvSpPr>
        <p:spPr>
          <a:xfrm>
            <a:off x="246888" y="1060704"/>
            <a:ext cx="8668512" cy="3090672"/>
          </a:xfrm>
        </p:spPr>
        <p:txBody>
          <a:bodyPr>
            <a:normAutofit/>
          </a:bodyPr>
          <a:lstStyle>
            <a:lvl1pPr marL="342900" indent="-342900">
              <a:buClr>
                <a:schemeClr val="accent2"/>
              </a:buClr>
              <a:buFont typeface="Arial" panose="020B0604020202020204" pitchFamily="34" charset="0"/>
              <a:buChar char="•"/>
              <a:defRPr sz="2800">
                <a:solidFill>
                  <a:schemeClr val="tx1"/>
                </a:solidFill>
              </a:defRPr>
            </a:lvl1pPr>
            <a:lvl2pPr marL="742950" indent="-285750">
              <a:buClr>
                <a:schemeClr val="accent2"/>
              </a:buClr>
              <a:buFont typeface="Arial" panose="020B0604020202020204" pitchFamily="34" charset="0"/>
              <a:buChar char="•"/>
              <a:defRPr sz="2600">
                <a:solidFill>
                  <a:schemeClr val="tx1"/>
                </a:solidFill>
              </a:defRPr>
            </a:lvl2pPr>
            <a:lvl3pPr marL="1143000" indent="-228600">
              <a:buClr>
                <a:schemeClr val="accent2"/>
              </a:buClr>
              <a:buFont typeface="Arial" panose="020B0604020202020204" pitchFamily="34" charset="0"/>
              <a:buChar char="•"/>
              <a:defRPr sz="2400">
                <a:solidFill>
                  <a:schemeClr val="tx1"/>
                </a:solidFill>
              </a:defRPr>
            </a:lvl3pPr>
            <a:lvl4pPr marL="1600200" indent="-228600">
              <a:buClr>
                <a:schemeClr val="accent2"/>
              </a:buClr>
              <a:buFont typeface="Arial" panose="020B0604020202020204" pitchFamily="34" charset="0"/>
              <a:buChar char="•"/>
              <a:defRPr sz="1800"/>
            </a:lvl4pPr>
            <a:lvl5pPr>
              <a:defRPr sz="1600"/>
            </a:lvl5pPr>
          </a:lstStyle>
          <a:p>
            <a:pPr lvl="0"/>
            <a:r>
              <a:rPr lang="en-US"/>
              <a:t>Click to edit Master text styles</a:t>
            </a:r>
          </a:p>
          <a:p>
            <a:pPr lvl="1"/>
            <a:r>
              <a:rPr lang="en-US"/>
              <a:t>Second level</a:t>
            </a:r>
          </a:p>
          <a:p>
            <a:pPr lvl="2"/>
            <a:r>
              <a:rPr lang="en-US"/>
              <a:t>Third level</a:t>
            </a:r>
          </a:p>
        </p:txBody>
      </p:sp>
      <p:sp>
        <p:nvSpPr>
          <p:cNvPr id="6" name="Slide Deck Title text box"/>
          <p:cNvSpPr txBox="1">
            <a:spLocks noChangeArrowheads="1"/>
          </p:cNvSpPr>
          <p:nvPr userDrawn="1"/>
        </p:nvSpPr>
        <p:spPr bwMode="auto">
          <a:xfrm>
            <a:off x="4667250" y="4379976"/>
            <a:ext cx="422433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Rockwell" charset="0"/>
                <a:ea typeface="ＭＳ Ｐゴシック" charset="0"/>
                <a:cs typeface="ＭＳ Ｐゴシック" charset="0"/>
              </a:defRPr>
            </a:lvl1pPr>
            <a:lvl2pPr marL="742950" indent="-285750" eaLnBrk="0" hangingPunct="0">
              <a:defRPr sz="2400">
                <a:solidFill>
                  <a:schemeClr val="tx1"/>
                </a:solidFill>
                <a:latin typeface="Rockwell" charset="0"/>
                <a:ea typeface="ＭＳ Ｐゴシック" charset="0"/>
              </a:defRPr>
            </a:lvl2pPr>
            <a:lvl3pPr marL="1143000" indent="-228600" eaLnBrk="0" hangingPunct="0">
              <a:defRPr sz="2400">
                <a:solidFill>
                  <a:schemeClr val="tx1"/>
                </a:solidFill>
                <a:latin typeface="Rockwell" charset="0"/>
                <a:ea typeface="ＭＳ Ｐゴシック" charset="0"/>
              </a:defRPr>
            </a:lvl3pPr>
            <a:lvl4pPr marL="1600200" indent="-228600" eaLnBrk="0" hangingPunct="0">
              <a:defRPr sz="2400">
                <a:solidFill>
                  <a:schemeClr val="tx1"/>
                </a:solidFill>
                <a:latin typeface="Rockwell" charset="0"/>
                <a:ea typeface="ＭＳ Ｐゴシック" charset="0"/>
              </a:defRPr>
            </a:lvl4pPr>
            <a:lvl5pPr marL="2057400" indent="-228600" eaLnBrk="0" hangingPunct="0">
              <a:defRPr sz="2400">
                <a:solidFill>
                  <a:schemeClr val="tx1"/>
                </a:solidFill>
                <a:latin typeface="Rockwell" charset="0"/>
                <a:ea typeface="ＭＳ Ｐゴシック" charset="0"/>
              </a:defRPr>
            </a:lvl5pPr>
            <a:lvl6pPr marL="2514600" indent="-228600" eaLnBrk="0" fontAlgn="base" hangingPunct="0">
              <a:spcBef>
                <a:spcPct val="0"/>
              </a:spcBef>
              <a:spcAft>
                <a:spcPct val="0"/>
              </a:spcAft>
              <a:defRPr sz="2400">
                <a:solidFill>
                  <a:schemeClr val="tx1"/>
                </a:solidFill>
                <a:latin typeface="Rockwell" charset="0"/>
                <a:ea typeface="ＭＳ Ｐゴシック" charset="0"/>
              </a:defRPr>
            </a:lvl6pPr>
            <a:lvl7pPr marL="2971800" indent="-228600" eaLnBrk="0" fontAlgn="base" hangingPunct="0">
              <a:spcBef>
                <a:spcPct val="0"/>
              </a:spcBef>
              <a:spcAft>
                <a:spcPct val="0"/>
              </a:spcAft>
              <a:defRPr sz="2400">
                <a:solidFill>
                  <a:schemeClr val="tx1"/>
                </a:solidFill>
                <a:latin typeface="Rockwell" charset="0"/>
                <a:ea typeface="ＭＳ Ｐゴシック" charset="0"/>
              </a:defRPr>
            </a:lvl7pPr>
            <a:lvl8pPr marL="3429000" indent="-228600" eaLnBrk="0" fontAlgn="base" hangingPunct="0">
              <a:spcBef>
                <a:spcPct val="0"/>
              </a:spcBef>
              <a:spcAft>
                <a:spcPct val="0"/>
              </a:spcAft>
              <a:defRPr sz="2400">
                <a:solidFill>
                  <a:schemeClr val="tx1"/>
                </a:solidFill>
                <a:latin typeface="Rockwell" charset="0"/>
                <a:ea typeface="ＭＳ Ｐゴシック" charset="0"/>
              </a:defRPr>
            </a:lvl8pPr>
            <a:lvl9pPr marL="3886200" indent="-228600" eaLnBrk="0" fontAlgn="base" hangingPunct="0">
              <a:spcBef>
                <a:spcPct val="0"/>
              </a:spcBef>
              <a:spcAft>
                <a:spcPct val="0"/>
              </a:spcAft>
              <a:defRPr sz="2400">
                <a:solidFill>
                  <a:schemeClr val="tx1"/>
                </a:solidFill>
                <a:latin typeface="Rockwell" charset="0"/>
                <a:ea typeface="ＭＳ Ｐゴシック" charset="0"/>
              </a:defRPr>
            </a:lvl9pPr>
          </a:lstStyle>
          <a:p>
            <a:pPr algn="r" eaLnBrk="1" hangingPunct="1">
              <a:defRPr/>
            </a:pPr>
            <a:r>
              <a:rPr lang="en-US" sz="1400" dirty="0">
                <a:solidFill>
                  <a:schemeClr val="bg1"/>
                </a:solidFill>
                <a:latin typeface="Century Gothic" charset="0"/>
                <a:cs typeface="Century Gothic" charset="0"/>
              </a:rPr>
              <a:t>Slide Deck Title</a:t>
            </a:r>
          </a:p>
        </p:txBody>
      </p:sp>
      <p:pic>
        <p:nvPicPr>
          <p:cNvPr id="3" name="Picture 2"/>
          <p:cNvPicPr>
            <a:picLocks noChangeAspect="1"/>
          </p:cNvPicPr>
          <p:nvPr userDrawn="1"/>
        </p:nvPicPr>
        <p:blipFill>
          <a:blip r:embed="rId2"/>
          <a:stretch>
            <a:fillRect/>
          </a:stretch>
        </p:blipFill>
        <p:spPr>
          <a:xfrm>
            <a:off x="7513773" y="310896"/>
            <a:ext cx="1377815" cy="762066"/>
          </a:xfrm>
          <a:prstGeom prst="rect">
            <a:avLst/>
          </a:prstGeom>
        </p:spPr>
      </p:pic>
    </p:spTree>
    <p:extLst>
      <p:ext uri="{BB962C8B-B14F-4D97-AF65-F5344CB8AC3E}">
        <p14:creationId xmlns:p14="http://schemas.microsoft.com/office/powerpoint/2010/main" val="387285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lined Title and Content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888" y="310896"/>
            <a:ext cx="7525512" cy="1143000"/>
          </a:xfrm>
        </p:spPr>
        <p:txBody>
          <a:bodyPr anchor="t">
            <a:normAutofit/>
          </a:bodyPr>
          <a:lstStyle>
            <a:lvl1pPr algn="l">
              <a:defRPr sz="3200">
                <a:latin typeface="Helvetica" panose="020B0604020202020204" pitchFamily="34" charset="0"/>
                <a:cs typeface="Helvetica" panose="020B0604020202020204" pitchFamily="34" charset="0"/>
              </a:defRPr>
            </a:lvl1pPr>
          </a:lstStyle>
          <a:p>
            <a:r>
              <a:rPr lang="en-US" dirty="0"/>
              <a:t>Click to edit Master title style</a:t>
            </a:r>
            <a:br>
              <a:rPr lang="en-US" dirty="0"/>
            </a:br>
            <a:endParaRPr lang="en-US" dirty="0"/>
          </a:p>
        </p:txBody>
      </p:sp>
      <p:sp>
        <p:nvSpPr>
          <p:cNvPr id="7" name="Content Placeholder 1"/>
          <p:cNvSpPr>
            <a:spLocks noGrp="1"/>
          </p:cNvSpPr>
          <p:nvPr>
            <p:ph sz="quarter" idx="13"/>
          </p:nvPr>
        </p:nvSpPr>
        <p:spPr>
          <a:xfrm>
            <a:off x="228600" y="1536192"/>
            <a:ext cx="8668512" cy="2615184"/>
          </a:xfrm>
        </p:spPr>
        <p:txBody>
          <a:bodyPr>
            <a:normAutofit/>
          </a:bodyPr>
          <a:lstStyle>
            <a:lvl1pPr marL="342900" indent="-342900">
              <a:buClr>
                <a:schemeClr val="accent2"/>
              </a:buClr>
              <a:buFont typeface="Arial" panose="020B0604020202020204" pitchFamily="34" charset="0"/>
              <a:buChar char="•"/>
              <a:defRPr sz="2800"/>
            </a:lvl1pPr>
            <a:lvl2pPr marL="742950" indent="-285750">
              <a:buClr>
                <a:schemeClr val="accent2"/>
              </a:buClr>
              <a:buFont typeface="Arial" panose="020B0604020202020204" pitchFamily="34" charset="0"/>
              <a:buChar char="•"/>
              <a:defRPr sz="2600"/>
            </a:lvl2pPr>
            <a:lvl3pPr marL="1143000" indent="-228600">
              <a:buClr>
                <a:schemeClr val="accent2"/>
              </a:buClr>
              <a:buFont typeface="Arial" panose="020B0604020202020204" pitchFamily="34" charset="0"/>
              <a:buChar char="•"/>
              <a:defRPr sz="2400"/>
            </a:lvl3pPr>
            <a:lvl4pPr marL="1600200" indent="-228600">
              <a:buClr>
                <a:schemeClr val="accent2"/>
              </a:buClr>
              <a:buFont typeface="Arial" panose="020B0604020202020204" pitchFamily="34" charset="0"/>
              <a:buChar char="•"/>
              <a:defRPr sz="1800"/>
            </a:lvl4pPr>
            <a:lvl5pPr>
              <a:defRPr sz="1600"/>
            </a:lvl5pPr>
          </a:lstStyle>
          <a:p>
            <a:pPr lvl="0"/>
            <a:r>
              <a:rPr lang="en-US"/>
              <a:t>Click to edit Master text styles</a:t>
            </a:r>
          </a:p>
          <a:p>
            <a:pPr lvl="1"/>
            <a:r>
              <a:rPr lang="en-US"/>
              <a:t>Second level</a:t>
            </a:r>
          </a:p>
          <a:p>
            <a:pPr lvl="2"/>
            <a:r>
              <a:rPr lang="en-US"/>
              <a:t>Third level</a:t>
            </a:r>
          </a:p>
        </p:txBody>
      </p:sp>
      <p:pic>
        <p:nvPicPr>
          <p:cNvPr id="3" name="Picture 2"/>
          <p:cNvPicPr>
            <a:picLocks noChangeAspect="1"/>
          </p:cNvPicPr>
          <p:nvPr userDrawn="1"/>
        </p:nvPicPr>
        <p:blipFill>
          <a:blip r:embed="rId2"/>
          <a:stretch>
            <a:fillRect/>
          </a:stretch>
        </p:blipFill>
        <p:spPr>
          <a:xfrm>
            <a:off x="7513773" y="545526"/>
            <a:ext cx="1377815" cy="762066"/>
          </a:xfrm>
          <a:prstGeom prst="rect">
            <a:avLst/>
          </a:prstGeom>
        </p:spPr>
      </p:pic>
    </p:spTree>
    <p:extLst>
      <p:ext uri="{BB962C8B-B14F-4D97-AF65-F5344CB8AC3E}">
        <p14:creationId xmlns:p14="http://schemas.microsoft.com/office/powerpoint/2010/main" val="2004729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lined Content and Image R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6888" y="310896"/>
            <a:ext cx="7449312" cy="1161288"/>
          </a:xfrm>
          <a:solidFill>
            <a:schemeClr val="bg1"/>
          </a:solidFill>
        </p:spPr>
        <p:txBody>
          <a:bodyPr anchor="t">
            <a:normAutofit/>
          </a:bodyPr>
          <a:lstStyle>
            <a:lvl1pPr algn="l">
              <a:defRPr sz="3200" baseline="0">
                <a:latin typeface="Helvetica Neue" charset="0"/>
                <a:cs typeface="Helvetica" panose="020B0604020202020204" pitchFamily="34" charset="0"/>
              </a:defRPr>
            </a:lvl1pPr>
          </a:lstStyle>
          <a:p>
            <a:r>
              <a:rPr lang="en-US"/>
              <a:t>Click to edit Master title style</a:t>
            </a:r>
            <a:endParaRPr lang="en-US" dirty="0"/>
          </a:p>
        </p:txBody>
      </p:sp>
      <p:sp>
        <p:nvSpPr>
          <p:cNvPr id="3" name="Content Placeholder 1"/>
          <p:cNvSpPr>
            <a:spLocks noGrp="1"/>
          </p:cNvSpPr>
          <p:nvPr>
            <p:ph sz="half" idx="1"/>
          </p:nvPr>
        </p:nvSpPr>
        <p:spPr>
          <a:xfrm>
            <a:off x="246888" y="1554480"/>
            <a:ext cx="4343400" cy="263347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2"/>
          <p:cNvSpPr>
            <a:spLocks noGrp="1"/>
          </p:cNvSpPr>
          <p:nvPr>
            <p:ph sz="half" idx="10"/>
          </p:nvPr>
        </p:nvSpPr>
        <p:spPr>
          <a:xfrm>
            <a:off x="4663440" y="1554480"/>
            <a:ext cx="4224528" cy="263347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pic>
        <p:nvPicPr>
          <p:cNvPr id="4" name="Picture 3"/>
          <p:cNvPicPr>
            <a:picLocks noChangeAspect="1"/>
          </p:cNvPicPr>
          <p:nvPr userDrawn="1"/>
        </p:nvPicPr>
        <p:blipFill>
          <a:blip r:embed="rId2"/>
          <a:stretch>
            <a:fillRect/>
          </a:stretch>
        </p:blipFill>
        <p:spPr>
          <a:xfrm>
            <a:off x="7510153" y="444147"/>
            <a:ext cx="1377815" cy="762066"/>
          </a:xfrm>
          <a:prstGeom prst="rect">
            <a:avLst/>
          </a:prstGeom>
        </p:spPr>
      </p:pic>
    </p:spTree>
    <p:extLst>
      <p:ext uri="{BB962C8B-B14F-4D97-AF65-F5344CB8AC3E}">
        <p14:creationId xmlns:p14="http://schemas.microsoft.com/office/powerpoint/2010/main" val="136913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5" descr="skitched-3-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1864" y="2933700"/>
            <a:ext cx="3132137"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1618" name="Rectangle 2"/>
          <p:cNvSpPr>
            <a:spLocks noGrp="1" noChangeArrowheads="1"/>
          </p:cNvSpPr>
          <p:nvPr>
            <p:ph type="ctrTitle"/>
          </p:nvPr>
        </p:nvSpPr>
        <p:spPr>
          <a:xfrm>
            <a:off x="685800" y="1436675"/>
            <a:ext cx="7620000" cy="857250"/>
          </a:xfrm>
        </p:spPr>
        <p:txBody>
          <a:bodyPr/>
          <a:lstStyle>
            <a:lvl1pPr algn="l">
              <a:defRPr>
                <a:latin typeface="Helvetica Neue" charset="0"/>
                <a:ea typeface="Helvetica Neue" charset="0"/>
                <a:cs typeface="Helvetica Neue" charset="0"/>
              </a:defRPr>
            </a:lvl1pPr>
          </a:lstStyle>
          <a:p>
            <a:r>
              <a:rPr lang="en-US" dirty="0"/>
              <a:t>Click to edit Master title style</a:t>
            </a:r>
          </a:p>
        </p:txBody>
      </p:sp>
      <p:sp>
        <p:nvSpPr>
          <p:cNvPr id="111619" name="Rectangle 3"/>
          <p:cNvSpPr>
            <a:spLocks noGrp="1" noChangeArrowheads="1"/>
          </p:cNvSpPr>
          <p:nvPr>
            <p:ph type="subTitle" idx="1"/>
          </p:nvPr>
        </p:nvSpPr>
        <p:spPr>
          <a:xfrm>
            <a:off x="1371600" y="3048000"/>
            <a:ext cx="4572000" cy="1047750"/>
          </a:xfrm>
        </p:spPr>
        <p:txBody>
          <a:bodyPr anchor="b" anchorCtr="0"/>
          <a:lstStyle>
            <a:lvl1pPr marL="0" indent="0" algn="r">
              <a:buFontTx/>
              <a:buNone/>
              <a:defRPr>
                <a:latin typeface="Helvetica Neue" charset="0"/>
                <a:ea typeface="Helvetica Neue" charset="0"/>
                <a:cs typeface="Helvetica Neue" charset="0"/>
              </a:defRPr>
            </a:lvl1pPr>
          </a:lstStyle>
          <a:p>
            <a:r>
              <a:rPr lang="en-US"/>
              <a:t>Click to edit Master subtitle style</a:t>
            </a:r>
            <a:endParaRPr lang="en-US" dirty="0"/>
          </a:p>
        </p:txBody>
      </p:sp>
      <p:sp>
        <p:nvSpPr>
          <p:cNvPr id="5" name="Date Placeholder 4"/>
          <p:cNvSpPr>
            <a:spLocks noGrp="1" noChangeArrowheads="1"/>
          </p:cNvSpPr>
          <p:nvPr>
            <p:ph type="dt" sz="half" idx="10"/>
          </p:nvPr>
        </p:nvSpPr>
        <p:spPr bwMode="auto">
          <a:xfrm>
            <a:off x="685800" y="4686300"/>
            <a:ext cx="190500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0" hangingPunct="0">
              <a:defRPr sz="1050">
                <a:solidFill>
                  <a:schemeClr val="tx1"/>
                </a:solidFill>
                <a:latin typeface="Helvetica Neue" charset="0"/>
                <a:ea typeface="Helvetica Neue" charset="0"/>
                <a:cs typeface="Helvetica Neue" charset="0"/>
              </a:defRPr>
            </a:lvl1pPr>
          </a:lstStyle>
          <a:p>
            <a:pPr>
              <a:defRPr/>
            </a:pPr>
            <a:endParaRPr lang="en-US"/>
          </a:p>
        </p:txBody>
      </p:sp>
      <p:sp>
        <p:nvSpPr>
          <p:cNvPr id="6" name="Footer Placeholder 5"/>
          <p:cNvSpPr>
            <a:spLocks noGrp="1" noChangeArrowheads="1"/>
          </p:cNvSpPr>
          <p:nvPr>
            <p:ph type="ftr" sz="quarter" idx="11"/>
          </p:nvPr>
        </p:nvSpPr>
        <p:spPr bwMode="auto">
          <a:xfrm>
            <a:off x="3124200" y="4686300"/>
            <a:ext cx="289560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0" hangingPunct="0">
              <a:defRPr sz="1050">
                <a:solidFill>
                  <a:schemeClr val="tx1"/>
                </a:solidFill>
                <a:latin typeface="Helvetica Neue" charset="0"/>
                <a:ea typeface="Helvetica Neue" charset="0"/>
                <a:cs typeface="Helvetica Neue" charset="0"/>
              </a:defRPr>
            </a:lvl1pPr>
          </a:lstStyle>
          <a:p>
            <a:pPr>
              <a:defRPr/>
            </a:pPr>
            <a:endParaRPr lang="en-US"/>
          </a:p>
        </p:txBody>
      </p:sp>
      <p:sp>
        <p:nvSpPr>
          <p:cNvPr id="7" name="Rectangle 6"/>
          <p:cNvSpPr>
            <a:spLocks noGrp="1" noChangeArrowheads="1"/>
          </p:cNvSpPr>
          <p:nvPr>
            <p:ph type="sldNum" sz="quarter" idx="12"/>
          </p:nvPr>
        </p:nvSpPr>
        <p:spPr>
          <a:xfrm>
            <a:off x="6553200" y="4686300"/>
            <a:ext cx="1905000" cy="342900"/>
          </a:xfrm>
        </p:spPr>
        <p:txBody>
          <a:bodyPr/>
          <a:lstStyle>
            <a:lvl1pPr>
              <a:defRPr>
                <a:latin typeface="Helvetica Neue" charset="0"/>
                <a:ea typeface="Helvetica Neue" charset="0"/>
                <a:cs typeface="Helvetica Neue" charset="0"/>
              </a:defRPr>
            </a:lvl1pPr>
          </a:lstStyle>
          <a:p>
            <a:pPr>
              <a:defRPr/>
            </a:pPr>
            <a:fld id="{59B8027A-901F-8D4B-BEEB-5E526ED1FF3C}" type="slidenum">
              <a:rPr lang="en-US" smtClean="0"/>
              <a:pPr>
                <a:defRPr/>
              </a:pPr>
              <a:t>‹#›</a:t>
            </a:fld>
            <a:endParaRPr lang="en-US"/>
          </a:p>
        </p:txBody>
      </p:sp>
      <p:pic>
        <p:nvPicPr>
          <p:cNvPr id="8" name="Picture 5" descr="skitched-3-4.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11864" y="2933700"/>
            <a:ext cx="3132137"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0990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68884267-D271-3C43-A608-FB4A870ECEE6}" type="slidenum">
              <a:rPr lang="en-US" smtClean="0"/>
              <a:pPr>
                <a:defRPr/>
              </a:pPr>
              <a:t>‹#›</a:t>
            </a:fld>
            <a:endParaRPr lang="en-US"/>
          </a:p>
        </p:txBody>
      </p:sp>
    </p:spTree>
    <p:extLst>
      <p:ext uri="{BB962C8B-B14F-4D97-AF65-F5344CB8AC3E}">
        <p14:creationId xmlns:p14="http://schemas.microsoft.com/office/powerpoint/2010/main" val="208115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4D122405-2E08-4242-8FD0-A2A778523DA5}" type="slidenum">
              <a:rPr lang="en-US" smtClean="0"/>
              <a:pPr>
                <a:defRPr/>
              </a:pPr>
              <a:t>‹#›</a:t>
            </a:fld>
            <a:endParaRPr lang="en-US"/>
          </a:p>
        </p:txBody>
      </p:sp>
    </p:spTree>
    <p:extLst>
      <p:ext uri="{BB962C8B-B14F-4D97-AF65-F5344CB8AC3E}">
        <p14:creationId xmlns:p14="http://schemas.microsoft.com/office/powerpoint/2010/main" val="675993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9F783B0-C189-9248-9374-C3851D12A000}" type="datetimeFigureOut">
              <a:rPr lang="en-US" smtClean="0"/>
              <a:t>11/6/18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4412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11/6/18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769672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783B0-C189-9248-9374-C3851D12A000}" type="datetimeFigureOut">
              <a:rPr lang="en-US" smtClean="0"/>
              <a:t>11/6/18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599281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F783B0-C189-9248-9374-C3851D12A000}" type="datetimeFigureOut">
              <a:rPr lang="en-US" smtClean="0"/>
              <a:t>11/6/18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220121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F783B0-C189-9248-9374-C3851D12A000}" type="datetimeFigureOut">
              <a:rPr lang="en-US" smtClean="0"/>
              <a:t>11/6/18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268772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F783B0-C189-9248-9374-C3851D12A000}" type="datetimeFigureOut">
              <a:rPr lang="en-US" smtClean="0"/>
              <a:t>11/6/18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103936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783B0-C189-9248-9374-C3851D12A000}" type="datetimeFigureOut">
              <a:rPr lang="en-US" smtClean="0"/>
              <a:t>11/6/18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750503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783B0-C189-9248-9374-C3851D12A000}" type="datetimeFigureOut">
              <a:rPr lang="en-US" smtClean="0"/>
              <a:t>11/6/18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92629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783B0-C189-9248-9374-C3851D12A000}" type="datetimeFigureOut">
              <a:rPr lang="en-US" smtClean="0"/>
              <a:t>11/6/18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268016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11/6/18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2065489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11/6/18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60979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F8FFD81-3213-4789-B5DF-194594E817CD}" type="datetimeFigureOut">
              <a:rPr lang="en-US" smtClean="0"/>
              <a:t>11/6/18</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312FCA20-D3C1-4D02-835D-77BA55FE14B2}" type="slidenum">
              <a:rPr lang="en-US" smtClean="0"/>
              <a:t>‹#›</a:t>
            </a:fld>
            <a:endParaRPr lang="en-US"/>
          </a:p>
        </p:txBody>
      </p:sp>
      <p:sp>
        <p:nvSpPr>
          <p:cNvPr id="7" name="Rectangle 6"/>
          <p:cNvSpPr/>
          <p:nvPr userDrawn="1"/>
        </p:nvSpPr>
        <p:spPr>
          <a:xfrm>
            <a:off x="6574971" y="3692071"/>
            <a:ext cx="2569029" cy="145142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982671"/>
      </p:ext>
    </p:extLst>
  </p:cSld>
  <p:clrMap bg1="lt1" tx1="dk1" bg2="lt2" tx2="dk2" accent1="accent1" accent2="accent2" accent3="accent3" accent4="accent4" accent5="accent5" accent6="accent6" hlink="hlink" folHlink="folHlink"/>
  <p:sldLayoutIdLst>
    <p:sldLayoutId id="2147483694" r:id="rId1"/>
    <p:sldLayoutId id="2147483660" r:id="rId2"/>
    <p:sldLayoutId id="2147483668" r:id="rId3"/>
    <p:sldLayoutId id="2147483673" r:id="rId4"/>
    <p:sldLayoutId id="2147483666" r:id="rId5"/>
    <p:sldLayoutId id="2147483667" r:id="rId6"/>
    <p:sldLayoutId id="2147483691" r:id="rId7"/>
    <p:sldLayoutId id="2147483692" r:id="rId8"/>
    <p:sldLayoutId id="2147483693" r:id="rId9"/>
  </p:sldLayoutIdLst>
  <p:txStyles>
    <p:titleStyle>
      <a:lvl1pPr algn="l" defTabSz="914400" rtl="0" eaLnBrk="1" latinLnBrk="0" hangingPunct="1">
        <a:spcBef>
          <a:spcPct val="0"/>
        </a:spcBef>
        <a:buNone/>
        <a:defRPr sz="3200" kern="1200" baseline="0">
          <a:solidFill>
            <a:schemeClr val="tx1"/>
          </a:solidFill>
          <a:latin typeface="Helvetica Neue" charset="0"/>
          <a:ea typeface="+mj-ea"/>
          <a:cs typeface="+mj-cs"/>
        </a:defRPr>
      </a:lvl1pPr>
    </p:titleStyle>
    <p:bodyStyle>
      <a:lvl1pPr marL="342900" indent="-342900" algn="l" defTabSz="914400" rtl="0" eaLnBrk="1" latinLnBrk="0" hangingPunct="1">
        <a:spcBef>
          <a:spcPct val="20000"/>
        </a:spcBef>
        <a:buClr>
          <a:schemeClr val="accent2"/>
        </a:buClr>
        <a:buFont typeface="Arial" panose="020B0604020202020204" pitchFamily="34" charset="0"/>
        <a:buChar char="•"/>
        <a:defRPr sz="2000" kern="1200" baseline="0">
          <a:solidFill>
            <a:schemeClr val="tx1"/>
          </a:solidFill>
          <a:latin typeface="Helvetica Neue" charset="0"/>
          <a:ea typeface="+mn-ea"/>
          <a:cs typeface="+mn-cs"/>
        </a:defRPr>
      </a:lvl1pPr>
      <a:lvl2pPr marL="742950" indent="-285750" algn="l" defTabSz="914400" rtl="0" eaLnBrk="1" latinLnBrk="0" hangingPunct="1">
        <a:spcBef>
          <a:spcPct val="20000"/>
        </a:spcBef>
        <a:buClr>
          <a:schemeClr val="accent2"/>
        </a:buClr>
        <a:buFont typeface="Arial" panose="020B0604020202020204" pitchFamily="34" charset="0"/>
        <a:buChar char="•"/>
        <a:defRPr sz="1800" kern="1200" baseline="0">
          <a:solidFill>
            <a:schemeClr val="tx1"/>
          </a:solidFill>
          <a:latin typeface="Helvetica Neue" charset="0"/>
          <a:ea typeface="+mn-ea"/>
          <a:cs typeface="+mn-cs"/>
        </a:defRPr>
      </a:lvl2pPr>
      <a:lvl3pPr marL="1143000" indent="-228600" algn="l" defTabSz="914400" rtl="0" eaLnBrk="1" latinLnBrk="0" hangingPunct="1">
        <a:spcBef>
          <a:spcPct val="20000"/>
        </a:spcBef>
        <a:buClr>
          <a:schemeClr val="accent2"/>
        </a:buClr>
        <a:buFont typeface="Arial" panose="020B0604020202020204" pitchFamily="34" charset="0"/>
        <a:buChar char="•"/>
        <a:defRPr sz="1600" kern="1200" baseline="0">
          <a:solidFill>
            <a:schemeClr val="tx1"/>
          </a:solidFill>
          <a:latin typeface="Helvetica Neue" charset="0"/>
          <a:ea typeface="+mn-ea"/>
          <a:cs typeface="+mn-cs"/>
        </a:defRPr>
      </a:lvl3pPr>
      <a:lvl4pPr marL="160020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59F783B0-C189-9248-9374-C3851D12A000}" type="datetimeFigureOut">
              <a:rPr lang="en-US" smtClean="0"/>
              <a:t>11/6/18</a:t>
            </a:fld>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D0DBE92-7D83-6C40-B90C-DDFD8E85BD1A}" type="slidenum">
              <a:rPr lang="en-US" smtClean="0"/>
              <a:t>‹#›</a:t>
            </a:fld>
            <a:endParaRPr lang="en-US"/>
          </a:p>
        </p:txBody>
      </p:sp>
    </p:spTree>
    <p:extLst>
      <p:ext uri="{BB962C8B-B14F-4D97-AF65-F5344CB8AC3E}">
        <p14:creationId xmlns:p14="http://schemas.microsoft.com/office/powerpoint/2010/main" val="75756974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7.gif"/><Relationship Id="rId3" Type="http://schemas.openxmlformats.org/officeDocument/2006/relationships/image" Target="../media/image2.tiff"/><Relationship Id="rId7" Type="http://schemas.openxmlformats.org/officeDocument/2006/relationships/image" Target="../media/image6.tif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tiff"/></Relationships>
</file>

<file path=ppt/slides/_rels/slide6.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8.xml"/><Relationship Id="rId4" Type="http://schemas.openxmlformats.org/officeDocument/2006/relationships/image" Target="../media/image16.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title"/>
          </p:nvPr>
        </p:nvSpPr>
        <p:spPr/>
        <p:txBody>
          <a:bodyPr>
            <a:normAutofit/>
          </a:bodyPr>
          <a:lstStyle/>
          <a:p>
            <a:pPr eaLnBrk="1" hangingPunct="1"/>
            <a:r>
              <a:rPr lang="en-US" altLang="en-US" dirty="0">
                <a:latin typeface="Helvetica Neue Light" charset="0"/>
              </a:rPr>
              <a:t>Transactions &amp;</a:t>
            </a:r>
            <a:br>
              <a:rPr lang="en-US" altLang="en-US" dirty="0">
                <a:latin typeface="Helvetica Neue Light" charset="0"/>
              </a:rPr>
            </a:br>
            <a:r>
              <a:rPr lang="en-US" altLang="en-US" dirty="0">
                <a:latin typeface="Helvetica Neue Light" charset="0"/>
              </a:rPr>
              <a:t>Concurrency Control 1</a:t>
            </a:r>
          </a:p>
        </p:txBody>
      </p:sp>
      <p:sp>
        <p:nvSpPr>
          <p:cNvPr id="16388" name="Subtitle 3"/>
          <p:cNvSpPr>
            <a:spLocks noGrp="1"/>
          </p:cNvSpPr>
          <p:nvPr>
            <p:ph sz="quarter" idx="10"/>
          </p:nvPr>
        </p:nvSpPr>
        <p:spPr/>
        <p:txBody>
          <a:bodyPr/>
          <a:lstStyle/>
          <a:p>
            <a:pPr eaLnBrk="1" hangingPunct="1"/>
            <a:r>
              <a:rPr lang="en-US" altLang="en-US" dirty="0">
                <a:latin typeface="Helvetica Neue" charset="0"/>
              </a:rPr>
              <a:t>R&amp;G 16/17</a:t>
            </a:r>
          </a:p>
        </p:txBody>
      </p:sp>
      <p:sp>
        <p:nvSpPr>
          <p:cNvPr id="6" name="Text Box 8"/>
          <p:cNvSpPr txBox="1">
            <a:spLocks noChangeArrowheads="1"/>
          </p:cNvSpPr>
          <p:nvPr/>
        </p:nvSpPr>
        <p:spPr bwMode="auto">
          <a:xfrm>
            <a:off x="1485900" y="3486150"/>
            <a:ext cx="3840480" cy="1015663"/>
          </a:xfrm>
          <a:prstGeom prst="rect">
            <a:avLst/>
          </a:prstGeom>
          <a:noFill/>
          <a:ln w="12700">
            <a:solidFill>
              <a:srgbClr val="993300"/>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500" dirty="0">
                <a:latin typeface="+mn-lt"/>
              </a:rPr>
              <a:t>There are three side effects of acid. Enhanced long term memory, decreased short term memory, and I forget the third.</a:t>
            </a:r>
          </a:p>
          <a:p>
            <a:r>
              <a:rPr lang="en-US" sz="1500" dirty="0">
                <a:latin typeface="+mn-lt"/>
              </a:rPr>
              <a:t>		</a:t>
            </a:r>
            <a:r>
              <a:rPr lang="en-US" sz="1500" dirty="0">
                <a:solidFill>
                  <a:schemeClr val="tx1"/>
                </a:solidFill>
                <a:latin typeface="+mn-lt"/>
              </a:rPr>
              <a:t>- Timothy Leary</a:t>
            </a:r>
          </a:p>
        </p:txBody>
      </p:sp>
    </p:spTree>
    <p:extLst>
      <p:ext uri="{BB962C8B-B14F-4D97-AF65-F5344CB8AC3E}">
        <p14:creationId xmlns:p14="http://schemas.microsoft.com/office/powerpoint/2010/main" val="180928901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Architecture of a DBMS</a:t>
            </a:r>
            <a:endParaRPr lang="en-US" dirty="0"/>
          </a:p>
        </p:txBody>
      </p:sp>
      <p:sp>
        <p:nvSpPr>
          <p:cNvPr id="33" name="TextBox 32" descr="The database is at the bottom. Above the database in ascending order: Disk Space Management, Buffer Management, Files and Index Management, Relational Operators, Query Parsing &amp; Optimization, SQL Client" title="DBMS"/>
          <p:cNvSpPr txBox="1"/>
          <p:nvPr/>
        </p:nvSpPr>
        <p:spPr>
          <a:xfrm>
            <a:off x="2463254" y="4167554"/>
            <a:ext cx="1177142" cy="300082"/>
          </a:xfrm>
          <a:prstGeom prst="rect">
            <a:avLst/>
          </a:prstGeom>
          <a:noFill/>
        </p:spPr>
        <p:txBody>
          <a:bodyPr wrap="square" rtlCol="0">
            <a:spAutoFit/>
          </a:bodyPr>
          <a:lstStyle/>
          <a:p>
            <a:r>
              <a:rPr lang="en-US" sz="1350" dirty="0">
                <a:solidFill>
                  <a:schemeClr val="tx2"/>
                </a:solidFill>
                <a:latin typeface="Helvetica Neue" charset="0"/>
                <a:ea typeface="Helvetica Neue" charset="0"/>
                <a:cs typeface="Helvetica Neue" charset="0"/>
              </a:rPr>
              <a:t>You are here</a:t>
            </a:r>
          </a:p>
        </p:txBody>
      </p:sp>
      <p:sp>
        <p:nvSpPr>
          <p:cNvPr id="36" name="TextBox 35" descr="The database is at the bottom. Above the database in ascending order: Disk Space Management, Buffer Management, Files and Index Management, Relational Operators, Query Parsing &amp; Optimization, SQL Client" title="DBMS"/>
          <p:cNvSpPr txBox="1"/>
          <p:nvPr/>
        </p:nvSpPr>
        <p:spPr>
          <a:xfrm>
            <a:off x="2451630" y="1234491"/>
            <a:ext cx="1177142" cy="300082"/>
          </a:xfrm>
          <a:prstGeom prst="rect">
            <a:avLst/>
          </a:prstGeom>
          <a:noFill/>
        </p:spPr>
        <p:txBody>
          <a:bodyPr wrap="square" rtlCol="0">
            <a:spAutoFit/>
          </a:bodyPr>
          <a:lstStyle/>
          <a:p>
            <a:r>
              <a:rPr lang="en-US" sz="1350" dirty="0">
                <a:solidFill>
                  <a:schemeClr val="tx2"/>
                </a:solidFill>
                <a:latin typeface="Helvetica Neue" charset="0"/>
                <a:ea typeface="Helvetica Neue" charset="0"/>
                <a:cs typeface="Helvetica Neue" charset="0"/>
              </a:rPr>
              <a:t>Completed</a:t>
            </a:r>
          </a:p>
        </p:txBody>
      </p:sp>
      <p:sp>
        <p:nvSpPr>
          <p:cNvPr id="37" name="Rectangle 36" descr="The database is at the bottom. Above the database in ascending order: Disk Space Management, Buffer Management, Files and Index Management, Relational Operators, Query Parsing &amp; Optimization, SQL Client" title="DBMS"/>
          <p:cNvSpPr/>
          <p:nvPr/>
        </p:nvSpPr>
        <p:spPr bwMode="auto">
          <a:xfrm>
            <a:off x="2386916" y="1584092"/>
            <a:ext cx="2686050" cy="3394153"/>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210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2100" kern="0" dirty="0">
                <a:solidFill>
                  <a:srgbClr val="14405C"/>
                </a:solidFill>
                <a:latin typeface="Helvetica Neue" charset="0"/>
                <a:ea typeface="Helvetica Neue" charset="0"/>
                <a:cs typeface="Helvetica Neue" charset="0"/>
              </a:rPr>
              <a:t>System</a:t>
            </a:r>
          </a:p>
        </p:txBody>
      </p:sp>
      <p:sp>
        <p:nvSpPr>
          <p:cNvPr id="38" name="Can 37" descr="The database is at the bottom. Above the database in ascending order: Disk Space Management, Buffer Management, Files and Index Management, Relational Operators, Query Parsing &amp; Optimization, SQL Client" title="DBMS"/>
          <p:cNvSpPr/>
          <p:nvPr/>
        </p:nvSpPr>
        <p:spPr bwMode="auto">
          <a:xfrm>
            <a:off x="2858869" y="4111014"/>
            <a:ext cx="1742140" cy="777781"/>
          </a:xfrm>
          <a:prstGeom prst="can">
            <a:avLst>
              <a:gd name="adj" fmla="val 41129"/>
            </a:avLst>
          </a:prstGeom>
          <a:gradFill rotWithShape="1">
            <a:gsLst>
              <a:gs pos="0">
                <a:srgbClr val="ABD2EB">
                  <a:shade val="51000"/>
                  <a:satMod val="130000"/>
                </a:srgbClr>
              </a:gs>
              <a:gs pos="80000">
                <a:srgbClr val="ABD2EB">
                  <a:shade val="93000"/>
                  <a:satMod val="130000"/>
                </a:srgbClr>
              </a:gs>
              <a:gs pos="100000">
                <a:srgbClr val="ABD2EB">
                  <a:shade val="94000"/>
                  <a:satMod val="135000"/>
                </a:srgbClr>
              </a:gs>
            </a:gsLst>
            <a:lin ang="16200000" scaled="0"/>
          </a:gradFill>
          <a:ln w="9525" cap="flat" cmpd="sng" algn="ctr">
            <a:solidFill>
              <a:srgbClr val="ABD2EB">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Database</a:t>
            </a:r>
          </a:p>
        </p:txBody>
      </p:sp>
      <p:sp>
        <p:nvSpPr>
          <p:cNvPr id="39" name="Rectangle 38" descr="The database is at the bottom. Above the database in ascending order: Disk Space Management, Buffer Management, Files and Index Management, Relational Operators, Query Parsing &amp; Optimization, SQL Client" title="DBMS"/>
          <p:cNvSpPr/>
          <p:nvPr/>
        </p:nvSpPr>
        <p:spPr bwMode="auto">
          <a:xfrm>
            <a:off x="2514599" y="1665892"/>
            <a:ext cx="2430685" cy="47979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latin typeface="Helvetica Neue" charset="0"/>
                <a:ea typeface="Helvetica Neue" charset="0"/>
                <a:cs typeface="Helvetica Neue" charset="0"/>
              </a:rPr>
              <a:t>Query Parsing</a:t>
            </a:r>
            <a:br>
              <a:rPr lang="en-US" sz="1350" kern="0" dirty="0">
                <a:latin typeface="Helvetica Neue" charset="0"/>
                <a:ea typeface="Helvetica Neue" charset="0"/>
                <a:cs typeface="Helvetica Neue" charset="0"/>
              </a:rPr>
            </a:br>
            <a:r>
              <a:rPr lang="en-US" sz="1350" kern="0" dirty="0">
                <a:latin typeface="Helvetica Neue" charset="0"/>
                <a:ea typeface="Helvetica Neue" charset="0"/>
                <a:cs typeface="Helvetica Neue" charset="0"/>
              </a:rPr>
              <a:t>&amp; Optimization</a:t>
            </a:r>
          </a:p>
        </p:txBody>
      </p:sp>
      <p:sp>
        <p:nvSpPr>
          <p:cNvPr id="40" name="Rectangle 39" descr="The database is at the bottom. Above the database in ascending order: Disk Space Management, Buffer Management, Files and Index Management, Relational Operators, Query Parsing &amp; Optimization, SQL Client" title="DBMS"/>
          <p:cNvSpPr/>
          <p:nvPr/>
        </p:nvSpPr>
        <p:spPr bwMode="auto">
          <a:xfrm>
            <a:off x="2514600" y="1006490"/>
            <a:ext cx="2430685" cy="514065"/>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SQL Client</a:t>
            </a:r>
            <a:endParaRPr lang="en-US" sz="1350" kern="0" dirty="0">
              <a:solidFill>
                <a:srgbClr val="000000"/>
              </a:solidFill>
              <a:latin typeface="Helvetica Neue" charset="0"/>
              <a:ea typeface="Helvetica Neue" charset="0"/>
              <a:cs typeface="Helvetica Neue" charset="0"/>
            </a:endParaRPr>
          </a:p>
        </p:txBody>
      </p:sp>
      <p:sp>
        <p:nvSpPr>
          <p:cNvPr id="41" name="Rectangle 40" descr="The database is at the bottom. Above the database in ascending order: Disk Space Management, Buffer Management, Files and Index Management, Relational Operators, Query Parsing &amp; Optimization, SQL Client" title="DBMS"/>
          <p:cNvSpPr/>
          <p:nvPr/>
        </p:nvSpPr>
        <p:spPr bwMode="auto">
          <a:xfrm>
            <a:off x="2514597" y="2156707"/>
            <a:ext cx="2430685" cy="477488"/>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latin typeface="Helvetica Neue" charset="0"/>
                <a:ea typeface="Helvetica Neue" charset="0"/>
                <a:cs typeface="Helvetica Neue" charset="0"/>
              </a:rPr>
              <a:t>Relational Operators</a:t>
            </a:r>
          </a:p>
        </p:txBody>
      </p:sp>
      <p:sp>
        <p:nvSpPr>
          <p:cNvPr id="42" name="Rectangle 41" descr="The database is at the bottom. Above the database in ascending order: Disk Space Management, Buffer Management, Files and Index Management, Relational Operators, Query Parsing &amp; Optimization, SQL Client" title="DBMS"/>
          <p:cNvSpPr/>
          <p:nvPr/>
        </p:nvSpPr>
        <p:spPr bwMode="auto">
          <a:xfrm>
            <a:off x="2514598" y="2645010"/>
            <a:ext cx="2430685" cy="46828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latin typeface="Helvetica Neue" charset="0"/>
                <a:ea typeface="Helvetica Neue" charset="0"/>
                <a:cs typeface="Helvetica Neue" charset="0"/>
              </a:rPr>
              <a:t>Files and Index Management</a:t>
            </a:r>
          </a:p>
        </p:txBody>
      </p:sp>
      <p:sp>
        <p:nvSpPr>
          <p:cNvPr id="43" name="Rectangle 42" descr="The database is at the bottom. Above the database in ascending order: Disk Space Management, Buffer Management, Files and Index Management, Relational Operators, Query Parsing &amp; Optimization, SQL Client" title="DBMS"/>
          <p:cNvSpPr/>
          <p:nvPr/>
        </p:nvSpPr>
        <p:spPr bwMode="auto">
          <a:xfrm>
            <a:off x="2514598" y="3116709"/>
            <a:ext cx="2430685" cy="459331"/>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latin typeface="Helvetica Neue" charset="0"/>
                <a:ea typeface="Helvetica Neue" charset="0"/>
                <a:cs typeface="Helvetica Neue" charset="0"/>
              </a:rPr>
              <a:t>Buffer Management</a:t>
            </a:r>
          </a:p>
        </p:txBody>
      </p:sp>
      <p:sp>
        <p:nvSpPr>
          <p:cNvPr id="44" name="Rectangle 43" descr="The database is at the bottom. Above the database in ascending order: Disk Space Management, Buffer Management, Files and Index Management, Relational Operators, Query Parsing &amp; Optimization, SQL Client" title="DBMS"/>
          <p:cNvSpPr/>
          <p:nvPr/>
        </p:nvSpPr>
        <p:spPr bwMode="auto">
          <a:xfrm>
            <a:off x="2518474" y="3576040"/>
            <a:ext cx="2430685" cy="459331"/>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latin typeface="Helvetica Neue" charset="0"/>
                <a:ea typeface="Helvetica Neue" charset="0"/>
                <a:cs typeface="Helvetica Neue" charset="0"/>
              </a:rPr>
              <a:t>Disk Space Management</a:t>
            </a:r>
          </a:p>
        </p:txBody>
      </p:sp>
      <p:sp>
        <p:nvSpPr>
          <p:cNvPr id="45" name="Left Arrow 44" descr="You have completed learning about each level of the DBMS" title="Completed"/>
          <p:cNvSpPr/>
          <p:nvPr/>
        </p:nvSpPr>
        <p:spPr>
          <a:xfrm flipH="1">
            <a:off x="2005204" y="3656898"/>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46" name="TextBox 45" descr="You have completed learning about each level of the DBMS" title="Completed"/>
          <p:cNvSpPr txBox="1"/>
          <p:nvPr/>
        </p:nvSpPr>
        <p:spPr>
          <a:xfrm>
            <a:off x="673381" y="3654429"/>
            <a:ext cx="1297695"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
        <p:nvSpPr>
          <p:cNvPr id="47" name="TextBox 46" descr="You have completed learning about each level of the DBMS" title="Completed"/>
          <p:cNvSpPr txBox="1"/>
          <p:nvPr/>
        </p:nvSpPr>
        <p:spPr>
          <a:xfrm>
            <a:off x="673381" y="1150016"/>
            <a:ext cx="1177142"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
        <p:nvSpPr>
          <p:cNvPr id="50" name="Left Arrow 49" descr="You have completed learning about each level of the DBMS" title="Completed"/>
          <p:cNvSpPr/>
          <p:nvPr/>
        </p:nvSpPr>
        <p:spPr>
          <a:xfrm flipH="1">
            <a:off x="2005204" y="2752129"/>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51" name="TextBox 50" descr="You have completed learning about each level of the DBMS" title="Completed"/>
          <p:cNvSpPr txBox="1"/>
          <p:nvPr/>
        </p:nvSpPr>
        <p:spPr>
          <a:xfrm>
            <a:off x="673381" y="2749661"/>
            <a:ext cx="1297695"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
        <p:nvSpPr>
          <p:cNvPr id="52" name="Left Arrow 51" descr="You have completed learning about each level of the DBMS" title="Completed"/>
          <p:cNvSpPr/>
          <p:nvPr/>
        </p:nvSpPr>
        <p:spPr>
          <a:xfrm flipH="1">
            <a:off x="2005204" y="1152484"/>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53" name="Left Arrow 52" descr="You have completed learning about each level of the DBMS" title="Completed"/>
          <p:cNvSpPr/>
          <p:nvPr/>
        </p:nvSpPr>
        <p:spPr>
          <a:xfrm flipH="1">
            <a:off x="2005204" y="2272260"/>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54" name="TextBox 53" descr="You have completed learning about each level of the DBMS" title="Completed"/>
          <p:cNvSpPr txBox="1"/>
          <p:nvPr/>
        </p:nvSpPr>
        <p:spPr>
          <a:xfrm>
            <a:off x="673381" y="2269791"/>
            <a:ext cx="1297695"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
        <p:nvSpPr>
          <p:cNvPr id="55" name="Left Arrow 54" descr="You have completed learning about each level of the DBMS" title="Completed"/>
          <p:cNvSpPr/>
          <p:nvPr/>
        </p:nvSpPr>
        <p:spPr>
          <a:xfrm flipH="1">
            <a:off x="2005204" y="1762197"/>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56" name="TextBox 55" descr="You have completed learning about each level of the DBMS" title="Completed"/>
          <p:cNvSpPr txBox="1"/>
          <p:nvPr/>
        </p:nvSpPr>
        <p:spPr>
          <a:xfrm>
            <a:off x="673381" y="1759728"/>
            <a:ext cx="1297695"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
        <p:nvSpPr>
          <p:cNvPr id="23" name="Left Arrow 49" descr="You have completed learning about each level of the DBMS" title="Completed">
            <a:extLst>
              <a:ext uri="{FF2B5EF4-FFF2-40B4-BE49-F238E27FC236}">
                <a16:creationId xmlns:a16="http://schemas.microsoft.com/office/drawing/2014/main" id="{82628AA9-E437-4C77-A6C7-91BF8E4E74F4}"/>
              </a:ext>
            </a:extLst>
          </p:cNvPr>
          <p:cNvSpPr/>
          <p:nvPr/>
        </p:nvSpPr>
        <p:spPr>
          <a:xfrm flipH="1">
            <a:off x="2005947" y="3177027"/>
            <a:ext cx="299852" cy="297614"/>
          </a:xfrm>
          <a:prstGeom prst="leftArrow">
            <a:avLst/>
          </a:prstGeom>
          <a:solidFill>
            <a:schemeClr val="bg2">
              <a:lumMod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24" name="TextBox 23" descr="You have completed learning about each level of the DBMS" title="Completed">
            <a:extLst>
              <a:ext uri="{FF2B5EF4-FFF2-40B4-BE49-F238E27FC236}">
                <a16:creationId xmlns:a16="http://schemas.microsoft.com/office/drawing/2014/main" id="{BE51C52F-F10F-46BE-AFE8-3D0C3F4F7A84}"/>
              </a:ext>
            </a:extLst>
          </p:cNvPr>
          <p:cNvSpPr txBox="1"/>
          <p:nvPr/>
        </p:nvSpPr>
        <p:spPr>
          <a:xfrm>
            <a:off x="674124" y="3174559"/>
            <a:ext cx="1297695" cy="323165"/>
          </a:xfrm>
          <a:prstGeom prst="rect">
            <a:avLst/>
          </a:prstGeom>
          <a:noFill/>
        </p:spPr>
        <p:txBody>
          <a:bodyPr wrap="square" rtlCol="0">
            <a:spAutoFit/>
          </a:bodyPr>
          <a:lstStyle/>
          <a:p>
            <a:r>
              <a:rPr lang="en-US" sz="1500" dirty="0">
                <a:solidFill>
                  <a:schemeClr val="bg2">
                    <a:lumMod val="50000"/>
                  </a:schemeClr>
                </a:solidFill>
                <a:latin typeface="Helvetica Neue" charset="0"/>
                <a:ea typeface="Helvetica Neue" charset="0"/>
                <a:cs typeface="Helvetica Neue" charset="0"/>
              </a:rPr>
              <a:t>Completed</a:t>
            </a:r>
          </a:p>
        </p:txBody>
      </p:sp>
    </p:spTree>
    <p:extLst>
      <p:ext uri="{BB962C8B-B14F-4D97-AF65-F5344CB8AC3E}">
        <p14:creationId xmlns:p14="http://schemas.microsoft.com/office/powerpoint/2010/main" val="117094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Can 62" descr="Lowest level" title="Database"/>
          <p:cNvSpPr/>
          <p:nvPr/>
        </p:nvSpPr>
        <p:spPr bwMode="auto">
          <a:xfrm>
            <a:off x="3700930" y="4321554"/>
            <a:ext cx="1742140" cy="777781"/>
          </a:xfrm>
          <a:prstGeom prst="can">
            <a:avLst>
              <a:gd name="adj" fmla="val 41129"/>
            </a:avLst>
          </a:prstGeom>
          <a:gradFill rotWithShape="1">
            <a:gsLst>
              <a:gs pos="0">
                <a:srgbClr val="ABD2EB">
                  <a:shade val="51000"/>
                  <a:satMod val="130000"/>
                </a:srgbClr>
              </a:gs>
              <a:gs pos="80000">
                <a:srgbClr val="ABD2EB">
                  <a:shade val="93000"/>
                  <a:satMod val="130000"/>
                </a:srgbClr>
              </a:gs>
              <a:gs pos="100000">
                <a:srgbClr val="ABD2EB">
                  <a:shade val="94000"/>
                  <a:satMod val="135000"/>
                </a:srgbClr>
              </a:gs>
            </a:gsLst>
            <a:lin ang="16200000" scaled="0"/>
          </a:gradFill>
          <a:ln w="9525" cap="flat" cmpd="sng" algn="ctr">
            <a:solidFill>
              <a:srgbClr val="ABD2EB">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Database</a:t>
            </a:r>
          </a:p>
        </p:txBody>
      </p:sp>
      <p:sp>
        <p:nvSpPr>
          <p:cNvPr id="20" name="Title 1"/>
          <p:cNvSpPr>
            <a:spLocks noGrp="1"/>
          </p:cNvSpPr>
          <p:nvPr>
            <p:ph type="title"/>
          </p:nvPr>
        </p:nvSpPr>
        <p:spPr>
          <a:xfrm>
            <a:off x="457200" y="205979"/>
            <a:ext cx="8229600" cy="857250"/>
          </a:xfrm>
        </p:spPr>
        <p:txBody>
          <a:bodyPr/>
          <a:lstStyle/>
          <a:p>
            <a:r>
              <a:rPr lang="en-US" dirty="0"/>
              <a:t>Architecture of a DBMS, Part 2</a:t>
            </a:r>
          </a:p>
        </p:txBody>
      </p:sp>
      <p:sp>
        <p:nvSpPr>
          <p:cNvPr id="24" name="Rectangle 23" descr="Disk Space Management, Buffer Management, Files and Index Management, Relational Operators, Query Parsing &amp; Optimization, SQL Client" title="DBMS 1"/>
          <p:cNvSpPr/>
          <p:nvPr/>
        </p:nvSpPr>
        <p:spPr bwMode="auto">
          <a:xfrm>
            <a:off x="1828800" y="1685488"/>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25" name="Rectangle 24" descr="Disk Space Management, Buffer Management, Files and Index Management, Relational Operators, Query Parsing &amp; Optimization, SQL Client" title="DBMS 1"/>
          <p:cNvSpPr/>
          <p:nvPr/>
        </p:nvSpPr>
        <p:spPr bwMode="auto">
          <a:xfrm>
            <a:off x="1904620" y="1742863"/>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26" name="Rectangle 25" descr="Disk Space Management, Buffer Management, Files and Index Management, Relational Operators, Query Parsing &amp; Optimization, SQL Client" title="DBMS 1"/>
          <p:cNvSpPr/>
          <p:nvPr/>
        </p:nvSpPr>
        <p:spPr bwMode="auto">
          <a:xfrm>
            <a:off x="1904620" y="1332037"/>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27" name="Rectangle 26" descr="Disk Space Management, Buffer Management, Files and Index Management, Relational Operators, Query Parsing &amp; Optimization, SQL Client" title="DBMS 1"/>
          <p:cNvSpPr/>
          <p:nvPr/>
        </p:nvSpPr>
        <p:spPr bwMode="auto">
          <a:xfrm>
            <a:off x="1904620" y="2042871"/>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28" name="Rectangle 27" descr="Disk Space Management, Buffer Management, Files and Index Management, Relational Operators, Query Parsing &amp; Optimization, SQL Client" title="DBMS 1"/>
          <p:cNvSpPr/>
          <p:nvPr/>
        </p:nvSpPr>
        <p:spPr bwMode="auto">
          <a:xfrm>
            <a:off x="1904620" y="2338023"/>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29" name="Rectangle 28" descr="Disk Space Management, Buffer Management, Files and Index Management, Relational Operators, Query Parsing &amp; Optimization, SQL Client" title="DBMS 1"/>
          <p:cNvSpPr/>
          <p:nvPr/>
        </p:nvSpPr>
        <p:spPr bwMode="auto">
          <a:xfrm>
            <a:off x="1904622" y="2637603"/>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30" name="Rectangle 29" descr="Disk Space Management, Buffer Management, Files and Index Management, Relational Operators, Query Parsing &amp; Optimization, SQL Client" title="DBMS 1"/>
          <p:cNvSpPr/>
          <p:nvPr/>
        </p:nvSpPr>
        <p:spPr bwMode="auto">
          <a:xfrm>
            <a:off x="1904625" y="2929549"/>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45" name="Rectangle 44" descr="Disk Space Management, Buffer Management, Files and Index Management, Relational Operators, Query Parsing &amp; Optimization, SQL Client" title="DBMS 2"/>
          <p:cNvSpPr/>
          <p:nvPr/>
        </p:nvSpPr>
        <p:spPr bwMode="auto">
          <a:xfrm>
            <a:off x="3714751" y="1812144"/>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46" name="Rectangle 45" descr="Disk Space Management, Buffer Management, Files and Index Management, Relational Operators, Query Parsing &amp; Optimization, SQL Client" title="DBMS 2"/>
          <p:cNvSpPr/>
          <p:nvPr/>
        </p:nvSpPr>
        <p:spPr bwMode="auto">
          <a:xfrm>
            <a:off x="3790572" y="1869518"/>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47" name="Rectangle 46" descr="Disk Space Management, Buffer Management, Files and Index Management, Relational Operators, Query Parsing &amp; Optimization, SQL Client" title="DBMS 2"/>
          <p:cNvSpPr/>
          <p:nvPr/>
        </p:nvSpPr>
        <p:spPr bwMode="auto">
          <a:xfrm>
            <a:off x="3790571" y="1458692"/>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48" name="Rectangle 47" descr="Disk Space Management, Buffer Management, Files and Index Management, Relational Operators, Query Parsing &amp; Optimization, SQL Client" title="DBMS 2"/>
          <p:cNvSpPr/>
          <p:nvPr/>
        </p:nvSpPr>
        <p:spPr bwMode="auto">
          <a:xfrm>
            <a:off x="3790571" y="2169527"/>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49" name="Rectangle 48" descr="Disk Space Management, Buffer Management, Files and Index Management, Relational Operators, Query Parsing &amp; Optimization, SQL Client" title="DBMS 2"/>
          <p:cNvSpPr/>
          <p:nvPr/>
        </p:nvSpPr>
        <p:spPr bwMode="auto">
          <a:xfrm>
            <a:off x="3790571" y="2464679"/>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50" name="Rectangle 49" descr="Disk Space Management, Buffer Management, Files and Index Management, Relational Operators, Query Parsing &amp; Optimization, SQL Client" title="DBMS 2"/>
          <p:cNvSpPr/>
          <p:nvPr/>
        </p:nvSpPr>
        <p:spPr bwMode="auto">
          <a:xfrm>
            <a:off x="3790574" y="2764258"/>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51" name="Rectangle 50" descr="Disk Space Management, Buffer Management, Files and Index Management, Relational Operators, Query Parsing &amp; Optimization, SQL Client" title="DBMS 2"/>
          <p:cNvSpPr/>
          <p:nvPr/>
        </p:nvSpPr>
        <p:spPr bwMode="auto">
          <a:xfrm>
            <a:off x="3790577" y="3056205"/>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52" name="Rectangle 51" descr="Disk Space Management, Buffer Management, Files and Index Management, Relational Operators, Query Parsing &amp; Optimization, SQL Client" title="DBMS 3"/>
          <p:cNvSpPr/>
          <p:nvPr/>
        </p:nvSpPr>
        <p:spPr bwMode="auto">
          <a:xfrm>
            <a:off x="5666592" y="1545067"/>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53" name="Rectangle 52" descr="Disk Space Management, Buffer Management, Files and Index Management, Relational Operators, Query Parsing &amp; Optimization, SQL Client" title="DBMS 3"/>
          <p:cNvSpPr/>
          <p:nvPr/>
        </p:nvSpPr>
        <p:spPr bwMode="auto">
          <a:xfrm>
            <a:off x="5742412" y="1602442"/>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54" name="Rectangle 53" descr="Disk Space Management, Buffer Management, Files and Index Management, Relational Operators, Query Parsing &amp; Optimization, SQL Client" title="DBMS 3"/>
          <p:cNvSpPr/>
          <p:nvPr/>
        </p:nvSpPr>
        <p:spPr bwMode="auto">
          <a:xfrm>
            <a:off x="5742412" y="1191616"/>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55" name="Rectangle 54" descr="Disk Space Management, Buffer Management, Files and Index Management, Relational Operators, Query Parsing &amp; Optimization, SQL Client" title="DBMS 3"/>
          <p:cNvSpPr/>
          <p:nvPr/>
        </p:nvSpPr>
        <p:spPr bwMode="auto">
          <a:xfrm>
            <a:off x="5742412" y="1902450"/>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56" name="Rectangle 55" descr="Disk Space Management, Buffer Management, Files and Index Management, Relational Operators, Query Parsing &amp; Optimization, SQL Client" title="DBMS 3"/>
          <p:cNvSpPr/>
          <p:nvPr/>
        </p:nvSpPr>
        <p:spPr bwMode="auto">
          <a:xfrm>
            <a:off x="5742412" y="2197602"/>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57" name="Rectangle 56" descr="Disk Space Management, Buffer Management, Files and Index Management, Relational Operators, Query Parsing &amp; Optimization, SQL Client" title="DBMS 3"/>
          <p:cNvSpPr/>
          <p:nvPr/>
        </p:nvSpPr>
        <p:spPr bwMode="auto">
          <a:xfrm>
            <a:off x="5742414" y="2497182"/>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58" name="Rectangle 57" descr="Disk Space Management, Buffer Management, Files and Index Management, Relational Operators, Query Parsing &amp; Optimization, SQL Client" title="DBMS 3"/>
          <p:cNvSpPr/>
          <p:nvPr/>
        </p:nvSpPr>
        <p:spPr bwMode="auto">
          <a:xfrm>
            <a:off x="5742417" y="2789128"/>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2" name="Right Brace 1" descr="Lies on top of the database. The rest of the DBMS is above the transaction manager. You are here"/>
          <p:cNvSpPr/>
          <p:nvPr/>
        </p:nvSpPr>
        <p:spPr>
          <a:xfrm rot="5400000">
            <a:off x="4329812" y="863652"/>
            <a:ext cx="427228" cy="5429251"/>
          </a:xfrm>
          <a:prstGeom prst="rightBrace">
            <a:avLst>
              <a:gd name="adj1" fmla="val 0"/>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9" name="Left Arrow 58" descr="Lies on top of the database. The rest of the DBMS is above the transaction manager. You are here"/>
          <p:cNvSpPr/>
          <p:nvPr/>
        </p:nvSpPr>
        <p:spPr>
          <a:xfrm flipH="1">
            <a:off x="2835229" y="4037178"/>
            <a:ext cx="299852" cy="2976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60" name="TextBox 59" descr="Lies on top of the database. The rest of the DBMS is above the transaction manager. You are here"/>
          <p:cNvSpPr txBox="1"/>
          <p:nvPr/>
        </p:nvSpPr>
        <p:spPr>
          <a:xfrm>
            <a:off x="1398697" y="4034709"/>
            <a:ext cx="1613687" cy="323165"/>
          </a:xfrm>
          <a:prstGeom prst="rect">
            <a:avLst/>
          </a:prstGeom>
          <a:noFill/>
        </p:spPr>
        <p:txBody>
          <a:bodyPr wrap="square" rtlCol="0">
            <a:spAutoFit/>
          </a:bodyPr>
          <a:lstStyle/>
          <a:p>
            <a:r>
              <a:rPr lang="en-US" sz="1500" dirty="0">
                <a:latin typeface="Helvetica Neue" charset="0"/>
                <a:ea typeface="Helvetica Neue" charset="0"/>
                <a:cs typeface="Helvetica Neue" charset="0"/>
              </a:rPr>
              <a:t>You are here</a:t>
            </a:r>
          </a:p>
        </p:txBody>
      </p:sp>
      <p:sp>
        <p:nvSpPr>
          <p:cNvPr id="62" name="Rectangle 61" descr="Lies on top of the database. The rest of the DBMS is above the transaction manager. You are here" title="Transaction Manager"/>
          <p:cNvSpPr/>
          <p:nvPr/>
        </p:nvSpPr>
        <p:spPr bwMode="auto">
          <a:xfrm>
            <a:off x="3328083" y="3874498"/>
            <a:ext cx="2430685" cy="477488"/>
          </a:xfrm>
          <a:prstGeom prst="rect">
            <a:avLst/>
          </a:prstGeom>
          <a:gradFill rotWithShape="1">
            <a:gsLst>
              <a:gs pos="0">
                <a:srgbClr val="2A80B7">
                  <a:shade val="51000"/>
                  <a:satMod val="130000"/>
                </a:srgbClr>
              </a:gs>
              <a:gs pos="80000">
                <a:srgbClr val="2A80B7">
                  <a:shade val="93000"/>
                  <a:satMod val="130000"/>
                </a:srgbClr>
              </a:gs>
              <a:gs pos="100000">
                <a:srgbClr val="2A80B7">
                  <a:shade val="94000"/>
                  <a:satMod val="135000"/>
                </a:srgbClr>
              </a:gs>
            </a:gsLst>
            <a:lin ang="16200000" scaled="0"/>
          </a:gradFill>
          <a:ln w="9525" cap="flat" cmpd="sng" algn="ctr">
            <a:solidFill>
              <a:srgbClr val="2A80B7">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Transaction Manager</a:t>
            </a:r>
          </a:p>
        </p:txBody>
      </p:sp>
    </p:spTree>
    <p:extLst>
      <p:ext uri="{BB962C8B-B14F-4D97-AF65-F5344CB8AC3E}">
        <p14:creationId xmlns:p14="http://schemas.microsoft.com/office/powerpoint/2010/main" val="129426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Can 62" descr="Lowest level" title="Database"/>
          <p:cNvSpPr/>
          <p:nvPr/>
        </p:nvSpPr>
        <p:spPr bwMode="auto">
          <a:xfrm>
            <a:off x="3700930" y="4321554"/>
            <a:ext cx="1742140" cy="777781"/>
          </a:xfrm>
          <a:prstGeom prst="can">
            <a:avLst>
              <a:gd name="adj" fmla="val 41129"/>
            </a:avLst>
          </a:prstGeom>
          <a:gradFill rotWithShape="1">
            <a:gsLst>
              <a:gs pos="0">
                <a:srgbClr val="ABD2EB">
                  <a:shade val="51000"/>
                  <a:satMod val="130000"/>
                </a:srgbClr>
              </a:gs>
              <a:gs pos="80000">
                <a:srgbClr val="ABD2EB">
                  <a:shade val="93000"/>
                  <a:satMod val="130000"/>
                </a:srgbClr>
              </a:gs>
              <a:gs pos="100000">
                <a:srgbClr val="ABD2EB">
                  <a:shade val="94000"/>
                  <a:satMod val="135000"/>
                </a:srgbClr>
              </a:gs>
            </a:gsLst>
            <a:lin ang="16200000" scaled="0"/>
          </a:gradFill>
          <a:ln w="9525" cap="flat" cmpd="sng" algn="ctr">
            <a:solidFill>
              <a:srgbClr val="ABD2EB">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Database</a:t>
            </a:r>
          </a:p>
        </p:txBody>
      </p:sp>
      <p:sp>
        <p:nvSpPr>
          <p:cNvPr id="20" name="Title 1"/>
          <p:cNvSpPr>
            <a:spLocks noGrp="1"/>
          </p:cNvSpPr>
          <p:nvPr>
            <p:ph type="title"/>
          </p:nvPr>
        </p:nvSpPr>
        <p:spPr/>
        <p:txBody>
          <a:bodyPr/>
          <a:lstStyle/>
          <a:p>
            <a:r>
              <a:rPr lang="en-US" dirty="0"/>
              <a:t>Architecture of a DBMS, Part 3</a:t>
            </a:r>
          </a:p>
        </p:txBody>
      </p:sp>
      <p:sp>
        <p:nvSpPr>
          <p:cNvPr id="45" name="Rectangle 44" descr="Disk Space Management, Buffer Management, Files and Index Management, Relational Operators, Query Parsing &amp; Optimization, SQL Client" title="DBMS 2"/>
          <p:cNvSpPr/>
          <p:nvPr/>
        </p:nvSpPr>
        <p:spPr bwMode="auto">
          <a:xfrm>
            <a:off x="3714751" y="1812144"/>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2" name="Right Brace 1" descr="Lies on top of the database.  Is made of the lock manager and logging and recovery systems. The rest of the DBMS is above the transaction manager. You are here" title="Transaction Manager"/>
          <p:cNvSpPr/>
          <p:nvPr/>
        </p:nvSpPr>
        <p:spPr>
          <a:xfrm rot="5400000">
            <a:off x="4329812" y="863652"/>
            <a:ext cx="427228" cy="5429251"/>
          </a:xfrm>
          <a:prstGeom prst="rightBrace">
            <a:avLst>
              <a:gd name="adj1" fmla="val 0"/>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9" name="Left Arrow 58" descr="Lies on top of the database.  Is made of the lock manager and logging and recovery systems. The rest of the DBMS is above the transaction manager. You are here" title="Transaction Manager"/>
          <p:cNvSpPr/>
          <p:nvPr/>
        </p:nvSpPr>
        <p:spPr>
          <a:xfrm flipH="1">
            <a:off x="2835229" y="4037178"/>
            <a:ext cx="299852" cy="2976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60" name="TextBox 59" descr="Lies on top of the database.  Is made of the lock manager and logging and recovery systems. The rest of the DBMS is above the transaction manager. You are here" title="Transaction Manager"/>
          <p:cNvSpPr txBox="1"/>
          <p:nvPr/>
        </p:nvSpPr>
        <p:spPr>
          <a:xfrm>
            <a:off x="1398697" y="4034709"/>
            <a:ext cx="1613687" cy="323165"/>
          </a:xfrm>
          <a:prstGeom prst="rect">
            <a:avLst/>
          </a:prstGeom>
          <a:noFill/>
        </p:spPr>
        <p:txBody>
          <a:bodyPr wrap="square" rtlCol="0">
            <a:spAutoFit/>
          </a:bodyPr>
          <a:lstStyle/>
          <a:p>
            <a:r>
              <a:rPr lang="en-US" sz="1500" dirty="0">
                <a:latin typeface="Helvetica Neue" charset="0"/>
                <a:ea typeface="Helvetica Neue" charset="0"/>
                <a:cs typeface="Helvetica Neue" charset="0"/>
              </a:rPr>
              <a:t>You are here</a:t>
            </a:r>
          </a:p>
        </p:txBody>
      </p:sp>
      <p:sp>
        <p:nvSpPr>
          <p:cNvPr id="31" name="Rectangle 30" descr="Lies on top of the database.  Is made of the lock manager and logging and recovery systems. The rest of the DBMS is above the transaction manager. You are here" title="Transaction Manager">
            <a:extLst>
              <a:ext uri="{FF2B5EF4-FFF2-40B4-BE49-F238E27FC236}">
                <a16:creationId xmlns:a16="http://schemas.microsoft.com/office/drawing/2014/main" id="{C8009350-EAF0-F542-895E-27A990928F75}"/>
              </a:ext>
            </a:extLst>
          </p:cNvPr>
          <p:cNvSpPr/>
          <p:nvPr/>
        </p:nvSpPr>
        <p:spPr bwMode="auto">
          <a:xfrm>
            <a:off x="4543720" y="3874498"/>
            <a:ext cx="1215047" cy="477488"/>
          </a:xfrm>
          <a:prstGeom prst="rect">
            <a:avLst/>
          </a:prstGeom>
          <a:gradFill rotWithShape="1">
            <a:gsLst>
              <a:gs pos="0">
                <a:srgbClr val="2A80B7">
                  <a:shade val="51000"/>
                  <a:satMod val="130000"/>
                </a:srgbClr>
              </a:gs>
              <a:gs pos="80000">
                <a:srgbClr val="2A80B7">
                  <a:shade val="93000"/>
                  <a:satMod val="130000"/>
                </a:srgbClr>
              </a:gs>
              <a:gs pos="100000">
                <a:srgbClr val="2A80B7">
                  <a:shade val="94000"/>
                  <a:satMod val="135000"/>
                </a:srgbClr>
              </a:gs>
            </a:gsLst>
            <a:lin ang="16200000" scaled="0"/>
          </a:gradFill>
          <a:ln w="9525" cap="flat" cmpd="sng" algn="ctr">
            <a:solidFill>
              <a:srgbClr val="2A80B7">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Logging &amp; Recovery</a:t>
            </a:r>
          </a:p>
        </p:txBody>
      </p:sp>
      <p:sp>
        <p:nvSpPr>
          <p:cNvPr id="32" name="Rectangle 31" descr="Lies on top of the database.  Is made of the lock manager and logging and recovery systems. The rest of the DBMS is above the transaction manager. You are here" title="Transaction Manager">
            <a:extLst>
              <a:ext uri="{FF2B5EF4-FFF2-40B4-BE49-F238E27FC236}">
                <a16:creationId xmlns:a16="http://schemas.microsoft.com/office/drawing/2014/main" id="{7B869BB3-31B7-AA45-A3FB-DE16A4B9A513}"/>
              </a:ext>
            </a:extLst>
          </p:cNvPr>
          <p:cNvSpPr/>
          <p:nvPr/>
        </p:nvSpPr>
        <p:spPr bwMode="auto">
          <a:xfrm>
            <a:off x="3328083" y="3874498"/>
            <a:ext cx="1215637" cy="477488"/>
          </a:xfrm>
          <a:prstGeom prst="rect">
            <a:avLst/>
          </a:prstGeom>
          <a:gradFill rotWithShape="1">
            <a:gsLst>
              <a:gs pos="0">
                <a:srgbClr val="2A80B7">
                  <a:shade val="51000"/>
                  <a:satMod val="130000"/>
                </a:srgbClr>
              </a:gs>
              <a:gs pos="80000">
                <a:srgbClr val="2A80B7">
                  <a:shade val="93000"/>
                  <a:satMod val="130000"/>
                </a:srgbClr>
              </a:gs>
              <a:gs pos="100000">
                <a:srgbClr val="2A80B7">
                  <a:shade val="94000"/>
                  <a:satMod val="135000"/>
                </a:srgbClr>
              </a:gs>
            </a:gsLst>
            <a:lin ang="16200000" scaled="0"/>
          </a:gradFill>
          <a:ln w="9525" cap="flat" cmpd="sng" algn="ctr">
            <a:solidFill>
              <a:srgbClr val="2A80B7">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Lock Manager</a:t>
            </a:r>
          </a:p>
        </p:txBody>
      </p:sp>
      <p:sp>
        <p:nvSpPr>
          <p:cNvPr id="33" name="Rectangle 32" descr="Disk Space Management, Buffer Management, Files and Index Management, Relational Operators, Query Parsing &amp; Optimization, SQL Client" title="DBMS 1">
            <a:extLst>
              <a:ext uri="{FF2B5EF4-FFF2-40B4-BE49-F238E27FC236}">
                <a16:creationId xmlns:a16="http://schemas.microsoft.com/office/drawing/2014/main" id="{5537DE4E-CB06-9A4D-A8BF-130E7008F2B2}"/>
              </a:ext>
            </a:extLst>
          </p:cNvPr>
          <p:cNvSpPr/>
          <p:nvPr/>
        </p:nvSpPr>
        <p:spPr bwMode="auto">
          <a:xfrm>
            <a:off x="1828800" y="1685488"/>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34" name="Rectangle 33" descr="Disk Space Management, Buffer Management, Files and Index Management, Relational Operators, Query Parsing &amp; Optimization, SQL Client" title="DBMS 1">
            <a:extLst>
              <a:ext uri="{FF2B5EF4-FFF2-40B4-BE49-F238E27FC236}">
                <a16:creationId xmlns:a16="http://schemas.microsoft.com/office/drawing/2014/main" id="{E2081982-A6C7-9749-9D9E-3B141F0AB4FC}"/>
              </a:ext>
            </a:extLst>
          </p:cNvPr>
          <p:cNvSpPr/>
          <p:nvPr/>
        </p:nvSpPr>
        <p:spPr bwMode="auto">
          <a:xfrm>
            <a:off x="1904620" y="1742863"/>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35" name="Rectangle 34" descr="Disk Space Management, Buffer Management, Files and Index Management, Relational Operators, Query Parsing &amp; Optimization, SQL Client" title="DBMS 1">
            <a:extLst>
              <a:ext uri="{FF2B5EF4-FFF2-40B4-BE49-F238E27FC236}">
                <a16:creationId xmlns:a16="http://schemas.microsoft.com/office/drawing/2014/main" id="{3A5E28D1-33E5-B347-8EBC-E0F7812ED9F9}"/>
              </a:ext>
            </a:extLst>
          </p:cNvPr>
          <p:cNvSpPr/>
          <p:nvPr/>
        </p:nvSpPr>
        <p:spPr bwMode="auto">
          <a:xfrm>
            <a:off x="1904620" y="1332037"/>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36" name="Rectangle 35" descr="Disk Space Management, Buffer Management, Files and Index Management, Relational Operators, Query Parsing &amp; Optimization, SQL Client" title="DBMS 1">
            <a:extLst>
              <a:ext uri="{FF2B5EF4-FFF2-40B4-BE49-F238E27FC236}">
                <a16:creationId xmlns:a16="http://schemas.microsoft.com/office/drawing/2014/main" id="{C8BEFEFC-D7AD-734E-96A9-EA3590659874}"/>
              </a:ext>
            </a:extLst>
          </p:cNvPr>
          <p:cNvSpPr/>
          <p:nvPr/>
        </p:nvSpPr>
        <p:spPr bwMode="auto">
          <a:xfrm>
            <a:off x="1904620" y="2042871"/>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37" name="Rectangle 36" descr="Disk Space Management, Buffer Management, Files and Index Management, Relational Operators, Query Parsing &amp; Optimization, SQL Client" title="DBMS 1">
            <a:extLst>
              <a:ext uri="{FF2B5EF4-FFF2-40B4-BE49-F238E27FC236}">
                <a16:creationId xmlns:a16="http://schemas.microsoft.com/office/drawing/2014/main" id="{E21C3819-991D-CC4F-AFDF-CD0A11E390C4}"/>
              </a:ext>
            </a:extLst>
          </p:cNvPr>
          <p:cNvSpPr/>
          <p:nvPr/>
        </p:nvSpPr>
        <p:spPr bwMode="auto">
          <a:xfrm>
            <a:off x="1904620" y="2338023"/>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38" name="Rectangle 37" descr="Disk Space Management, Buffer Management, Files and Index Management, Relational Operators, Query Parsing &amp; Optimization, SQL Client" title="DBMS 1">
            <a:extLst>
              <a:ext uri="{FF2B5EF4-FFF2-40B4-BE49-F238E27FC236}">
                <a16:creationId xmlns:a16="http://schemas.microsoft.com/office/drawing/2014/main" id="{A8726674-24D9-1640-BBBF-6F13935E0AE1}"/>
              </a:ext>
            </a:extLst>
          </p:cNvPr>
          <p:cNvSpPr/>
          <p:nvPr/>
        </p:nvSpPr>
        <p:spPr bwMode="auto">
          <a:xfrm>
            <a:off x="1904622" y="2637603"/>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39" name="Rectangle 38" descr="Disk Space Management, Buffer Management, Files and Index Management, Relational Operators, Query Parsing &amp; Optimization, SQL Client" title="DBMS 1">
            <a:extLst>
              <a:ext uri="{FF2B5EF4-FFF2-40B4-BE49-F238E27FC236}">
                <a16:creationId xmlns:a16="http://schemas.microsoft.com/office/drawing/2014/main" id="{1439B9C1-DCCA-C44A-AC22-4F4ADA02D29C}"/>
              </a:ext>
            </a:extLst>
          </p:cNvPr>
          <p:cNvSpPr/>
          <p:nvPr/>
        </p:nvSpPr>
        <p:spPr bwMode="auto">
          <a:xfrm>
            <a:off x="1904625" y="2929549"/>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40" name="Rectangle 39" descr="Disk Space Management, Buffer Management, Files and Index Management, Relational Operators, Query Parsing &amp; Optimization, SQL Client" title="DBMS 2">
            <a:extLst>
              <a:ext uri="{FF2B5EF4-FFF2-40B4-BE49-F238E27FC236}">
                <a16:creationId xmlns:a16="http://schemas.microsoft.com/office/drawing/2014/main" id="{AF4C1023-06BA-F84A-B285-3AD0F4500A57}"/>
              </a:ext>
            </a:extLst>
          </p:cNvPr>
          <p:cNvSpPr/>
          <p:nvPr/>
        </p:nvSpPr>
        <p:spPr bwMode="auto">
          <a:xfrm>
            <a:off x="3714751" y="1812144"/>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41" name="Rectangle 40" descr="Disk Space Management, Buffer Management, Files and Index Management, Relational Operators, Query Parsing &amp; Optimization, SQL Client" title="DBMS 2">
            <a:extLst>
              <a:ext uri="{FF2B5EF4-FFF2-40B4-BE49-F238E27FC236}">
                <a16:creationId xmlns:a16="http://schemas.microsoft.com/office/drawing/2014/main" id="{946F8456-E7F6-454A-81B4-094A4FC92E64}"/>
              </a:ext>
            </a:extLst>
          </p:cNvPr>
          <p:cNvSpPr/>
          <p:nvPr/>
        </p:nvSpPr>
        <p:spPr bwMode="auto">
          <a:xfrm>
            <a:off x="3790572" y="1869518"/>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42" name="Rectangle 41" descr="Disk Space Management, Buffer Management, Files and Index Management, Relational Operators, Query Parsing &amp; Optimization, SQL Client" title="DBMS 2">
            <a:extLst>
              <a:ext uri="{FF2B5EF4-FFF2-40B4-BE49-F238E27FC236}">
                <a16:creationId xmlns:a16="http://schemas.microsoft.com/office/drawing/2014/main" id="{547B64FA-DF53-1F4B-B117-7EFAFA15B3E0}"/>
              </a:ext>
            </a:extLst>
          </p:cNvPr>
          <p:cNvSpPr/>
          <p:nvPr/>
        </p:nvSpPr>
        <p:spPr bwMode="auto">
          <a:xfrm>
            <a:off x="3790571" y="1458692"/>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43" name="Rectangle 42" descr="Disk Space Management, Buffer Management, Files and Index Management, Relational Operators, Query Parsing &amp; Optimization, SQL Client" title="DBMS 2">
            <a:extLst>
              <a:ext uri="{FF2B5EF4-FFF2-40B4-BE49-F238E27FC236}">
                <a16:creationId xmlns:a16="http://schemas.microsoft.com/office/drawing/2014/main" id="{024D18BE-3054-9049-B992-5FDFCA6C2833}"/>
              </a:ext>
            </a:extLst>
          </p:cNvPr>
          <p:cNvSpPr/>
          <p:nvPr/>
        </p:nvSpPr>
        <p:spPr bwMode="auto">
          <a:xfrm>
            <a:off x="3790571" y="2169527"/>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44" name="Rectangle 43" descr="Disk Space Management, Buffer Management, Files and Index Management, Relational Operators, Query Parsing &amp; Optimization, SQL Client" title="DBMS 2">
            <a:extLst>
              <a:ext uri="{FF2B5EF4-FFF2-40B4-BE49-F238E27FC236}">
                <a16:creationId xmlns:a16="http://schemas.microsoft.com/office/drawing/2014/main" id="{85188196-0474-4641-8F6F-F117AA1B7C2A}"/>
              </a:ext>
            </a:extLst>
          </p:cNvPr>
          <p:cNvSpPr/>
          <p:nvPr/>
        </p:nvSpPr>
        <p:spPr bwMode="auto">
          <a:xfrm>
            <a:off x="3790571" y="2464679"/>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61" name="Rectangle 60" descr="Disk Space Management, Buffer Management, Files and Index Management, Relational Operators, Query Parsing &amp; Optimization, SQL Client" title="DBMS 2">
            <a:extLst>
              <a:ext uri="{FF2B5EF4-FFF2-40B4-BE49-F238E27FC236}">
                <a16:creationId xmlns:a16="http://schemas.microsoft.com/office/drawing/2014/main" id="{1565732A-5F86-0B44-8069-D152FB556263}"/>
              </a:ext>
            </a:extLst>
          </p:cNvPr>
          <p:cNvSpPr/>
          <p:nvPr/>
        </p:nvSpPr>
        <p:spPr bwMode="auto">
          <a:xfrm>
            <a:off x="3790574" y="2764258"/>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62" name="Rectangle 61" descr="Disk Space Management, Buffer Management, Files and Index Management, Relational Operators, Query Parsing &amp; Optimization, SQL Client" title="DBMS 2">
            <a:extLst>
              <a:ext uri="{FF2B5EF4-FFF2-40B4-BE49-F238E27FC236}">
                <a16:creationId xmlns:a16="http://schemas.microsoft.com/office/drawing/2014/main" id="{4E60C452-FBB3-E74B-B3F2-B325812ECDBE}"/>
              </a:ext>
            </a:extLst>
          </p:cNvPr>
          <p:cNvSpPr/>
          <p:nvPr/>
        </p:nvSpPr>
        <p:spPr bwMode="auto">
          <a:xfrm>
            <a:off x="3790577" y="3056205"/>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64" name="Rectangle 63" descr="Disk Space Management, Buffer Management, Files and Index Management, Relational Operators, Query Parsing &amp; Optimization, SQL Client" title="DBMS 3">
            <a:extLst>
              <a:ext uri="{FF2B5EF4-FFF2-40B4-BE49-F238E27FC236}">
                <a16:creationId xmlns:a16="http://schemas.microsoft.com/office/drawing/2014/main" id="{520F68F7-398C-DA48-9568-6FD6FD3FD70E}"/>
              </a:ext>
            </a:extLst>
          </p:cNvPr>
          <p:cNvSpPr/>
          <p:nvPr/>
        </p:nvSpPr>
        <p:spPr bwMode="auto">
          <a:xfrm>
            <a:off x="5666592" y="1545067"/>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65" name="Rectangle 64" descr="Disk Space Management, Buffer Management, Files and Index Management, Relational Operators, Query Parsing &amp; Optimization, SQL Client" title="DBMS 3">
            <a:extLst>
              <a:ext uri="{FF2B5EF4-FFF2-40B4-BE49-F238E27FC236}">
                <a16:creationId xmlns:a16="http://schemas.microsoft.com/office/drawing/2014/main" id="{29DEA8D2-C3ED-EB4A-9673-BA1AC60F66C4}"/>
              </a:ext>
            </a:extLst>
          </p:cNvPr>
          <p:cNvSpPr/>
          <p:nvPr/>
        </p:nvSpPr>
        <p:spPr bwMode="auto">
          <a:xfrm>
            <a:off x="5742412" y="1602442"/>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66" name="Rectangle 65" descr="Disk Space Management, Buffer Management, Files and Index Management, Relational Operators, Query Parsing &amp; Optimization, SQL Client" title="DBMS 3">
            <a:extLst>
              <a:ext uri="{FF2B5EF4-FFF2-40B4-BE49-F238E27FC236}">
                <a16:creationId xmlns:a16="http://schemas.microsoft.com/office/drawing/2014/main" id="{5B367347-863D-8842-BC91-D1EC794EAA3D}"/>
              </a:ext>
            </a:extLst>
          </p:cNvPr>
          <p:cNvSpPr/>
          <p:nvPr/>
        </p:nvSpPr>
        <p:spPr bwMode="auto">
          <a:xfrm>
            <a:off x="5742412" y="1191616"/>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67" name="Rectangle 66" descr="Disk Space Management, Buffer Management, Files and Index Management, Relational Operators, Query Parsing &amp; Optimization, SQL Client" title="DBMS 3">
            <a:extLst>
              <a:ext uri="{FF2B5EF4-FFF2-40B4-BE49-F238E27FC236}">
                <a16:creationId xmlns:a16="http://schemas.microsoft.com/office/drawing/2014/main" id="{0E4CE169-822A-0744-9EAD-03A901B0D1D1}"/>
              </a:ext>
            </a:extLst>
          </p:cNvPr>
          <p:cNvSpPr/>
          <p:nvPr/>
        </p:nvSpPr>
        <p:spPr bwMode="auto">
          <a:xfrm>
            <a:off x="5742412" y="1902450"/>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68" name="Rectangle 67" descr="Disk Space Management, Buffer Management, Files and Index Management, Relational Operators, Query Parsing &amp; Optimization, SQL Client" title="DBMS 3">
            <a:extLst>
              <a:ext uri="{FF2B5EF4-FFF2-40B4-BE49-F238E27FC236}">
                <a16:creationId xmlns:a16="http://schemas.microsoft.com/office/drawing/2014/main" id="{3E48BC73-0E75-0D49-B695-48B74738FDF6}"/>
              </a:ext>
            </a:extLst>
          </p:cNvPr>
          <p:cNvSpPr/>
          <p:nvPr/>
        </p:nvSpPr>
        <p:spPr bwMode="auto">
          <a:xfrm>
            <a:off x="5742412" y="2197602"/>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69" name="Rectangle 68" descr="Disk Space Management, Buffer Management, Files and Index Management, Relational Operators, Query Parsing &amp; Optimization, SQL Client" title="DBMS 3">
            <a:extLst>
              <a:ext uri="{FF2B5EF4-FFF2-40B4-BE49-F238E27FC236}">
                <a16:creationId xmlns:a16="http://schemas.microsoft.com/office/drawing/2014/main" id="{0CAAF124-FF8A-B648-A814-F0C61841BB6A}"/>
              </a:ext>
            </a:extLst>
          </p:cNvPr>
          <p:cNvSpPr/>
          <p:nvPr/>
        </p:nvSpPr>
        <p:spPr bwMode="auto">
          <a:xfrm>
            <a:off x="5742414" y="2497182"/>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70" name="Rectangle 69" descr="Disk Space Management, Buffer Management, Files and Index Management, Relational Operators, Query Parsing &amp; Optimization, SQL Client" title="DBMS 3">
            <a:extLst>
              <a:ext uri="{FF2B5EF4-FFF2-40B4-BE49-F238E27FC236}">
                <a16:creationId xmlns:a16="http://schemas.microsoft.com/office/drawing/2014/main" id="{C959E10B-A0A5-2241-913A-5B8D2DCB871D}"/>
              </a:ext>
            </a:extLst>
          </p:cNvPr>
          <p:cNvSpPr/>
          <p:nvPr/>
        </p:nvSpPr>
        <p:spPr bwMode="auto">
          <a:xfrm>
            <a:off x="5742417" y="2789128"/>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Tree>
    <p:extLst>
      <p:ext uri="{BB962C8B-B14F-4D97-AF65-F5344CB8AC3E}">
        <p14:creationId xmlns:p14="http://schemas.microsoft.com/office/powerpoint/2010/main" val="1441852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Applications on DBMS</a:t>
            </a:r>
          </a:p>
        </p:txBody>
      </p:sp>
      <p:sp>
        <p:nvSpPr>
          <p:cNvPr id="21" name="Content Placeholder 2"/>
          <p:cNvSpPr>
            <a:spLocks noGrp="1"/>
          </p:cNvSpPr>
          <p:nvPr>
            <p:ph idx="1"/>
          </p:nvPr>
        </p:nvSpPr>
        <p:spPr/>
        <p:txBody>
          <a:bodyPr/>
          <a:lstStyle/>
          <a:p>
            <a:r>
              <a:rPr lang="en-US" dirty="0"/>
              <a:t>Virtually any compute service that maintains state today is an application on top of some kind of DBMS</a:t>
            </a:r>
          </a:p>
          <a:p>
            <a:pPr lvl="1"/>
            <a:r>
              <a:rPr lang="en-US" dirty="0"/>
              <a:t>Uber</a:t>
            </a:r>
          </a:p>
          <a:p>
            <a:pPr lvl="1"/>
            <a:r>
              <a:rPr lang="en-US" dirty="0"/>
              <a:t>Kayak</a:t>
            </a:r>
          </a:p>
          <a:p>
            <a:pPr lvl="1"/>
            <a:r>
              <a:rPr lang="en-US" dirty="0" err="1"/>
              <a:t>Amazon.com</a:t>
            </a:r>
            <a:endParaRPr lang="en-US" dirty="0"/>
          </a:p>
          <a:p>
            <a:pPr lvl="1"/>
            <a:r>
              <a:rPr lang="en-US" dirty="0" err="1"/>
              <a:t>BankofAmerica</a:t>
            </a:r>
            <a:endParaRPr lang="en-US" dirty="0"/>
          </a:p>
          <a:p>
            <a:pPr lvl="1"/>
            <a:r>
              <a:rPr lang="en-US" dirty="0" err="1"/>
              <a:t>Pokemon</a:t>
            </a:r>
            <a:r>
              <a:rPr lang="en-US" dirty="0"/>
              <a:t> Go </a:t>
            </a:r>
          </a:p>
        </p:txBody>
      </p:sp>
      <p:pic>
        <p:nvPicPr>
          <p:cNvPr id="3" name="Picture 2" title="Kayak App"/>
          <p:cNvPicPr>
            <a:picLocks noChangeAspect="1"/>
          </p:cNvPicPr>
          <p:nvPr/>
        </p:nvPicPr>
        <p:blipFill rotWithShape="1">
          <a:blip r:embed="rId3"/>
          <a:srcRect l="13337" t="27120" r="13651" b="31213"/>
          <a:stretch/>
        </p:blipFill>
        <p:spPr>
          <a:xfrm>
            <a:off x="4570708" y="4048729"/>
            <a:ext cx="1622314" cy="422911"/>
          </a:xfrm>
          <a:prstGeom prst="rect">
            <a:avLst/>
          </a:prstGeom>
        </p:spPr>
      </p:pic>
      <p:pic>
        <p:nvPicPr>
          <p:cNvPr id="4" name="Picture 3" title="Amazon website"/>
          <p:cNvPicPr>
            <a:picLocks noChangeAspect="1"/>
          </p:cNvPicPr>
          <p:nvPr/>
        </p:nvPicPr>
        <p:blipFill>
          <a:blip r:embed="rId4"/>
          <a:stretch>
            <a:fillRect/>
          </a:stretch>
        </p:blipFill>
        <p:spPr>
          <a:xfrm>
            <a:off x="2299817" y="3794478"/>
            <a:ext cx="1922138" cy="1079659"/>
          </a:xfrm>
          <a:prstGeom prst="rect">
            <a:avLst/>
          </a:prstGeom>
        </p:spPr>
      </p:pic>
      <p:pic>
        <p:nvPicPr>
          <p:cNvPr id="5" name="Picture 4" title="Bank of America App"/>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3646233"/>
            <a:ext cx="1451913" cy="1227904"/>
          </a:xfrm>
          <a:prstGeom prst="rect">
            <a:avLst/>
          </a:prstGeom>
        </p:spPr>
      </p:pic>
      <p:pic>
        <p:nvPicPr>
          <p:cNvPr id="6" name="Picture 5" title="Cal Central website"/>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30247" y="1860016"/>
            <a:ext cx="2116615" cy="1724413"/>
          </a:xfrm>
          <a:prstGeom prst="rect">
            <a:avLst/>
          </a:prstGeom>
        </p:spPr>
      </p:pic>
      <p:pic>
        <p:nvPicPr>
          <p:cNvPr id="7" name="Picture 6" title="Pokemon Go"/>
          <p:cNvPicPr>
            <a:picLocks noChangeAspect="1"/>
          </p:cNvPicPr>
          <p:nvPr/>
        </p:nvPicPr>
        <p:blipFill>
          <a:blip r:embed="rId7"/>
          <a:stretch>
            <a:fillRect/>
          </a:stretch>
        </p:blipFill>
        <p:spPr>
          <a:xfrm>
            <a:off x="7217820" y="1733550"/>
            <a:ext cx="948812" cy="1518098"/>
          </a:xfrm>
          <a:prstGeom prst="rect">
            <a:avLst/>
          </a:prstGeom>
        </p:spPr>
      </p:pic>
      <p:pic>
        <p:nvPicPr>
          <p:cNvPr id="15" name="Picture 14" title="Uber app">
            <a:extLst>
              <a:ext uri="{FF2B5EF4-FFF2-40B4-BE49-F238E27FC236}">
                <a16:creationId xmlns:a16="http://schemas.microsoft.com/office/drawing/2014/main" id="{A93A202C-D3AE-F446-9B5B-ACC96C69AF9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46862" y="1866352"/>
            <a:ext cx="970805" cy="1698908"/>
          </a:xfrm>
          <a:prstGeom prst="rect">
            <a:avLst/>
          </a:prstGeom>
        </p:spPr>
      </p:pic>
    </p:spTree>
    <p:extLst>
      <p:ext uri="{BB962C8B-B14F-4D97-AF65-F5344CB8AC3E}">
        <p14:creationId xmlns:p14="http://schemas.microsoft.com/office/powerpoint/2010/main" val="1037761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50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500"/>
                                  </p:stCondLst>
                                  <p:childTnLst>
                                    <p:set>
                                      <p:cBhvr>
                                        <p:cTn id="2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normAutofit fontScale="90000"/>
          </a:bodyPr>
          <a:lstStyle/>
          <a:p>
            <a:r>
              <a:rPr lang="en-US"/>
              <a:t>Applications Want Something from the DBMS</a:t>
            </a:r>
            <a:endParaRPr lang="en-US" dirty="0"/>
          </a:p>
        </p:txBody>
      </p:sp>
      <p:sp>
        <p:nvSpPr>
          <p:cNvPr id="21" name="Content Placeholder 2"/>
          <p:cNvSpPr>
            <a:spLocks noGrp="1"/>
          </p:cNvSpPr>
          <p:nvPr>
            <p:ph idx="1"/>
          </p:nvPr>
        </p:nvSpPr>
        <p:spPr>
          <a:xfrm>
            <a:off x="457200" y="1200151"/>
            <a:ext cx="8839200" cy="3394472"/>
          </a:xfrm>
        </p:spPr>
        <p:txBody>
          <a:bodyPr>
            <a:normAutofit/>
          </a:bodyPr>
          <a:lstStyle/>
          <a:p>
            <a:r>
              <a:rPr lang="en-US" sz="1600" dirty="0"/>
              <a:t>Queries and updates of course: what you learned so far!</a:t>
            </a:r>
          </a:p>
          <a:p>
            <a:r>
              <a:rPr lang="en-US" sz="1600" dirty="0"/>
              <a:t>Real applications are composed of many statements being generated by user behaviors</a:t>
            </a:r>
          </a:p>
          <a:p>
            <a:r>
              <a:rPr lang="en-US" sz="1600" dirty="0"/>
              <a:t>Many users work with the application at the same time </a:t>
            </a:r>
          </a:p>
          <a:p>
            <a:pPr marL="0" indent="0">
              <a:buNone/>
            </a:pPr>
            <a:endParaRPr lang="en-US" sz="1600" dirty="0"/>
          </a:p>
        </p:txBody>
      </p:sp>
      <p:grpSp>
        <p:nvGrpSpPr>
          <p:cNvPr id="8" name="Group 2" descr="Double headed arrows between a DBMS and three different users on their laptops. Each arrow is labeled SQL" title="DBMS">
            <a:extLst>
              <a:ext uri="{FF2B5EF4-FFF2-40B4-BE49-F238E27FC236}">
                <a16:creationId xmlns:a16="http://schemas.microsoft.com/office/drawing/2014/main" id="{1A7329DB-5787-F349-9A2F-194D911E6948}"/>
              </a:ext>
            </a:extLst>
          </p:cNvPr>
          <p:cNvGrpSpPr/>
          <p:nvPr/>
        </p:nvGrpSpPr>
        <p:grpSpPr>
          <a:xfrm>
            <a:off x="968806" y="2336262"/>
            <a:ext cx="5572125" cy="2722149"/>
            <a:chOff x="968806" y="2336262"/>
            <a:chExt cx="5572125" cy="2722149"/>
          </a:xfrm>
        </p:grpSpPr>
        <p:pic>
          <p:nvPicPr>
            <p:cNvPr id="2" name="Picture 3" descr="Man at computer" title="Clip art 1"/>
            <p:cNvPicPr>
              <a:picLocks noChangeAspect="1"/>
            </p:cNvPicPr>
            <p:nvPr/>
          </p:nvPicPr>
          <p:blipFill>
            <a:blip r:embed="rId3"/>
            <a:stretch>
              <a:fillRect/>
            </a:stretch>
          </p:blipFill>
          <p:spPr>
            <a:xfrm>
              <a:off x="4545797" y="2336262"/>
              <a:ext cx="971550" cy="783717"/>
            </a:xfrm>
            <a:prstGeom prst="rect">
              <a:avLst/>
            </a:prstGeom>
          </p:spPr>
        </p:pic>
        <p:pic>
          <p:nvPicPr>
            <p:cNvPr id="13" name="Picture 5" descr="Man at computer" title="clip art 2"/>
            <p:cNvPicPr>
              <a:picLocks noChangeAspect="1"/>
            </p:cNvPicPr>
            <p:nvPr/>
          </p:nvPicPr>
          <p:blipFill>
            <a:blip r:embed="rId3"/>
            <a:stretch>
              <a:fillRect/>
            </a:stretch>
          </p:blipFill>
          <p:spPr>
            <a:xfrm>
              <a:off x="5569381" y="3490977"/>
              <a:ext cx="971550" cy="783717"/>
            </a:xfrm>
            <a:prstGeom prst="rect">
              <a:avLst/>
            </a:prstGeom>
          </p:spPr>
        </p:pic>
        <p:pic>
          <p:nvPicPr>
            <p:cNvPr id="14" name="Picture 6" descr="Man at computer" title="Clip art 3"/>
            <p:cNvPicPr>
              <a:picLocks noChangeAspect="1"/>
            </p:cNvPicPr>
            <p:nvPr/>
          </p:nvPicPr>
          <p:blipFill>
            <a:blip r:embed="rId3"/>
            <a:stretch>
              <a:fillRect/>
            </a:stretch>
          </p:blipFill>
          <p:spPr>
            <a:xfrm>
              <a:off x="4394550" y="4274694"/>
              <a:ext cx="971550" cy="783717"/>
            </a:xfrm>
            <a:prstGeom prst="rect">
              <a:avLst/>
            </a:prstGeom>
          </p:spPr>
        </p:pic>
        <p:cxnSp>
          <p:nvCxnSpPr>
            <p:cNvPr id="5" name="Straight Arrow Connector 8"/>
            <p:cNvCxnSpPr>
              <a:cxnSpLocks/>
              <a:endCxn id="25" idx="3"/>
            </p:cNvCxnSpPr>
            <p:nvPr/>
          </p:nvCxnSpPr>
          <p:spPr>
            <a:xfrm flipH="1">
              <a:off x="2854756" y="2783395"/>
              <a:ext cx="1885950" cy="707582"/>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9"/>
            <p:cNvCxnSpPr>
              <a:stCxn id="13" idx="1"/>
              <a:endCxn id="25" idx="3"/>
            </p:cNvCxnSpPr>
            <p:nvPr/>
          </p:nvCxnSpPr>
          <p:spPr>
            <a:xfrm flipH="1" flipV="1">
              <a:off x="2854756" y="3490977"/>
              <a:ext cx="2714625" cy="391859"/>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10"/>
            <p:cNvCxnSpPr>
              <a:stCxn id="14" idx="0"/>
              <a:endCxn id="25" idx="3"/>
            </p:cNvCxnSpPr>
            <p:nvPr/>
          </p:nvCxnSpPr>
          <p:spPr>
            <a:xfrm flipH="1" flipV="1">
              <a:off x="2854756" y="3490977"/>
              <a:ext cx="2025569" cy="783717"/>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11"/>
            <p:cNvSpPr/>
            <p:nvPr/>
          </p:nvSpPr>
          <p:spPr bwMode="auto">
            <a:xfrm>
              <a:off x="968806" y="3008424"/>
              <a:ext cx="1885950" cy="965106"/>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68580" tIns="34290" rIns="68580" bIns="34290" numCol="1" rtlCol="0" anchor="ctr" anchorCtr="0" compatLnSpc="1">
              <a:prstTxWarp prst="textNoShape">
                <a:avLst/>
              </a:prstTxWarp>
            </a:bodyPr>
            <a:lstStyle/>
            <a:p>
              <a:pPr algn="ct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2100" dirty="0">
                  <a:solidFill>
                    <a:schemeClr val="tx1"/>
                  </a:solidFill>
                  <a:latin typeface="Arial" charset="0"/>
                </a:rPr>
                <a:t>Database Management</a:t>
              </a:r>
            </a:p>
            <a:p>
              <a:pPr algn="ct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2100" dirty="0">
                  <a:solidFill>
                    <a:schemeClr val="tx1"/>
                  </a:solidFill>
                  <a:latin typeface="Arial" charset="0"/>
                </a:rPr>
                <a:t>System</a:t>
              </a:r>
            </a:p>
          </p:txBody>
        </p:sp>
        <p:sp>
          <p:nvSpPr>
            <p:cNvPr id="33" name="TextBox 14"/>
            <p:cNvSpPr txBox="1"/>
            <p:nvPr/>
          </p:nvSpPr>
          <p:spPr>
            <a:xfrm rot="20149869">
              <a:off x="3857406" y="2621813"/>
              <a:ext cx="482824" cy="323165"/>
            </a:xfrm>
            <a:prstGeom prst="rect">
              <a:avLst/>
            </a:prstGeom>
            <a:noFill/>
          </p:spPr>
          <p:txBody>
            <a:bodyPr wrap="none" rtlCol="0">
              <a:spAutoFit/>
            </a:bodyPr>
            <a:lstStyle/>
            <a:p>
              <a:r>
                <a:rPr lang="en-US" sz="1500" dirty="0">
                  <a:solidFill>
                    <a:srgbClr val="0070C0"/>
                  </a:solidFill>
                </a:rPr>
                <a:t>SQL</a:t>
              </a:r>
            </a:p>
          </p:txBody>
        </p:sp>
        <p:sp>
          <p:nvSpPr>
            <p:cNvPr id="35" name="TextBox 15"/>
            <p:cNvSpPr txBox="1"/>
            <p:nvPr/>
          </p:nvSpPr>
          <p:spPr>
            <a:xfrm rot="20149869">
              <a:off x="3475053" y="2803830"/>
              <a:ext cx="482824" cy="323165"/>
            </a:xfrm>
            <a:prstGeom prst="rect">
              <a:avLst/>
            </a:prstGeom>
            <a:noFill/>
          </p:spPr>
          <p:txBody>
            <a:bodyPr wrap="none" rtlCol="0">
              <a:spAutoFit/>
            </a:bodyPr>
            <a:lstStyle/>
            <a:p>
              <a:r>
                <a:rPr lang="en-US" sz="1500" dirty="0">
                  <a:solidFill>
                    <a:srgbClr val="0070C0"/>
                  </a:solidFill>
                </a:rPr>
                <a:t>SQL</a:t>
              </a:r>
            </a:p>
          </p:txBody>
        </p:sp>
        <p:sp>
          <p:nvSpPr>
            <p:cNvPr id="36" name="TextBox 17"/>
            <p:cNvSpPr txBox="1"/>
            <p:nvPr/>
          </p:nvSpPr>
          <p:spPr>
            <a:xfrm rot="362640">
              <a:off x="4791625" y="3452310"/>
              <a:ext cx="482824" cy="323165"/>
            </a:xfrm>
            <a:prstGeom prst="rect">
              <a:avLst/>
            </a:prstGeom>
            <a:noFill/>
          </p:spPr>
          <p:txBody>
            <a:bodyPr wrap="none" rtlCol="0">
              <a:spAutoFit/>
            </a:bodyPr>
            <a:lstStyle/>
            <a:p>
              <a:r>
                <a:rPr lang="en-US" sz="1500" dirty="0">
                  <a:solidFill>
                    <a:srgbClr val="0070C0"/>
                  </a:solidFill>
                </a:rPr>
                <a:t>SQL</a:t>
              </a:r>
            </a:p>
          </p:txBody>
        </p:sp>
        <p:sp>
          <p:nvSpPr>
            <p:cNvPr id="37" name="TextBox 18"/>
            <p:cNvSpPr txBox="1"/>
            <p:nvPr/>
          </p:nvSpPr>
          <p:spPr>
            <a:xfrm rot="362640">
              <a:off x="4249623" y="3397899"/>
              <a:ext cx="482824" cy="323165"/>
            </a:xfrm>
            <a:prstGeom prst="rect">
              <a:avLst/>
            </a:prstGeom>
            <a:noFill/>
          </p:spPr>
          <p:txBody>
            <a:bodyPr wrap="none" rtlCol="0">
              <a:spAutoFit/>
            </a:bodyPr>
            <a:lstStyle/>
            <a:p>
              <a:r>
                <a:rPr lang="en-US" sz="1500" dirty="0">
                  <a:solidFill>
                    <a:srgbClr val="0070C0"/>
                  </a:solidFill>
                </a:rPr>
                <a:t>SQL</a:t>
              </a:r>
            </a:p>
          </p:txBody>
        </p:sp>
        <p:sp>
          <p:nvSpPr>
            <p:cNvPr id="38" name="TextBox 21"/>
            <p:cNvSpPr txBox="1"/>
            <p:nvPr/>
          </p:nvSpPr>
          <p:spPr>
            <a:xfrm rot="362640">
              <a:off x="3667866" y="3329394"/>
              <a:ext cx="482824" cy="323165"/>
            </a:xfrm>
            <a:prstGeom prst="rect">
              <a:avLst/>
            </a:prstGeom>
            <a:noFill/>
          </p:spPr>
          <p:txBody>
            <a:bodyPr wrap="none" rtlCol="0">
              <a:spAutoFit/>
            </a:bodyPr>
            <a:lstStyle/>
            <a:p>
              <a:r>
                <a:rPr lang="en-US" sz="1500" dirty="0">
                  <a:solidFill>
                    <a:srgbClr val="0070C0"/>
                  </a:solidFill>
                </a:rPr>
                <a:t>SQL</a:t>
              </a:r>
            </a:p>
          </p:txBody>
        </p:sp>
        <p:sp>
          <p:nvSpPr>
            <p:cNvPr id="39" name="TextBox 23"/>
            <p:cNvSpPr txBox="1"/>
            <p:nvPr/>
          </p:nvSpPr>
          <p:spPr>
            <a:xfrm rot="1209279">
              <a:off x="3413917" y="3836701"/>
              <a:ext cx="482824" cy="323165"/>
            </a:xfrm>
            <a:prstGeom prst="rect">
              <a:avLst/>
            </a:prstGeom>
            <a:noFill/>
          </p:spPr>
          <p:txBody>
            <a:bodyPr wrap="none" rtlCol="0">
              <a:spAutoFit/>
            </a:bodyPr>
            <a:lstStyle/>
            <a:p>
              <a:r>
                <a:rPr lang="en-US" sz="1500" dirty="0">
                  <a:solidFill>
                    <a:srgbClr val="0070C0"/>
                  </a:solidFill>
                </a:rPr>
                <a:t>SQL</a:t>
              </a:r>
            </a:p>
          </p:txBody>
        </p:sp>
        <p:sp>
          <p:nvSpPr>
            <p:cNvPr id="40" name="TextBox 25"/>
            <p:cNvSpPr txBox="1"/>
            <p:nvPr/>
          </p:nvSpPr>
          <p:spPr>
            <a:xfrm rot="1171241">
              <a:off x="4004148" y="4074498"/>
              <a:ext cx="482824" cy="323165"/>
            </a:xfrm>
            <a:prstGeom prst="rect">
              <a:avLst/>
            </a:prstGeom>
            <a:noFill/>
          </p:spPr>
          <p:txBody>
            <a:bodyPr wrap="none" rtlCol="0">
              <a:spAutoFit/>
            </a:bodyPr>
            <a:lstStyle/>
            <a:p>
              <a:r>
                <a:rPr lang="en-US" sz="1500" dirty="0">
                  <a:solidFill>
                    <a:srgbClr val="0070C0"/>
                  </a:solidFill>
                </a:rPr>
                <a:t>SQL</a:t>
              </a:r>
            </a:p>
          </p:txBody>
        </p:sp>
      </p:grpSp>
    </p:spTree>
    <p:extLst>
      <p:ext uri="{BB962C8B-B14F-4D97-AF65-F5344CB8AC3E}">
        <p14:creationId xmlns:p14="http://schemas.microsoft.com/office/powerpoint/2010/main" val="12647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Concurrency Control &amp; Recovery</a:t>
            </a:r>
            <a:endParaRPr lang="en-US" dirty="0"/>
          </a:p>
        </p:txBody>
      </p:sp>
      <p:sp>
        <p:nvSpPr>
          <p:cNvPr id="21" name="Content Placeholder 2"/>
          <p:cNvSpPr>
            <a:spLocks noGrp="1"/>
          </p:cNvSpPr>
          <p:nvPr>
            <p:ph idx="1"/>
          </p:nvPr>
        </p:nvSpPr>
        <p:spPr>
          <a:xfrm>
            <a:off x="457200" y="1200151"/>
            <a:ext cx="8686800" cy="3394472"/>
          </a:xfrm>
        </p:spPr>
        <p:txBody>
          <a:bodyPr>
            <a:normAutofit fontScale="92500" lnSpcReduction="10000"/>
          </a:bodyPr>
          <a:lstStyle/>
          <a:p>
            <a:r>
              <a:rPr lang="en-US" b="1" dirty="0"/>
              <a:t>Part 1: Concurrency Control</a:t>
            </a:r>
          </a:p>
          <a:p>
            <a:pPr lvl="1"/>
            <a:r>
              <a:rPr lang="en-US" dirty="0"/>
              <a:t>Correct/fast data access in the presence of concurrent work by many users</a:t>
            </a:r>
          </a:p>
          <a:p>
            <a:pPr lvl="1"/>
            <a:r>
              <a:rPr lang="en-US" dirty="0"/>
              <a:t>Disorderly processing that provides the illusion of order</a:t>
            </a:r>
          </a:p>
          <a:p>
            <a:pPr>
              <a:spcBef>
                <a:spcPts val="1500"/>
              </a:spcBef>
            </a:pPr>
            <a:r>
              <a:rPr lang="en-US" b="1" dirty="0"/>
              <a:t>Part 2: Recovery</a:t>
            </a:r>
          </a:p>
          <a:p>
            <a:pPr lvl="1"/>
            <a:r>
              <a:rPr lang="en-US" dirty="0"/>
              <a:t>Ensure database is fault tolerant</a:t>
            </a:r>
          </a:p>
          <a:p>
            <a:pPr lvl="1"/>
            <a:r>
              <a:rPr lang="en-US" dirty="0"/>
              <a:t>Not corrupted by software, system or media failure</a:t>
            </a:r>
          </a:p>
          <a:p>
            <a:pPr lvl="1"/>
            <a:r>
              <a:rPr lang="en-US" dirty="0"/>
              <a:t>Storage guarantees for mission-critical data</a:t>
            </a:r>
          </a:p>
          <a:p>
            <a:pPr>
              <a:spcBef>
                <a:spcPts val="1500"/>
              </a:spcBef>
            </a:pPr>
            <a:r>
              <a:rPr lang="en-US" b="1" dirty="0"/>
              <a:t>It’s all about the programmer!</a:t>
            </a:r>
          </a:p>
          <a:p>
            <a:pPr lvl="1"/>
            <a:r>
              <a:rPr lang="en-US" dirty="0"/>
              <a:t>Systems provide guarantees</a:t>
            </a:r>
          </a:p>
          <a:p>
            <a:pPr lvl="1"/>
            <a:r>
              <a:rPr lang="en-US" dirty="0"/>
              <a:t>These guarantees lighten the load of app writers</a:t>
            </a:r>
          </a:p>
        </p:txBody>
      </p:sp>
    </p:spTree>
    <p:extLst>
      <p:ext uri="{BB962C8B-B14F-4D97-AF65-F5344CB8AC3E}">
        <p14:creationId xmlns:p14="http://schemas.microsoft.com/office/powerpoint/2010/main" val="1499089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Concurrent Execution: Why bother?</a:t>
            </a:r>
            <a:endParaRPr lang="en-US" dirty="0"/>
          </a:p>
        </p:txBody>
      </p:sp>
      <p:sp>
        <p:nvSpPr>
          <p:cNvPr id="21" name="Content Placeholder 2"/>
          <p:cNvSpPr>
            <a:spLocks noGrp="1"/>
          </p:cNvSpPr>
          <p:nvPr>
            <p:ph idx="1"/>
          </p:nvPr>
        </p:nvSpPr>
        <p:spPr>
          <a:xfrm>
            <a:off x="381000" y="1200151"/>
            <a:ext cx="8763000" cy="3394472"/>
          </a:xfrm>
        </p:spPr>
        <p:txBody>
          <a:bodyPr>
            <a:normAutofit fontScale="92500" lnSpcReduction="10000"/>
          </a:bodyPr>
          <a:lstStyle/>
          <a:p>
            <a:r>
              <a:rPr lang="en-US" sz="1900" dirty="0"/>
              <a:t>Multiple transactions are allowed to run concurrently in the system.</a:t>
            </a:r>
          </a:p>
          <a:p>
            <a:r>
              <a:rPr lang="en-US" sz="1900" dirty="0"/>
              <a:t>Advantages are twofold:</a:t>
            </a:r>
          </a:p>
          <a:p>
            <a:pPr lvl="1"/>
            <a:r>
              <a:rPr lang="en-US" sz="1700" i="1" dirty="0"/>
              <a:t>Throughput</a:t>
            </a:r>
            <a:r>
              <a:rPr lang="en-US" sz="1700" dirty="0"/>
              <a:t> (transactions per second):</a:t>
            </a:r>
          </a:p>
          <a:p>
            <a:pPr lvl="2"/>
            <a:r>
              <a:rPr lang="en-US" dirty="0"/>
              <a:t>Increase processor/disk utilization </a:t>
            </a:r>
            <a:r>
              <a:rPr lang="en-US" dirty="0">
                <a:sym typeface="Wingdings" pitchFamily="2" charset="2"/>
              </a:rPr>
              <a:t> </a:t>
            </a:r>
            <a:r>
              <a:rPr lang="en-US" dirty="0"/>
              <a:t>more transactions per second (TPS) completed</a:t>
            </a:r>
          </a:p>
          <a:p>
            <a:pPr lvl="3"/>
            <a:r>
              <a:rPr lang="en-US" sz="1500" dirty="0">
                <a:latin typeface="Helvetica Neue"/>
              </a:rPr>
              <a:t>Single core: can use the CPU while another </a:t>
            </a:r>
            <a:r>
              <a:rPr lang="en-US" sz="1500" dirty="0" err="1">
                <a:latin typeface="Helvetica Neue"/>
              </a:rPr>
              <a:t>xact</a:t>
            </a:r>
            <a:r>
              <a:rPr lang="en-US" sz="1500" dirty="0">
                <a:latin typeface="Helvetica Neue"/>
              </a:rPr>
              <a:t> is reading to/writing from the disk</a:t>
            </a:r>
          </a:p>
          <a:p>
            <a:pPr lvl="3"/>
            <a:r>
              <a:rPr lang="en-US" sz="1500" dirty="0">
                <a:latin typeface="Helvetica Neue"/>
              </a:rPr>
              <a:t>Multicore: ideally, scale throughput in the number of processors</a:t>
            </a:r>
          </a:p>
          <a:p>
            <a:pPr lvl="1"/>
            <a:r>
              <a:rPr lang="en-US" sz="1700" i="1" dirty="0"/>
              <a:t>Latency</a:t>
            </a:r>
            <a:r>
              <a:rPr lang="en-US" sz="1700" dirty="0"/>
              <a:t> (response time per transaction):</a:t>
            </a:r>
          </a:p>
          <a:p>
            <a:pPr lvl="2"/>
            <a:r>
              <a:rPr lang="en-US" dirty="0"/>
              <a:t>Multiple transactions can run at the same time</a:t>
            </a:r>
          </a:p>
          <a:p>
            <a:pPr lvl="2"/>
            <a:r>
              <a:rPr lang="en-US" dirty="0"/>
              <a:t>So one transaction’s latency need not be dependent on another unrelated transaction</a:t>
            </a:r>
          </a:p>
          <a:p>
            <a:pPr lvl="2"/>
            <a:r>
              <a:rPr lang="en-US" dirty="0"/>
              <a:t>Or that’s the hope</a:t>
            </a:r>
          </a:p>
          <a:p>
            <a:pPr>
              <a:spcBef>
                <a:spcPts val="3000"/>
              </a:spcBef>
            </a:pPr>
            <a:r>
              <a:rPr lang="en-US" dirty="0"/>
              <a:t>Both are important! </a:t>
            </a:r>
          </a:p>
        </p:txBody>
      </p:sp>
    </p:spTree>
    <p:extLst>
      <p:ext uri="{BB962C8B-B14F-4D97-AF65-F5344CB8AC3E}">
        <p14:creationId xmlns:p14="http://schemas.microsoft.com/office/powerpoint/2010/main" val="138233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Motivating Example</a:t>
            </a:r>
            <a:endParaRPr lang="en-US" dirty="0"/>
          </a:p>
        </p:txBody>
      </p:sp>
      <p:sp>
        <p:nvSpPr>
          <p:cNvPr id="21" name="Content Placeholder 2"/>
          <p:cNvSpPr>
            <a:spLocks noGrp="1"/>
          </p:cNvSpPr>
          <p:nvPr>
            <p:ph idx="1"/>
          </p:nvPr>
        </p:nvSpPr>
        <p:spPr/>
        <p:txBody>
          <a:bodyPr>
            <a:normAutofit fontScale="92500" lnSpcReduction="20000"/>
          </a:bodyPr>
          <a:lstStyle/>
          <a:p>
            <a:pPr marL="0" indent="0">
              <a:buNone/>
            </a:pPr>
            <a:r>
              <a:rPr lang="en-US" dirty="0"/>
              <a:t>UPDATE Budget</a:t>
            </a:r>
          </a:p>
          <a:p>
            <a:pPr marL="0" indent="0">
              <a:buNone/>
            </a:pPr>
            <a:r>
              <a:rPr lang="en-US" dirty="0"/>
              <a:t>SET money = money – 500</a:t>
            </a:r>
          </a:p>
          <a:p>
            <a:pPr marL="0" indent="0">
              <a:buNone/>
            </a:pPr>
            <a:r>
              <a:rPr lang="en-US" dirty="0"/>
              <a:t>WHERE </a:t>
            </a:r>
            <a:r>
              <a:rPr lang="en-US" dirty="0" err="1"/>
              <a:t>pid</a:t>
            </a:r>
            <a:r>
              <a:rPr lang="en-US" dirty="0"/>
              <a:t> = 1</a:t>
            </a:r>
          </a:p>
          <a:p>
            <a:pPr marL="0" indent="0">
              <a:spcBef>
                <a:spcPts val="3000"/>
              </a:spcBef>
              <a:buNone/>
            </a:pPr>
            <a:r>
              <a:rPr lang="en-US" dirty="0"/>
              <a:t>UPDATE Budget</a:t>
            </a:r>
          </a:p>
          <a:p>
            <a:pPr marL="0" indent="0">
              <a:buNone/>
            </a:pPr>
            <a:r>
              <a:rPr lang="en-US" dirty="0"/>
              <a:t>SET money = money + 200</a:t>
            </a:r>
          </a:p>
          <a:p>
            <a:pPr marL="0" indent="0">
              <a:buNone/>
            </a:pPr>
            <a:r>
              <a:rPr lang="en-US" dirty="0"/>
              <a:t>WHERE </a:t>
            </a:r>
            <a:r>
              <a:rPr lang="en-US" dirty="0" err="1"/>
              <a:t>pid</a:t>
            </a:r>
            <a:r>
              <a:rPr lang="en-US" dirty="0"/>
              <a:t> = 2</a:t>
            </a:r>
          </a:p>
          <a:p>
            <a:pPr marL="0" indent="0">
              <a:spcBef>
                <a:spcPts val="3000"/>
              </a:spcBef>
              <a:buNone/>
            </a:pPr>
            <a:r>
              <a:rPr lang="en-US" dirty="0"/>
              <a:t>UPDATE Budget</a:t>
            </a:r>
          </a:p>
          <a:p>
            <a:pPr marL="0" indent="0">
              <a:buNone/>
            </a:pPr>
            <a:r>
              <a:rPr lang="en-US" dirty="0"/>
              <a:t>SET money = money + 300</a:t>
            </a:r>
          </a:p>
          <a:p>
            <a:pPr marL="0" indent="0">
              <a:buNone/>
            </a:pPr>
            <a:r>
              <a:rPr lang="en-US" dirty="0"/>
              <a:t>WHERE </a:t>
            </a:r>
            <a:r>
              <a:rPr lang="en-US" dirty="0" err="1"/>
              <a:t>pid</a:t>
            </a:r>
            <a:r>
              <a:rPr lang="en-US" dirty="0"/>
              <a:t> = 3</a:t>
            </a:r>
          </a:p>
          <a:p>
            <a:pPr marL="0" indent="0">
              <a:buNone/>
            </a:pPr>
            <a:endParaRPr lang="en-US" dirty="0"/>
          </a:p>
        </p:txBody>
      </p:sp>
      <p:sp>
        <p:nvSpPr>
          <p:cNvPr id="11" name="TextBox 10" descr="SELECT sum(money)&#10;FROM Budget&#10;&#10;" title="Query"/>
          <p:cNvSpPr txBox="1"/>
          <p:nvPr/>
        </p:nvSpPr>
        <p:spPr>
          <a:xfrm>
            <a:off x="4723593" y="996714"/>
            <a:ext cx="2743200" cy="715581"/>
          </a:xfrm>
          <a:prstGeom prst="rect">
            <a:avLst/>
          </a:prstGeom>
          <a:solidFill>
            <a:srgbClr val="92D050"/>
          </a:solidFill>
        </p:spPr>
        <p:txBody>
          <a:bodyPr wrap="square" rtlCol="0">
            <a:spAutoFit/>
          </a:bodyPr>
          <a:lstStyle/>
          <a:p>
            <a:r>
              <a:rPr lang="en-US" sz="1350" dirty="0">
                <a:solidFill>
                  <a:schemeClr val="tx2"/>
                </a:solidFill>
              </a:rPr>
              <a:t>SELECT sum(money)</a:t>
            </a:r>
          </a:p>
          <a:p>
            <a:r>
              <a:rPr lang="en-US" sz="1350" dirty="0">
                <a:solidFill>
                  <a:schemeClr val="tx2"/>
                </a:solidFill>
              </a:rPr>
              <a:t>FROM Budget</a:t>
            </a:r>
          </a:p>
          <a:p>
            <a:endParaRPr lang="en-US" sz="1350" dirty="0">
              <a:solidFill>
                <a:schemeClr val="tx2"/>
              </a:solidFill>
            </a:endParaRPr>
          </a:p>
        </p:txBody>
      </p:sp>
      <p:sp>
        <p:nvSpPr>
          <p:cNvPr id="2" name="TextBox 1"/>
          <p:cNvSpPr txBox="1"/>
          <p:nvPr/>
        </p:nvSpPr>
        <p:spPr>
          <a:xfrm>
            <a:off x="4723593" y="2114550"/>
            <a:ext cx="4268007" cy="923330"/>
          </a:xfrm>
          <a:prstGeom prst="rect">
            <a:avLst/>
          </a:prstGeom>
          <a:noFill/>
        </p:spPr>
        <p:txBody>
          <a:bodyPr wrap="square" rtlCol="0">
            <a:spAutoFit/>
          </a:bodyPr>
          <a:lstStyle/>
          <a:p>
            <a:r>
              <a:rPr lang="en-US" dirty="0"/>
              <a:t>Two Issues:</a:t>
            </a:r>
          </a:p>
          <a:p>
            <a:pPr marL="342900" indent="-342900">
              <a:buFont typeface="+mj-lt"/>
              <a:buAutoNum type="arabicPeriod"/>
            </a:pPr>
            <a:r>
              <a:rPr lang="en-US" dirty="0"/>
              <a:t>Order matters!</a:t>
            </a:r>
          </a:p>
          <a:p>
            <a:pPr marL="342900" indent="-342900">
              <a:buFont typeface="+mj-lt"/>
              <a:buAutoNum type="arabicPeriod"/>
            </a:pPr>
            <a:r>
              <a:rPr lang="en-US" dirty="0"/>
              <a:t>Users need a way to say what’s OK</a:t>
            </a:r>
          </a:p>
        </p:txBody>
      </p:sp>
    </p:spTree>
    <p:extLst>
      <p:ext uri="{BB962C8B-B14F-4D97-AF65-F5344CB8AC3E}">
        <p14:creationId xmlns:p14="http://schemas.microsoft.com/office/powerpoint/2010/main" val="29479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Different Types of Problems</a:t>
            </a:r>
            <a:endParaRPr lang="en-US" dirty="0"/>
          </a:p>
        </p:txBody>
      </p:sp>
      <p:sp>
        <p:nvSpPr>
          <p:cNvPr id="21" name="Content Placeholder 2"/>
          <p:cNvSpPr>
            <a:spLocks noGrp="1"/>
          </p:cNvSpPr>
          <p:nvPr>
            <p:ph idx="1"/>
          </p:nvPr>
        </p:nvSpPr>
        <p:spPr>
          <a:xfrm>
            <a:off x="457200" y="1539478"/>
            <a:ext cx="8229600" cy="3394472"/>
          </a:xfrm>
        </p:spPr>
        <p:txBody>
          <a:bodyPr/>
          <a:lstStyle/>
          <a:p>
            <a:pPr marL="0" indent="0">
              <a:buNone/>
            </a:pPr>
            <a:r>
              <a:rPr lang="en-US" dirty="0"/>
              <a:t>INSERT INTO </a:t>
            </a:r>
            <a:r>
              <a:rPr lang="en-US" dirty="0" err="1"/>
              <a:t>DollarProducts</a:t>
            </a:r>
            <a:r>
              <a:rPr lang="en-US" dirty="0"/>
              <a:t>(name, price)</a:t>
            </a:r>
          </a:p>
          <a:p>
            <a:pPr marL="0" indent="0">
              <a:buNone/>
            </a:pPr>
            <a:r>
              <a:rPr lang="en-US" dirty="0"/>
              <a:t>SELECT </a:t>
            </a:r>
            <a:r>
              <a:rPr lang="en-US" dirty="0" err="1"/>
              <a:t>pname</a:t>
            </a:r>
            <a:r>
              <a:rPr lang="en-US" dirty="0"/>
              <a:t>, price</a:t>
            </a:r>
          </a:p>
          <a:p>
            <a:pPr marL="0" indent="0">
              <a:buNone/>
            </a:pPr>
            <a:r>
              <a:rPr lang="en-US" dirty="0"/>
              <a:t>FROM Product</a:t>
            </a:r>
          </a:p>
          <a:p>
            <a:pPr marL="0" indent="0">
              <a:buNone/>
            </a:pPr>
            <a:r>
              <a:rPr lang="en-US" dirty="0"/>
              <a:t>WHERE price &lt;= 0.99</a:t>
            </a:r>
          </a:p>
          <a:p>
            <a:pPr marL="0" indent="0">
              <a:spcBef>
                <a:spcPts val="3000"/>
              </a:spcBef>
              <a:buNone/>
            </a:pPr>
            <a:r>
              <a:rPr lang="en-US" dirty="0"/>
              <a:t>DELETE Product</a:t>
            </a:r>
          </a:p>
          <a:p>
            <a:pPr marL="0" indent="0">
              <a:buNone/>
            </a:pPr>
            <a:r>
              <a:rPr lang="en-US" dirty="0"/>
              <a:t>WHERE price &lt;= 0.99</a:t>
            </a:r>
          </a:p>
          <a:p>
            <a:pPr marL="0" indent="0">
              <a:buNone/>
            </a:pPr>
            <a:endParaRPr lang="en-US" dirty="0"/>
          </a:p>
          <a:p>
            <a:pPr marL="0" indent="0">
              <a:buNone/>
            </a:pPr>
            <a:endParaRPr lang="en-US" dirty="0"/>
          </a:p>
        </p:txBody>
      </p:sp>
      <p:sp>
        <p:nvSpPr>
          <p:cNvPr id="11" name="TextBox 10" descr="SELECT count(*)&#10;FROM Product&#10;&#10;&#10;&#10;SELECT count(*)&#10;FROM DollarProducts&#10;" title="User 2"/>
          <p:cNvSpPr txBox="1"/>
          <p:nvPr/>
        </p:nvSpPr>
        <p:spPr>
          <a:xfrm>
            <a:off x="5740892" y="1623201"/>
            <a:ext cx="2743200" cy="1938992"/>
          </a:xfrm>
          <a:prstGeom prst="rect">
            <a:avLst/>
          </a:prstGeom>
          <a:solidFill>
            <a:srgbClr val="92D050"/>
          </a:solidFill>
        </p:spPr>
        <p:txBody>
          <a:bodyPr wrap="square" rtlCol="0">
            <a:spAutoFit/>
          </a:bodyPr>
          <a:lstStyle/>
          <a:p>
            <a:r>
              <a:rPr lang="en-US" sz="1500" dirty="0">
                <a:solidFill>
                  <a:schemeClr val="tx2"/>
                </a:solidFill>
              </a:rPr>
              <a:t>SELECT count(*)</a:t>
            </a:r>
          </a:p>
          <a:p>
            <a:r>
              <a:rPr lang="en-US" sz="1500" dirty="0">
                <a:solidFill>
                  <a:schemeClr val="tx2"/>
                </a:solidFill>
              </a:rPr>
              <a:t>FROM Product</a:t>
            </a:r>
          </a:p>
          <a:p>
            <a:endParaRPr lang="en-US" sz="1500" dirty="0">
              <a:solidFill>
                <a:schemeClr val="tx2"/>
              </a:solidFill>
            </a:endParaRPr>
          </a:p>
          <a:p>
            <a:endParaRPr lang="en-US" sz="1500" dirty="0">
              <a:solidFill>
                <a:schemeClr val="tx2"/>
              </a:solidFill>
            </a:endParaRPr>
          </a:p>
          <a:p>
            <a:endParaRPr lang="en-US" sz="1500" dirty="0">
              <a:solidFill>
                <a:schemeClr val="tx2"/>
              </a:solidFill>
            </a:endParaRPr>
          </a:p>
          <a:p>
            <a:r>
              <a:rPr lang="en-US" sz="1500" dirty="0">
                <a:solidFill>
                  <a:schemeClr val="tx2"/>
                </a:solidFill>
              </a:rPr>
              <a:t>SELECT count(*)</a:t>
            </a:r>
          </a:p>
          <a:p>
            <a:r>
              <a:rPr lang="en-US" sz="1500" dirty="0">
                <a:solidFill>
                  <a:schemeClr val="tx2"/>
                </a:solidFill>
              </a:rPr>
              <a:t>FROM </a:t>
            </a:r>
            <a:r>
              <a:rPr lang="en-US" sz="1500" dirty="0" err="1">
                <a:solidFill>
                  <a:schemeClr val="tx2"/>
                </a:solidFill>
              </a:rPr>
              <a:t>DollarProducts</a:t>
            </a:r>
            <a:endParaRPr lang="en-US" sz="1500" dirty="0">
              <a:solidFill>
                <a:schemeClr val="tx2"/>
              </a:solidFill>
            </a:endParaRPr>
          </a:p>
          <a:p>
            <a:endParaRPr lang="en-US" sz="1500" dirty="0">
              <a:solidFill>
                <a:schemeClr val="tx2"/>
              </a:solidFill>
            </a:endParaRPr>
          </a:p>
        </p:txBody>
      </p:sp>
      <p:sp>
        <p:nvSpPr>
          <p:cNvPr id="5" name="TextBox 4" descr="INSERT INTO DollarProducts(name, price)&#10;SELECT pname, price&#10;FROM Product&#10;WHERE price &lt;= 0.99&#10;DELETE Product&#10;WHERE price &lt;= 0.99&#10;&#10;" title="User 1"/>
          <p:cNvSpPr txBox="1"/>
          <p:nvPr/>
        </p:nvSpPr>
        <p:spPr>
          <a:xfrm>
            <a:off x="1177662" y="1085711"/>
            <a:ext cx="898003" cy="415498"/>
          </a:xfrm>
          <a:prstGeom prst="rect">
            <a:avLst/>
          </a:prstGeom>
          <a:noFill/>
        </p:spPr>
        <p:txBody>
          <a:bodyPr wrap="none" rtlCol="0">
            <a:spAutoFit/>
          </a:bodyPr>
          <a:lstStyle/>
          <a:p>
            <a:r>
              <a:rPr lang="en-US" sz="2100" b="1" dirty="0"/>
              <a:t>User 1</a:t>
            </a:r>
          </a:p>
        </p:txBody>
      </p:sp>
      <p:sp>
        <p:nvSpPr>
          <p:cNvPr id="15" name="TextBox 14" title="User 2"/>
          <p:cNvSpPr txBox="1"/>
          <p:nvPr/>
        </p:nvSpPr>
        <p:spPr>
          <a:xfrm>
            <a:off x="6553200" y="1188569"/>
            <a:ext cx="898003" cy="415498"/>
          </a:xfrm>
          <a:prstGeom prst="rect">
            <a:avLst/>
          </a:prstGeom>
          <a:noFill/>
        </p:spPr>
        <p:txBody>
          <a:bodyPr wrap="none" rtlCol="0">
            <a:spAutoFit/>
          </a:bodyPr>
          <a:lstStyle/>
          <a:p>
            <a:r>
              <a:rPr lang="en-US" sz="2100" b="1" dirty="0"/>
              <a:t>User 2</a:t>
            </a:r>
          </a:p>
        </p:txBody>
      </p:sp>
      <p:sp>
        <p:nvSpPr>
          <p:cNvPr id="6" name="TextBox 5" title="What could go wrong?&#10;What could go wrong?&#10;What Could go wrong?"/>
          <p:cNvSpPr txBox="1"/>
          <p:nvPr/>
        </p:nvSpPr>
        <p:spPr>
          <a:xfrm>
            <a:off x="908679" y="4580405"/>
            <a:ext cx="2333972" cy="369332"/>
          </a:xfrm>
          <a:prstGeom prst="rect">
            <a:avLst/>
          </a:prstGeom>
          <a:noFill/>
        </p:spPr>
        <p:txBody>
          <a:bodyPr wrap="none" rtlCol="0">
            <a:spAutoFit/>
          </a:bodyPr>
          <a:lstStyle/>
          <a:p>
            <a:r>
              <a:rPr lang="en-US" b="1" dirty="0"/>
              <a:t>What could go wrong?</a:t>
            </a:r>
          </a:p>
        </p:txBody>
      </p:sp>
      <p:sp>
        <p:nvSpPr>
          <p:cNvPr id="12" name="TextBox 11" title="Inconsistent reads"/>
          <p:cNvSpPr txBox="1"/>
          <p:nvPr/>
        </p:nvSpPr>
        <p:spPr>
          <a:xfrm>
            <a:off x="3437554" y="4580405"/>
            <a:ext cx="2268891" cy="415498"/>
          </a:xfrm>
          <a:prstGeom prst="rect">
            <a:avLst/>
          </a:prstGeom>
          <a:noFill/>
        </p:spPr>
        <p:txBody>
          <a:bodyPr wrap="none" rtlCol="0">
            <a:spAutoFit/>
          </a:bodyPr>
          <a:lstStyle/>
          <a:p>
            <a:r>
              <a:rPr lang="en-US" sz="2100" b="1" dirty="0">
                <a:solidFill>
                  <a:srgbClr val="FF0000"/>
                </a:solidFill>
              </a:rPr>
              <a:t>Inconsistent Reads</a:t>
            </a:r>
          </a:p>
        </p:txBody>
      </p:sp>
      <p:sp>
        <p:nvSpPr>
          <p:cNvPr id="13" name="Rectangle 12" descr="INSERT INTO DollarProducts(name, price)&#10;SELECT pname, price&#10;FROM Product&#10;WHERE price &lt;= 0.99&#10;DELETE Product&#10;WHERE price &lt;= 0.99&#10;&#10;" title="User 1">
            <a:extLst>
              <a:ext uri="{FF2B5EF4-FFF2-40B4-BE49-F238E27FC236}">
                <a16:creationId xmlns:a16="http://schemas.microsoft.com/office/drawing/2014/main" id="{9DF73960-9CC1-484C-9423-4137707006B0}"/>
              </a:ext>
            </a:extLst>
          </p:cNvPr>
          <p:cNvSpPr/>
          <p:nvPr/>
        </p:nvSpPr>
        <p:spPr>
          <a:xfrm>
            <a:off x="228600" y="1523691"/>
            <a:ext cx="5309584" cy="285780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151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p:bldP spid="15" grpId="0"/>
      <p:bldP spid="6"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Different Types of Problems, Part 2</a:t>
            </a:r>
          </a:p>
        </p:txBody>
      </p:sp>
      <p:sp>
        <p:nvSpPr>
          <p:cNvPr id="21" name="Content Placeholder 2"/>
          <p:cNvSpPr>
            <a:spLocks noGrp="1"/>
          </p:cNvSpPr>
          <p:nvPr>
            <p:ph idx="1"/>
          </p:nvPr>
        </p:nvSpPr>
        <p:spPr>
          <a:xfrm>
            <a:off x="457200" y="1615678"/>
            <a:ext cx="8229600" cy="3394472"/>
          </a:xfrm>
        </p:spPr>
        <p:txBody>
          <a:bodyPr/>
          <a:lstStyle/>
          <a:p>
            <a:pPr marL="0" indent="0">
              <a:buNone/>
            </a:pPr>
            <a:r>
              <a:rPr lang="en-US" dirty="0"/>
              <a:t>UPDATE Product</a:t>
            </a:r>
          </a:p>
          <a:p>
            <a:pPr marL="0" indent="0">
              <a:buNone/>
            </a:pPr>
            <a:r>
              <a:rPr lang="en-US" dirty="0"/>
              <a:t>SET Price = Price – 10.99</a:t>
            </a:r>
          </a:p>
          <a:p>
            <a:pPr marL="0" indent="0">
              <a:buNone/>
            </a:pPr>
            <a:r>
              <a:rPr lang="en-US" dirty="0"/>
              <a:t>WHERE </a:t>
            </a:r>
            <a:r>
              <a:rPr lang="en-US" dirty="0" err="1"/>
              <a:t>pname</a:t>
            </a:r>
            <a:r>
              <a:rPr lang="en-US" dirty="0"/>
              <a:t> = “</a:t>
            </a:r>
            <a:r>
              <a:rPr lang="en-US" dirty="0" err="1"/>
              <a:t>CoolToy</a:t>
            </a:r>
            <a:r>
              <a:rPr lang="en-US" dirty="0"/>
              <a:t>”</a:t>
            </a:r>
          </a:p>
          <a:p>
            <a:pPr marL="0" indent="0">
              <a:buNone/>
            </a:pPr>
            <a:endParaRPr lang="en-US" dirty="0"/>
          </a:p>
        </p:txBody>
      </p:sp>
      <p:sp>
        <p:nvSpPr>
          <p:cNvPr id="12" name="TextBox 11" title="Lost Update"/>
          <p:cNvSpPr txBox="1"/>
          <p:nvPr/>
        </p:nvSpPr>
        <p:spPr>
          <a:xfrm>
            <a:off x="3498373" y="4580405"/>
            <a:ext cx="1522404" cy="415498"/>
          </a:xfrm>
          <a:prstGeom prst="rect">
            <a:avLst/>
          </a:prstGeom>
          <a:noFill/>
        </p:spPr>
        <p:txBody>
          <a:bodyPr wrap="none" rtlCol="0">
            <a:spAutoFit/>
          </a:bodyPr>
          <a:lstStyle/>
          <a:p>
            <a:r>
              <a:rPr lang="en-US" sz="2100" b="1" dirty="0">
                <a:solidFill>
                  <a:srgbClr val="FF0000"/>
                </a:solidFill>
              </a:rPr>
              <a:t>Lost Update</a:t>
            </a:r>
          </a:p>
        </p:txBody>
      </p:sp>
      <p:grpSp>
        <p:nvGrpSpPr>
          <p:cNvPr id="7" name="Group 6" descr="UPDATE Product&#10;SET Price = Price*0.6&#10;WHERE pname = “CoolToy”&#10;" title="User 2">
            <a:extLst>
              <a:ext uri="{FF2B5EF4-FFF2-40B4-BE49-F238E27FC236}">
                <a16:creationId xmlns:a16="http://schemas.microsoft.com/office/drawing/2014/main" id="{1868C9B2-9570-7446-AB96-C75CA228C78A}"/>
              </a:ext>
            </a:extLst>
          </p:cNvPr>
          <p:cNvGrpSpPr/>
          <p:nvPr/>
        </p:nvGrpSpPr>
        <p:grpSpPr>
          <a:xfrm>
            <a:off x="5699260" y="1188569"/>
            <a:ext cx="2743200" cy="1314797"/>
            <a:chOff x="5699260" y="1188569"/>
            <a:chExt cx="2743200" cy="1314797"/>
          </a:xfrm>
        </p:grpSpPr>
        <p:sp>
          <p:nvSpPr>
            <p:cNvPr id="11" name="TextBox 10"/>
            <p:cNvSpPr txBox="1"/>
            <p:nvPr/>
          </p:nvSpPr>
          <p:spPr>
            <a:xfrm>
              <a:off x="5699260" y="1718536"/>
              <a:ext cx="2743200" cy="784830"/>
            </a:xfrm>
            <a:prstGeom prst="rect">
              <a:avLst/>
            </a:prstGeom>
            <a:solidFill>
              <a:srgbClr val="92D050"/>
            </a:solidFill>
          </p:spPr>
          <p:txBody>
            <a:bodyPr wrap="square" rtlCol="0">
              <a:spAutoFit/>
            </a:bodyPr>
            <a:lstStyle/>
            <a:p>
              <a:r>
                <a:rPr lang="en-US" sz="1500" dirty="0">
                  <a:solidFill>
                    <a:schemeClr val="tx2"/>
                  </a:solidFill>
                </a:rPr>
                <a:t>UPDATE Product</a:t>
              </a:r>
            </a:p>
            <a:p>
              <a:r>
                <a:rPr lang="en-US" sz="1500" dirty="0">
                  <a:solidFill>
                    <a:schemeClr val="tx2"/>
                  </a:solidFill>
                </a:rPr>
                <a:t>SET Price = Price*0.6</a:t>
              </a:r>
            </a:p>
            <a:p>
              <a:r>
                <a:rPr lang="en-US" sz="1500" dirty="0">
                  <a:solidFill>
                    <a:schemeClr val="tx2"/>
                  </a:solidFill>
                </a:rPr>
                <a:t>WHERE </a:t>
              </a:r>
              <a:r>
                <a:rPr lang="en-US" sz="1500" dirty="0" err="1">
                  <a:solidFill>
                    <a:schemeClr val="tx2"/>
                  </a:solidFill>
                </a:rPr>
                <a:t>pname</a:t>
              </a:r>
              <a:r>
                <a:rPr lang="en-US" sz="1500" dirty="0">
                  <a:solidFill>
                    <a:schemeClr val="tx2"/>
                  </a:solidFill>
                </a:rPr>
                <a:t> = “</a:t>
              </a:r>
              <a:r>
                <a:rPr lang="en-US" sz="1500" dirty="0" err="1">
                  <a:solidFill>
                    <a:schemeClr val="tx2"/>
                  </a:solidFill>
                </a:rPr>
                <a:t>CoolToy</a:t>
              </a:r>
              <a:r>
                <a:rPr lang="en-US" sz="1500" dirty="0">
                  <a:solidFill>
                    <a:schemeClr val="tx2"/>
                  </a:solidFill>
                </a:rPr>
                <a:t>”</a:t>
              </a:r>
            </a:p>
          </p:txBody>
        </p:sp>
        <p:sp>
          <p:nvSpPr>
            <p:cNvPr id="14" name="TextBox 13" title="User 2">
              <a:extLst>
                <a:ext uri="{FF2B5EF4-FFF2-40B4-BE49-F238E27FC236}">
                  <a16:creationId xmlns:a16="http://schemas.microsoft.com/office/drawing/2014/main" id="{5EA6BAAF-A580-C943-B5EE-DC67B6937014}"/>
                </a:ext>
              </a:extLst>
            </p:cNvPr>
            <p:cNvSpPr txBox="1"/>
            <p:nvPr/>
          </p:nvSpPr>
          <p:spPr>
            <a:xfrm>
              <a:off x="6553200" y="1188569"/>
              <a:ext cx="898003" cy="415498"/>
            </a:xfrm>
            <a:prstGeom prst="rect">
              <a:avLst/>
            </a:prstGeom>
            <a:noFill/>
          </p:spPr>
          <p:txBody>
            <a:bodyPr wrap="none" rtlCol="0">
              <a:spAutoFit/>
            </a:bodyPr>
            <a:lstStyle/>
            <a:p>
              <a:r>
                <a:rPr lang="en-US" sz="2100" b="1" dirty="0"/>
                <a:t>User 2</a:t>
              </a:r>
            </a:p>
          </p:txBody>
        </p:sp>
      </p:grpSp>
      <p:sp>
        <p:nvSpPr>
          <p:cNvPr id="18" name="TextBox 17" descr=" UPDATE Product&#10;SET Price = Price – 10.99&#10;WHERE pname = “CoolToy”&#10;&#10;" title="User 1">
            <a:extLst>
              <a:ext uri="{FF2B5EF4-FFF2-40B4-BE49-F238E27FC236}">
                <a16:creationId xmlns:a16="http://schemas.microsoft.com/office/drawing/2014/main" id="{63BE1320-5856-D048-AF24-E22AA4BBCE1B}"/>
              </a:ext>
            </a:extLst>
          </p:cNvPr>
          <p:cNvSpPr txBox="1"/>
          <p:nvPr/>
        </p:nvSpPr>
        <p:spPr>
          <a:xfrm>
            <a:off x="1177662" y="1085711"/>
            <a:ext cx="898003" cy="415498"/>
          </a:xfrm>
          <a:prstGeom prst="rect">
            <a:avLst/>
          </a:prstGeom>
          <a:noFill/>
        </p:spPr>
        <p:txBody>
          <a:bodyPr wrap="none" rtlCol="0">
            <a:spAutoFit/>
          </a:bodyPr>
          <a:lstStyle/>
          <a:p>
            <a:r>
              <a:rPr lang="en-US" sz="2100" b="1" dirty="0"/>
              <a:t>User 1</a:t>
            </a:r>
          </a:p>
        </p:txBody>
      </p:sp>
      <p:sp>
        <p:nvSpPr>
          <p:cNvPr id="19" name="Rectangle 18" descr=" UPDATE Product&#10;SET Price = Price – 10.99&#10;WHERE pname = “CoolToy”&#10;&#10;" title="User 1">
            <a:extLst>
              <a:ext uri="{FF2B5EF4-FFF2-40B4-BE49-F238E27FC236}">
                <a16:creationId xmlns:a16="http://schemas.microsoft.com/office/drawing/2014/main" id="{91F6DF4D-58FF-2C4D-AB4C-CECD445F9D3A}"/>
              </a:ext>
            </a:extLst>
          </p:cNvPr>
          <p:cNvSpPr/>
          <p:nvPr/>
        </p:nvSpPr>
        <p:spPr>
          <a:xfrm>
            <a:off x="228600" y="1523691"/>
            <a:ext cx="3810000" cy="150525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title="What could go wrong?&#10;What could go wrong?&#10;What Could go wrong?">
            <a:extLst>
              <a:ext uri="{FF2B5EF4-FFF2-40B4-BE49-F238E27FC236}">
                <a16:creationId xmlns:a16="http://schemas.microsoft.com/office/drawing/2014/main" id="{F0637452-602A-AB4A-B51D-AE8B2A40F733}"/>
              </a:ext>
            </a:extLst>
          </p:cNvPr>
          <p:cNvSpPr txBox="1"/>
          <p:nvPr/>
        </p:nvSpPr>
        <p:spPr>
          <a:xfrm>
            <a:off x="908679" y="4580405"/>
            <a:ext cx="2333972" cy="369332"/>
          </a:xfrm>
          <a:prstGeom prst="rect">
            <a:avLst/>
          </a:prstGeom>
          <a:noFill/>
        </p:spPr>
        <p:txBody>
          <a:bodyPr wrap="none" rtlCol="0">
            <a:spAutoFit/>
          </a:bodyPr>
          <a:lstStyle/>
          <a:p>
            <a:r>
              <a:rPr lang="en-US" b="1" dirty="0"/>
              <a:t>What could go wrong?</a:t>
            </a:r>
          </a:p>
        </p:txBody>
      </p:sp>
    </p:spTree>
    <p:extLst>
      <p:ext uri="{BB962C8B-B14F-4D97-AF65-F5344CB8AC3E}">
        <p14:creationId xmlns:p14="http://schemas.microsoft.com/office/powerpoint/2010/main" val="64498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Different Types of Problems, Part 3</a:t>
            </a:r>
          </a:p>
        </p:txBody>
      </p:sp>
      <p:sp>
        <p:nvSpPr>
          <p:cNvPr id="21" name="Content Placeholder 2"/>
          <p:cNvSpPr>
            <a:spLocks noGrp="1"/>
          </p:cNvSpPr>
          <p:nvPr>
            <p:ph idx="1"/>
          </p:nvPr>
        </p:nvSpPr>
        <p:spPr>
          <a:xfrm>
            <a:off x="457200" y="1539478"/>
            <a:ext cx="8229600" cy="3394472"/>
          </a:xfrm>
        </p:spPr>
        <p:txBody>
          <a:bodyPr/>
          <a:lstStyle/>
          <a:p>
            <a:pPr marL="0" indent="0">
              <a:buNone/>
            </a:pPr>
            <a:r>
              <a:rPr lang="en-US" dirty="0"/>
              <a:t>UPDATE Account</a:t>
            </a:r>
          </a:p>
          <a:p>
            <a:pPr marL="0" indent="0">
              <a:buNone/>
            </a:pPr>
            <a:r>
              <a:rPr lang="en-US" dirty="0"/>
              <a:t>SET amount = 1000000</a:t>
            </a:r>
          </a:p>
          <a:p>
            <a:pPr marL="0" indent="0">
              <a:buNone/>
            </a:pPr>
            <a:r>
              <a:rPr lang="en-US" dirty="0"/>
              <a:t>WHERE number = “my-account”</a:t>
            </a:r>
          </a:p>
          <a:p>
            <a:pPr marL="0" indent="0">
              <a:buNone/>
            </a:pPr>
            <a:r>
              <a:rPr lang="en-US" dirty="0"/>
              <a:t> </a:t>
            </a:r>
          </a:p>
          <a:p>
            <a:pPr marL="0" indent="0">
              <a:buNone/>
            </a:pPr>
            <a:endParaRPr lang="en-US" dirty="0"/>
          </a:p>
        </p:txBody>
      </p:sp>
      <p:sp>
        <p:nvSpPr>
          <p:cNvPr id="12" name="TextBox 11" title="Dirty Reads"/>
          <p:cNvSpPr txBox="1"/>
          <p:nvPr/>
        </p:nvSpPr>
        <p:spPr>
          <a:xfrm>
            <a:off x="3352800" y="4580405"/>
            <a:ext cx="1467902" cy="415498"/>
          </a:xfrm>
          <a:prstGeom prst="rect">
            <a:avLst/>
          </a:prstGeom>
          <a:noFill/>
        </p:spPr>
        <p:txBody>
          <a:bodyPr wrap="none" rtlCol="0">
            <a:spAutoFit/>
          </a:bodyPr>
          <a:lstStyle/>
          <a:p>
            <a:r>
              <a:rPr lang="en-US" sz="2100" b="1" dirty="0">
                <a:solidFill>
                  <a:srgbClr val="FF0000"/>
                </a:solidFill>
              </a:rPr>
              <a:t>Dirty Reads</a:t>
            </a:r>
          </a:p>
        </p:txBody>
      </p:sp>
      <p:sp>
        <p:nvSpPr>
          <p:cNvPr id="3" name="Oval Callout 2" descr="Aborted By System" title="User 1 Actions"/>
          <p:cNvSpPr/>
          <p:nvPr/>
        </p:nvSpPr>
        <p:spPr>
          <a:xfrm>
            <a:off x="990600" y="3226832"/>
            <a:ext cx="1352549" cy="571500"/>
          </a:xfrm>
          <a:prstGeom prst="wedgeEllipseCallout">
            <a:avLst>
              <a:gd name="adj1" fmla="val 39487"/>
              <a:gd name="adj2" fmla="val -82143"/>
            </a:avLst>
          </a:prstGeom>
          <a:solidFill>
            <a:schemeClr val="accent4">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4405C"/>
                </a:solidFill>
              </a:rPr>
              <a:t>Aborted by the system</a:t>
            </a:r>
          </a:p>
        </p:txBody>
      </p:sp>
      <p:grpSp>
        <p:nvGrpSpPr>
          <p:cNvPr id="22" name="Group 21" descr="SELECT amount&#10;FROM Account&#10;WHERE number = “my-account”&#10;" title="User 2">
            <a:extLst>
              <a:ext uri="{FF2B5EF4-FFF2-40B4-BE49-F238E27FC236}">
                <a16:creationId xmlns:a16="http://schemas.microsoft.com/office/drawing/2014/main" id="{C207F77D-7C62-1245-BA3B-FD16E00FB040}"/>
              </a:ext>
            </a:extLst>
          </p:cNvPr>
          <p:cNvGrpSpPr/>
          <p:nvPr/>
        </p:nvGrpSpPr>
        <p:grpSpPr>
          <a:xfrm>
            <a:off x="5486400" y="1188569"/>
            <a:ext cx="2956060" cy="1360964"/>
            <a:chOff x="5486400" y="1188569"/>
            <a:chExt cx="2956060" cy="1360964"/>
          </a:xfrm>
        </p:grpSpPr>
        <p:sp>
          <p:nvSpPr>
            <p:cNvPr id="23" name="TextBox 22">
              <a:extLst>
                <a:ext uri="{FF2B5EF4-FFF2-40B4-BE49-F238E27FC236}">
                  <a16:creationId xmlns:a16="http://schemas.microsoft.com/office/drawing/2014/main" id="{6FFB435A-BB1A-6F40-973C-06F83C6D30F7}"/>
                </a:ext>
              </a:extLst>
            </p:cNvPr>
            <p:cNvSpPr txBox="1"/>
            <p:nvPr/>
          </p:nvSpPr>
          <p:spPr>
            <a:xfrm>
              <a:off x="5486400" y="1718536"/>
              <a:ext cx="2956060" cy="830997"/>
            </a:xfrm>
            <a:prstGeom prst="rect">
              <a:avLst/>
            </a:prstGeom>
            <a:solidFill>
              <a:srgbClr val="92D050"/>
            </a:solidFill>
          </p:spPr>
          <p:txBody>
            <a:bodyPr wrap="square" rtlCol="0">
              <a:spAutoFit/>
            </a:bodyPr>
            <a:lstStyle/>
            <a:p>
              <a:r>
                <a:rPr lang="en-US" sz="1600" dirty="0">
                  <a:solidFill>
                    <a:schemeClr val="tx2"/>
                  </a:solidFill>
                </a:rPr>
                <a:t>SELECT amount</a:t>
              </a:r>
            </a:p>
            <a:p>
              <a:r>
                <a:rPr lang="en-US" sz="1600" dirty="0">
                  <a:solidFill>
                    <a:schemeClr val="tx2"/>
                  </a:solidFill>
                </a:rPr>
                <a:t>FROM Account</a:t>
              </a:r>
            </a:p>
            <a:p>
              <a:r>
                <a:rPr lang="en-US" sz="1600" dirty="0">
                  <a:solidFill>
                    <a:schemeClr val="tx2"/>
                  </a:solidFill>
                </a:rPr>
                <a:t>WHERE number = “my-account”</a:t>
              </a:r>
            </a:p>
          </p:txBody>
        </p:sp>
        <p:sp>
          <p:nvSpPr>
            <p:cNvPr id="24" name="TextBox 23" title="User 2">
              <a:extLst>
                <a:ext uri="{FF2B5EF4-FFF2-40B4-BE49-F238E27FC236}">
                  <a16:creationId xmlns:a16="http://schemas.microsoft.com/office/drawing/2014/main" id="{8708B4A1-70EE-054D-8904-27E29C6A0C40}"/>
                </a:ext>
              </a:extLst>
            </p:cNvPr>
            <p:cNvSpPr txBox="1"/>
            <p:nvPr/>
          </p:nvSpPr>
          <p:spPr>
            <a:xfrm>
              <a:off x="6553200" y="1188569"/>
              <a:ext cx="898003" cy="415498"/>
            </a:xfrm>
            <a:prstGeom prst="rect">
              <a:avLst/>
            </a:prstGeom>
            <a:noFill/>
          </p:spPr>
          <p:txBody>
            <a:bodyPr wrap="none" rtlCol="0">
              <a:spAutoFit/>
            </a:bodyPr>
            <a:lstStyle/>
            <a:p>
              <a:r>
                <a:rPr lang="en-US" sz="2100" b="1" dirty="0"/>
                <a:t>User 2</a:t>
              </a:r>
            </a:p>
          </p:txBody>
        </p:sp>
      </p:grpSp>
      <p:grpSp>
        <p:nvGrpSpPr>
          <p:cNvPr id="10" name="Group 9" descr="UPDATE Account&#10;SET amount = 1000000&#10;WHERE number = “my-account”&#10; &#10;" title="User 1">
            <a:extLst>
              <a:ext uri="{FF2B5EF4-FFF2-40B4-BE49-F238E27FC236}">
                <a16:creationId xmlns:a16="http://schemas.microsoft.com/office/drawing/2014/main" id="{21A82ED2-8300-1A46-B29B-07BC79943E3A}"/>
              </a:ext>
            </a:extLst>
          </p:cNvPr>
          <p:cNvGrpSpPr/>
          <p:nvPr/>
        </p:nvGrpSpPr>
        <p:grpSpPr>
          <a:xfrm>
            <a:off x="228600" y="1085711"/>
            <a:ext cx="4171950" cy="1943239"/>
            <a:chOff x="228600" y="1085711"/>
            <a:chExt cx="4171950" cy="1943239"/>
          </a:xfrm>
        </p:grpSpPr>
        <p:sp>
          <p:nvSpPr>
            <p:cNvPr id="25" name="TextBox 24" descr=" UPDATE Product&#10;SET Price = Price – 10.99&#10;WHERE pname = “CoolToy”&#10;&#10;" title="User 1">
              <a:extLst>
                <a:ext uri="{FF2B5EF4-FFF2-40B4-BE49-F238E27FC236}">
                  <a16:creationId xmlns:a16="http://schemas.microsoft.com/office/drawing/2014/main" id="{2D133837-BA18-2647-B32C-F19C8BD43AE6}"/>
                </a:ext>
              </a:extLst>
            </p:cNvPr>
            <p:cNvSpPr txBox="1"/>
            <p:nvPr/>
          </p:nvSpPr>
          <p:spPr>
            <a:xfrm>
              <a:off x="1177662" y="1085711"/>
              <a:ext cx="898003" cy="415498"/>
            </a:xfrm>
            <a:prstGeom prst="rect">
              <a:avLst/>
            </a:prstGeom>
            <a:noFill/>
          </p:spPr>
          <p:txBody>
            <a:bodyPr wrap="none" rtlCol="0">
              <a:spAutoFit/>
            </a:bodyPr>
            <a:lstStyle/>
            <a:p>
              <a:r>
                <a:rPr lang="en-US" sz="2100" b="1" dirty="0"/>
                <a:t>User 1</a:t>
              </a:r>
            </a:p>
          </p:txBody>
        </p:sp>
        <p:sp>
          <p:nvSpPr>
            <p:cNvPr id="26" name="Rectangle 25" descr=" UPDATE Product&#10;SET Price = Price – 10.99&#10;WHERE pname = “CoolToy”&#10;&#10;" title="User 1">
              <a:extLst>
                <a:ext uri="{FF2B5EF4-FFF2-40B4-BE49-F238E27FC236}">
                  <a16:creationId xmlns:a16="http://schemas.microsoft.com/office/drawing/2014/main" id="{F8B210C6-0FA6-B344-8076-7EC99DBFDE23}"/>
                </a:ext>
              </a:extLst>
            </p:cNvPr>
            <p:cNvSpPr/>
            <p:nvPr/>
          </p:nvSpPr>
          <p:spPr>
            <a:xfrm>
              <a:off x="228600" y="1523691"/>
              <a:ext cx="4171950" cy="150525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title="What could go wrong?&#10;What could go wrong?&#10;What Could go wrong?">
            <a:extLst>
              <a:ext uri="{FF2B5EF4-FFF2-40B4-BE49-F238E27FC236}">
                <a16:creationId xmlns:a16="http://schemas.microsoft.com/office/drawing/2014/main" id="{D2468D6C-7F3E-0A44-A6AC-82D3B59EC49E}"/>
              </a:ext>
            </a:extLst>
          </p:cNvPr>
          <p:cNvSpPr txBox="1"/>
          <p:nvPr/>
        </p:nvSpPr>
        <p:spPr>
          <a:xfrm>
            <a:off x="908679" y="4580405"/>
            <a:ext cx="2333972" cy="369332"/>
          </a:xfrm>
          <a:prstGeom prst="rect">
            <a:avLst/>
          </a:prstGeom>
          <a:noFill/>
        </p:spPr>
        <p:txBody>
          <a:bodyPr wrap="none" rtlCol="0">
            <a:spAutoFit/>
          </a:bodyPr>
          <a:lstStyle/>
          <a:p>
            <a:r>
              <a:rPr lang="en-US" b="1" dirty="0"/>
              <a:t>What could go wrong?</a:t>
            </a:r>
          </a:p>
        </p:txBody>
      </p:sp>
    </p:spTree>
    <p:extLst>
      <p:ext uri="{BB962C8B-B14F-4D97-AF65-F5344CB8AC3E}">
        <p14:creationId xmlns:p14="http://schemas.microsoft.com/office/powerpoint/2010/main" val="206952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8036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Transaction: Concept and Implementation</a:t>
            </a:r>
          </a:p>
        </p:txBody>
      </p:sp>
      <p:sp>
        <p:nvSpPr>
          <p:cNvPr id="21" name="Content Placeholder 2"/>
          <p:cNvSpPr>
            <a:spLocks noGrp="1"/>
          </p:cNvSpPr>
          <p:nvPr>
            <p:ph idx="1"/>
          </p:nvPr>
        </p:nvSpPr>
        <p:spPr/>
        <p:txBody>
          <a:bodyPr anchor="ctr">
            <a:normAutofit/>
          </a:bodyPr>
          <a:lstStyle/>
          <a:p>
            <a:r>
              <a:rPr lang="en-US" dirty="0"/>
              <a:t>Major component of database systems</a:t>
            </a:r>
          </a:p>
          <a:p>
            <a:r>
              <a:rPr lang="en-US" dirty="0"/>
              <a:t>Critical for most applications; arguably more so than SQL</a:t>
            </a:r>
          </a:p>
        </p:txBody>
      </p:sp>
    </p:spTree>
    <p:extLst>
      <p:ext uri="{BB962C8B-B14F-4D97-AF65-F5344CB8AC3E}">
        <p14:creationId xmlns:p14="http://schemas.microsoft.com/office/powerpoint/2010/main" val="943635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An Aside: Database Turing Awards</a:t>
            </a:r>
          </a:p>
        </p:txBody>
      </p:sp>
      <p:pic>
        <p:nvPicPr>
          <p:cNvPr id="4" name="Picture 3" descr="Photo of Jim Gray" title="Jim Gray"/>
          <p:cNvPicPr>
            <a:picLocks noChangeAspect="1"/>
          </p:cNvPicPr>
          <p:nvPr/>
        </p:nvPicPr>
        <p:blipFill rotWithShape="1">
          <a:blip r:embed="rId3"/>
          <a:srcRect l="-1081" r="1"/>
          <a:stretch/>
        </p:blipFill>
        <p:spPr>
          <a:xfrm>
            <a:off x="388872" y="3028949"/>
            <a:ext cx="2849860" cy="1480175"/>
          </a:xfrm>
          <a:prstGeom prst="rect">
            <a:avLst/>
          </a:prstGeom>
        </p:spPr>
      </p:pic>
      <p:pic>
        <p:nvPicPr>
          <p:cNvPr id="1026" name="Picture 2" descr="Photo of Michael Stonebreaker" title="Michael Stonebreak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9000" y="3028949"/>
            <a:ext cx="2819810" cy="1480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oto of Edgar Codd" title="Edgar Cod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25780" y="1105684"/>
            <a:ext cx="2823030" cy="14820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hoto of Charles Bachman" title="Charles Bachma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5703" y="1105683"/>
            <a:ext cx="2823029" cy="1482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45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What is a Transaction?</a:t>
            </a:r>
            <a:endParaRPr lang="en-US" dirty="0"/>
          </a:p>
        </p:txBody>
      </p:sp>
      <p:sp>
        <p:nvSpPr>
          <p:cNvPr id="21" name="Content Placeholder 2"/>
          <p:cNvSpPr>
            <a:spLocks noGrp="1"/>
          </p:cNvSpPr>
          <p:nvPr>
            <p:ph idx="1"/>
          </p:nvPr>
        </p:nvSpPr>
        <p:spPr/>
        <p:txBody>
          <a:bodyPr>
            <a:normAutofit/>
          </a:bodyPr>
          <a:lstStyle/>
          <a:p>
            <a:r>
              <a:rPr lang="en-US" dirty="0"/>
              <a:t>A </a:t>
            </a:r>
            <a:r>
              <a:rPr lang="en-US" i="1" dirty="0"/>
              <a:t>sequence</a:t>
            </a:r>
            <a:r>
              <a:rPr lang="en-US" dirty="0"/>
              <a:t> of </a:t>
            </a:r>
            <a:r>
              <a:rPr lang="en-US" i="1" dirty="0"/>
              <a:t>multiple actions</a:t>
            </a:r>
            <a:r>
              <a:rPr lang="en-US" dirty="0"/>
              <a:t> to be executed as an </a:t>
            </a:r>
            <a:r>
              <a:rPr lang="en-US" i="1" dirty="0"/>
              <a:t>atomic </a:t>
            </a:r>
            <a:r>
              <a:rPr lang="en-US" dirty="0"/>
              <a:t>unit</a:t>
            </a:r>
          </a:p>
          <a:p>
            <a:r>
              <a:rPr lang="en-US" dirty="0"/>
              <a:t>Application View (SQL View):</a:t>
            </a:r>
          </a:p>
          <a:p>
            <a:pPr lvl="1"/>
            <a:r>
              <a:rPr lang="en-US" dirty="0"/>
              <a:t>Begin transaction </a:t>
            </a:r>
          </a:p>
          <a:p>
            <a:pPr lvl="1"/>
            <a:r>
              <a:rPr lang="en-US" dirty="0"/>
              <a:t>Sequence of SQL statements</a:t>
            </a:r>
          </a:p>
          <a:p>
            <a:pPr lvl="1"/>
            <a:r>
              <a:rPr lang="en-US" dirty="0"/>
              <a:t>End transaction</a:t>
            </a:r>
          </a:p>
          <a:p>
            <a:pPr>
              <a:spcBef>
                <a:spcPts val="1500"/>
              </a:spcBef>
            </a:pPr>
            <a:r>
              <a:rPr lang="en-US" dirty="0"/>
              <a:t>Examples</a:t>
            </a:r>
          </a:p>
          <a:p>
            <a:pPr lvl="1"/>
            <a:r>
              <a:rPr lang="en-US" dirty="0"/>
              <a:t>Transfer money between accounts</a:t>
            </a:r>
          </a:p>
          <a:p>
            <a:pPr lvl="1"/>
            <a:r>
              <a:rPr lang="en-US" dirty="0"/>
              <a:t>Book a flight, a hotel and a car together on Expedia </a:t>
            </a:r>
          </a:p>
        </p:txBody>
      </p:sp>
    </p:spTree>
    <p:extLst>
      <p:ext uri="{BB962C8B-B14F-4D97-AF65-F5344CB8AC3E}">
        <p14:creationId xmlns:p14="http://schemas.microsoft.com/office/powerpoint/2010/main" val="48296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Our Transaction Model</a:t>
            </a:r>
            <a:endParaRPr lang="en-US" dirty="0"/>
          </a:p>
        </p:txBody>
      </p:sp>
      <p:sp>
        <p:nvSpPr>
          <p:cNvPr id="21" name="Content Placeholder 2"/>
          <p:cNvSpPr>
            <a:spLocks noGrp="1"/>
          </p:cNvSpPr>
          <p:nvPr>
            <p:ph idx="1"/>
          </p:nvPr>
        </p:nvSpPr>
        <p:spPr/>
        <p:txBody>
          <a:bodyPr/>
          <a:lstStyle/>
          <a:p>
            <a:r>
              <a:rPr lang="en-US" b="1" dirty="0"/>
              <a:t>Transaction</a:t>
            </a:r>
            <a:r>
              <a:rPr lang="en-US" dirty="0"/>
              <a:t> (“Xact”):</a:t>
            </a:r>
          </a:p>
          <a:p>
            <a:pPr lvl="1"/>
            <a:r>
              <a:rPr lang="en-US" dirty="0"/>
              <a:t>DBMS’s abstract view of an application program (or activity)</a:t>
            </a:r>
          </a:p>
          <a:p>
            <a:pPr lvl="2"/>
            <a:r>
              <a:rPr lang="en-US" dirty="0"/>
              <a:t>A sequence of </a:t>
            </a:r>
            <a:r>
              <a:rPr lang="en-US" i="1" dirty="0"/>
              <a:t>reads</a:t>
            </a:r>
            <a:r>
              <a:rPr lang="en-US" dirty="0"/>
              <a:t> and </a:t>
            </a:r>
            <a:r>
              <a:rPr lang="en-US" i="1" dirty="0"/>
              <a:t>writes</a:t>
            </a:r>
            <a:r>
              <a:rPr lang="en-US" dirty="0"/>
              <a:t> of database objects</a:t>
            </a:r>
          </a:p>
          <a:p>
            <a:pPr lvl="2"/>
            <a:r>
              <a:rPr lang="en-US" dirty="0"/>
              <a:t>Batch of work that must </a:t>
            </a:r>
            <a:r>
              <a:rPr lang="en-US" i="1" dirty="0"/>
              <a:t>commit</a:t>
            </a:r>
            <a:r>
              <a:rPr lang="en-US" dirty="0"/>
              <a:t> or </a:t>
            </a:r>
            <a:r>
              <a:rPr lang="en-US" i="1" dirty="0"/>
              <a:t>abort</a:t>
            </a:r>
            <a:r>
              <a:rPr lang="en-US" dirty="0"/>
              <a:t> as an atomic unit</a:t>
            </a:r>
          </a:p>
          <a:p>
            <a:pPr>
              <a:spcBef>
                <a:spcPts val="1500"/>
              </a:spcBef>
            </a:pPr>
            <a:r>
              <a:rPr lang="en-US" b="1" dirty="0"/>
              <a:t>Xact Manager controls execution of transactions</a:t>
            </a:r>
          </a:p>
          <a:p>
            <a:r>
              <a:rPr lang="en-US" b="1" dirty="0"/>
              <a:t>Program logic is invisible to DBMS!</a:t>
            </a:r>
          </a:p>
          <a:p>
            <a:pPr lvl="1"/>
            <a:r>
              <a:rPr lang="en-US" sz="1600" dirty="0"/>
              <a:t>Arbitrary computation possible on data fetched from the DB</a:t>
            </a:r>
          </a:p>
          <a:p>
            <a:pPr lvl="1"/>
            <a:r>
              <a:rPr lang="en-US" sz="1600" dirty="0"/>
              <a:t>The DBMS only sees data read/written from/to the DB</a:t>
            </a:r>
          </a:p>
          <a:p>
            <a:pPr lvl="1"/>
            <a:r>
              <a:rPr lang="en-US" sz="1600" dirty="0"/>
              <a:t>(Note: modern systems have started rethinking this</a:t>
            </a:r>
          </a:p>
          <a:p>
            <a:pPr marL="1371600" lvl="1" indent="0">
              <a:spcBef>
                <a:spcPts val="200"/>
              </a:spcBef>
              <a:buNone/>
            </a:pPr>
            <a:r>
              <a:rPr lang="en-US" sz="1600" dirty="0"/>
              <a:t>assumption, but we’ll stick with it here) </a:t>
            </a:r>
          </a:p>
        </p:txBody>
      </p:sp>
    </p:spTree>
    <p:extLst>
      <p:ext uri="{BB962C8B-B14F-4D97-AF65-F5344CB8AC3E}">
        <p14:creationId xmlns:p14="http://schemas.microsoft.com/office/powerpoint/2010/main" val="214263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Transaction Example</a:t>
            </a:r>
            <a:endParaRPr lang="en-US" dirty="0"/>
          </a:p>
        </p:txBody>
      </p:sp>
      <p:sp>
        <p:nvSpPr>
          <p:cNvPr id="21" name="Content Placeholder 2"/>
          <p:cNvSpPr>
            <a:spLocks noGrp="1"/>
          </p:cNvSpPr>
          <p:nvPr>
            <p:ph idx="1"/>
          </p:nvPr>
        </p:nvSpPr>
        <p:spPr/>
        <p:txBody>
          <a:bodyPr/>
          <a:lstStyle/>
          <a:p>
            <a:r>
              <a:rPr lang="en-US" dirty="0"/>
              <a:t>Transaction to transfer $100 from account R to account S </a:t>
            </a:r>
          </a:p>
        </p:txBody>
      </p:sp>
      <p:sp>
        <p:nvSpPr>
          <p:cNvPr id="2" name="TextBox 1" descr="1. start transaction&#10;2. read(R)&#10;3. R = R – 100  &#10;4. write(R)&#10;5. read(S)&#10;6. S = S + 100 &#10;7. write(S)&#10;8. end transaction&#10;" title="Transaction"/>
          <p:cNvSpPr txBox="1"/>
          <p:nvPr/>
        </p:nvSpPr>
        <p:spPr>
          <a:xfrm>
            <a:off x="2617470" y="1943597"/>
            <a:ext cx="2160270" cy="2308324"/>
          </a:xfrm>
          <a:prstGeom prst="rect">
            <a:avLst/>
          </a:prstGeom>
          <a:solidFill>
            <a:schemeClr val="bg1"/>
          </a:solidFill>
          <a:ln>
            <a:solidFill>
              <a:schemeClr val="bg2">
                <a:lumMod val="10000"/>
              </a:schemeClr>
            </a:solidFill>
          </a:ln>
          <a:effectLst>
            <a:outerShdw blurRad="50800" dist="38100" dir="2700000" algn="tl" rotWithShape="0">
              <a:prstClr val="black">
                <a:alpha val="40000"/>
              </a:prstClr>
            </a:outerShdw>
          </a:effectLst>
        </p:spPr>
        <p:txBody>
          <a:bodyPr wrap="square" rtlCol="0">
            <a:spAutoFit/>
          </a:bodyPr>
          <a:lstStyle/>
          <a:p>
            <a:pPr marL="305991" lvl="2" indent="-305991">
              <a:buFont typeface="+mj-lt"/>
              <a:buAutoNum type="arabicPeriod"/>
            </a:pPr>
            <a:r>
              <a:rPr lang="en-US" dirty="0">
                <a:ea typeface="Lucida Console" charset="0"/>
                <a:cs typeface="Lucida Console" charset="0"/>
              </a:rPr>
              <a:t>start transaction</a:t>
            </a:r>
          </a:p>
          <a:p>
            <a:pPr marL="305991" lvl="2" indent="-305991">
              <a:buFont typeface="+mj-lt"/>
              <a:buAutoNum type="arabicPeriod"/>
            </a:pPr>
            <a:r>
              <a:rPr lang="en-US" dirty="0">
                <a:ea typeface="Lucida Console" charset="0"/>
                <a:cs typeface="Lucida Console" charset="0"/>
              </a:rPr>
              <a:t>read(R)</a:t>
            </a:r>
          </a:p>
          <a:p>
            <a:pPr marL="305991" lvl="2" indent="-305991">
              <a:buFont typeface="+mj-lt"/>
              <a:buAutoNum type="arabicPeriod"/>
            </a:pPr>
            <a:r>
              <a:rPr lang="en-US" dirty="0">
                <a:solidFill>
                  <a:schemeClr val="bg1">
                    <a:lumMod val="50000"/>
                  </a:schemeClr>
                </a:solidFill>
                <a:ea typeface="Lucida Console" charset="0"/>
                <a:cs typeface="Lucida Console" charset="0"/>
              </a:rPr>
              <a:t>R = R – 100  </a:t>
            </a:r>
          </a:p>
          <a:p>
            <a:pPr marL="305991" lvl="2" indent="-305991">
              <a:buFont typeface="+mj-lt"/>
              <a:buAutoNum type="arabicPeriod"/>
            </a:pPr>
            <a:r>
              <a:rPr lang="en-US" dirty="0">
                <a:ea typeface="Lucida Console" charset="0"/>
                <a:cs typeface="Lucida Console" charset="0"/>
              </a:rPr>
              <a:t>write(R)</a:t>
            </a:r>
          </a:p>
          <a:p>
            <a:pPr marL="305991" lvl="2" indent="-305991">
              <a:buFont typeface="+mj-lt"/>
              <a:buAutoNum type="arabicPeriod"/>
            </a:pPr>
            <a:r>
              <a:rPr lang="en-US" dirty="0">
                <a:ea typeface="Lucida Console" charset="0"/>
                <a:cs typeface="Lucida Console" charset="0"/>
              </a:rPr>
              <a:t>read(S)</a:t>
            </a:r>
          </a:p>
          <a:p>
            <a:pPr marL="305991" lvl="2" indent="-305991">
              <a:buFont typeface="+mj-lt"/>
              <a:buAutoNum type="arabicPeriod"/>
            </a:pPr>
            <a:r>
              <a:rPr lang="en-US" dirty="0">
                <a:solidFill>
                  <a:schemeClr val="bg1">
                    <a:lumMod val="50000"/>
                  </a:schemeClr>
                </a:solidFill>
                <a:ea typeface="Lucida Console" charset="0"/>
                <a:cs typeface="Lucida Console" charset="0"/>
              </a:rPr>
              <a:t>S = S + 100 </a:t>
            </a:r>
          </a:p>
          <a:p>
            <a:pPr marL="305991" lvl="2" indent="-305991">
              <a:buFont typeface="+mj-lt"/>
              <a:buAutoNum type="arabicPeriod"/>
            </a:pPr>
            <a:r>
              <a:rPr lang="en-US" dirty="0">
                <a:ea typeface="Lucida Console" charset="0"/>
                <a:cs typeface="Lucida Console" charset="0"/>
              </a:rPr>
              <a:t>write(S)</a:t>
            </a:r>
          </a:p>
          <a:p>
            <a:pPr marL="305991" lvl="2" indent="-305991">
              <a:buFont typeface="+mj-lt"/>
              <a:buAutoNum type="arabicPeriod"/>
            </a:pPr>
            <a:r>
              <a:rPr lang="en-US" dirty="0">
                <a:ea typeface="Lucida Console" charset="0"/>
                <a:cs typeface="Lucida Console" charset="0"/>
              </a:rPr>
              <a:t>end transaction</a:t>
            </a:r>
          </a:p>
        </p:txBody>
      </p:sp>
      <p:sp>
        <p:nvSpPr>
          <p:cNvPr id="3" name="TextBox 2" descr="Step 3 and step 6 are not seen by the DBMS Transaction manager" title="Example"/>
          <p:cNvSpPr txBox="1"/>
          <p:nvPr/>
        </p:nvSpPr>
        <p:spPr>
          <a:xfrm>
            <a:off x="0" y="2772184"/>
            <a:ext cx="1905000" cy="923330"/>
          </a:xfrm>
          <a:prstGeom prst="rect">
            <a:avLst/>
          </a:prstGeom>
          <a:noFill/>
        </p:spPr>
        <p:txBody>
          <a:bodyPr wrap="square" rtlCol="0">
            <a:spAutoFit/>
          </a:bodyPr>
          <a:lstStyle/>
          <a:p>
            <a:pPr algn="r"/>
            <a:r>
              <a:rPr lang="en-US" dirty="0"/>
              <a:t>Not seen by the DBMS transaction manager!</a:t>
            </a:r>
          </a:p>
        </p:txBody>
      </p:sp>
      <p:cxnSp>
        <p:nvCxnSpPr>
          <p:cNvPr id="5" name="Straight Arrow Connector 4" descr="Step 3 and step 6 are not seen by the DBMS Transaction manager" title="Example"/>
          <p:cNvCxnSpPr>
            <a:stCxn id="3" idx="3"/>
          </p:cNvCxnSpPr>
          <p:nvPr/>
        </p:nvCxnSpPr>
        <p:spPr>
          <a:xfrm flipV="1">
            <a:off x="1905000" y="2691521"/>
            <a:ext cx="815662" cy="542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descr="Step 3 and step 6 are not seen by the DBMS Transaction manager" title="Example"/>
          <p:cNvCxnSpPr>
            <a:stCxn id="3" idx="3"/>
          </p:cNvCxnSpPr>
          <p:nvPr/>
        </p:nvCxnSpPr>
        <p:spPr>
          <a:xfrm>
            <a:off x="1905000" y="3233849"/>
            <a:ext cx="815662" cy="259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7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01B656-5577-B644-A6E5-E9683D52338C}"/>
              </a:ext>
            </a:extLst>
          </p:cNvPr>
          <p:cNvSpPr>
            <a:spLocks noGrp="1"/>
          </p:cNvSpPr>
          <p:nvPr>
            <p:ph type="title"/>
          </p:nvPr>
        </p:nvSpPr>
        <p:spPr/>
        <p:txBody>
          <a:bodyPr>
            <a:normAutofit/>
          </a:bodyPr>
          <a:lstStyle/>
          <a:p>
            <a:r>
              <a:rPr lang="en-US" dirty="0"/>
              <a:t>ACID: High-Level Properties of Transactions</a:t>
            </a:r>
          </a:p>
        </p:txBody>
      </p:sp>
      <p:sp>
        <p:nvSpPr>
          <p:cNvPr id="21" name="Content Placeholder 2"/>
          <p:cNvSpPr>
            <a:spLocks noGrp="1"/>
          </p:cNvSpPr>
          <p:nvPr>
            <p:ph idx="1"/>
          </p:nvPr>
        </p:nvSpPr>
        <p:spPr/>
        <p:txBody>
          <a:bodyPr>
            <a:normAutofit/>
          </a:bodyPr>
          <a:lstStyle/>
          <a:p>
            <a:r>
              <a:rPr lang="en-US" b="1" dirty="0">
                <a:solidFill>
                  <a:srgbClr val="FF0000"/>
                </a:solidFill>
                <a:ea typeface="Lucida Console" charset="0"/>
                <a:cs typeface="Lucida Console" charset="0"/>
              </a:rPr>
              <a:t>A</a:t>
            </a:r>
            <a:r>
              <a:rPr lang="en-US" b="1" dirty="0">
                <a:ea typeface="Lucida Console" charset="0"/>
                <a:cs typeface="Lucida Console" charset="0"/>
              </a:rPr>
              <a:t> </a:t>
            </a:r>
            <a:r>
              <a:rPr lang="en-US" b="1" dirty="0" err="1">
                <a:ea typeface="Lucida Console" charset="0"/>
                <a:cs typeface="Lucida Console" charset="0"/>
              </a:rPr>
              <a:t>tomicity</a:t>
            </a:r>
            <a:r>
              <a:rPr lang="en-US" b="1" dirty="0">
                <a:ea typeface="Lucida Console" charset="0"/>
                <a:cs typeface="Lucida Console" charset="0"/>
              </a:rPr>
              <a:t>: </a:t>
            </a:r>
            <a:r>
              <a:rPr lang="en-US" i="1" dirty="0">
                <a:ea typeface="Lucida Console" charset="0"/>
                <a:cs typeface="Lucida Console" charset="0"/>
              </a:rPr>
              <a:t>All</a:t>
            </a:r>
            <a:r>
              <a:rPr lang="en-US" b="1" dirty="0">
                <a:ea typeface="Lucida Console" charset="0"/>
                <a:cs typeface="Lucida Console" charset="0"/>
              </a:rPr>
              <a:t> </a:t>
            </a:r>
            <a:r>
              <a:rPr lang="en-US" dirty="0">
                <a:ea typeface="Lucida Console" charset="0"/>
                <a:cs typeface="Lucida Console" charset="0"/>
              </a:rPr>
              <a:t>actions in the Xact happen, or </a:t>
            </a:r>
            <a:r>
              <a:rPr lang="en-US" i="1" dirty="0">
                <a:ea typeface="Lucida Console" charset="0"/>
                <a:cs typeface="Lucida Console" charset="0"/>
              </a:rPr>
              <a:t>none</a:t>
            </a:r>
            <a:r>
              <a:rPr lang="en-US" b="1" dirty="0">
                <a:ea typeface="Lucida Console" charset="0"/>
                <a:cs typeface="Lucida Console" charset="0"/>
              </a:rPr>
              <a:t> </a:t>
            </a:r>
            <a:r>
              <a:rPr lang="en-US" dirty="0">
                <a:ea typeface="Lucida Console" charset="0"/>
                <a:cs typeface="Lucida Console" charset="0"/>
              </a:rPr>
              <a:t>happen.</a:t>
            </a:r>
          </a:p>
          <a:p>
            <a:pPr>
              <a:spcBef>
                <a:spcPts val="2400"/>
              </a:spcBef>
            </a:pPr>
            <a:r>
              <a:rPr lang="en-US" b="1" dirty="0">
                <a:solidFill>
                  <a:srgbClr val="FF0000"/>
                </a:solidFill>
                <a:ea typeface="Lucida Console" charset="0"/>
                <a:cs typeface="Lucida Console" charset="0"/>
              </a:rPr>
              <a:t>C</a:t>
            </a:r>
            <a:r>
              <a:rPr lang="en-US" b="1" dirty="0">
                <a:ea typeface="Lucida Console" charset="0"/>
                <a:cs typeface="Lucida Console" charset="0"/>
              </a:rPr>
              <a:t> </a:t>
            </a:r>
            <a:r>
              <a:rPr lang="en-US" b="1" dirty="0" err="1">
                <a:ea typeface="Lucida Console" charset="0"/>
                <a:cs typeface="Lucida Console" charset="0"/>
              </a:rPr>
              <a:t>onsistency</a:t>
            </a:r>
            <a:r>
              <a:rPr lang="en-US" b="1" dirty="0">
                <a:ea typeface="Lucida Console" charset="0"/>
                <a:cs typeface="Lucida Console" charset="0"/>
              </a:rPr>
              <a:t>: </a:t>
            </a:r>
            <a:r>
              <a:rPr lang="en-US" dirty="0">
                <a:ea typeface="Lucida Console" charset="0"/>
                <a:cs typeface="Lucida Console" charset="0"/>
              </a:rPr>
              <a:t>If the DB </a:t>
            </a:r>
            <a:r>
              <a:rPr lang="en-US" i="1" dirty="0">
                <a:ea typeface="Lucida Console" charset="0"/>
                <a:cs typeface="Lucida Console" charset="0"/>
              </a:rPr>
              <a:t>starts</a:t>
            </a:r>
            <a:r>
              <a:rPr lang="en-US" b="1" dirty="0">
                <a:ea typeface="Lucida Console" charset="0"/>
                <a:cs typeface="Lucida Console" charset="0"/>
              </a:rPr>
              <a:t> </a:t>
            </a:r>
            <a:r>
              <a:rPr lang="en-US" dirty="0">
                <a:ea typeface="Lucida Console" charset="0"/>
                <a:cs typeface="Lucida Console" charset="0"/>
              </a:rPr>
              <a:t>out</a:t>
            </a:r>
            <a:r>
              <a:rPr lang="en-US" b="1" dirty="0">
                <a:ea typeface="Lucida Console" charset="0"/>
                <a:cs typeface="Lucida Console" charset="0"/>
              </a:rPr>
              <a:t> </a:t>
            </a:r>
            <a:r>
              <a:rPr lang="en-US" i="1" dirty="0">
                <a:ea typeface="Lucida Console" charset="0"/>
                <a:cs typeface="Lucida Console" charset="0"/>
              </a:rPr>
              <a:t>consistent</a:t>
            </a:r>
            <a:r>
              <a:rPr lang="en-US" b="1" dirty="0">
                <a:ea typeface="Lucida Console" charset="0"/>
                <a:cs typeface="Lucida Console" charset="0"/>
              </a:rPr>
              <a:t>, </a:t>
            </a:r>
            <a:r>
              <a:rPr lang="en-US" dirty="0">
                <a:ea typeface="Lucida Console" charset="0"/>
                <a:cs typeface="Lucida Console" charset="0"/>
              </a:rPr>
              <a:t>it</a:t>
            </a:r>
            <a:r>
              <a:rPr lang="en-US" b="1" dirty="0">
                <a:ea typeface="Lucida Console" charset="0"/>
                <a:cs typeface="Lucida Console" charset="0"/>
              </a:rPr>
              <a:t> </a:t>
            </a:r>
            <a:r>
              <a:rPr lang="en-US" i="1" dirty="0">
                <a:ea typeface="Lucida Console" charset="0"/>
                <a:cs typeface="Lucida Console" charset="0"/>
              </a:rPr>
              <a:t>ends </a:t>
            </a:r>
            <a:r>
              <a:rPr lang="en-US" dirty="0">
                <a:ea typeface="Lucida Console" charset="0"/>
                <a:cs typeface="Lucida Console" charset="0"/>
              </a:rPr>
              <a:t>up</a:t>
            </a:r>
            <a:r>
              <a:rPr lang="en-US" b="1" dirty="0">
                <a:ea typeface="Lucida Console" charset="0"/>
                <a:cs typeface="Lucida Console" charset="0"/>
              </a:rPr>
              <a:t> </a:t>
            </a:r>
            <a:r>
              <a:rPr lang="en-US" i="1" dirty="0">
                <a:ea typeface="Lucida Console" charset="0"/>
                <a:cs typeface="Lucida Console" charset="0"/>
              </a:rPr>
              <a:t>consistent </a:t>
            </a:r>
            <a:r>
              <a:rPr lang="en-US" dirty="0">
                <a:ea typeface="Lucida Console" charset="0"/>
                <a:cs typeface="Lucida Console" charset="0"/>
              </a:rPr>
              <a:t>at</a:t>
            </a:r>
            <a:r>
              <a:rPr lang="en-US" b="1" dirty="0">
                <a:ea typeface="Lucida Console" charset="0"/>
                <a:cs typeface="Lucida Console" charset="0"/>
              </a:rPr>
              <a:t> </a:t>
            </a:r>
            <a:r>
              <a:rPr lang="en-US" dirty="0">
                <a:ea typeface="Lucida Console" charset="0"/>
                <a:cs typeface="Lucida Console" charset="0"/>
              </a:rPr>
              <a:t>the end of the Xact</a:t>
            </a:r>
            <a:endParaRPr lang="en-US" b="1" dirty="0">
              <a:ea typeface="Lucida Console" charset="0"/>
              <a:cs typeface="Lucida Console" charset="0"/>
            </a:endParaRPr>
          </a:p>
          <a:p>
            <a:pPr>
              <a:spcBef>
                <a:spcPts val="2400"/>
              </a:spcBef>
            </a:pPr>
            <a:r>
              <a:rPr lang="en-US" b="1" dirty="0">
                <a:solidFill>
                  <a:srgbClr val="FF0000"/>
                </a:solidFill>
                <a:ea typeface="Lucida Console" charset="0"/>
                <a:cs typeface="Lucida Console" charset="0"/>
              </a:rPr>
              <a:t>I</a:t>
            </a:r>
            <a:r>
              <a:rPr lang="en-US" b="1" dirty="0">
                <a:ea typeface="Lucida Console" charset="0"/>
                <a:cs typeface="Lucida Console" charset="0"/>
              </a:rPr>
              <a:t> solation: </a:t>
            </a:r>
            <a:r>
              <a:rPr lang="en-US" dirty="0">
                <a:ea typeface="Lucida Console" charset="0"/>
                <a:cs typeface="Lucida Console" charset="0"/>
              </a:rPr>
              <a:t>Execution of </a:t>
            </a:r>
            <a:r>
              <a:rPr lang="en-US" i="1" dirty="0">
                <a:ea typeface="Lucida Console" charset="0"/>
                <a:cs typeface="Lucida Console" charset="0"/>
              </a:rPr>
              <a:t>each</a:t>
            </a:r>
            <a:r>
              <a:rPr lang="en-US" b="1" dirty="0">
                <a:ea typeface="Lucida Console" charset="0"/>
                <a:cs typeface="Lucida Console" charset="0"/>
              </a:rPr>
              <a:t> </a:t>
            </a:r>
            <a:r>
              <a:rPr lang="en-US" dirty="0">
                <a:ea typeface="Lucida Console" charset="0"/>
                <a:cs typeface="Lucida Console" charset="0"/>
              </a:rPr>
              <a:t>Xact</a:t>
            </a:r>
            <a:r>
              <a:rPr lang="en-US" b="1" dirty="0">
                <a:ea typeface="Lucida Console" charset="0"/>
                <a:cs typeface="Lucida Console" charset="0"/>
              </a:rPr>
              <a:t> </a:t>
            </a:r>
            <a:r>
              <a:rPr lang="en-US" dirty="0">
                <a:ea typeface="Lucida Console" charset="0"/>
                <a:cs typeface="Lucida Console" charset="0"/>
              </a:rPr>
              <a:t>is </a:t>
            </a:r>
            <a:r>
              <a:rPr lang="en-US" i="1" dirty="0">
                <a:ea typeface="Lucida Console" charset="0"/>
                <a:cs typeface="Lucida Console" charset="0"/>
              </a:rPr>
              <a:t>isolated from </a:t>
            </a:r>
            <a:r>
              <a:rPr lang="en-US" dirty="0">
                <a:ea typeface="Lucida Console" charset="0"/>
                <a:cs typeface="Lucida Console" charset="0"/>
              </a:rPr>
              <a:t>that of </a:t>
            </a:r>
            <a:r>
              <a:rPr lang="en-US" i="1" dirty="0">
                <a:ea typeface="Lucida Console" charset="0"/>
                <a:cs typeface="Lucida Console" charset="0"/>
              </a:rPr>
              <a:t>others</a:t>
            </a:r>
          </a:p>
          <a:p>
            <a:pPr>
              <a:spcBef>
                <a:spcPts val="2400"/>
              </a:spcBef>
            </a:pPr>
            <a:r>
              <a:rPr lang="en-US" b="1" dirty="0">
                <a:solidFill>
                  <a:srgbClr val="FF0000"/>
                </a:solidFill>
                <a:ea typeface="Lucida Console" charset="0"/>
                <a:cs typeface="Lucida Console" charset="0"/>
              </a:rPr>
              <a:t>D</a:t>
            </a:r>
            <a:r>
              <a:rPr lang="en-US" b="1" dirty="0">
                <a:ea typeface="Lucida Console" charset="0"/>
                <a:cs typeface="Lucida Console" charset="0"/>
              </a:rPr>
              <a:t> </a:t>
            </a:r>
            <a:r>
              <a:rPr lang="en-US" b="1" dirty="0" err="1">
                <a:ea typeface="Lucida Console" charset="0"/>
                <a:cs typeface="Lucida Console" charset="0"/>
              </a:rPr>
              <a:t>urability</a:t>
            </a:r>
            <a:r>
              <a:rPr lang="en-US" b="1" dirty="0">
                <a:ea typeface="Lucida Console" charset="0"/>
                <a:cs typeface="Lucida Console" charset="0"/>
              </a:rPr>
              <a:t>: </a:t>
            </a:r>
            <a:r>
              <a:rPr lang="en-US" dirty="0">
                <a:ea typeface="Lucida Console" charset="0"/>
                <a:cs typeface="Lucida Console" charset="0"/>
              </a:rPr>
              <a:t>If a Xact </a:t>
            </a:r>
            <a:r>
              <a:rPr lang="en-US" i="1" dirty="0">
                <a:ea typeface="Lucida Console" charset="0"/>
                <a:cs typeface="Lucida Console" charset="0"/>
              </a:rPr>
              <a:t>commits</a:t>
            </a:r>
            <a:r>
              <a:rPr lang="en-US" b="1" dirty="0">
                <a:ea typeface="Lucida Console" charset="0"/>
                <a:cs typeface="Lucida Console" charset="0"/>
              </a:rPr>
              <a:t>, </a:t>
            </a:r>
            <a:r>
              <a:rPr lang="en-US" dirty="0">
                <a:ea typeface="Lucida Console" charset="0"/>
                <a:cs typeface="Lucida Console" charset="0"/>
              </a:rPr>
              <a:t>its effects </a:t>
            </a:r>
            <a:r>
              <a:rPr lang="en-US" i="1" dirty="0">
                <a:ea typeface="Lucida Console" charset="0"/>
                <a:cs typeface="Lucida Console" charset="0"/>
              </a:rPr>
              <a:t>persist</a:t>
            </a:r>
            <a:r>
              <a:rPr lang="en-US" b="1" dirty="0">
                <a:ea typeface="Lucida Console" charset="0"/>
                <a:cs typeface="Lucida Console" charset="0"/>
              </a:rPr>
              <a:t>.</a:t>
            </a:r>
          </a:p>
          <a:p>
            <a:pPr marL="0" indent="0">
              <a:spcBef>
                <a:spcPts val="2400"/>
              </a:spcBef>
              <a:buNone/>
            </a:pPr>
            <a:r>
              <a:rPr lang="en-US" sz="1200" dirty="0">
                <a:ea typeface="Helvetica Neue" charset="0"/>
                <a:cs typeface="Helvetica Neue" charset="0"/>
              </a:rPr>
              <a:t>Note: This is a mnemonic, not a formalism. We’ll do some formalisms shortly.</a:t>
            </a:r>
          </a:p>
          <a:p>
            <a:pPr>
              <a:spcBef>
                <a:spcPts val="2400"/>
              </a:spcBef>
            </a:pPr>
            <a:endParaRPr lang="en-US" b="1" dirty="0">
              <a:ea typeface="Lucida Console" charset="0"/>
              <a:cs typeface="Lucida Console" charset="0"/>
            </a:endParaRPr>
          </a:p>
        </p:txBody>
      </p:sp>
    </p:spTree>
    <p:extLst>
      <p:ext uri="{BB962C8B-B14F-4D97-AF65-F5344CB8AC3E}">
        <p14:creationId xmlns:p14="http://schemas.microsoft.com/office/powerpoint/2010/main" val="125811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solidFill>
                  <a:srgbClr val="FF0000"/>
                </a:solidFill>
              </a:rPr>
              <a:t>I</a:t>
            </a:r>
            <a:r>
              <a:rPr lang="en-US" dirty="0"/>
              <a:t>solation (Concurrency)</a:t>
            </a:r>
          </a:p>
        </p:txBody>
      </p:sp>
      <p:sp>
        <p:nvSpPr>
          <p:cNvPr id="21" name="Content Placeholder 2"/>
          <p:cNvSpPr>
            <a:spLocks noGrp="1"/>
          </p:cNvSpPr>
          <p:nvPr>
            <p:ph idx="1"/>
          </p:nvPr>
        </p:nvSpPr>
        <p:spPr>
          <a:xfrm>
            <a:off x="304800" y="1200151"/>
            <a:ext cx="8991600" cy="3394472"/>
          </a:xfrm>
        </p:spPr>
        <p:txBody>
          <a:bodyPr>
            <a:normAutofit/>
          </a:bodyPr>
          <a:lstStyle/>
          <a:p>
            <a:r>
              <a:rPr lang="en-US" dirty="0"/>
              <a:t> DBMS interleaves actions of many </a:t>
            </a:r>
            <a:r>
              <a:rPr lang="en-US" dirty="0" err="1"/>
              <a:t>xacts</a:t>
            </a:r>
            <a:endParaRPr lang="en-US" dirty="0"/>
          </a:p>
          <a:p>
            <a:pPr lvl="1"/>
            <a:r>
              <a:rPr lang="en-US" dirty="0"/>
              <a:t>Actions = reads/writes of DB objects</a:t>
            </a:r>
          </a:p>
          <a:p>
            <a:pPr>
              <a:spcBef>
                <a:spcPts val="2000"/>
              </a:spcBef>
            </a:pPr>
            <a:r>
              <a:rPr lang="en-US" dirty="0"/>
              <a:t>DBMS ensures 2 </a:t>
            </a:r>
            <a:r>
              <a:rPr lang="en-US" dirty="0" err="1"/>
              <a:t>xacts</a:t>
            </a:r>
            <a:r>
              <a:rPr lang="en-US" dirty="0"/>
              <a:t> do not “interfere”</a:t>
            </a:r>
          </a:p>
          <a:p>
            <a:pPr>
              <a:spcBef>
                <a:spcPts val="2000"/>
              </a:spcBef>
            </a:pPr>
            <a:r>
              <a:rPr lang="en-US" dirty="0"/>
              <a:t>Each </a:t>
            </a:r>
            <a:r>
              <a:rPr lang="en-US" dirty="0" err="1"/>
              <a:t>xact</a:t>
            </a:r>
            <a:r>
              <a:rPr lang="en-US" dirty="0"/>
              <a:t> executes as if it ran by itself.</a:t>
            </a:r>
          </a:p>
          <a:p>
            <a:pPr lvl="1"/>
            <a:r>
              <a:rPr lang="en-US" sz="1600" dirty="0"/>
              <a:t>Concurrent accesses have no effect on </a:t>
            </a:r>
            <a:r>
              <a:rPr lang="en-US" sz="1600" dirty="0" err="1"/>
              <a:t>xact’s</a:t>
            </a:r>
            <a:r>
              <a:rPr lang="en-US" sz="1600" dirty="0"/>
              <a:t> behavior</a:t>
            </a:r>
          </a:p>
          <a:p>
            <a:pPr lvl="1"/>
            <a:r>
              <a:rPr lang="en-US" sz="1600" dirty="0"/>
              <a:t>Net effect must be identical to executing all transactions in some serial order</a:t>
            </a:r>
          </a:p>
          <a:p>
            <a:pPr lvl="1"/>
            <a:r>
              <a:rPr lang="en-US" sz="1600" dirty="0"/>
              <a:t>Users &amp; programmers think about transactions in isolation</a:t>
            </a:r>
          </a:p>
          <a:p>
            <a:pPr lvl="2"/>
            <a:r>
              <a:rPr lang="en-US" dirty="0"/>
              <a:t>Without considering effects of other concurrent </a:t>
            </a:r>
            <a:r>
              <a:rPr lang="en-US" dirty="0" err="1"/>
              <a:t>Xacts</a:t>
            </a:r>
            <a:r>
              <a:rPr lang="en-US" dirty="0"/>
              <a:t>!</a:t>
            </a:r>
          </a:p>
          <a:p>
            <a:endParaRPr lang="en-US" dirty="0"/>
          </a:p>
        </p:txBody>
      </p:sp>
    </p:spTree>
    <p:extLst>
      <p:ext uri="{BB962C8B-B14F-4D97-AF65-F5344CB8AC3E}">
        <p14:creationId xmlns:p14="http://schemas.microsoft.com/office/powerpoint/2010/main" val="82734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51B815-1AE1-2045-91BB-DC65C8DC6EE7}"/>
              </a:ext>
            </a:extLst>
          </p:cNvPr>
          <p:cNvSpPr>
            <a:spLocks noGrp="1"/>
          </p:cNvSpPr>
          <p:nvPr>
            <p:ph type="title"/>
          </p:nvPr>
        </p:nvSpPr>
        <p:spPr/>
        <p:txBody>
          <a:bodyPr>
            <a:normAutofit/>
          </a:bodyPr>
          <a:lstStyle/>
          <a:p>
            <a:r>
              <a:rPr lang="en-US" dirty="0"/>
              <a:t>Isolation: An Example</a:t>
            </a:r>
          </a:p>
        </p:txBody>
      </p:sp>
      <p:sp>
        <p:nvSpPr>
          <p:cNvPr id="21" name="Content Placeholder 2"/>
          <p:cNvSpPr>
            <a:spLocks noGrp="1"/>
          </p:cNvSpPr>
          <p:nvPr>
            <p:ph idx="1"/>
          </p:nvPr>
        </p:nvSpPr>
        <p:spPr>
          <a:xfrm>
            <a:off x="457200" y="895350"/>
            <a:ext cx="8229600" cy="4038600"/>
          </a:xfrm>
        </p:spPr>
        <p:txBody>
          <a:bodyPr>
            <a:normAutofit/>
          </a:bodyPr>
          <a:lstStyle/>
          <a:p>
            <a:r>
              <a:rPr lang="en-US" sz="1800" dirty="0"/>
              <a:t>Think about avoiding problems due to concurrency</a:t>
            </a:r>
          </a:p>
          <a:p>
            <a:pPr lvl="1"/>
            <a:r>
              <a:rPr lang="en-US" sz="1600" dirty="0"/>
              <a:t>If another transaction T2 accesses R and S between steps 4 and 5 of T1, it will see a lower value for R+S.</a:t>
            </a:r>
          </a:p>
          <a:p>
            <a:pPr>
              <a:spcBef>
                <a:spcPts val="20000"/>
              </a:spcBef>
            </a:pPr>
            <a:r>
              <a:rPr lang="en-US" sz="1800" dirty="0"/>
              <a:t>Isolation easy to achieve by running one Xact at a time </a:t>
            </a:r>
          </a:p>
          <a:p>
            <a:pPr lvl="1"/>
            <a:r>
              <a:rPr lang="en-US" sz="1600" dirty="0"/>
              <a:t>However, recall that serial execution is not desirable</a:t>
            </a:r>
          </a:p>
        </p:txBody>
      </p:sp>
      <p:grpSp>
        <p:nvGrpSpPr>
          <p:cNvPr id="3" name="Group 2" descr="1. start transaction&#10;2. read(R)&#10;3. R = R – 100  &#10;4. write(R)&#10;&#10;T2 Occus&#10;&#10;5. read(S)&#10;6. S = S + 100 &#10;7. write(S)&#10;8. end transaction&#10;" title="T1">
            <a:extLst>
              <a:ext uri="{FF2B5EF4-FFF2-40B4-BE49-F238E27FC236}">
                <a16:creationId xmlns:a16="http://schemas.microsoft.com/office/drawing/2014/main" id="{05674550-CB5E-BD49-8C7D-63E5CA468E59}"/>
              </a:ext>
            </a:extLst>
          </p:cNvPr>
          <p:cNvGrpSpPr/>
          <p:nvPr/>
        </p:nvGrpSpPr>
        <p:grpSpPr>
          <a:xfrm>
            <a:off x="1485900" y="1781605"/>
            <a:ext cx="2559659" cy="2308324"/>
            <a:chOff x="1485900" y="1781605"/>
            <a:chExt cx="2559659" cy="2308324"/>
          </a:xfrm>
        </p:grpSpPr>
        <p:sp>
          <p:nvSpPr>
            <p:cNvPr id="11" name="TextBox 10"/>
            <p:cNvSpPr txBox="1"/>
            <p:nvPr/>
          </p:nvSpPr>
          <p:spPr>
            <a:xfrm>
              <a:off x="1885289" y="1781605"/>
              <a:ext cx="2160270" cy="2308324"/>
            </a:xfrm>
            <a:prstGeom prst="rect">
              <a:avLst/>
            </a:prstGeom>
            <a:solidFill>
              <a:schemeClr val="bg1"/>
            </a:solidFill>
            <a:ln>
              <a:solidFill>
                <a:schemeClr val="bg2">
                  <a:lumMod val="10000"/>
                </a:schemeClr>
              </a:solidFill>
            </a:ln>
            <a:effectLst>
              <a:outerShdw blurRad="50800" dist="38100" dir="2700000" algn="tl" rotWithShape="0">
                <a:prstClr val="black">
                  <a:alpha val="40000"/>
                </a:prstClr>
              </a:outerShdw>
            </a:effectLst>
          </p:spPr>
          <p:txBody>
            <a:bodyPr wrap="square" rtlCol="0">
              <a:spAutoFit/>
            </a:bodyPr>
            <a:lstStyle/>
            <a:p>
              <a:pPr marL="305991" lvl="2" indent="-305991">
                <a:buFont typeface="+mj-lt"/>
                <a:buAutoNum type="arabicPeriod"/>
              </a:pPr>
              <a:r>
                <a:rPr lang="en-US" sz="1200" dirty="0">
                  <a:ea typeface="Lucida Console" charset="0"/>
                  <a:cs typeface="Lucida Console" charset="0"/>
                </a:rPr>
                <a:t>start transaction</a:t>
              </a:r>
            </a:p>
            <a:p>
              <a:pPr marL="305991" lvl="2" indent="-305991">
                <a:buFont typeface="+mj-lt"/>
                <a:buAutoNum type="arabicPeriod"/>
              </a:pPr>
              <a:r>
                <a:rPr lang="en-US" sz="1200" dirty="0">
                  <a:ea typeface="Lucida Console" charset="0"/>
                  <a:cs typeface="Lucida Console" charset="0"/>
                </a:rPr>
                <a:t>read(R)</a:t>
              </a:r>
            </a:p>
            <a:p>
              <a:pPr marL="305991" lvl="2" indent="-305991">
                <a:buFont typeface="+mj-lt"/>
                <a:buAutoNum type="arabicPeriod"/>
              </a:pPr>
              <a:r>
                <a:rPr lang="en-US" sz="1200" dirty="0">
                  <a:ea typeface="Lucida Console" charset="0"/>
                  <a:cs typeface="Lucida Console" charset="0"/>
                </a:rPr>
                <a:t>R = R – 100  </a:t>
              </a:r>
            </a:p>
            <a:p>
              <a:pPr marL="305991" lvl="2" indent="-305991">
                <a:buFont typeface="+mj-lt"/>
                <a:buAutoNum type="arabicPeriod"/>
              </a:pPr>
              <a:r>
                <a:rPr lang="en-US" sz="1200" dirty="0">
                  <a:ea typeface="Lucida Console" charset="0"/>
                  <a:cs typeface="Lucida Console" charset="0"/>
                </a:rPr>
                <a:t>write(R)</a:t>
              </a:r>
            </a:p>
            <a:p>
              <a:pPr marL="305991" lvl="2" indent="-305991">
                <a:buFont typeface="+mj-lt"/>
                <a:buAutoNum type="arabicPeriod"/>
              </a:pPr>
              <a:endParaRPr lang="en-US" sz="1200" dirty="0">
                <a:ea typeface="Lucida Console" charset="0"/>
                <a:cs typeface="Lucida Console" charset="0"/>
              </a:endParaRPr>
            </a:p>
            <a:p>
              <a:pPr marL="305991" lvl="2" indent="-305991">
                <a:buFont typeface="+mj-lt"/>
                <a:buAutoNum type="arabicPeriod"/>
              </a:pPr>
              <a:endParaRPr lang="en-US" sz="1200" dirty="0">
                <a:ea typeface="Lucida Console" charset="0"/>
                <a:cs typeface="Lucida Console" charset="0"/>
              </a:endParaRPr>
            </a:p>
            <a:p>
              <a:pPr marL="305991" lvl="2" indent="-305991">
                <a:buFont typeface="+mj-lt"/>
                <a:buAutoNum type="arabicPeriod"/>
              </a:pPr>
              <a:endParaRPr lang="en-US" sz="1200" dirty="0">
                <a:ea typeface="Lucida Console" charset="0"/>
                <a:cs typeface="Lucida Console" charset="0"/>
              </a:endParaRPr>
            </a:p>
            <a:p>
              <a:pPr marL="305991" lvl="2" indent="-305991">
                <a:buFont typeface="+mj-lt"/>
                <a:buAutoNum type="arabicPeriod"/>
              </a:pPr>
              <a:endParaRPr lang="en-US" sz="1200" dirty="0">
                <a:ea typeface="Lucida Console" charset="0"/>
                <a:cs typeface="Lucida Console" charset="0"/>
              </a:endParaRPr>
            </a:p>
            <a:p>
              <a:pPr marL="305991" lvl="2" indent="-305991">
                <a:buFont typeface="+mj-lt"/>
                <a:buAutoNum type="arabicPeriod"/>
              </a:pPr>
              <a:r>
                <a:rPr lang="en-US" sz="1200" dirty="0">
                  <a:ea typeface="Lucida Console" charset="0"/>
                  <a:cs typeface="Lucida Console" charset="0"/>
                </a:rPr>
                <a:t>read(S)</a:t>
              </a:r>
            </a:p>
            <a:p>
              <a:pPr marL="305991" lvl="2" indent="-305991">
                <a:buFont typeface="+mj-lt"/>
                <a:buAutoNum type="arabicPeriod"/>
              </a:pPr>
              <a:r>
                <a:rPr lang="en-US" sz="1200" dirty="0">
                  <a:ea typeface="Lucida Console" charset="0"/>
                  <a:cs typeface="Lucida Console" charset="0"/>
                </a:rPr>
                <a:t>S = S + 100 </a:t>
              </a:r>
            </a:p>
            <a:p>
              <a:pPr marL="305991" lvl="2" indent="-305991">
                <a:buFont typeface="+mj-lt"/>
                <a:buAutoNum type="arabicPeriod"/>
              </a:pPr>
              <a:r>
                <a:rPr lang="en-US" sz="1200" dirty="0">
                  <a:ea typeface="Lucida Console" charset="0"/>
                  <a:cs typeface="Lucida Console" charset="0"/>
                </a:rPr>
                <a:t>write(S)</a:t>
              </a:r>
            </a:p>
            <a:p>
              <a:pPr marL="305991" lvl="2" indent="-305991">
                <a:buFont typeface="+mj-lt"/>
                <a:buAutoNum type="arabicPeriod"/>
              </a:pPr>
              <a:r>
                <a:rPr lang="en-US" sz="1200" dirty="0">
                  <a:ea typeface="Lucida Console" charset="0"/>
                  <a:cs typeface="Lucida Console" charset="0"/>
                </a:rPr>
                <a:t>end transaction</a:t>
              </a:r>
            </a:p>
          </p:txBody>
        </p:sp>
        <p:sp>
          <p:nvSpPr>
            <p:cNvPr id="2" name="TextBox 1"/>
            <p:cNvSpPr txBox="1"/>
            <p:nvPr/>
          </p:nvSpPr>
          <p:spPr>
            <a:xfrm>
              <a:off x="1485900" y="1781605"/>
              <a:ext cx="445956" cy="369332"/>
            </a:xfrm>
            <a:prstGeom prst="rect">
              <a:avLst/>
            </a:prstGeom>
            <a:noFill/>
          </p:spPr>
          <p:txBody>
            <a:bodyPr wrap="none" rtlCol="0">
              <a:spAutoFit/>
            </a:bodyPr>
            <a:lstStyle/>
            <a:p>
              <a:r>
                <a:rPr lang="en-US" dirty="0">
                  <a:latin typeface="Helvetica Neue" charset="0"/>
                  <a:ea typeface="Helvetica Neue" charset="0"/>
                  <a:cs typeface="Helvetica Neue" charset="0"/>
                </a:rPr>
                <a:t>T1</a:t>
              </a:r>
            </a:p>
          </p:txBody>
        </p:sp>
      </p:grpSp>
      <p:grpSp>
        <p:nvGrpSpPr>
          <p:cNvPr id="4" name="Group 3" descr="1. start transaction&#10;2. read(R)&#10;3. print(R+S)&#10;4. end transaction&#10;" title="T2">
            <a:extLst>
              <a:ext uri="{FF2B5EF4-FFF2-40B4-BE49-F238E27FC236}">
                <a16:creationId xmlns:a16="http://schemas.microsoft.com/office/drawing/2014/main" id="{B32F45D6-BEDA-8C41-B656-CBA4980FE9E1}"/>
              </a:ext>
            </a:extLst>
          </p:cNvPr>
          <p:cNvGrpSpPr/>
          <p:nvPr/>
        </p:nvGrpSpPr>
        <p:grpSpPr>
          <a:xfrm>
            <a:off x="4789832" y="2404852"/>
            <a:ext cx="2559658" cy="878644"/>
            <a:chOff x="4789832" y="2404852"/>
            <a:chExt cx="2559658" cy="878644"/>
          </a:xfrm>
        </p:grpSpPr>
        <p:sp>
          <p:nvSpPr>
            <p:cNvPr id="12" name="TextBox 11"/>
            <p:cNvSpPr txBox="1"/>
            <p:nvPr/>
          </p:nvSpPr>
          <p:spPr>
            <a:xfrm>
              <a:off x="5189220" y="2452499"/>
              <a:ext cx="2160270" cy="830997"/>
            </a:xfrm>
            <a:prstGeom prst="rect">
              <a:avLst/>
            </a:prstGeom>
            <a:solidFill>
              <a:schemeClr val="bg1"/>
            </a:solidFill>
            <a:ln>
              <a:solidFill>
                <a:schemeClr val="bg2">
                  <a:lumMod val="10000"/>
                </a:schemeClr>
              </a:solidFill>
            </a:ln>
            <a:effectLst>
              <a:outerShdw blurRad="50800" dist="38100" dir="2700000" algn="tl" rotWithShape="0">
                <a:prstClr val="black">
                  <a:alpha val="40000"/>
                </a:prstClr>
              </a:outerShdw>
            </a:effectLst>
          </p:spPr>
          <p:txBody>
            <a:bodyPr wrap="square" rtlCol="0">
              <a:spAutoFit/>
            </a:bodyPr>
            <a:lstStyle/>
            <a:p>
              <a:pPr marL="305991" lvl="2" indent="-305991">
                <a:buFont typeface="+mj-lt"/>
                <a:buAutoNum type="arabicPeriod"/>
              </a:pPr>
              <a:r>
                <a:rPr lang="en-US" sz="1200" dirty="0">
                  <a:ea typeface="Lucida Console" charset="0"/>
                  <a:cs typeface="Lucida Console" charset="0"/>
                </a:rPr>
                <a:t>start transaction</a:t>
              </a:r>
            </a:p>
            <a:p>
              <a:pPr marL="305991" lvl="2" indent="-305991">
                <a:buFont typeface="+mj-lt"/>
                <a:buAutoNum type="arabicPeriod"/>
              </a:pPr>
              <a:r>
                <a:rPr lang="en-US" sz="1200" dirty="0">
                  <a:ea typeface="Lucida Console" charset="0"/>
                  <a:cs typeface="Lucida Console" charset="0"/>
                </a:rPr>
                <a:t>read(R)</a:t>
              </a:r>
            </a:p>
            <a:p>
              <a:pPr marL="305991" lvl="2" indent="-305991">
                <a:buFont typeface="+mj-lt"/>
                <a:buAutoNum type="arabicPeriod"/>
              </a:pPr>
              <a:r>
                <a:rPr lang="en-US" sz="1200" dirty="0">
                  <a:ea typeface="Lucida Console" charset="0"/>
                  <a:cs typeface="Lucida Console" charset="0"/>
                </a:rPr>
                <a:t>print(R+S)</a:t>
              </a:r>
            </a:p>
            <a:p>
              <a:pPr marL="305991" lvl="2" indent="-305991">
                <a:buFont typeface="+mj-lt"/>
                <a:buAutoNum type="arabicPeriod"/>
              </a:pPr>
              <a:r>
                <a:rPr lang="en-US" sz="1200" dirty="0">
                  <a:ea typeface="Lucida Console" charset="0"/>
                  <a:cs typeface="Lucida Console" charset="0"/>
                </a:rPr>
                <a:t>end transaction</a:t>
              </a:r>
            </a:p>
          </p:txBody>
        </p:sp>
        <p:sp>
          <p:nvSpPr>
            <p:cNvPr id="13" name="TextBox 12"/>
            <p:cNvSpPr txBox="1"/>
            <p:nvPr/>
          </p:nvSpPr>
          <p:spPr>
            <a:xfrm>
              <a:off x="4789832" y="2404852"/>
              <a:ext cx="445956" cy="369332"/>
            </a:xfrm>
            <a:prstGeom prst="rect">
              <a:avLst/>
            </a:prstGeom>
            <a:noFill/>
          </p:spPr>
          <p:txBody>
            <a:bodyPr wrap="none" rtlCol="0">
              <a:spAutoFit/>
            </a:bodyPr>
            <a:lstStyle/>
            <a:p>
              <a:r>
                <a:rPr lang="en-US" dirty="0">
                  <a:latin typeface="Helvetica Neue" charset="0"/>
                  <a:ea typeface="Helvetica Neue" charset="0"/>
                  <a:cs typeface="Helvetica Neue" charset="0"/>
                </a:rPr>
                <a:t>T2</a:t>
              </a:r>
            </a:p>
          </p:txBody>
        </p:sp>
      </p:grpSp>
    </p:spTree>
    <p:extLst>
      <p:ext uri="{BB962C8B-B14F-4D97-AF65-F5344CB8AC3E}">
        <p14:creationId xmlns:p14="http://schemas.microsoft.com/office/powerpoint/2010/main" val="211342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A61261-B82C-1D49-BE5B-8ED7CA9E60B1}"/>
              </a:ext>
            </a:extLst>
          </p:cNvPr>
          <p:cNvSpPr>
            <a:spLocks noGrp="1"/>
          </p:cNvSpPr>
          <p:nvPr>
            <p:ph type="title"/>
          </p:nvPr>
        </p:nvSpPr>
        <p:spPr/>
        <p:txBody>
          <a:bodyPr/>
          <a:lstStyle/>
          <a:p>
            <a:r>
              <a:rPr lang="en-US" dirty="0">
                <a:solidFill>
                  <a:srgbClr val="FF0000"/>
                </a:solidFill>
              </a:rPr>
              <a:t>A</a:t>
            </a:r>
            <a:r>
              <a:rPr lang="en-US" dirty="0"/>
              <a:t>tomicity and </a:t>
            </a:r>
            <a:r>
              <a:rPr lang="en-US" dirty="0">
                <a:solidFill>
                  <a:srgbClr val="FF0000"/>
                </a:solidFill>
              </a:rPr>
              <a:t>D</a:t>
            </a:r>
            <a:r>
              <a:rPr lang="en-US" dirty="0"/>
              <a:t>urability</a:t>
            </a:r>
          </a:p>
        </p:txBody>
      </p:sp>
      <p:sp>
        <p:nvSpPr>
          <p:cNvPr id="21" name="Content Placeholder 2"/>
          <p:cNvSpPr>
            <a:spLocks noGrp="1"/>
          </p:cNvSpPr>
          <p:nvPr>
            <p:ph idx="1"/>
          </p:nvPr>
        </p:nvSpPr>
        <p:spPr/>
        <p:txBody>
          <a:bodyPr>
            <a:normAutofit fontScale="85000" lnSpcReduction="20000"/>
          </a:bodyPr>
          <a:lstStyle/>
          <a:p>
            <a:r>
              <a:rPr lang="en-US" b="1" dirty="0"/>
              <a:t>A transaction ends in one of two ways:</a:t>
            </a:r>
          </a:p>
          <a:p>
            <a:pPr lvl="1"/>
            <a:r>
              <a:rPr lang="en-US" b="1" dirty="0"/>
              <a:t>Commit</a:t>
            </a:r>
            <a:r>
              <a:rPr lang="en-US" dirty="0"/>
              <a:t> after completing all its actions</a:t>
            </a:r>
          </a:p>
          <a:p>
            <a:pPr lvl="2"/>
            <a:r>
              <a:rPr lang="en-US" dirty="0"/>
              <a:t>“commit” is a contract with the caller of the DB</a:t>
            </a:r>
          </a:p>
          <a:p>
            <a:pPr lvl="1"/>
            <a:r>
              <a:rPr lang="en-US" b="1" dirty="0"/>
              <a:t>Abort</a:t>
            </a:r>
            <a:r>
              <a:rPr lang="en-US" dirty="0"/>
              <a:t> (or be aborted by the DBMS) after executing some actions</a:t>
            </a:r>
          </a:p>
          <a:p>
            <a:pPr lvl="2"/>
            <a:r>
              <a:rPr lang="en-US" dirty="0"/>
              <a:t>Or </a:t>
            </a:r>
            <a:r>
              <a:rPr lang="en-US" b="1" dirty="0"/>
              <a:t>system crash </a:t>
            </a:r>
            <a:r>
              <a:rPr lang="en-US" dirty="0"/>
              <a:t>while the </a:t>
            </a:r>
            <a:r>
              <a:rPr lang="en-US" dirty="0" err="1"/>
              <a:t>xact</a:t>
            </a:r>
            <a:r>
              <a:rPr lang="en-US" dirty="0"/>
              <a:t> is in progress; treat as abort.</a:t>
            </a:r>
          </a:p>
          <a:p>
            <a:pPr>
              <a:spcBef>
                <a:spcPts val="2000"/>
              </a:spcBef>
            </a:pPr>
            <a:r>
              <a:rPr lang="en-US" b="1" dirty="0"/>
              <a:t>Two key properties </a:t>
            </a:r>
            <a:r>
              <a:rPr lang="en-US" dirty="0"/>
              <a:t>for a transaction</a:t>
            </a:r>
          </a:p>
          <a:p>
            <a:pPr lvl="1"/>
            <a:r>
              <a:rPr lang="en-US" b="1" dirty="0"/>
              <a:t>Atomicity</a:t>
            </a:r>
            <a:r>
              <a:rPr lang="en-US" dirty="0"/>
              <a:t>: Either execute all its actions, or none of them</a:t>
            </a:r>
          </a:p>
          <a:p>
            <a:pPr lvl="1"/>
            <a:r>
              <a:rPr lang="en-US" b="1" dirty="0"/>
              <a:t>Durability</a:t>
            </a:r>
            <a:r>
              <a:rPr lang="en-US" dirty="0"/>
              <a:t>: The effects of a committed </a:t>
            </a:r>
            <a:r>
              <a:rPr lang="en-US" dirty="0" err="1"/>
              <a:t>xact</a:t>
            </a:r>
            <a:r>
              <a:rPr lang="en-US" dirty="0"/>
              <a:t> must survive failures.</a:t>
            </a:r>
          </a:p>
          <a:p>
            <a:pPr>
              <a:spcBef>
                <a:spcPts val="2000"/>
              </a:spcBef>
            </a:pPr>
            <a:r>
              <a:rPr lang="en-US" dirty="0"/>
              <a:t>DBMS typically ensures the above by </a:t>
            </a:r>
            <a:r>
              <a:rPr lang="en-US" b="1" dirty="0"/>
              <a:t>logging</a:t>
            </a:r>
            <a:r>
              <a:rPr lang="en-US" dirty="0"/>
              <a:t> all actions:</a:t>
            </a:r>
          </a:p>
          <a:p>
            <a:pPr lvl="1"/>
            <a:r>
              <a:rPr lang="en-US" b="1" dirty="0"/>
              <a:t>Undo</a:t>
            </a:r>
            <a:r>
              <a:rPr lang="en-US" dirty="0"/>
              <a:t> the actions of aborted/failed transactions.</a:t>
            </a:r>
          </a:p>
          <a:p>
            <a:pPr lvl="1"/>
            <a:r>
              <a:rPr lang="en-US" b="1" dirty="0"/>
              <a:t>Redo</a:t>
            </a:r>
            <a:r>
              <a:rPr lang="en-US" dirty="0"/>
              <a:t> actions of committed transactions not yet propagated </a:t>
            </a:r>
          </a:p>
          <a:p>
            <a:pPr marL="1371600" lvl="1" indent="0">
              <a:buNone/>
            </a:pPr>
            <a:r>
              <a:rPr lang="en-US" dirty="0"/>
              <a:t>to disk when system crashes</a:t>
            </a:r>
          </a:p>
        </p:txBody>
      </p:sp>
    </p:spTree>
    <p:extLst>
      <p:ext uri="{BB962C8B-B14F-4D97-AF65-F5344CB8AC3E}">
        <p14:creationId xmlns:p14="http://schemas.microsoft.com/office/powerpoint/2010/main" val="1954089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solidFill>
                  <a:srgbClr val="FF0000"/>
                </a:solidFill>
              </a:rPr>
              <a:t>A</a:t>
            </a:r>
            <a:r>
              <a:rPr lang="en-US" dirty="0"/>
              <a:t>tomicity and </a:t>
            </a:r>
            <a:r>
              <a:rPr lang="en-US" dirty="0">
                <a:solidFill>
                  <a:srgbClr val="FF0000"/>
                </a:solidFill>
              </a:rPr>
              <a:t>D</a:t>
            </a:r>
            <a:r>
              <a:rPr lang="en-US" dirty="0"/>
              <a:t>urability, cont.</a:t>
            </a:r>
          </a:p>
        </p:txBody>
      </p:sp>
      <p:sp>
        <p:nvSpPr>
          <p:cNvPr id="21" name="Content Placeholder 2"/>
          <p:cNvSpPr>
            <a:spLocks noGrp="1"/>
          </p:cNvSpPr>
          <p:nvPr>
            <p:ph idx="1"/>
          </p:nvPr>
        </p:nvSpPr>
        <p:spPr>
          <a:xfrm>
            <a:off x="228600" y="1234678"/>
            <a:ext cx="6400800" cy="3394472"/>
          </a:xfrm>
        </p:spPr>
        <p:txBody>
          <a:bodyPr/>
          <a:lstStyle/>
          <a:p>
            <a:r>
              <a:rPr lang="en-US" dirty="0"/>
              <a:t>Atomicity</a:t>
            </a:r>
          </a:p>
          <a:p>
            <a:pPr lvl="1"/>
            <a:r>
              <a:rPr lang="en-US" sz="1600" dirty="0"/>
              <a:t>If the transaction fails after step 4 and before step 7</a:t>
            </a:r>
          </a:p>
          <a:p>
            <a:pPr lvl="2"/>
            <a:r>
              <a:rPr lang="en-US" sz="1400" dirty="0"/>
              <a:t>Money will be “lost” </a:t>
            </a:r>
            <a:r>
              <a:rPr lang="en-US" sz="1400" dirty="0">
                <a:sym typeface="Wingdings" panose="05000000000000000000" pitchFamily="2" charset="2"/>
              </a:rPr>
              <a:t></a:t>
            </a:r>
            <a:r>
              <a:rPr lang="en-US" sz="1400" dirty="0">
                <a:sym typeface="Wingdings"/>
              </a:rPr>
              <a:t> </a:t>
            </a:r>
            <a:r>
              <a:rPr lang="en-US" sz="1400" dirty="0"/>
              <a:t>inconsistent database</a:t>
            </a:r>
          </a:p>
          <a:p>
            <a:pPr lvl="1"/>
            <a:r>
              <a:rPr lang="en-US" sz="1600" dirty="0"/>
              <a:t>DBMS should ensure that updates of a partially executed transaction are not reflected </a:t>
            </a:r>
          </a:p>
          <a:p>
            <a:pPr>
              <a:spcBef>
                <a:spcPts val="2000"/>
              </a:spcBef>
            </a:pPr>
            <a:r>
              <a:rPr lang="en-US" dirty="0"/>
              <a:t>Durability</a:t>
            </a:r>
          </a:p>
          <a:p>
            <a:pPr lvl="1"/>
            <a:r>
              <a:rPr lang="en-US" sz="1600" dirty="0"/>
              <a:t>Once the user hears that the transaction is complete, can rest easy that the $100M was xferred from R to S</a:t>
            </a:r>
            <a:r>
              <a:rPr lang="en-US" dirty="0"/>
              <a:t>. </a:t>
            </a:r>
          </a:p>
        </p:txBody>
      </p:sp>
      <p:sp>
        <p:nvSpPr>
          <p:cNvPr id="7" name="TextBox 6" descr="1. start transaction&#10;2. read(R)&#10;3. R = R – 100  &#10;4. write(R)&#10;5. read(S)&#10;6. S = S + 100 &#10;7. write(S)&#10;8. end transaction&#10;" title="Transaction">
            <a:extLst>
              <a:ext uri="{FF2B5EF4-FFF2-40B4-BE49-F238E27FC236}">
                <a16:creationId xmlns:a16="http://schemas.microsoft.com/office/drawing/2014/main" id="{156491D9-DB1B-814F-8BCD-F23848F7965E}"/>
              </a:ext>
            </a:extLst>
          </p:cNvPr>
          <p:cNvSpPr txBox="1"/>
          <p:nvPr/>
        </p:nvSpPr>
        <p:spPr>
          <a:xfrm>
            <a:off x="6706925" y="980290"/>
            <a:ext cx="2160270" cy="2308324"/>
          </a:xfrm>
          <a:prstGeom prst="rect">
            <a:avLst/>
          </a:prstGeom>
          <a:solidFill>
            <a:schemeClr val="bg1"/>
          </a:solidFill>
          <a:ln>
            <a:solidFill>
              <a:schemeClr val="bg2">
                <a:lumMod val="10000"/>
              </a:schemeClr>
            </a:solidFill>
          </a:ln>
          <a:effectLst>
            <a:outerShdw blurRad="50800" dist="38100" dir="2700000" algn="tl" rotWithShape="0">
              <a:prstClr val="black">
                <a:alpha val="40000"/>
              </a:prstClr>
            </a:outerShdw>
          </a:effectLst>
        </p:spPr>
        <p:txBody>
          <a:bodyPr wrap="square" rtlCol="0">
            <a:spAutoFit/>
          </a:bodyPr>
          <a:lstStyle/>
          <a:p>
            <a:pPr marL="305991" lvl="2" indent="-305991">
              <a:buFont typeface="+mj-lt"/>
              <a:buAutoNum type="arabicPeriod"/>
            </a:pPr>
            <a:r>
              <a:rPr lang="en-US" dirty="0">
                <a:ea typeface="Lucida Console" charset="0"/>
                <a:cs typeface="Lucida Console" charset="0"/>
              </a:rPr>
              <a:t>start transaction</a:t>
            </a:r>
          </a:p>
          <a:p>
            <a:pPr marL="305991" lvl="2" indent="-305991">
              <a:buFont typeface="+mj-lt"/>
              <a:buAutoNum type="arabicPeriod"/>
            </a:pPr>
            <a:r>
              <a:rPr lang="en-US" dirty="0">
                <a:ea typeface="Lucida Console" charset="0"/>
                <a:cs typeface="Lucida Console" charset="0"/>
              </a:rPr>
              <a:t>read(R)</a:t>
            </a:r>
          </a:p>
          <a:p>
            <a:pPr marL="305991" lvl="2" indent="-305991">
              <a:buFont typeface="+mj-lt"/>
              <a:buAutoNum type="arabicPeriod"/>
            </a:pPr>
            <a:r>
              <a:rPr lang="en-US" dirty="0">
                <a:ea typeface="Lucida Console" charset="0"/>
                <a:cs typeface="Lucida Console" charset="0"/>
              </a:rPr>
              <a:t>R = R – 100  </a:t>
            </a:r>
          </a:p>
          <a:p>
            <a:pPr marL="305991" lvl="2" indent="-305991">
              <a:buFont typeface="+mj-lt"/>
              <a:buAutoNum type="arabicPeriod"/>
            </a:pPr>
            <a:r>
              <a:rPr lang="en-US" dirty="0">
                <a:ea typeface="Lucida Console" charset="0"/>
                <a:cs typeface="Lucida Console" charset="0"/>
              </a:rPr>
              <a:t>write(R)</a:t>
            </a:r>
          </a:p>
          <a:p>
            <a:pPr marL="305991" lvl="2" indent="-305991">
              <a:buFont typeface="+mj-lt"/>
              <a:buAutoNum type="arabicPeriod"/>
            </a:pPr>
            <a:r>
              <a:rPr lang="en-US" dirty="0">
                <a:ea typeface="Lucida Console" charset="0"/>
                <a:cs typeface="Lucida Console" charset="0"/>
              </a:rPr>
              <a:t>read(S)</a:t>
            </a:r>
          </a:p>
          <a:p>
            <a:pPr marL="305991" lvl="2" indent="-305991">
              <a:buFont typeface="+mj-lt"/>
              <a:buAutoNum type="arabicPeriod"/>
            </a:pPr>
            <a:r>
              <a:rPr lang="en-US" dirty="0">
                <a:ea typeface="Lucida Console" charset="0"/>
                <a:cs typeface="Lucida Console" charset="0"/>
              </a:rPr>
              <a:t>S = S + 100 </a:t>
            </a:r>
          </a:p>
          <a:p>
            <a:pPr marL="305991" lvl="2" indent="-305991">
              <a:buFont typeface="+mj-lt"/>
              <a:buAutoNum type="arabicPeriod"/>
            </a:pPr>
            <a:r>
              <a:rPr lang="en-US" dirty="0">
                <a:ea typeface="Lucida Console" charset="0"/>
                <a:cs typeface="Lucida Console" charset="0"/>
              </a:rPr>
              <a:t>write(S)</a:t>
            </a:r>
          </a:p>
          <a:p>
            <a:pPr marL="305991" lvl="2" indent="-305991">
              <a:buFont typeface="+mj-lt"/>
              <a:buAutoNum type="arabicPeriod"/>
            </a:pPr>
            <a:r>
              <a:rPr lang="en-US" dirty="0">
                <a:ea typeface="Lucida Console" charset="0"/>
                <a:cs typeface="Lucida Console" charset="0"/>
              </a:rPr>
              <a:t>end transaction</a:t>
            </a:r>
          </a:p>
        </p:txBody>
      </p:sp>
    </p:spTree>
    <p:extLst>
      <p:ext uri="{BB962C8B-B14F-4D97-AF65-F5344CB8AC3E}">
        <p14:creationId xmlns:p14="http://schemas.microsoft.com/office/powerpoint/2010/main" val="2043261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Transaction </a:t>
            </a:r>
            <a:r>
              <a:rPr lang="en-US" dirty="0">
                <a:solidFill>
                  <a:srgbClr val="FF0000"/>
                </a:solidFill>
              </a:rPr>
              <a:t>C</a:t>
            </a:r>
            <a:r>
              <a:rPr lang="en-US" dirty="0"/>
              <a:t>onsistency</a:t>
            </a:r>
          </a:p>
        </p:txBody>
      </p:sp>
      <p:sp>
        <p:nvSpPr>
          <p:cNvPr id="21" name="Content Placeholder 2"/>
          <p:cNvSpPr>
            <a:spLocks noGrp="1"/>
          </p:cNvSpPr>
          <p:nvPr>
            <p:ph idx="1"/>
          </p:nvPr>
        </p:nvSpPr>
        <p:spPr/>
        <p:txBody>
          <a:bodyPr/>
          <a:lstStyle/>
          <a:p>
            <a:r>
              <a:rPr lang="en-US" sz="1800" b="1" dirty="0"/>
              <a:t>Transactions preserve DB consistency</a:t>
            </a:r>
          </a:p>
          <a:p>
            <a:pPr lvl="1"/>
            <a:r>
              <a:rPr lang="en-US" sz="1600" dirty="0"/>
              <a:t>Given a consistent DB state, produce another consistent DB state </a:t>
            </a:r>
          </a:p>
          <a:p>
            <a:r>
              <a:rPr lang="en-US" sz="1800" dirty="0"/>
              <a:t>DB consistency expressed as a set of </a:t>
            </a:r>
            <a:r>
              <a:rPr lang="en-US" sz="1800" b="1" dirty="0"/>
              <a:t>declarative integrity constraints</a:t>
            </a:r>
          </a:p>
          <a:p>
            <a:pPr lvl="1"/>
            <a:r>
              <a:rPr lang="en-US" sz="1600" dirty="0"/>
              <a:t>CREATE TABLE/ASSERTION statements</a:t>
            </a:r>
          </a:p>
          <a:p>
            <a:r>
              <a:rPr lang="en-US" sz="1800" b="1" dirty="0"/>
              <a:t>Transactions that violate integrity are aborted</a:t>
            </a:r>
          </a:p>
          <a:p>
            <a:pPr lvl="1"/>
            <a:r>
              <a:rPr lang="en-US" sz="1600" dirty="0"/>
              <a:t>That’s all the DBMS can automatically check! </a:t>
            </a:r>
          </a:p>
        </p:txBody>
      </p:sp>
      <p:grpSp>
        <p:nvGrpSpPr>
          <p:cNvPr id="8" name="Group 7" descr="DBMS (State 1) -&gt; Transaction -&gt; DBMS (State 2).&#10;DBMS (State 1) &lt;- Consisten states  -&gt; DBMS (State 2).&#10;" title="Cycle of Xact">
            <a:extLst>
              <a:ext uri="{FF2B5EF4-FFF2-40B4-BE49-F238E27FC236}">
                <a16:creationId xmlns:a16="http://schemas.microsoft.com/office/drawing/2014/main" id="{8E3358DD-E0AA-AD46-AE4B-BD29AD1F92D8}"/>
              </a:ext>
            </a:extLst>
          </p:cNvPr>
          <p:cNvGrpSpPr/>
          <p:nvPr/>
        </p:nvGrpSpPr>
        <p:grpSpPr>
          <a:xfrm>
            <a:off x="914400" y="3257550"/>
            <a:ext cx="4652010" cy="1713424"/>
            <a:chOff x="1062990" y="3299500"/>
            <a:chExt cx="4503420" cy="1671474"/>
          </a:xfrm>
        </p:grpSpPr>
        <p:sp>
          <p:nvSpPr>
            <p:cNvPr id="12" name="Oval 11"/>
            <p:cNvSpPr/>
            <p:nvPr/>
          </p:nvSpPr>
          <p:spPr>
            <a:xfrm>
              <a:off x="1062990" y="3638550"/>
              <a:ext cx="845820" cy="800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DBMS</a:t>
              </a:r>
            </a:p>
            <a:p>
              <a:pPr algn="ctr"/>
              <a:r>
                <a:rPr lang="en-US" sz="1050" dirty="0"/>
                <a:t>(state1)</a:t>
              </a:r>
            </a:p>
          </p:txBody>
        </p:sp>
        <p:sp>
          <p:nvSpPr>
            <p:cNvPr id="13" name="Rounded Rectangle 12"/>
            <p:cNvSpPr/>
            <p:nvPr/>
          </p:nvSpPr>
          <p:spPr>
            <a:xfrm>
              <a:off x="3026036" y="3299500"/>
              <a:ext cx="868680" cy="368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Transaction</a:t>
              </a:r>
            </a:p>
          </p:txBody>
        </p:sp>
        <p:sp>
          <p:nvSpPr>
            <p:cNvPr id="14" name="Oval 13"/>
            <p:cNvSpPr/>
            <p:nvPr/>
          </p:nvSpPr>
          <p:spPr>
            <a:xfrm>
              <a:off x="4720590" y="3663043"/>
              <a:ext cx="845820" cy="800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DBMS</a:t>
              </a:r>
            </a:p>
            <a:p>
              <a:pPr algn="ctr"/>
              <a:r>
                <a:rPr lang="en-US" sz="1050" dirty="0"/>
                <a:t>(state2)</a:t>
              </a:r>
            </a:p>
          </p:txBody>
        </p:sp>
        <p:cxnSp>
          <p:nvCxnSpPr>
            <p:cNvPr id="15" name="Curved Connector 14"/>
            <p:cNvCxnSpPr>
              <a:stCxn id="12" idx="7"/>
              <a:endCxn id="13" idx="1"/>
            </p:cNvCxnSpPr>
            <p:nvPr/>
          </p:nvCxnSpPr>
          <p:spPr>
            <a:xfrm rot="5400000" flipH="1" flipV="1">
              <a:off x="2269568" y="2999256"/>
              <a:ext cx="271841" cy="1241093"/>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p:cNvCxnSpPr>
              <a:stCxn id="13" idx="3"/>
            </p:cNvCxnSpPr>
            <p:nvPr/>
          </p:nvCxnSpPr>
          <p:spPr>
            <a:xfrm>
              <a:off x="3894716" y="3483882"/>
              <a:ext cx="949742" cy="296333"/>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706443" y="4463143"/>
              <a:ext cx="1388778" cy="507831"/>
            </a:xfrm>
            <a:prstGeom prst="rect">
              <a:avLst/>
            </a:prstGeom>
            <a:noFill/>
          </p:spPr>
          <p:txBody>
            <a:bodyPr wrap="none" rtlCol="0">
              <a:spAutoFit/>
            </a:bodyPr>
            <a:lstStyle/>
            <a:p>
              <a:r>
                <a:rPr lang="en-US" sz="1350" dirty="0">
                  <a:solidFill>
                    <a:schemeClr val="tx2"/>
                  </a:solidFill>
                </a:rPr>
                <a:t>Consistent States</a:t>
              </a:r>
            </a:p>
            <a:p>
              <a:r>
                <a:rPr lang="en-US" sz="1350" dirty="0">
                  <a:solidFill>
                    <a:schemeClr val="tx2"/>
                  </a:solidFill>
                </a:rPr>
                <a:t>(ICs all satisfied)</a:t>
              </a:r>
            </a:p>
          </p:txBody>
        </p:sp>
        <p:cxnSp>
          <p:nvCxnSpPr>
            <p:cNvPr id="18" name="Curved Connector 17"/>
            <p:cNvCxnSpPr>
              <a:stCxn id="12" idx="5"/>
            </p:cNvCxnSpPr>
            <p:nvPr/>
          </p:nvCxnSpPr>
          <p:spPr>
            <a:xfrm rot="16200000" flipH="1">
              <a:off x="2053673" y="4052747"/>
              <a:ext cx="384039" cy="921501"/>
            </a:xfrm>
            <a:prstGeom prst="curvedConnector2">
              <a:avLst/>
            </a:prstGeom>
            <a:ln w="19050">
              <a:solidFill>
                <a:schemeClr val="accent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5400000">
              <a:off x="4349611" y="4210670"/>
              <a:ext cx="359546" cy="630149"/>
            </a:xfrm>
            <a:prstGeom prst="curvedConnector2">
              <a:avLst/>
            </a:prstGeom>
            <a:ln w="19050">
              <a:solidFill>
                <a:schemeClr val="accent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8554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Summary</a:t>
            </a:r>
            <a:endParaRPr lang="en-US" dirty="0"/>
          </a:p>
        </p:txBody>
      </p:sp>
      <p:sp>
        <p:nvSpPr>
          <p:cNvPr id="21" name="Content Placeholder 2"/>
          <p:cNvSpPr>
            <a:spLocks noGrp="1"/>
          </p:cNvSpPr>
          <p:nvPr>
            <p:ph idx="1"/>
          </p:nvPr>
        </p:nvSpPr>
        <p:spPr/>
        <p:txBody>
          <a:bodyPr>
            <a:normAutofit fontScale="92500" lnSpcReduction="10000"/>
          </a:bodyPr>
          <a:lstStyle/>
          <a:p>
            <a:r>
              <a:rPr lang="en-US" dirty="0"/>
              <a:t>We have seen an overview</a:t>
            </a:r>
          </a:p>
          <a:p>
            <a:pPr>
              <a:spcBef>
                <a:spcPts val="2000"/>
              </a:spcBef>
            </a:pPr>
            <a:r>
              <a:rPr lang="en-US" dirty="0"/>
              <a:t>ACID Transactions make guarantees that</a:t>
            </a:r>
          </a:p>
          <a:p>
            <a:pPr lvl="1"/>
            <a:r>
              <a:rPr lang="en-US" dirty="0"/>
              <a:t>Improve performance (via concurrency)</a:t>
            </a:r>
          </a:p>
          <a:p>
            <a:pPr lvl="1"/>
            <a:r>
              <a:rPr lang="en-US" dirty="0"/>
              <a:t>Relieve programmers of correctness concerns</a:t>
            </a:r>
          </a:p>
          <a:p>
            <a:pPr lvl="2"/>
            <a:r>
              <a:rPr lang="en-US" dirty="0"/>
              <a:t>Hide concurrency and failure handling!</a:t>
            </a:r>
          </a:p>
          <a:p>
            <a:pPr>
              <a:spcBef>
                <a:spcPts val="2000"/>
              </a:spcBef>
            </a:pPr>
            <a:r>
              <a:rPr lang="en-US" dirty="0"/>
              <a:t>Two key issues to consider, and mechanisms</a:t>
            </a:r>
          </a:p>
          <a:p>
            <a:pPr lvl="1"/>
            <a:r>
              <a:rPr lang="en-US" dirty="0"/>
              <a:t>Concurrency control (via two-phase locking)</a:t>
            </a:r>
          </a:p>
          <a:p>
            <a:pPr lvl="1"/>
            <a:r>
              <a:rPr lang="en-US" dirty="0"/>
              <a:t>Recovery (via write-ahead logging WAL)</a:t>
            </a:r>
          </a:p>
          <a:p>
            <a:pPr>
              <a:spcBef>
                <a:spcPts val="2000"/>
              </a:spcBef>
            </a:pPr>
            <a:r>
              <a:rPr lang="en-US" dirty="0"/>
              <a:t>We’ll do concurrency control first </a:t>
            </a:r>
          </a:p>
        </p:txBody>
      </p:sp>
    </p:spTree>
    <p:extLst>
      <p:ext uri="{BB962C8B-B14F-4D97-AF65-F5344CB8AC3E}">
        <p14:creationId xmlns:p14="http://schemas.microsoft.com/office/powerpoint/2010/main" val="775022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Control</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206258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Concurrency Control: Providing Isolation</a:t>
            </a:r>
          </a:p>
        </p:txBody>
      </p:sp>
      <p:sp>
        <p:nvSpPr>
          <p:cNvPr id="21" name="Content Placeholder 2"/>
          <p:cNvSpPr>
            <a:spLocks noGrp="1"/>
          </p:cNvSpPr>
          <p:nvPr>
            <p:ph idx="1"/>
          </p:nvPr>
        </p:nvSpPr>
        <p:spPr/>
        <p:txBody>
          <a:bodyPr/>
          <a:lstStyle/>
          <a:p>
            <a:r>
              <a:rPr lang="en-US" sz="1800" b="1" dirty="0">
                <a:ea typeface="Lucida Console" charset="0"/>
                <a:cs typeface="Lucida Console" charset="0"/>
              </a:rPr>
              <a:t>Naïve approach - serial execution</a:t>
            </a:r>
          </a:p>
          <a:p>
            <a:pPr lvl="1"/>
            <a:r>
              <a:rPr lang="en-US" sz="1650" dirty="0">
                <a:ea typeface="Lucida Console" charset="0"/>
                <a:cs typeface="Lucida Console" charset="0"/>
              </a:rPr>
              <a:t>One transaction runs at a time</a:t>
            </a:r>
          </a:p>
          <a:p>
            <a:pPr lvl="1"/>
            <a:r>
              <a:rPr lang="en-US" sz="1650" dirty="0">
                <a:ea typeface="Lucida Console" charset="0"/>
                <a:cs typeface="Lucida Console" charset="0"/>
              </a:rPr>
              <a:t>Safe but slow</a:t>
            </a:r>
            <a:endParaRPr lang="en-US" sz="1350" dirty="0">
              <a:ea typeface="Lucida Console" charset="0"/>
              <a:cs typeface="Lucida Console" charset="0"/>
            </a:endParaRPr>
          </a:p>
          <a:p>
            <a:pPr>
              <a:spcBef>
                <a:spcPts val="2000"/>
              </a:spcBef>
            </a:pPr>
            <a:r>
              <a:rPr lang="en-US" sz="1650" b="1" dirty="0">
                <a:ea typeface="Lucida Console" charset="0"/>
                <a:cs typeface="Lucida Console" charset="0"/>
              </a:rPr>
              <a:t>Execution must be interleaved for better performance</a:t>
            </a:r>
          </a:p>
          <a:p>
            <a:pPr>
              <a:spcBef>
                <a:spcPts val="2000"/>
              </a:spcBef>
            </a:pPr>
            <a:r>
              <a:rPr lang="en-US" sz="1650" dirty="0">
                <a:ea typeface="Lucida Console" charset="0"/>
                <a:cs typeface="Lucida Console" charset="0"/>
              </a:rPr>
              <a:t>With concurrent executions, how does one </a:t>
            </a:r>
            <a:r>
              <a:rPr lang="en-US" sz="1650" b="1" dirty="0">
                <a:ea typeface="Lucida Console" charset="0"/>
                <a:cs typeface="Lucida Console" charset="0"/>
              </a:rPr>
              <a:t>define</a:t>
            </a:r>
            <a:r>
              <a:rPr lang="en-US" sz="1650" dirty="0">
                <a:ea typeface="Lucida Console" charset="0"/>
                <a:cs typeface="Lucida Console" charset="0"/>
              </a:rPr>
              <a:t> and </a:t>
            </a:r>
            <a:r>
              <a:rPr lang="en-US" sz="1650" b="1" dirty="0">
                <a:ea typeface="Lucida Console" charset="0"/>
                <a:cs typeface="Lucida Console" charset="0"/>
              </a:rPr>
              <a:t>ensure</a:t>
            </a:r>
            <a:r>
              <a:rPr lang="en-US" sz="1650" dirty="0">
                <a:ea typeface="Lucida Console" charset="0"/>
                <a:cs typeface="Lucida Console" charset="0"/>
              </a:rPr>
              <a:t> correctness?</a:t>
            </a:r>
            <a:r>
              <a:rPr lang="en-US" dirty="0"/>
              <a:t> </a:t>
            </a:r>
          </a:p>
        </p:txBody>
      </p:sp>
    </p:spTree>
    <p:extLst>
      <p:ext uri="{BB962C8B-B14F-4D97-AF65-F5344CB8AC3E}">
        <p14:creationId xmlns:p14="http://schemas.microsoft.com/office/powerpoint/2010/main" val="1541416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Schedules</a:t>
            </a:r>
          </a:p>
        </p:txBody>
      </p:sp>
      <p:sp>
        <p:nvSpPr>
          <p:cNvPr id="3" name="Content Placeholder 2"/>
          <p:cNvSpPr>
            <a:spLocks noGrp="1"/>
          </p:cNvSpPr>
          <p:nvPr>
            <p:ph idx="1"/>
          </p:nvPr>
        </p:nvSpPr>
        <p:spPr>
          <a:xfrm>
            <a:off x="2971800" y="1200151"/>
            <a:ext cx="5715000" cy="3394472"/>
          </a:xfrm>
        </p:spPr>
        <p:txBody>
          <a:bodyPr>
            <a:normAutofit/>
          </a:bodyPr>
          <a:lstStyle/>
          <a:p>
            <a:pPr marL="0" indent="0">
              <a:buNone/>
            </a:pPr>
            <a:r>
              <a:rPr lang="en-US" sz="1800" dirty="0"/>
              <a:t>A </a:t>
            </a:r>
            <a:r>
              <a:rPr lang="en-US" sz="1800" b="1" dirty="0"/>
              <a:t>schedule</a:t>
            </a:r>
            <a:r>
              <a:rPr lang="en-US" sz="1800" dirty="0"/>
              <a:t> is a sequence of actions on data from one or more transactions. </a:t>
            </a:r>
            <a:br>
              <a:rPr lang="en-US" sz="1800" dirty="0"/>
            </a:br>
            <a:br>
              <a:rPr lang="en-US" sz="1800" dirty="0"/>
            </a:br>
            <a:r>
              <a:rPr lang="en-US" sz="1800" dirty="0"/>
              <a:t>Actions: Begin, Read, Write, Commit and Abort. </a:t>
            </a:r>
          </a:p>
          <a:p>
            <a:pPr marL="0" indent="0" algn="ctr">
              <a:buNone/>
            </a:pPr>
            <a:br>
              <a:rPr lang="en-US" sz="1800" dirty="0"/>
            </a:br>
            <a:r>
              <a:rPr lang="en-US" sz="1800" dirty="0"/>
              <a:t>R</a:t>
            </a:r>
            <a:r>
              <a:rPr lang="en-US" sz="1800" baseline="-25000" dirty="0"/>
              <a:t>1</a:t>
            </a:r>
            <a:r>
              <a:rPr lang="en-US" sz="1800" dirty="0"/>
              <a:t>(A) W</a:t>
            </a:r>
            <a:r>
              <a:rPr lang="en-US" sz="1800" baseline="-25000" dirty="0"/>
              <a:t>1</a:t>
            </a:r>
            <a:r>
              <a:rPr lang="en-US" sz="1800" dirty="0"/>
              <a:t>(A) R</a:t>
            </a:r>
            <a:r>
              <a:rPr lang="en-US" sz="1800" baseline="-25000" dirty="0"/>
              <a:t>1</a:t>
            </a:r>
            <a:r>
              <a:rPr lang="en-US" sz="1800" dirty="0"/>
              <a:t>(B) W</a:t>
            </a:r>
            <a:r>
              <a:rPr lang="en-US" sz="1800" baseline="-25000" dirty="0"/>
              <a:t>1</a:t>
            </a:r>
            <a:r>
              <a:rPr lang="en-US" sz="1800" dirty="0"/>
              <a:t>(B) R</a:t>
            </a:r>
            <a:r>
              <a:rPr lang="en-US" sz="1800" baseline="-25000" dirty="0"/>
              <a:t>2</a:t>
            </a:r>
            <a:r>
              <a:rPr lang="en-US" sz="1800" dirty="0"/>
              <a:t>(A) W</a:t>
            </a:r>
            <a:r>
              <a:rPr lang="en-US" sz="1800" baseline="-25000" dirty="0"/>
              <a:t>2</a:t>
            </a:r>
            <a:r>
              <a:rPr lang="en-US" sz="1800" dirty="0"/>
              <a:t>(A) R</a:t>
            </a:r>
            <a:r>
              <a:rPr lang="en-US" sz="1800" baseline="-25000" dirty="0"/>
              <a:t>2</a:t>
            </a:r>
            <a:r>
              <a:rPr lang="en-US" sz="1800" dirty="0"/>
              <a:t>(B) W</a:t>
            </a:r>
            <a:r>
              <a:rPr lang="en-US" sz="1800" baseline="-25000" dirty="0"/>
              <a:t>2</a:t>
            </a:r>
            <a:r>
              <a:rPr lang="en-US" sz="1800" dirty="0"/>
              <a:t>(B)</a:t>
            </a:r>
            <a:endParaRPr lang="en-US" sz="1800" baseline="-25000" dirty="0"/>
          </a:p>
          <a:p>
            <a:pPr marL="0" indent="0">
              <a:buNone/>
            </a:pPr>
            <a:endParaRPr lang="en-US" sz="1800" dirty="0"/>
          </a:p>
          <a:p>
            <a:pPr marL="0" indent="0">
              <a:buNone/>
            </a:pPr>
            <a:r>
              <a:rPr lang="en-US" sz="1800" dirty="0"/>
              <a:t>By convention we only include committed transactions, and omit </a:t>
            </a:r>
            <a:br>
              <a:rPr lang="en-US" sz="1800" dirty="0"/>
            </a:br>
            <a:r>
              <a:rPr lang="en-US" sz="1800" dirty="0"/>
              <a:t>Begin and Commit.</a:t>
            </a:r>
          </a:p>
          <a:p>
            <a:pPr marL="0" indent="0">
              <a:buNone/>
            </a:pPr>
            <a:endParaRPr lang="en-US" sz="1800" dirty="0"/>
          </a:p>
          <a:p>
            <a:pPr marL="0" indent="0">
              <a:buNone/>
            </a:pPr>
            <a:endParaRPr lang="en-US" sz="1800" dirty="0"/>
          </a:p>
        </p:txBody>
      </p:sp>
      <p:graphicFrame>
        <p:nvGraphicFramePr>
          <p:cNvPr id="4" name="Group 133" descr="All of T1s actions occur and then T2 is after" title="Schedule 1"/>
          <p:cNvGraphicFramePr>
            <a:graphicFrameLocks noGrp="1"/>
          </p:cNvGraphicFramePr>
          <p:nvPr>
            <p:extLst>
              <p:ext uri="{D42A27DB-BD31-4B8C-83A1-F6EECF244321}">
                <p14:modId xmlns:p14="http://schemas.microsoft.com/office/powerpoint/2010/main" val="299994206"/>
              </p:ext>
            </p:extLst>
          </p:nvPr>
        </p:nvGraphicFramePr>
        <p:xfrm>
          <a:off x="431800" y="1253253"/>
          <a:ext cx="2212570" cy="3726180"/>
        </p:xfrm>
        <a:graphic>
          <a:graphicData uri="http://schemas.openxmlformats.org/drawingml/2006/table">
            <a:tbl>
              <a:tblPr firstRow="1">
                <a:tableStyleId>{0660B408-B3CF-4A94-85FC-2B1E0A45F4A2}</a:tableStyleId>
              </a:tblPr>
              <a:tblGrid>
                <a:gridCol w="1106285">
                  <a:extLst>
                    <a:ext uri="{9D8B030D-6E8A-4147-A177-3AD203B41FA5}">
                      <a16:colId xmlns:a16="http://schemas.microsoft.com/office/drawing/2014/main" val="20000"/>
                    </a:ext>
                  </a:extLst>
                </a:gridCol>
                <a:gridCol w="1106285">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T1</a:t>
                      </a:r>
                      <a:endParaRPr kumimoji="0" lang="en-US" sz="1400" b="0" i="0" u="none" strike="noStrike" cap="none" normalizeH="0" baseline="0" dirty="0">
                        <a:ln>
                          <a:noFill/>
                        </a:ln>
                        <a:solidFill>
                          <a:srgbClr val="003300"/>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T2</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begin</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1400" u="none" strike="noStrike" cap="none" normalizeH="0" baseline="0" dirty="0">
                          <a:ln>
                            <a:noFill/>
                          </a:ln>
                          <a:effectLst/>
                        </a:rPr>
                        <a:t>read(A)</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1400" u="none" strike="noStrike" cap="none" normalizeH="0" baseline="0" dirty="0">
                          <a:ln>
                            <a:noFill/>
                          </a:ln>
                          <a:effectLst/>
                        </a:rPr>
                        <a:t>write(A)</a:t>
                      </a:r>
                      <a:endParaRPr kumimoji="0" lang="en-US" sz="14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1400" u="none" strike="noStrike" cap="none" normalizeH="0" baseline="0" dirty="0">
                          <a:ln>
                            <a:noFill/>
                          </a:ln>
                          <a:effectLst/>
                        </a:rPr>
                        <a:t>read(B)</a:t>
                      </a:r>
                      <a:endParaRPr kumimoji="0" lang="en-US" sz="14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1400" u="none" strike="noStrike" cap="none" normalizeH="0" baseline="0" dirty="0">
                          <a:ln>
                            <a:noFill/>
                          </a:ln>
                          <a:effectLst/>
                        </a:rPr>
                        <a:t>write(B)</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4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1400" u="none" strike="noStrike" cap="none" normalizeH="0" baseline="0" dirty="0">
                          <a:ln>
                            <a:noFill/>
                          </a:ln>
                          <a:effectLst/>
                        </a:rPr>
                        <a:t>commit</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40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kumimoji="0" lang="en-US" sz="1400" u="none" strike="noStrike" cap="none" normalizeH="0" baseline="0" dirty="0">
                          <a:ln>
                            <a:noFill/>
                          </a:ln>
                          <a:effectLst/>
                        </a:rPr>
                        <a:t>begin</a:t>
                      </a:r>
                      <a:endParaRPr lang="en-US" sz="14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read(A)</a:t>
                      </a:r>
                      <a:endParaRPr kumimoji="0" lang="en-US" sz="14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write(A)</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read(B)</a:t>
                      </a:r>
                      <a:endParaRPr kumimoji="0" lang="en-US" sz="14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write(B)</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1400" u="none" strike="noStrike" cap="none" normalizeH="0" baseline="0" dirty="0">
                          <a:ln>
                            <a:noFill/>
                          </a:ln>
                          <a:effectLst/>
                        </a:rPr>
                        <a:t>commit</a:t>
                      </a:r>
                      <a:endParaRPr kumimoji="0" lang="en-US" sz="14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02673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dirty="0"/>
              <a:t>Serial Equivalence</a:t>
            </a:r>
          </a:p>
        </p:txBody>
      </p:sp>
      <p:sp>
        <p:nvSpPr>
          <p:cNvPr id="34818" name="Content Placeholder 2"/>
          <p:cNvSpPr>
            <a:spLocks noGrp="1"/>
          </p:cNvSpPr>
          <p:nvPr>
            <p:ph idx="1"/>
          </p:nvPr>
        </p:nvSpPr>
        <p:spPr>
          <a:xfrm>
            <a:off x="457200" y="1200151"/>
            <a:ext cx="5733839" cy="3394472"/>
          </a:xfrm>
        </p:spPr>
        <p:txBody>
          <a:bodyPr>
            <a:normAutofit/>
          </a:bodyPr>
          <a:lstStyle/>
          <a:p>
            <a:r>
              <a:rPr lang="en-US" sz="1600" dirty="0"/>
              <a:t>We need a </a:t>
            </a:r>
            <a:r>
              <a:rPr lang="ja-JP" altLang="en-US" sz="1600" dirty="0"/>
              <a:t>“</a:t>
            </a:r>
            <a:r>
              <a:rPr lang="en-US" altLang="ja-JP" sz="1600" dirty="0"/>
              <a:t>touchstone</a:t>
            </a:r>
            <a:r>
              <a:rPr lang="ja-JP" altLang="en-US" sz="1600" dirty="0"/>
              <a:t>”</a:t>
            </a:r>
            <a:r>
              <a:rPr lang="en-US" altLang="ja-JP" sz="1600" dirty="0"/>
              <a:t> concept for correct behavior</a:t>
            </a:r>
          </a:p>
          <a:p>
            <a:pPr>
              <a:spcBef>
                <a:spcPts val="2000"/>
              </a:spcBef>
            </a:pPr>
            <a:r>
              <a:rPr lang="en-US" sz="1600" b="1" dirty="0"/>
              <a:t>Definition</a:t>
            </a:r>
            <a:r>
              <a:rPr lang="en-US" sz="1600" dirty="0"/>
              <a:t>: </a:t>
            </a:r>
            <a:r>
              <a:rPr lang="en-US" sz="1600" b="1" dirty="0"/>
              <a:t>Serial schedule</a:t>
            </a:r>
          </a:p>
          <a:p>
            <a:pPr lvl="1"/>
            <a:r>
              <a:rPr lang="en-US" sz="1400" dirty="0"/>
              <a:t>Each transaction runs from start to finish without any intervening actions from other transactions</a:t>
            </a:r>
          </a:p>
          <a:p>
            <a:pPr>
              <a:spcBef>
                <a:spcPts val="2000"/>
              </a:spcBef>
            </a:pPr>
            <a:r>
              <a:rPr lang="en-US" sz="1600" b="1" dirty="0"/>
              <a:t>Definition</a:t>
            </a:r>
            <a:r>
              <a:rPr lang="en-US" sz="1600" dirty="0"/>
              <a:t>: 2 schedules are </a:t>
            </a:r>
            <a:r>
              <a:rPr lang="en-US" sz="1600" b="1" dirty="0"/>
              <a:t>equivalent</a:t>
            </a:r>
            <a:r>
              <a:rPr lang="en-US" sz="1600" dirty="0"/>
              <a:t> if they:</a:t>
            </a:r>
          </a:p>
          <a:p>
            <a:pPr lvl="1"/>
            <a:r>
              <a:rPr lang="en-US" sz="1400" dirty="0"/>
              <a:t>involve the same transactions</a:t>
            </a:r>
          </a:p>
          <a:p>
            <a:pPr lvl="1"/>
            <a:r>
              <a:rPr lang="en-US" sz="1400" dirty="0"/>
              <a:t>each individual transaction’s actions are ordered the same</a:t>
            </a:r>
          </a:p>
          <a:p>
            <a:pPr lvl="1"/>
            <a:r>
              <a:rPr lang="en-US" sz="1400" dirty="0"/>
              <a:t>both schedules leave the DB in the same final state</a:t>
            </a:r>
          </a:p>
        </p:txBody>
      </p:sp>
      <p:pic>
        <p:nvPicPr>
          <p:cNvPr id="3" name="Picture 2" title="3 Equivalent Schedules"/>
          <p:cNvPicPr>
            <a:picLocks noChangeAspect="1"/>
          </p:cNvPicPr>
          <p:nvPr/>
        </p:nvPicPr>
        <p:blipFill>
          <a:blip r:embed="rId2"/>
          <a:stretch>
            <a:fillRect/>
          </a:stretch>
        </p:blipFill>
        <p:spPr>
          <a:xfrm>
            <a:off x="7266545" y="1504950"/>
            <a:ext cx="914400" cy="868092"/>
          </a:xfrm>
          <a:prstGeom prst="rect">
            <a:avLst/>
          </a:prstGeom>
        </p:spPr>
      </p:pic>
      <p:pic>
        <p:nvPicPr>
          <p:cNvPr id="6" name="Picture 5" title="3 Equivalent Schedules"/>
          <p:cNvPicPr>
            <a:picLocks noChangeAspect="1"/>
          </p:cNvPicPr>
          <p:nvPr/>
        </p:nvPicPr>
        <p:blipFill>
          <a:blip r:embed="rId3"/>
          <a:stretch>
            <a:fillRect/>
          </a:stretch>
        </p:blipFill>
        <p:spPr>
          <a:xfrm>
            <a:off x="6737500" y="2577839"/>
            <a:ext cx="1972491" cy="868092"/>
          </a:xfrm>
          <a:prstGeom prst="rect">
            <a:avLst/>
          </a:prstGeom>
        </p:spPr>
      </p:pic>
      <p:grpSp>
        <p:nvGrpSpPr>
          <p:cNvPr id="14" name="Group 13" title="3 Equivalent Schedules"/>
          <p:cNvGrpSpPr/>
          <p:nvPr/>
        </p:nvGrpSpPr>
        <p:grpSpPr>
          <a:xfrm>
            <a:off x="7109792" y="3441565"/>
            <a:ext cx="1223553" cy="159288"/>
            <a:chOff x="6400800" y="3412321"/>
            <a:chExt cx="1223553" cy="159288"/>
          </a:xfrm>
        </p:grpSpPr>
        <p:sp>
          <p:nvSpPr>
            <p:cNvPr id="13" name="Can 12"/>
            <p:cNvSpPr/>
            <p:nvPr/>
          </p:nvSpPr>
          <p:spPr>
            <a:xfrm>
              <a:off x="6400800" y="3416687"/>
              <a:ext cx="152400" cy="154922"/>
            </a:xfrm>
            <a:prstGeom prst="ca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an 15"/>
            <p:cNvSpPr/>
            <p:nvPr/>
          </p:nvSpPr>
          <p:spPr>
            <a:xfrm>
              <a:off x="7471953" y="3412321"/>
              <a:ext cx="152400" cy="154922"/>
            </a:xfrm>
            <a:prstGeom prst="ca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7848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dirty="0" err="1"/>
              <a:t>Serializability</a:t>
            </a:r>
            <a:endParaRPr lang="en-US" dirty="0"/>
          </a:p>
        </p:txBody>
      </p:sp>
      <p:sp>
        <p:nvSpPr>
          <p:cNvPr id="34818" name="Content Placeholder 2"/>
          <p:cNvSpPr>
            <a:spLocks noGrp="1"/>
          </p:cNvSpPr>
          <p:nvPr>
            <p:ph idx="1"/>
          </p:nvPr>
        </p:nvSpPr>
        <p:spPr>
          <a:xfrm>
            <a:off x="457200" y="1200151"/>
            <a:ext cx="5903654" cy="3394472"/>
          </a:xfrm>
        </p:spPr>
        <p:txBody>
          <a:bodyPr>
            <a:normAutofit/>
          </a:bodyPr>
          <a:lstStyle/>
          <a:p>
            <a:pPr>
              <a:spcBef>
                <a:spcPts val="2000"/>
              </a:spcBef>
            </a:pPr>
            <a:r>
              <a:rPr lang="en-US" b="1" dirty="0"/>
              <a:t>Definition</a:t>
            </a:r>
            <a:r>
              <a:rPr lang="en-US" dirty="0"/>
              <a:t>: Schedule S is </a:t>
            </a:r>
            <a:r>
              <a:rPr lang="en-US" b="1" dirty="0"/>
              <a:t>serializable</a:t>
            </a:r>
            <a:r>
              <a:rPr lang="en-US" dirty="0"/>
              <a:t> if:</a:t>
            </a:r>
          </a:p>
          <a:p>
            <a:pPr lvl="1"/>
            <a:r>
              <a:rPr lang="en-US" dirty="0"/>
              <a:t>S is equivalent to some serial schedule</a:t>
            </a:r>
          </a:p>
        </p:txBody>
      </p:sp>
      <p:sp>
        <p:nvSpPr>
          <p:cNvPr id="13" name="Can 12" title="A serializable schedule"/>
          <p:cNvSpPr/>
          <p:nvPr/>
        </p:nvSpPr>
        <p:spPr>
          <a:xfrm>
            <a:off x="1362892" y="3516042"/>
            <a:ext cx="152400" cy="154922"/>
          </a:xfrm>
          <a:prstGeom prst="ca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an 15" descr="Serialized version of the serializable schedule where all of T1's actions precede T2s" title="Serial Schedule 1"/>
          <p:cNvSpPr/>
          <p:nvPr/>
        </p:nvSpPr>
        <p:spPr>
          <a:xfrm>
            <a:off x="3969450" y="3218918"/>
            <a:ext cx="152400" cy="154922"/>
          </a:xfrm>
          <a:prstGeom prst="ca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erialized version of the serializable schedule where all of T1's actions precede T2s" title="Serial Schedule 1"/>
          <p:cNvPicPr>
            <a:picLocks noChangeAspect="1"/>
          </p:cNvPicPr>
          <p:nvPr/>
        </p:nvPicPr>
        <p:blipFill rotWithShape="1">
          <a:blip r:embed="rId2"/>
          <a:srcRect r="48896"/>
          <a:stretch/>
        </p:blipFill>
        <p:spPr>
          <a:xfrm>
            <a:off x="3541642" y="2213904"/>
            <a:ext cx="1008017" cy="868092"/>
          </a:xfrm>
          <a:prstGeom prst="rect">
            <a:avLst/>
          </a:prstGeom>
        </p:spPr>
      </p:pic>
      <p:pic>
        <p:nvPicPr>
          <p:cNvPr id="2" name="Picture 1" descr=" Serialized version of the serializable schedule where all of T2's actions precede T1s" title="Serial Schedule 2"/>
          <p:cNvPicPr>
            <a:picLocks noChangeAspect="1"/>
          </p:cNvPicPr>
          <p:nvPr/>
        </p:nvPicPr>
        <p:blipFill>
          <a:blip r:embed="rId3"/>
          <a:stretch>
            <a:fillRect/>
          </a:stretch>
        </p:blipFill>
        <p:spPr>
          <a:xfrm>
            <a:off x="3574772" y="3900836"/>
            <a:ext cx="898194" cy="869452"/>
          </a:xfrm>
          <a:prstGeom prst="rect">
            <a:avLst/>
          </a:prstGeom>
        </p:spPr>
      </p:pic>
      <p:sp>
        <p:nvSpPr>
          <p:cNvPr id="15" name="Can 14" descr=" Serialized version of the serializable schedule where all of T2's actions precede T1s" title="Serial Schedule 2"/>
          <p:cNvSpPr/>
          <p:nvPr/>
        </p:nvSpPr>
        <p:spPr>
          <a:xfrm>
            <a:off x="3958207" y="4849121"/>
            <a:ext cx="152400" cy="154922"/>
          </a:xfrm>
          <a:prstGeom prst="ca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descr="Serialized version of the serializable schedule where all of T1's actions precede T2s" title="Serial Schedule 1"/>
          <p:cNvSpPr txBox="1"/>
          <p:nvPr/>
        </p:nvSpPr>
        <p:spPr>
          <a:xfrm rot="20404504">
            <a:off x="2514600" y="2540230"/>
            <a:ext cx="894427" cy="584775"/>
          </a:xfrm>
          <a:prstGeom prst="rect">
            <a:avLst/>
          </a:prstGeom>
          <a:noFill/>
        </p:spPr>
        <p:txBody>
          <a:bodyPr wrap="square" rtlCol="0">
            <a:spAutoFit/>
          </a:bodyPr>
          <a:lstStyle/>
          <a:p>
            <a:r>
              <a:rPr lang="en-US" sz="3200"/>
              <a:t>=?</a:t>
            </a:r>
          </a:p>
        </p:txBody>
      </p:sp>
      <p:sp>
        <p:nvSpPr>
          <p:cNvPr id="17" name="TextBox 16" descr=" Serialized version of the serializable schedule where all of T2's actions precede T1s" title="Serial Schedule 2"/>
          <p:cNvSpPr txBox="1"/>
          <p:nvPr/>
        </p:nvSpPr>
        <p:spPr>
          <a:xfrm rot="2105055">
            <a:off x="2422826" y="3719967"/>
            <a:ext cx="894427" cy="584775"/>
          </a:xfrm>
          <a:prstGeom prst="rect">
            <a:avLst/>
          </a:prstGeom>
          <a:noFill/>
        </p:spPr>
        <p:txBody>
          <a:bodyPr wrap="square" rtlCol="0">
            <a:spAutoFit/>
          </a:bodyPr>
          <a:lstStyle/>
          <a:p>
            <a:r>
              <a:rPr lang="en-US" sz="3200"/>
              <a:t>=?</a:t>
            </a:r>
          </a:p>
        </p:txBody>
      </p:sp>
      <p:pic>
        <p:nvPicPr>
          <p:cNvPr id="5" name="Picture 4" title="A serializable schedule"/>
          <p:cNvPicPr>
            <a:picLocks noChangeAspect="1"/>
          </p:cNvPicPr>
          <p:nvPr/>
        </p:nvPicPr>
        <p:blipFill>
          <a:blip r:embed="rId4"/>
          <a:stretch>
            <a:fillRect/>
          </a:stretch>
        </p:blipFill>
        <p:spPr>
          <a:xfrm>
            <a:off x="986246" y="2509889"/>
            <a:ext cx="905691" cy="868092"/>
          </a:xfrm>
          <a:prstGeom prst="rect">
            <a:avLst/>
          </a:prstGeom>
        </p:spPr>
      </p:pic>
      <p:sp>
        <p:nvSpPr>
          <p:cNvPr id="7" name="TextBox 6" title="A serializable schedule"/>
          <p:cNvSpPr txBox="1"/>
          <p:nvPr/>
        </p:nvSpPr>
        <p:spPr>
          <a:xfrm>
            <a:off x="1293859" y="2187162"/>
            <a:ext cx="290464" cy="369332"/>
          </a:xfrm>
          <a:prstGeom prst="rect">
            <a:avLst/>
          </a:prstGeom>
          <a:noFill/>
        </p:spPr>
        <p:txBody>
          <a:bodyPr wrap="none" rtlCol="0">
            <a:spAutoFit/>
          </a:bodyPr>
          <a:lstStyle/>
          <a:p>
            <a:r>
              <a:rPr lang="en-US" dirty="0"/>
              <a:t>S</a:t>
            </a:r>
          </a:p>
        </p:txBody>
      </p:sp>
    </p:spTree>
    <p:extLst>
      <p:ext uri="{BB962C8B-B14F-4D97-AF65-F5344CB8AC3E}">
        <p14:creationId xmlns:p14="http://schemas.microsoft.com/office/powerpoint/2010/main" val="1011335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Schedule 1</a:t>
            </a:r>
            <a:endParaRPr lang="en-US" dirty="0"/>
          </a:p>
        </p:txBody>
      </p:sp>
      <p:sp>
        <p:nvSpPr>
          <p:cNvPr id="3" name="Content Placeholder 2">
            <a:extLst>
              <a:ext uri="{FF2B5EF4-FFF2-40B4-BE49-F238E27FC236}">
                <a16:creationId xmlns:a16="http://schemas.microsoft.com/office/drawing/2014/main" id="{51FFDB70-2457-4046-A4CC-9B240CA6F707}"/>
              </a:ext>
            </a:extLst>
          </p:cNvPr>
          <p:cNvSpPr>
            <a:spLocks noGrp="1"/>
          </p:cNvSpPr>
          <p:nvPr>
            <p:ph idx="1"/>
          </p:nvPr>
        </p:nvSpPr>
        <p:spPr>
          <a:xfrm>
            <a:off x="2743200" y="1200151"/>
            <a:ext cx="5943600" cy="3394472"/>
          </a:xfrm>
        </p:spPr>
        <p:txBody>
          <a:bodyPr>
            <a:normAutofit/>
          </a:bodyPr>
          <a:lstStyle/>
          <a:p>
            <a:r>
              <a:rPr lang="en-US" sz="1800" dirty="0">
                <a:ea typeface="Lucida Console" charset="0"/>
                <a:cs typeface="Lucida Console" charset="0"/>
              </a:rPr>
              <a:t>Let T1 transfer $100 from A to B </a:t>
            </a:r>
          </a:p>
          <a:p>
            <a:r>
              <a:rPr lang="en-US" sz="1800" dirty="0">
                <a:ea typeface="Lucida Console" charset="0"/>
                <a:cs typeface="Lucida Console" charset="0"/>
              </a:rPr>
              <a:t>Let T2 add 10% interest to A &amp; B</a:t>
            </a:r>
          </a:p>
          <a:p>
            <a:r>
              <a:rPr lang="en-US" sz="1800" dirty="0">
                <a:ea typeface="Lucida Console" charset="0"/>
                <a:cs typeface="Lucida Console" charset="0"/>
              </a:rPr>
              <a:t>Serial schedule in which T1 is followed by T2</a:t>
            </a:r>
          </a:p>
          <a:p>
            <a:pPr lvl="1"/>
            <a:r>
              <a:rPr lang="en-US" sz="1600" dirty="0">
                <a:ea typeface="Lucida Console" charset="0"/>
                <a:cs typeface="Lucida Console" charset="0"/>
              </a:rPr>
              <a:t>Final outcome: </a:t>
            </a:r>
          </a:p>
          <a:p>
            <a:pPr lvl="2"/>
            <a:r>
              <a:rPr lang="en-US" sz="1400" dirty="0">
                <a:ea typeface="Lucida Console" charset="0"/>
                <a:cs typeface="Lucida Console" charset="0"/>
              </a:rPr>
              <a:t>A := 1.1*(A-100)</a:t>
            </a:r>
          </a:p>
          <a:p>
            <a:pPr lvl="2"/>
            <a:r>
              <a:rPr lang="en-US" sz="1400" dirty="0">
                <a:ea typeface="Lucida Console" charset="0"/>
                <a:cs typeface="Lucida Console" charset="0"/>
              </a:rPr>
              <a:t>B := 1.1*(B+100)</a:t>
            </a:r>
          </a:p>
        </p:txBody>
      </p:sp>
      <p:graphicFrame>
        <p:nvGraphicFramePr>
          <p:cNvPr id="11" name="Group 133" descr="All of T1s actions occur and then T2 is after" title="Schedule 1"/>
          <p:cNvGraphicFramePr>
            <a:graphicFrameLocks noGrp="1"/>
          </p:cNvGraphicFramePr>
          <p:nvPr>
            <p:extLst>
              <p:ext uri="{D42A27DB-BD31-4B8C-83A1-F6EECF244321}">
                <p14:modId xmlns:p14="http://schemas.microsoft.com/office/powerpoint/2010/main" val="264401102"/>
              </p:ext>
            </p:extLst>
          </p:nvPr>
        </p:nvGraphicFramePr>
        <p:xfrm>
          <a:off x="431800" y="1253253"/>
          <a:ext cx="2212570" cy="3634740"/>
        </p:xfrm>
        <a:graphic>
          <a:graphicData uri="http://schemas.openxmlformats.org/drawingml/2006/table">
            <a:tbl>
              <a:tblPr firstRow="1">
                <a:tableStyleId>{0660B408-B3CF-4A94-85FC-2B1E0A45F4A2}</a:tableStyleId>
              </a:tblPr>
              <a:tblGrid>
                <a:gridCol w="1106285">
                  <a:extLst>
                    <a:ext uri="{9D8B030D-6E8A-4147-A177-3AD203B41FA5}">
                      <a16:colId xmlns:a16="http://schemas.microsoft.com/office/drawing/2014/main" val="20000"/>
                    </a:ext>
                  </a:extLst>
                </a:gridCol>
                <a:gridCol w="1106285">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T1: Transfer $100 from A to B</a:t>
                      </a:r>
                      <a:endParaRPr kumimoji="0" lang="en-US" sz="900" b="0" i="0" u="none" strike="noStrike" cap="none" normalizeH="0" baseline="0" dirty="0">
                        <a:ln>
                          <a:noFill/>
                        </a:ln>
                        <a:solidFill>
                          <a:srgbClr val="003300"/>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T2: Add 10% interest to A &amp; 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begin</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A = A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write(A)</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read(B)</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B = B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kumimoji="0" lang="en-US" sz="900" u="none" strike="noStrike" cap="none" normalizeH="0" baseline="0" dirty="0">
                          <a:ln>
                            <a:noFill/>
                          </a:ln>
                          <a:effectLst/>
                        </a:rPr>
                        <a:t>begin</a:t>
                      </a:r>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A = A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read(B)</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 = B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32141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Schedule 2</a:t>
            </a:r>
            <a:endParaRPr lang="en-US" dirty="0"/>
          </a:p>
        </p:txBody>
      </p:sp>
      <p:graphicFrame>
        <p:nvGraphicFramePr>
          <p:cNvPr id="11" name="Group 133" descr="All of T2s actions occur and then T1 is after" title="Schedule 2"/>
          <p:cNvGraphicFramePr>
            <a:graphicFrameLocks noGrp="1"/>
          </p:cNvGraphicFramePr>
          <p:nvPr>
            <p:extLst>
              <p:ext uri="{D42A27DB-BD31-4B8C-83A1-F6EECF244321}">
                <p14:modId xmlns:p14="http://schemas.microsoft.com/office/powerpoint/2010/main" val="368527963"/>
              </p:ext>
            </p:extLst>
          </p:nvPr>
        </p:nvGraphicFramePr>
        <p:xfrm>
          <a:off x="431800" y="1252728"/>
          <a:ext cx="2212570" cy="3731732"/>
        </p:xfrm>
        <a:graphic>
          <a:graphicData uri="http://schemas.openxmlformats.org/drawingml/2006/table">
            <a:tbl>
              <a:tblPr firstRow="1">
                <a:tableStyleId>{0660B408-B3CF-4A94-85FC-2B1E0A45F4A2}</a:tableStyleId>
              </a:tblPr>
              <a:tblGrid>
                <a:gridCol w="1106285">
                  <a:extLst>
                    <a:ext uri="{9D8B030D-6E8A-4147-A177-3AD203B41FA5}">
                      <a16:colId xmlns:a16="http://schemas.microsoft.com/office/drawing/2014/main" val="20000"/>
                    </a:ext>
                  </a:extLst>
                </a:gridCol>
                <a:gridCol w="1106285">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T1: Transfer $100 from A to B</a:t>
                      </a:r>
                      <a:endParaRPr kumimoji="0" lang="en-US" sz="900" b="0" i="0" u="none" strike="noStrike" cap="none" normalizeH="0" baseline="0" dirty="0">
                        <a:ln>
                          <a:noFill/>
                        </a:ln>
                        <a:solidFill>
                          <a:srgbClr val="003300"/>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T2: Add 10% interest to A &amp; 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kumimoji="0" lang="en-US" sz="900" u="none" strike="noStrike" cap="none" normalizeH="0" baseline="0" dirty="0">
                          <a:ln>
                            <a:noFill/>
                          </a:ln>
                          <a:effectLst/>
                        </a:rPr>
                        <a:t>begin</a:t>
                      </a:r>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A = A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11802">
                <a:tc>
                  <a:txBody>
                    <a:bodyPr/>
                    <a:lstStyle/>
                    <a:p>
                      <a:endParaRPr lang="en-US" sz="90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read(B)</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11802">
                <a:tc>
                  <a:txBody>
                    <a:bodyPr/>
                    <a:lstStyle/>
                    <a:p>
                      <a:endParaRPr lang="en-US" sz="90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 = B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11802">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begin</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A = A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write(A)</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read(B)</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B = B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11802">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6"/>
                  </a:ext>
                </a:extLst>
              </a:tr>
            </a:tbl>
          </a:graphicData>
        </a:graphic>
      </p:graphicFrame>
      <p:sp>
        <p:nvSpPr>
          <p:cNvPr id="12" name="Content Placeholder 2">
            <a:extLst>
              <a:ext uri="{FF2B5EF4-FFF2-40B4-BE49-F238E27FC236}">
                <a16:creationId xmlns:a16="http://schemas.microsoft.com/office/drawing/2014/main" id="{4074DC45-5F70-A24C-85D4-227D56A40854}"/>
              </a:ext>
            </a:extLst>
          </p:cNvPr>
          <p:cNvSpPr txBox="1">
            <a:spLocks noGrp="1"/>
          </p:cNvSpPr>
          <p:nvPr>
            <p:ph idx="1"/>
          </p:nvPr>
        </p:nvSpPr>
        <p:spPr>
          <a:xfrm>
            <a:off x="2743200" y="895350"/>
            <a:ext cx="5638800" cy="1471422"/>
          </a:xfrm>
          <a:prstGeom prst="rect">
            <a:avLst/>
          </a:prstGeom>
          <a:effectLst>
            <a:glow rad="63500">
              <a:srgbClr val="FFFF00">
                <a:alpha val="40000"/>
              </a:srgbClr>
            </a:glow>
          </a:effectLst>
        </p:spPr>
        <p:txBody>
          <a:bodyPr vert="horz" lIns="68580" tIns="34290" rIns="68580" bIns="34290"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800" dirty="0">
              <a:latin typeface="Helvetica Neue" charset="0"/>
              <a:ea typeface="Helvetica Neue" charset="0"/>
              <a:cs typeface="Helvetica Neue" charset="0"/>
            </a:endParaRPr>
          </a:p>
          <a:p>
            <a:r>
              <a:rPr lang="en-US" sz="1800" dirty="0">
                <a:latin typeface="Helvetica Neue" charset="0"/>
                <a:ea typeface="Helvetica Neue" charset="0"/>
                <a:cs typeface="Helvetica Neue" charset="0"/>
              </a:rPr>
              <a:t>Serial schedule in which T2 is followed by T1</a:t>
            </a:r>
          </a:p>
          <a:p>
            <a:pPr lvl="1"/>
            <a:r>
              <a:rPr lang="en-US" sz="1600" dirty="0">
                <a:latin typeface="Helvetica Neue" charset="0"/>
                <a:ea typeface="Helvetica Neue" charset="0"/>
                <a:cs typeface="Helvetica Neue" charset="0"/>
              </a:rPr>
              <a:t>Final outcome: </a:t>
            </a:r>
          </a:p>
          <a:p>
            <a:pPr lvl="2"/>
            <a:r>
              <a:rPr lang="en-US" sz="1400" dirty="0">
                <a:latin typeface="Helvetica Neue" charset="0"/>
                <a:ea typeface="Helvetica Neue" charset="0"/>
                <a:cs typeface="Helvetica Neue" charset="0"/>
              </a:rPr>
              <a:t>A := (1.1*A)-100</a:t>
            </a:r>
          </a:p>
          <a:p>
            <a:pPr lvl="2"/>
            <a:r>
              <a:rPr lang="en-US" sz="1400" dirty="0">
                <a:latin typeface="Helvetica Neue" charset="0"/>
                <a:ea typeface="Helvetica Neue" charset="0"/>
                <a:cs typeface="Helvetica Neue" charset="0"/>
              </a:rPr>
              <a:t>B := (1.1*B)+100</a:t>
            </a:r>
          </a:p>
          <a:p>
            <a:pPr lvl="1"/>
            <a:r>
              <a:rPr lang="en-US" sz="1600" dirty="0">
                <a:latin typeface="Helvetica Neue" charset="0"/>
                <a:ea typeface="Helvetica Neue" charset="0"/>
                <a:cs typeface="Helvetica Neue" charset="0"/>
              </a:rPr>
              <a:t>Different!</a:t>
            </a:r>
          </a:p>
          <a:p>
            <a:pPr lvl="2"/>
            <a:r>
              <a:rPr lang="en-US" sz="1400" dirty="0">
                <a:latin typeface="Helvetica Neue" charset="0"/>
                <a:ea typeface="Helvetica Neue" charset="0"/>
                <a:cs typeface="Helvetica Neue" charset="0"/>
              </a:rPr>
              <a:t>But still understandable</a:t>
            </a:r>
          </a:p>
          <a:p>
            <a:endParaRPr lang="en-US" sz="1800" dirty="0">
              <a:latin typeface="Helvetica Neue" charset="0"/>
              <a:ea typeface="Helvetica Neue" charset="0"/>
              <a:cs typeface="Helvetica Neue" charset="0"/>
            </a:endParaRPr>
          </a:p>
        </p:txBody>
      </p:sp>
    </p:spTree>
    <p:extLst>
      <p:ext uri="{BB962C8B-B14F-4D97-AF65-F5344CB8AC3E}">
        <p14:creationId xmlns:p14="http://schemas.microsoft.com/office/powerpoint/2010/main" val="888486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Schedule 3</a:t>
            </a:r>
            <a:endParaRPr lang="en-US" dirty="0"/>
          </a:p>
        </p:txBody>
      </p:sp>
      <p:sp>
        <p:nvSpPr>
          <p:cNvPr id="3" name="Content Placeholder 2">
            <a:extLst>
              <a:ext uri="{FF2B5EF4-FFF2-40B4-BE49-F238E27FC236}">
                <a16:creationId xmlns:a16="http://schemas.microsoft.com/office/drawing/2014/main" id="{75958BB7-2D35-D546-B9B0-2883E0823E14}"/>
              </a:ext>
            </a:extLst>
          </p:cNvPr>
          <p:cNvSpPr>
            <a:spLocks noGrp="1"/>
          </p:cNvSpPr>
          <p:nvPr>
            <p:ph idx="1"/>
          </p:nvPr>
        </p:nvSpPr>
        <p:spPr>
          <a:xfrm>
            <a:off x="2743200" y="1200151"/>
            <a:ext cx="6629400" cy="3394472"/>
          </a:xfrm>
        </p:spPr>
        <p:txBody>
          <a:bodyPr>
            <a:normAutofit/>
          </a:bodyPr>
          <a:lstStyle/>
          <a:p>
            <a:r>
              <a:rPr lang="en-US" sz="1600" dirty="0"/>
              <a:t>Schedule in which actions of T1 and T2 are interleaved.</a:t>
            </a:r>
          </a:p>
          <a:p>
            <a:r>
              <a:rPr lang="en-US" sz="1600" dirty="0"/>
              <a:t>This is not a serial schedule </a:t>
            </a:r>
          </a:p>
          <a:p>
            <a:r>
              <a:rPr lang="en-US" sz="1600" dirty="0"/>
              <a:t>But it is equivalent to schedule 1</a:t>
            </a:r>
          </a:p>
          <a:p>
            <a:pPr lvl="1"/>
            <a:r>
              <a:rPr lang="en-US" sz="1400" dirty="0"/>
              <a:t>A := (A-100)*1.1</a:t>
            </a:r>
          </a:p>
          <a:p>
            <a:pPr lvl="1"/>
            <a:r>
              <a:rPr lang="en-US" sz="1400" dirty="0"/>
              <a:t>B := (B+100)*1.1</a:t>
            </a:r>
          </a:p>
          <a:p>
            <a:r>
              <a:rPr lang="en-US" sz="1600" dirty="0"/>
              <a:t>Hence </a:t>
            </a:r>
            <a:r>
              <a:rPr lang="en-US" sz="1600" b="1" dirty="0"/>
              <a:t>serializable</a:t>
            </a:r>
            <a:r>
              <a:rPr lang="en-US" sz="1600" dirty="0"/>
              <a:t>!</a:t>
            </a:r>
          </a:p>
        </p:txBody>
      </p:sp>
      <p:sp>
        <p:nvSpPr>
          <p:cNvPr id="13" name="Footer Placeholder 4"/>
          <p:cNvSpPr>
            <a:spLocks noGrp="1"/>
          </p:cNvSpPr>
          <p:nvPr>
            <p:ph type="ftr" sz="quarter" idx="4294967295"/>
          </p:nvPr>
        </p:nvSpPr>
        <p:spPr>
          <a:xfrm>
            <a:off x="8058150" y="4959350"/>
            <a:ext cx="1085850" cy="171450"/>
          </a:xfrm>
          <a:prstGeom prst="rect">
            <a:avLst/>
          </a:prstGeom>
        </p:spPr>
        <p:txBody>
          <a:bodyPr/>
          <a:lstStyle/>
          <a:p>
            <a:r>
              <a:rPr lang="en-US" sz="825" dirty="0">
                <a:solidFill>
                  <a:schemeClr val="tx2"/>
                </a:solidFill>
              </a:rPr>
              <a:t>Thanks to @</a:t>
            </a:r>
            <a:r>
              <a:rPr lang="en-US" sz="825" dirty="0" err="1">
                <a:solidFill>
                  <a:schemeClr val="tx2"/>
                </a:solidFill>
              </a:rPr>
              <a:t>jmpatel</a:t>
            </a:r>
            <a:endParaRPr lang="en-US" sz="825" dirty="0">
              <a:solidFill>
                <a:schemeClr val="tx2"/>
              </a:solidFill>
            </a:endParaRPr>
          </a:p>
        </p:txBody>
      </p:sp>
      <p:graphicFrame>
        <p:nvGraphicFramePr>
          <p:cNvPr id="11" name="Group 133" descr="T1 and T2's actions are interwoven" title="Schedule 3"/>
          <p:cNvGraphicFramePr>
            <a:graphicFrameLocks noGrp="1"/>
          </p:cNvGraphicFramePr>
          <p:nvPr>
            <p:extLst>
              <p:ext uri="{D42A27DB-BD31-4B8C-83A1-F6EECF244321}">
                <p14:modId xmlns:p14="http://schemas.microsoft.com/office/powerpoint/2010/main" val="1949073843"/>
              </p:ext>
            </p:extLst>
          </p:nvPr>
        </p:nvGraphicFramePr>
        <p:xfrm>
          <a:off x="429768" y="1252728"/>
          <a:ext cx="2212570" cy="3634740"/>
        </p:xfrm>
        <a:graphic>
          <a:graphicData uri="http://schemas.openxmlformats.org/drawingml/2006/table">
            <a:tbl>
              <a:tblPr firstRow="1">
                <a:tableStyleId>{0660B408-B3CF-4A94-85FC-2B1E0A45F4A2}</a:tableStyleId>
              </a:tblPr>
              <a:tblGrid>
                <a:gridCol w="1106285">
                  <a:extLst>
                    <a:ext uri="{9D8B030D-6E8A-4147-A177-3AD203B41FA5}">
                      <a16:colId xmlns:a16="http://schemas.microsoft.com/office/drawing/2014/main" val="20000"/>
                    </a:ext>
                  </a:extLst>
                </a:gridCol>
                <a:gridCol w="1106285">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T1: Transfer $100 from A to B</a:t>
                      </a:r>
                      <a:endParaRPr kumimoji="0" lang="en-US" sz="900" b="0" i="0" u="none" strike="noStrike" cap="none" normalizeH="0" baseline="0" dirty="0">
                        <a:ln>
                          <a:noFill/>
                        </a:ln>
                        <a:solidFill>
                          <a:srgbClr val="003300"/>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T2: Add 10% interest to A &amp; 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begin</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A = A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write(A)</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05740">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kumimoji="0" lang="en-US" sz="900" u="none" strike="noStrike" cap="none" normalizeH="0" baseline="0" dirty="0">
                          <a:ln>
                            <a:noFill/>
                          </a:ln>
                          <a:effectLst/>
                        </a:rPr>
                        <a:t>begin</a:t>
                      </a:r>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05740">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read(A)</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A = A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05740">
                <a:tc>
                  <a:txBody>
                    <a:bodyPr/>
                    <a:lstStyle/>
                    <a:p>
                      <a:endParaRPr lang="en-US" sz="900" dirty="0"/>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write(A)</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read(B)</a:t>
                      </a:r>
                      <a:endParaRPr kumimoji="0" lang="en-US" sz="900" b="1"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B = B + 100</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defRPr/>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900" dirty="0"/>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read(B)</a:t>
                      </a:r>
                      <a:endParaRPr kumimoji="0" lang="en-US" sz="900" b="0" i="0" u="none" strike="noStrike" cap="none" normalizeH="0" baseline="0" dirty="0">
                        <a:ln>
                          <a:noFill/>
                        </a:ln>
                        <a:solidFill>
                          <a:schemeClr val="tx2"/>
                        </a:solidFill>
                        <a:effectLst/>
                        <a:latin typeface="+mn-lt"/>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B = B * 1.1</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write(B)</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05740">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60000"/>
                        <a:buFont typeface="Wingdings" charset="2"/>
                        <a:buNone/>
                        <a:tabLst/>
                      </a:pPr>
                      <a:r>
                        <a:rPr kumimoji="0" lang="en-US" sz="900" u="none" strike="noStrike" cap="none" normalizeH="0" baseline="0" dirty="0">
                          <a:ln>
                            <a:noFill/>
                          </a:ln>
                          <a:effectLst/>
                        </a:rPr>
                        <a:t>commit</a:t>
                      </a:r>
                      <a:endParaRPr kumimoji="0" lang="en-US" sz="900" b="0" i="0" u="none" strike="noStrike" cap="none" normalizeH="0" baseline="0" dirty="0">
                        <a:ln>
                          <a:noFill/>
                        </a:ln>
                        <a:solidFill>
                          <a:schemeClr val="tx2"/>
                        </a:solidFill>
                        <a:effectLst/>
                        <a:latin typeface="Tahoma" charset="0"/>
                      </a:endParaRPr>
                    </a:p>
                  </a:txBody>
                  <a:tcPr marL="68580" marR="68580" marT="34290" marB="34290" horzOverflow="overflow">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462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Conflicting Operations</a:t>
            </a:r>
            <a:endParaRPr lang="en-US" dirty="0"/>
          </a:p>
        </p:txBody>
      </p:sp>
      <p:sp>
        <p:nvSpPr>
          <p:cNvPr id="21" name="Content Placeholder 2"/>
          <p:cNvSpPr>
            <a:spLocks noGrp="1"/>
          </p:cNvSpPr>
          <p:nvPr>
            <p:ph idx="1"/>
          </p:nvPr>
        </p:nvSpPr>
        <p:spPr>
          <a:xfrm>
            <a:off x="457200" y="1200151"/>
            <a:ext cx="10515600" cy="3394472"/>
          </a:xfrm>
        </p:spPr>
        <p:txBody>
          <a:bodyPr>
            <a:normAutofit fontScale="77500" lnSpcReduction="20000"/>
          </a:bodyPr>
          <a:lstStyle/>
          <a:p>
            <a:r>
              <a:rPr lang="en-US" sz="1800" dirty="0"/>
              <a:t>Tricky to check property </a:t>
            </a:r>
            <a:r>
              <a:rPr lang="en-US" sz="1800" b="1" dirty="0"/>
              <a:t>“leaves the DB in the same final state”</a:t>
            </a:r>
          </a:p>
          <a:p>
            <a:r>
              <a:rPr lang="en-US" sz="1800" dirty="0"/>
              <a:t>Need an easier equivalence test!</a:t>
            </a:r>
            <a:endParaRPr lang="en-US" sz="1800" b="1" dirty="0"/>
          </a:p>
          <a:p>
            <a:pPr lvl="1"/>
            <a:r>
              <a:rPr lang="en-US" sz="1600" dirty="0"/>
              <a:t>Settle for a “conservative” test: always true positives, but some false negatives</a:t>
            </a:r>
          </a:p>
          <a:p>
            <a:pPr lvl="1"/>
            <a:r>
              <a:rPr lang="en-US" sz="1600" dirty="0"/>
              <a:t>I.e. sacrifice some concurrency for easier correctness check</a:t>
            </a:r>
          </a:p>
          <a:p>
            <a:pPr>
              <a:spcBef>
                <a:spcPts val="2400"/>
              </a:spcBef>
            </a:pPr>
            <a:r>
              <a:rPr lang="en-US" sz="1800" b="1" dirty="0"/>
              <a:t>Use notion of “conflicting” operations (read/write)</a:t>
            </a:r>
          </a:p>
          <a:p>
            <a:pPr>
              <a:spcBef>
                <a:spcPts val="2400"/>
              </a:spcBef>
            </a:pPr>
            <a:r>
              <a:rPr lang="en-US" sz="1800" b="1" dirty="0"/>
              <a:t>Definition: Two operations conflict if they:</a:t>
            </a:r>
          </a:p>
          <a:p>
            <a:pPr lvl="1"/>
            <a:r>
              <a:rPr lang="en-US" dirty="0"/>
              <a:t>Are by different transactions,</a:t>
            </a:r>
          </a:p>
          <a:p>
            <a:pPr lvl="1"/>
            <a:r>
              <a:rPr lang="en-US" dirty="0"/>
              <a:t>Are on the same object,</a:t>
            </a:r>
          </a:p>
          <a:p>
            <a:pPr lvl="1"/>
            <a:r>
              <a:rPr lang="en-US" dirty="0"/>
              <a:t>At least one of them is a write.</a:t>
            </a:r>
          </a:p>
          <a:p>
            <a:endParaRPr lang="en-US" dirty="0"/>
          </a:p>
          <a:p>
            <a:r>
              <a:rPr lang="en-US" dirty="0"/>
              <a:t>The order of non-conflicting operations has no effect on </a:t>
            </a:r>
            <a:br>
              <a:rPr lang="en-US" dirty="0"/>
            </a:br>
            <a:r>
              <a:rPr lang="en-US" dirty="0"/>
              <a:t>the final state of the database!</a:t>
            </a:r>
          </a:p>
          <a:p>
            <a:pPr lvl="1"/>
            <a:r>
              <a:rPr lang="en-US" dirty="0"/>
              <a:t>Focus our attention on the order of conflicting operations</a:t>
            </a:r>
          </a:p>
        </p:txBody>
      </p:sp>
    </p:spTree>
    <p:extLst>
      <p:ext uri="{BB962C8B-B14F-4D97-AF65-F5344CB8AC3E}">
        <p14:creationId xmlns:p14="http://schemas.microsoft.com/office/powerpoint/2010/main" val="162407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Conflict Serializable Schedules</a:t>
            </a:r>
            <a:endParaRPr lang="en-US" dirty="0"/>
          </a:p>
        </p:txBody>
      </p:sp>
      <p:sp>
        <p:nvSpPr>
          <p:cNvPr id="3" name="Content Placeholder 2">
            <a:extLst>
              <a:ext uri="{FF2B5EF4-FFF2-40B4-BE49-F238E27FC236}">
                <a16:creationId xmlns:a16="http://schemas.microsoft.com/office/drawing/2014/main" id="{1B75F522-D28B-7842-9499-5BFA4F028D9D}"/>
              </a:ext>
            </a:extLst>
          </p:cNvPr>
          <p:cNvSpPr>
            <a:spLocks noGrp="1"/>
          </p:cNvSpPr>
          <p:nvPr>
            <p:ph idx="1"/>
          </p:nvPr>
        </p:nvSpPr>
        <p:spPr/>
        <p:txBody>
          <a:bodyPr/>
          <a:lstStyle/>
          <a:p>
            <a:r>
              <a:rPr lang="en-US" sz="1500" b="1" dirty="0">
                <a:ea typeface="Lucida Console" charset="0"/>
                <a:cs typeface="Lucida Console" charset="0"/>
              </a:rPr>
              <a:t>Definition: Two schedules are </a:t>
            </a:r>
            <a:r>
              <a:rPr lang="en-US" sz="1500" b="1" i="1" dirty="0">
                <a:ea typeface="Lucida Console" charset="0"/>
                <a:cs typeface="Lucida Console" charset="0"/>
              </a:rPr>
              <a:t>conflict equivalent </a:t>
            </a:r>
            <a:r>
              <a:rPr lang="en-US" sz="1500" b="1" dirty="0">
                <a:ea typeface="Lucida Console" charset="0"/>
                <a:cs typeface="Lucida Console" charset="0"/>
              </a:rPr>
              <a:t>if:</a:t>
            </a:r>
          </a:p>
          <a:p>
            <a:pPr lvl="1"/>
            <a:r>
              <a:rPr lang="en-US" sz="1350" dirty="0">
                <a:ea typeface="Lucida Console" charset="0"/>
                <a:cs typeface="Lucida Console" charset="0"/>
              </a:rPr>
              <a:t>They involve the same actions of the same transactions, and</a:t>
            </a:r>
          </a:p>
          <a:p>
            <a:pPr lvl="1"/>
            <a:r>
              <a:rPr lang="en-US" sz="1350" dirty="0">
                <a:ea typeface="Lucida Console" charset="0"/>
                <a:cs typeface="Lucida Console" charset="0"/>
              </a:rPr>
              <a:t>Every pair of conflicting actions is ordered the same way</a:t>
            </a:r>
          </a:p>
          <a:p>
            <a:pPr>
              <a:spcBef>
                <a:spcPts val="2000"/>
              </a:spcBef>
            </a:pPr>
            <a:r>
              <a:rPr lang="en-US" sz="1500" b="1" dirty="0">
                <a:ea typeface="Lucida Console" charset="0"/>
                <a:cs typeface="Lucida Console" charset="0"/>
              </a:rPr>
              <a:t>Definition: Schedule S is </a:t>
            </a:r>
            <a:r>
              <a:rPr lang="en-US" sz="1500" b="1" i="1" dirty="0">
                <a:ea typeface="Lucida Console" charset="0"/>
                <a:cs typeface="Lucida Console" charset="0"/>
              </a:rPr>
              <a:t>conflict serializable </a:t>
            </a:r>
            <a:r>
              <a:rPr lang="en-US" sz="1500" b="1" dirty="0">
                <a:ea typeface="Lucida Console" charset="0"/>
                <a:cs typeface="Lucida Console" charset="0"/>
              </a:rPr>
              <a:t>if:</a:t>
            </a:r>
          </a:p>
          <a:p>
            <a:pPr lvl="1"/>
            <a:r>
              <a:rPr lang="en-US" sz="1500" dirty="0">
                <a:ea typeface="Lucida Console" charset="0"/>
                <a:cs typeface="Lucida Console" charset="0"/>
              </a:rPr>
              <a:t>S is conflict equivalent to some serial schedule</a:t>
            </a:r>
          </a:p>
          <a:p>
            <a:pPr lvl="1"/>
            <a:r>
              <a:rPr lang="en-US" sz="1500" dirty="0">
                <a:ea typeface="Lucida Console" charset="0"/>
                <a:cs typeface="Lucida Console" charset="0"/>
              </a:rPr>
              <a:t>Implies S is also Serializable</a:t>
            </a:r>
          </a:p>
          <a:p>
            <a:pPr marL="0" indent="0">
              <a:spcBef>
                <a:spcPts val="2000"/>
              </a:spcBef>
              <a:buNone/>
            </a:pPr>
            <a:r>
              <a:rPr lang="en-US" sz="1500" b="1" dirty="0">
                <a:ea typeface="Lucida Console" charset="0"/>
                <a:cs typeface="Lucida Console" charset="0"/>
              </a:rPr>
              <a:t>Note: </a:t>
            </a:r>
            <a:r>
              <a:rPr lang="en-US" sz="1500" dirty="0">
                <a:ea typeface="Lucida Console" charset="0"/>
                <a:cs typeface="Lucida Console" charset="0"/>
              </a:rPr>
              <a:t>some serializable schedules are NOT conflict serializable</a:t>
            </a:r>
          </a:p>
          <a:p>
            <a:pPr lvl="1"/>
            <a:r>
              <a:rPr lang="en-US" sz="1500" dirty="0">
                <a:ea typeface="Lucida Console" charset="0"/>
                <a:cs typeface="Lucida Console" charset="0"/>
              </a:rPr>
              <a:t>Conflict </a:t>
            </a:r>
            <a:r>
              <a:rPr lang="en-US" sz="1500" dirty="0" err="1">
                <a:ea typeface="Lucida Console" charset="0"/>
                <a:cs typeface="Lucida Console" charset="0"/>
              </a:rPr>
              <a:t>serializability</a:t>
            </a:r>
            <a:r>
              <a:rPr lang="en-US" sz="1500" dirty="0">
                <a:ea typeface="Lucida Console" charset="0"/>
                <a:cs typeface="Lucida Console" charset="0"/>
              </a:rPr>
              <a:t> gives false negatives as a test for </a:t>
            </a:r>
            <a:br>
              <a:rPr lang="en-US" sz="1500" dirty="0">
                <a:ea typeface="Lucida Console" charset="0"/>
                <a:cs typeface="Lucida Console" charset="0"/>
              </a:rPr>
            </a:br>
            <a:r>
              <a:rPr lang="en-US" sz="1500" dirty="0" err="1">
                <a:ea typeface="Lucida Console" charset="0"/>
                <a:cs typeface="Lucida Console" charset="0"/>
              </a:rPr>
              <a:t>serializability</a:t>
            </a:r>
            <a:r>
              <a:rPr lang="en-US" sz="1500" dirty="0">
                <a:ea typeface="Lucida Console" charset="0"/>
                <a:cs typeface="Lucida Console" charset="0"/>
              </a:rPr>
              <a:t>!</a:t>
            </a:r>
          </a:p>
          <a:p>
            <a:pPr lvl="1"/>
            <a:r>
              <a:rPr lang="en-US" sz="1500" dirty="0">
                <a:ea typeface="Lucida Console" charset="0"/>
                <a:cs typeface="Lucida Console" charset="0"/>
              </a:rPr>
              <a:t>The cost of a conservative test</a:t>
            </a:r>
          </a:p>
          <a:p>
            <a:pPr lvl="1"/>
            <a:r>
              <a:rPr lang="en-US" sz="1500" dirty="0">
                <a:ea typeface="Lucida Console" charset="0"/>
                <a:cs typeface="Lucida Console" charset="0"/>
              </a:rPr>
              <a:t>A price we pay to achieve efficient enforcement</a:t>
            </a:r>
          </a:p>
        </p:txBody>
      </p:sp>
    </p:spTree>
    <p:extLst>
      <p:ext uri="{BB962C8B-B14F-4D97-AF65-F5344CB8AC3E}">
        <p14:creationId xmlns:p14="http://schemas.microsoft.com/office/powerpoint/2010/main" val="122896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Conflict Serializability - Intuition</a:t>
            </a:r>
            <a:endParaRPr lang="en-US" dirty="0"/>
          </a:p>
        </p:txBody>
      </p:sp>
      <p:sp>
        <p:nvSpPr>
          <p:cNvPr id="3" name="Content Placeholder 2">
            <a:extLst>
              <a:ext uri="{FF2B5EF4-FFF2-40B4-BE49-F238E27FC236}">
                <a16:creationId xmlns:a16="http://schemas.microsoft.com/office/drawing/2014/main" id="{10040FC8-6315-7740-ABFE-A5F186F883B7}"/>
              </a:ext>
            </a:extLst>
          </p:cNvPr>
          <p:cNvSpPr>
            <a:spLocks noGrp="1"/>
          </p:cNvSpPr>
          <p:nvPr>
            <p:ph idx="1"/>
          </p:nvPr>
        </p:nvSpPr>
        <p:spPr>
          <a:xfrm>
            <a:off x="457200" y="1200151"/>
            <a:ext cx="8229600" cy="3394472"/>
          </a:xfrm>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11" name="Rectangle 10" descr="T1: R(A)&#10;T1: W(A)&#10;T2: R(A)&#10;T2: W(A)&#10;T1: R(B)&#10;T1: W(B)&#10;T2: R(B)&#10;T2: W(B)" title="Transactions"/>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34" name="Group 49" descr="T1: R(A)&#10;T1: W(A)&#10;T2: R(A)&#10;T2: W(A)&#10;T1: R(B)&#10;T1: W(B)&#10;T2: R(B)&#10;T2: W(B)" title="Transactions"/>
          <p:cNvGrpSpPr>
            <a:grpSpLocks/>
          </p:cNvGrpSpPr>
          <p:nvPr/>
        </p:nvGrpSpPr>
        <p:grpSpPr bwMode="auto">
          <a:xfrm>
            <a:off x="152400" y="2571752"/>
            <a:ext cx="6627012" cy="984648"/>
            <a:chOff x="144" y="2160"/>
            <a:chExt cx="5566" cy="827"/>
          </a:xfrm>
        </p:grpSpPr>
        <p:sp>
          <p:nvSpPr>
            <p:cNvPr id="35" name="Text Box 29"/>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36" name="Text Box 30"/>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37" name="Text Box 31"/>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38" name="Text Box 32"/>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39" name="Text Box 33"/>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40" name="Text Box 34"/>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41" name="Text Box 35"/>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42" name="Text Box 36"/>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46" name="Text Box 29" descr="T1: R(A)&#10;T1: W(A)&#10;T2: R(A)&#10;T2: W(A)&#10;T1: R(B)&#10;T1: W(B)&#10;T2: R(B)&#10;T2: W(B)" title="Transactions"/>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7" name="Text Box 30" descr="T1: R(A)&#10;T1: W(A)&#10;T2: R(A)&#10;T2: W(A)&#10;T1: R(B)&#10;T1: W(B)&#10;T2: R(B)&#10;T2: W(B)" title="Transactions"/>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8" name="Text Box 31" descr="T1: R(A)&#10;T1: W(A)&#10;T2: R(A)&#10;T2: W(A)&#10;T1: R(B)&#10;T1: W(B)&#10;T2: R(B)&#10;T2: W(B)" title="Transactions"/>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49" name="Text Box 32" descr="T1: R(A)&#10;T1: W(A)&#10;T2: R(A)&#10;T2: W(A)&#10;T1: R(B)&#10;T1: W(B)&#10;T2: R(B)&#10;T2: W(B)" title="Transactions"/>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0" name="Text Box 33" descr="T1: R(A)&#10;T1: W(A)&#10;T2: R(A)&#10;T2: W(A)&#10;T1: R(B)&#10;T1: W(B)&#10;T2: R(B)&#10;T2: W(B)" title="Transactions"/>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1" name="Text Box 34" descr="T1: R(A)&#10;T1: W(A)&#10;T2: R(A)&#10;T2: W(A)&#10;T1: R(B)&#10;T1: W(B)&#10;T2: R(B)&#10;T2: W(B)" title="Transactions"/>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52" name="Text Box 35" descr="T1: R(A)&#10;T1: W(A)&#10;T2: R(A)&#10;T2: W(A)&#10;T1: R(B)&#10;T1: W(B)&#10;T2: R(B)&#10;T2: W(B)" title="Transactions"/>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53" name="Text Box 36" descr="T1: R(A)&#10;T1: W(A)&#10;T2: R(A)&#10;T2: W(A)&#10;T1: R(B)&#10;T1: W(B)&#10;T2: R(B)&#10;T2: W(B)" title="Transactions"/>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113883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Serializability – Intuition, Part 2</a:t>
            </a:r>
          </a:p>
        </p:txBody>
      </p:sp>
      <p:sp>
        <p:nvSpPr>
          <p:cNvPr id="3" name="Content Placeholder 2">
            <a:extLst>
              <a:ext uri="{FF2B5EF4-FFF2-40B4-BE49-F238E27FC236}">
                <a16:creationId xmlns:a16="http://schemas.microsoft.com/office/drawing/2014/main" id="{38FF8F4F-8A68-6742-8506-2573853F5DA6}"/>
              </a:ext>
            </a:extLst>
          </p:cNvPr>
          <p:cNvSpPr>
            <a:spLocks noGrp="1"/>
          </p:cNvSpPr>
          <p:nvPr>
            <p:ph idx="1"/>
          </p:nvPr>
        </p:nvSpPr>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46" name="Text Box 29" descr="T1: Read A" title="First Step"/>
          <p:cNvSpPr txBox="1">
            <a:spLocks noChangeArrowheads="1"/>
          </p:cNvSpPr>
          <p:nvPr/>
        </p:nvSpPr>
        <p:spPr bwMode="auto">
          <a:xfrm>
            <a:off x="0" y="390048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7" name="Text Box 30" descr="T1: Write B" title="Fifth Step:"/>
          <p:cNvSpPr txBox="1">
            <a:spLocks noChangeArrowheads="1"/>
          </p:cNvSpPr>
          <p:nvPr/>
        </p:nvSpPr>
        <p:spPr bwMode="auto">
          <a:xfrm>
            <a:off x="3200400" y="390048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R(B)</a:t>
            </a:r>
          </a:p>
        </p:txBody>
      </p:sp>
      <p:sp>
        <p:nvSpPr>
          <p:cNvPr id="48" name="Text Box 31" descr="T1: Write A" title="Second Step"/>
          <p:cNvSpPr txBox="1">
            <a:spLocks noChangeArrowheads="1"/>
          </p:cNvSpPr>
          <p:nvPr/>
        </p:nvSpPr>
        <p:spPr bwMode="auto">
          <a:xfrm>
            <a:off x="852487" y="3914776"/>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49" name="Text Box 32" descr="T2: Write B" title="Sixth Step: "/>
          <p:cNvSpPr txBox="1">
            <a:spLocks noChangeArrowheads="1"/>
          </p:cNvSpPr>
          <p:nvPr/>
        </p:nvSpPr>
        <p:spPr bwMode="auto">
          <a:xfrm>
            <a:off x="3938587" y="3910013"/>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W(B)</a:t>
            </a:r>
          </a:p>
        </p:txBody>
      </p:sp>
      <p:sp>
        <p:nvSpPr>
          <p:cNvPr id="50" name="Text Box 33" descr="T2: Read A" title="Third Step"/>
          <p:cNvSpPr txBox="1">
            <a:spLocks noChangeArrowheads="1"/>
          </p:cNvSpPr>
          <p:nvPr/>
        </p:nvSpPr>
        <p:spPr bwMode="auto">
          <a:xfrm>
            <a:off x="1657350" y="430053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1" name="Text Box 34" descr="T2: Write " title="Fourth Step"/>
          <p:cNvSpPr txBox="1">
            <a:spLocks noChangeArrowheads="1"/>
          </p:cNvSpPr>
          <p:nvPr/>
        </p:nvSpPr>
        <p:spPr bwMode="auto">
          <a:xfrm>
            <a:off x="2457450" y="431958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52" name="Text Box 35" descr="T2: Write B" title="Seventh Step"/>
          <p:cNvSpPr txBox="1">
            <a:spLocks noChangeArrowheads="1"/>
          </p:cNvSpPr>
          <p:nvPr/>
        </p:nvSpPr>
        <p:spPr bwMode="auto">
          <a:xfrm>
            <a:off x="4910137" y="437673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53" name="Text Box 36" title="Eighth Step"/>
          <p:cNvSpPr txBox="1">
            <a:spLocks noChangeArrowheads="1"/>
          </p:cNvSpPr>
          <p:nvPr/>
        </p:nvSpPr>
        <p:spPr bwMode="auto">
          <a:xfrm>
            <a:off x="5653087" y="43719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W(B)</a:t>
            </a:r>
          </a:p>
        </p:txBody>
      </p:sp>
      <p:sp>
        <p:nvSpPr>
          <p:cNvPr id="24" name="Rectangle 23" descr="T1: R(A)&#10;T1: W(A)&#10;T2: R(A)&#10;T2: W(A)&#10;T1: R(B)&#10;T1: W(B)&#10;T2: R(B)&#10;T2: W(B)" title="Transactions">
            <a:extLst>
              <a:ext uri="{FF2B5EF4-FFF2-40B4-BE49-F238E27FC236}">
                <a16:creationId xmlns:a16="http://schemas.microsoft.com/office/drawing/2014/main" id="{3DA9352B-C3C2-4B42-8925-172BD2023923}"/>
              </a:ext>
            </a:extLst>
          </p:cNvPr>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25" name="Group 49" descr="T1: R(A)&#10;T1: W(A)&#10;T2: R(A)&#10;T2: W(A)&#10;T1: R(B)&#10;T1: W(B)&#10;T2: R(B)&#10;T2: W(B)" title="Transactions">
            <a:extLst>
              <a:ext uri="{FF2B5EF4-FFF2-40B4-BE49-F238E27FC236}">
                <a16:creationId xmlns:a16="http://schemas.microsoft.com/office/drawing/2014/main" id="{72C227CB-5485-B24D-B7CA-5A55EDFEE7F3}"/>
              </a:ext>
            </a:extLst>
          </p:cNvPr>
          <p:cNvGrpSpPr>
            <a:grpSpLocks/>
          </p:cNvGrpSpPr>
          <p:nvPr/>
        </p:nvGrpSpPr>
        <p:grpSpPr bwMode="auto">
          <a:xfrm>
            <a:off x="152400" y="2571750"/>
            <a:ext cx="6627019" cy="984647"/>
            <a:chOff x="144" y="2160"/>
            <a:chExt cx="5566" cy="827"/>
          </a:xfrm>
        </p:grpSpPr>
        <p:sp>
          <p:nvSpPr>
            <p:cNvPr id="26" name="Text Box 29">
              <a:extLst>
                <a:ext uri="{FF2B5EF4-FFF2-40B4-BE49-F238E27FC236}">
                  <a16:creationId xmlns:a16="http://schemas.microsoft.com/office/drawing/2014/main" id="{BF4EE0D2-52B1-764C-985A-E089907985DD}"/>
                </a:ext>
              </a:extLst>
            </p:cNvPr>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27" name="Text Box 30">
              <a:extLst>
                <a:ext uri="{FF2B5EF4-FFF2-40B4-BE49-F238E27FC236}">
                  <a16:creationId xmlns:a16="http://schemas.microsoft.com/office/drawing/2014/main" id="{551D15C5-0FEB-B644-BDC9-20C2F4ADE225}"/>
                </a:ext>
              </a:extLst>
            </p:cNvPr>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28" name="Text Box 31">
              <a:extLst>
                <a:ext uri="{FF2B5EF4-FFF2-40B4-BE49-F238E27FC236}">
                  <a16:creationId xmlns:a16="http://schemas.microsoft.com/office/drawing/2014/main" id="{05CA9D7D-8E52-2448-98C1-1197AA024059}"/>
                </a:ext>
              </a:extLst>
            </p:cNvPr>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29" name="Text Box 32">
              <a:extLst>
                <a:ext uri="{FF2B5EF4-FFF2-40B4-BE49-F238E27FC236}">
                  <a16:creationId xmlns:a16="http://schemas.microsoft.com/office/drawing/2014/main" id="{D5D417A9-2700-C84F-9347-446E2A1BD357}"/>
                </a:ext>
              </a:extLst>
            </p:cNvPr>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30" name="Text Box 33">
              <a:extLst>
                <a:ext uri="{FF2B5EF4-FFF2-40B4-BE49-F238E27FC236}">
                  <a16:creationId xmlns:a16="http://schemas.microsoft.com/office/drawing/2014/main" id="{4990FF59-97AE-324E-8E70-343BD334424D}"/>
                </a:ext>
              </a:extLst>
            </p:cNvPr>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31" name="Text Box 34">
              <a:extLst>
                <a:ext uri="{FF2B5EF4-FFF2-40B4-BE49-F238E27FC236}">
                  <a16:creationId xmlns:a16="http://schemas.microsoft.com/office/drawing/2014/main" id="{AD55A0E2-A627-0E4C-B443-7097CE3C8524}"/>
                </a:ext>
              </a:extLst>
            </p:cNvPr>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32" name="Text Box 35">
              <a:extLst>
                <a:ext uri="{FF2B5EF4-FFF2-40B4-BE49-F238E27FC236}">
                  <a16:creationId xmlns:a16="http://schemas.microsoft.com/office/drawing/2014/main" id="{2CD5AC24-A4D6-BD46-AF3D-84ADBF5F27DB}"/>
                </a:ext>
              </a:extLst>
            </p:cNvPr>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33" name="Text Box 36">
              <a:extLst>
                <a:ext uri="{FF2B5EF4-FFF2-40B4-BE49-F238E27FC236}">
                  <a16:creationId xmlns:a16="http://schemas.microsoft.com/office/drawing/2014/main" id="{86C53734-6528-8B4D-8DD3-050C17618FCC}"/>
                </a:ext>
              </a:extLst>
            </p:cNvPr>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43" name="Text Box 29" descr="T1: R(A)&#10;T1: W(A)&#10;T2: R(A)&#10;T2: W(A)&#10;T1: R(B)&#10;T1: W(B)&#10;T2: R(B)&#10;T2: W(B)" title="Transactions">
            <a:extLst>
              <a:ext uri="{FF2B5EF4-FFF2-40B4-BE49-F238E27FC236}">
                <a16:creationId xmlns:a16="http://schemas.microsoft.com/office/drawing/2014/main" id="{CCF42A87-6FD8-534B-B933-FB82DB393446}"/>
              </a:ext>
            </a:extLst>
          </p:cNvPr>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4" name="Text Box 30" descr="T1: R(A)&#10;T1: W(A)&#10;T2: R(A)&#10;T2: W(A)&#10;T1: R(B)&#10;T1: W(B)&#10;T2: R(B)&#10;T2: W(B)" title="Transactions">
            <a:extLst>
              <a:ext uri="{FF2B5EF4-FFF2-40B4-BE49-F238E27FC236}">
                <a16:creationId xmlns:a16="http://schemas.microsoft.com/office/drawing/2014/main" id="{5001BC49-A9E2-CC4A-90B0-1BDECD5C1BB0}"/>
              </a:ext>
            </a:extLst>
          </p:cNvPr>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5" name="Text Box 31" descr="T1: R(A)&#10;T1: W(A)&#10;T2: R(A)&#10;T2: W(A)&#10;T1: R(B)&#10;T1: W(B)&#10;T2: R(B)&#10;T2: W(B)" title="Transactions">
            <a:extLst>
              <a:ext uri="{FF2B5EF4-FFF2-40B4-BE49-F238E27FC236}">
                <a16:creationId xmlns:a16="http://schemas.microsoft.com/office/drawing/2014/main" id="{A14D95AB-0F85-9348-9A8D-28640CFDBF5C}"/>
              </a:ext>
            </a:extLst>
          </p:cNvPr>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54" name="Text Box 32" descr="T1: R(A)&#10;T1: W(A)&#10;T2: R(A)&#10;T2: W(A)&#10;T1: R(B)&#10;T1: W(B)&#10;T2: R(B)&#10;T2: W(B)" title="Transactions">
            <a:extLst>
              <a:ext uri="{FF2B5EF4-FFF2-40B4-BE49-F238E27FC236}">
                <a16:creationId xmlns:a16="http://schemas.microsoft.com/office/drawing/2014/main" id="{32D83D6A-9844-5A4E-B36B-73D44110F4E3}"/>
              </a:ext>
            </a:extLst>
          </p:cNvPr>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5" name="Text Box 33" descr="T1: R(A)&#10;T1: W(A)&#10;T2: R(A)&#10;T2: W(A)&#10;T1: R(B)&#10;T1: W(B)&#10;T2: R(B)&#10;T2: W(B)" title="Transactions">
            <a:extLst>
              <a:ext uri="{FF2B5EF4-FFF2-40B4-BE49-F238E27FC236}">
                <a16:creationId xmlns:a16="http://schemas.microsoft.com/office/drawing/2014/main" id="{4CC03CA9-41AD-604F-A111-A72D9EE98A90}"/>
              </a:ext>
            </a:extLst>
          </p:cNvPr>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6" name="Text Box 34" descr="T1: R(A)&#10;T1: W(A)&#10;T2: R(A)&#10;T2: W(A)&#10;T1: R(B)&#10;T1: W(B)&#10;T2: R(B)&#10;T2: W(B)" title="Transactions">
            <a:extLst>
              <a:ext uri="{FF2B5EF4-FFF2-40B4-BE49-F238E27FC236}">
                <a16:creationId xmlns:a16="http://schemas.microsoft.com/office/drawing/2014/main" id="{D24E9DFD-8CFD-4B4A-8FF0-51F78F279702}"/>
              </a:ext>
            </a:extLst>
          </p:cNvPr>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57" name="Text Box 35" descr="T1: R(A)&#10;T1: W(A)&#10;T2: R(A)&#10;T2: W(A)&#10;T1: R(B)&#10;T1: W(B)&#10;T2: R(B)&#10;T2: W(B)" title="Transactions">
            <a:extLst>
              <a:ext uri="{FF2B5EF4-FFF2-40B4-BE49-F238E27FC236}">
                <a16:creationId xmlns:a16="http://schemas.microsoft.com/office/drawing/2014/main" id="{45AB17A9-D560-5445-8E18-6BD13C5AFA19}"/>
              </a:ext>
            </a:extLst>
          </p:cNvPr>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58" name="Text Box 36" descr="T1: R(A)&#10;T1: W(A)&#10;T2: R(A)&#10;T2: W(A)&#10;T1: R(B)&#10;T1: W(B)&#10;T2: R(B)&#10;T2: W(B)" title="Transactions">
            <a:extLst>
              <a:ext uri="{FF2B5EF4-FFF2-40B4-BE49-F238E27FC236}">
                <a16:creationId xmlns:a16="http://schemas.microsoft.com/office/drawing/2014/main" id="{5A485EA3-1995-8C48-9D57-D4CAC5D5AFEC}"/>
              </a:ext>
            </a:extLst>
          </p:cNvPr>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691266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Serializability – Intuition, Part 3</a:t>
            </a:r>
          </a:p>
        </p:txBody>
      </p:sp>
      <p:sp>
        <p:nvSpPr>
          <p:cNvPr id="3" name="Content Placeholder 2">
            <a:extLst>
              <a:ext uri="{FF2B5EF4-FFF2-40B4-BE49-F238E27FC236}">
                <a16:creationId xmlns:a16="http://schemas.microsoft.com/office/drawing/2014/main" id="{338A080C-F71E-6548-B100-6539FB1DC2BF}"/>
              </a:ext>
            </a:extLst>
          </p:cNvPr>
          <p:cNvSpPr>
            <a:spLocks noGrp="1"/>
          </p:cNvSpPr>
          <p:nvPr>
            <p:ph idx="1"/>
          </p:nvPr>
        </p:nvSpPr>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24" name="Text Box 29" descr="T1: Read A" title="First Step">
            <a:extLst>
              <a:ext uri="{FF2B5EF4-FFF2-40B4-BE49-F238E27FC236}">
                <a16:creationId xmlns:a16="http://schemas.microsoft.com/office/drawing/2014/main" id="{A66FE061-B339-394F-BAAD-2643B6CE50E1}"/>
              </a:ext>
            </a:extLst>
          </p:cNvPr>
          <p:cNvSpPr txBox="1">
            <a:spLocks noChangeArrowheads="1"/>
          </p:cNvSpPr>
          <p:nvPr/>
        </p:nvSpPr>
        <p:spPr bwMode="auto">
          <a:xfrm>
            <a:off x="0" y="390048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25" name="Text Box 30" descr="T1: Write B" title="Fourth Step:">
            <a:extLst>
              <a:ext uri="{FF2B5EF4-FFF2-40B4-BE49-F238E27FC236}">
                <a16:creationId xmlns:a16="http://schemas.microsoft.com/office/drawing/2014/main" id="{703C132B-B4F3-0049-9C52-20C675F15D7D}"/>
              </a:ext>
            </a:extLst>
          </p:cNvPr>
          <p:cNvSpPr txBox="1">
            <a:spLocks noChangeArrowheads="1"/>
          </p:cNvSpPr>
          <p:nvPr/>
        </p:nvSpPr>
        <p:spPr bwMode="auto">
          <a:xfrm>
            <a:off x="2514600" y="390048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R(B)</a:t>
            </a:r>
          </a:p>
        </p:txBody>
      </p:sp>
      <p:sp>
        <p:nvSpPr>
          <p:cNvPr id="26" name="Text Box 31" descr="T1: Write A" title="Second Step">
            <a:extLst>
              <a:ext uri="{FF2B5EF4-FFF2-40B4-BE49-F238E27FC236}">
                <a16:creationId xmlns:a16="http://schemas.microsoft.com/office/drawing/2014/main" id="{72CDAECA-558F-3948-AC17-41AF7A5A2AD0}"/>
              </a:ext>
            </a:extLst>
          </p:cNvPr>
          <p:cNvSpPr txBox="1">
            <a:spLocks noChangeArrowheads="1"/>
          </p:cNvSpPr>
          <p:nvPr/>
        </p:nvSpPr>
        <p:spPr bwMode="auto">
          <a:xfrm>
            <a:off x="852487" y="3914776"/>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27" name="Text Box 32" descr="T2: Write B" title="Sixth Step: ">
            <a:extLst>
              <a:ext uri="{FF2B5EF4-FFF2-40B4-BE49-F238E27FC236}">
                <a16:creationId xmlns:a16="http://schemas.microsoft.com/office/drawing/2014/main" id="{5D3501C7-FDF8-CA49-B41B-8DDF71454986}"/>
              </a:ext>
            </a:extLst>
          </p:cNvPr>
          <p:cNvSpPr txBox="1">
            <a:spLocks noChangeArrowheads="1"/>
          </p:cNvSpPr>
          <p:nvPr/>
        </p:nvSpPr>
        <p:spPr bwMode="auto">
          <a:xfrm>
            <a:off x="3938587" y="3910013"/>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W(B)</a:t>
            </a:r>
          </a:p>
        </p:txBody>
      </p:sp>
      <p:sp>
        <p:nvSpPr>
          <p:cNvPr id="28" name="Text Box 33" descr="T2: Read A" title="Third Step">
            <a:extLst>
              <a:ext uri="{FF2B5EF4-FFF2-40B4-BE49-F238E27FC236}">
                <a16:creationId xmlns:a16="http://schemas.microsoft.com/office/drawing/2014/main" id="{88FC4824-4BAB-4049-BAD8-27826492B050}"/>
              </a:ext>
            </a:extLst>
          </p:cNvPr>
          <p:cNvSpPr txBox="1">
            <a:spLocks noChangeArrowheads="1"/>
          </p:cNvSpPr>
          <p:nvPr/>
        </p:nvSpPr>
        <p:spPr bwMode="auto">
          <a:xfrm>
            <a:off x="1657350" y="430053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29" name="Text Box 34" descr="T2: Write " title="Fifth Step">
            <a:extLst>
              <a:ext uri="{FF2B5EF4-FFF2-40B4-BE49-F238E27FC236}">
                <a16:creationId xmlns:a16="http://schemas.microsoft.com/office/drawing/2014/main" id="{BAD249E5-7095-5047-A09C-E3C275DBFB16}"/>
              </a:ext>
            </a:extLst>
          </p:cNvPr>
          <p:cNvSpPr txBox="1">
            <a:spLocks noChangeArrowheads="1"/>
          </p:cNvSpPr>
          <p:nvPr/>
        </p:nvSpPr>
        <p:spPr bwMode="auto">
          <a:xfrm>
            <a:off x="3236149" y="431958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30" name="Text Box 35" descr="T2: Write B" title="Seventh Step">
            <a:extLst>
              <a:ext uri="{FF2B5EF4-FFF2-40B4-BE49-F238E27FC236}">
                <a16:creationId xmlns:a16="http://schemas.microsoft.com/office/drawing/2014/main" id="{E4811327-C0AB-9248-9FC9-AD7190251502}"/>
              </a:ext>
            </a:extLst>
          </p:cNvPr>
          <p:cNvSpPr txBox="1">
            <a:spLocks noChangeArrowheads="1"/>
          </p:cNvSpPr>
          <p:nvPr/>
        </p:nvSpPr>
        <p:spPr bwMode="auto">
          <a:xfrm>
            <a:off x="4910137" y="437673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31" name="Text Box 36" title="Eighth Step">
            <a:extLst>
              <a:ext uri="{FF2B5EF4-FFF2-40B4-BE49-F238E27FC236}">
                <a16:creationId xmlns:a16="http://schemas.microsoft.com/office/drawing/2014/main" id="{7CF55136-80C9-A34D-8D1D-24CC44B05730}"/>
              </a:ext>
            </a:extLst>
          </p:cNvPr>
          <p:cNvSpPr txBox="1">
            <a:spLocks noChangeArrowheads="1"/>
          </p:cNvSpPr>
          <p:nvPr/>
        </p:nvSpPr>
        <p:spPr bwMode="auto">
          <a:xfrm>
            <a:off x="5653087" y="43719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W(B)</a:t>
            </a:r>
          </a:p>
        </p:txBody>
      </p:sp>
      <p:sp>
        <p:nvSpPr>
          <p:cNvPr id="32" name="Rectangle 31" descr="T1: R(A)&#10;T1: W(A)&#10;T2: R(A)&#10;T2: W(A)&#10;T1: R(B)&#10;T1: W(B)&#10;T2: R(B)&#10;T2: W(B)" title="Transactions">
            <a:extLst>
              <a:ext uri="{FF2B5EF4-FFF2-40B4-BE49-F238E27FC236}">
                <a16:creationId xmlns:a16="http://schemas.microsoft.com/office/drawing/2014/main" id="{669A2182-3F6A-2142-BAA7-71C0EB105D84}"/>
              </a:ext>
            </a:extLst>
          </p:cNvPr>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33" name="Group 49" descr="T1: R(A)&#10;T1: W(A)&#10;T2: R(A)&#10;T2: W(A)&#10;T1: R(B)&#10;T1: W(B)&#10;T2: R(B)&#10;T2: W(B)" title="Transactions">
            <a:extLst>
              <a:ext uri="{FF2B5EF4-FFF2-40B4-BE49-F238E27FC236}">
                <a16:creationId xmlns:a16="http://schemas.microsoft.com/office/drawing/2014/main" id="{D8282F33-1C6C-4847-8D0C-02508C241B40}"/>
              </a:ext>
            </a:extLst>
          </p:cNvPr>
          <p:cNvGrpSpPr>
            <a:grpSpLocks/>
          </p:cNvGrpSpPr>
          <p:nvPr/>
        </p:nvGrpSpPr>
        <p:grpSpPr bwMode="auto">
          <a:xfrm>
            <a:off x="152400" y="2571750"/>
            <a:ext cx="6627019" cy="984647"/>
            <a:chOff x="144" y="2160"/>
            <a:chExt cx="5566" cy="827"/>
          </a:xfrm>
        </p:grpSpPr>
        <p:sp>
          <p:nvSpPr>
            <p:cNvPr id="43" name="Text Box 29">
              <a:extLst>
                <a:ext uri="{FF2B5EF4-FFF2-40B4-BE49-F238E27FC236}">
                  <a16:creationId xmlns:a16="http://schemas.microsoft.com/office/drawing/2014/main" id="{630C76FD-6112-BA40-8805-9D16127E1BF3}"/>
                </a:ext>
              </a:extLst>
            </p:cNvPr>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4" name="Text Box 30">
              <a:extLst>
                <a:ext uri="{FF2B5EF4-FFF2-40B4-BE49-F238E27FC236}">
                  <a16:creationId xmlns:a16="http://schemas.microsoft.com/office/drawing/2014/main" id="{70B9243B-ADB1-364B-97F0-C7A990A04D52}"/>
                </a:ext>
              </a:extLst>
            </p:cNvPr>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5" name="Text Box 31">
              <a:extLst>
                <a:ext uri="{FF2B5EF4-FFF2-40B4-BE49-F238E27FC236}">
                  <a16:creationId xmlns:a16="http://schemas.microsoft.com/office/drawing/2014/main" id="{5BBD110B-FF1B-864C-A0E8-AFDEB8BAFC5C}"/>
                </a:ext>
              </a:extLst>
            </p:cNvPr>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54" name="Text Box 32">
              <a:extLst>
                <a:ext uri="{FF2B5EF4-FFF2-40B4-BE49-F238E27FC236}">
                  <a16:creationId xmlns:a16="http://schemas.microsoft.com/office/drawing/2014/main" id="{910AF0E9-3DBB-3042-A814-BAFAAADA7177}"/>
                </a:ext>
              </a:extLst>
            </p:cNvPr>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5" name="Text Box 33">
              <a:extLst>
                <a:ext uri="{FF2B5EF4-FFF2-40B4-BE49-F238E27FC236}">
                  <a16:creationId xmlns:a16="http://schemas.microsoft.com/office/drawing/2014/main" id="{F09A2400-792E-2B4E-A6B2-D82CD0AAEC28}"/>
                </a:ext>
              </a:extLst>
            </p:cNvPr>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6" name="Text Box 34">
              <a:extLst>
                <a:ext uri="{FF2B5EF4-FFF2-40B4-BE49-F238E27FC236}">
                  <a16:creationId xmlns:a16="http://schemas.microsoft.com/office/drawing/2014/main" id="{B3043CFA-4B65-1646-A002-BB98694AB97E}"/>
                </a:ext>
              </a:extLst>
            </p:cNvPr>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57" name="Text Box 35">
              <a:extLst>
                <a:ext uri="{FF2B5EF4-FFF2-40B4-BE49-F238E27FC236}">
                  <a16:creationId xmlns:a16="http://schemas.microsoft.com/office/drawing/2014/main" id="{EA7FBA7A-D02F-364C-8C38-10434B2CF189}"/>
                </a:ext>
              </a:extLst>
            </p:cNvPr>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58" name="Text Box 36">
              <a:extLst>
                <a:ext uri="{FF2B5EF4-FFF2-40B4-BE49-F238E27FC236}">
                  <a16:creationId xmlns:a16="http://schemas.microsoft.com/office/drawing/2014/main" id="{35AB8BBD-7366-9544-BE02-30A64DF1CDE9}"/>
                </a:ext>
              </a:extLst>
            </p:cNvPr>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59" name="Text Box 29" descr="T1: R(A)&#10;T1: W(A)&#10;T2: R(A)&#10;T2: W(A)&#10;T1: R(B)&#10;T1: W(B)&#10;T2: R(B)&#10;T2: W(B)" title="Transactions">
            <a:extLst>
              <a:ext uri="{FF2B5EF4-FFF2-40B4-BE49-F238E27FC236}">
                <a16:creationId xmlns:a16="http://schemas.microsoft.com/office/drawing/2014/main" id="{7F47B424-EE8A-2D41-B8E5-BDE02023EFD1}"/>
              </a:ext>
            </a:extLst>
          </p:cNvPr>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60" name="Text Box 30" descr="T1: R(A)&#10;T1: W(A)&#10;T2: R(A)&#10;T2: W(A)&#10;T1: R(B)&#10;T1: W(B)&#10;T2: R(B)&#10;T2: W(B)" title="Transactions">
            <a:extLst>
              <a:ext uri="{FF2B5EF4-FFF2-40B4-BE49-F238E27FC236}">
                <a16:creationId xmlns:a16="http://schemas.microsoft.com/office/drawing/2014/main" id="{567315B8-DCE5-134F-89E5-7ADABA3A8AB1}"/>
              </a:ext>
            </a:extLst>
          </p:cNvPr>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61" name="Text Box 31" descr="T1: R(A)&#10;T1: W(A)&#10;T2: R(A)&#10;T2: W(A)&#10;T1: R(B)&#10;T1: W(B)&#10;T2: R(B)&#10;T2: W(B)" title="Transactions">
            <a:extLst>
              <a:ext uri="{FF2B5EF4-FFF2-40B4-BE49-F238E27FC236}">
                <a16:creationId xmlns:a16="http://schemas.microsoft.com/office/drawing/2014/main" id="{1D1C087D-7374-0D43-A477-8D48A592D27F}"/>
              </a:ext>
            </a:extLst>
          </p:cNvPr>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62" name="Text Box 32" descr="T1: R(A)&#10;T1: W(A)&#10;T2: R(A)&#10;T2: W(A)&#10;T1: R(B)&#10;T1: W(B)&#10;T2: R(B)&#10;T2: W(B)" title="Transactions">
            <a:extLst>
              <a:ext uri="{FF2B5EF4-FFF2-40B4-BE49-F238E27FC236}">
                <a16:creationId xmlns:a16="http://schemas.microsoft.com/office/drawing/2014/main" id="{680B5DC6-6E9D-7742-8626-F192A248EC7A}"/>
              </a:ext>
            </a:extLst>
          </p:cNvPr>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63" name="Text Box 33" descr="T1: R(A)&#10;T1: W(A)&#10;T2: R(A)&#10;T2: W(A)&#10;T1: R(B)&#10;T1: W(B)&#10;T2: R(B)&#10;T2: W(B)" title="Transactions">
            <a:extLst>
              <a:ext uri="{FF2B5EF4-FFF2-40B4-BE49-F238E27FC236}">
                <a16:creationId xmlns:a16="http://schemas.microsoft.com/office/drawing/2014/main" id="{4A995C25-2304-F44D-A135-DDE2DB2A6147}"/>
              </a:ext>
            </a:extLst>
          </p:cNvPr>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65" name="Text Box 34" descr="T1: R(A)&#10;T1: W(A)&#10;T2: R(A)&#10;T2: W(A)&#10;T1: R(B)&#10;T1: W(B)&#10;T2: R(B)&#10;T2: W(B)" title="Transactions">
            <a:extLst>
              <a:ext uri="{FF2B5EF4-FFF2-40B4-BE49-F238E27FC236}">
                <a16:creationId xmlns:a16="http://schemas.microsoft.com/office/drawing/2014/main" id="{DD7E712D-6B2D-004C-8125-6894E25BFFE0}"/>
              </a:ext>
            </a:extLst>
          </p:cNvPr>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66" name="Text Box 35" descr="T1: R(A)&#10;T1: W(A)&#10;T2: R(A)&#10;T2: W(A)&#10;T1: R(B)&#10;T1: W(B)&#10;T2: R(B)&#10;T2: W(B)" title="Transactions">
            <a:extLst>
              <a:ext uri="{FF2B5EF4-FFF2-40B4-BE49-F238E27FC236}">
                <a16:creationId xmlns:a16="http://schemas.microsoft.com/office/drawing/2014/main" id="{FE2376E9-3944-2343-B778-CE045870BA8D}"/>
              </a:ext>
            </a:extLst>
          </p:cNvPr>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67" name="Text Box 36" descr="T1: R(A)&#10;T1: W(A)&#10;T2: R(A)&#10;T2: W(A)&#10;T1: R(B)&#10;T1: W(B)&#10;T2: R(B)&#10;T2: W(B)" title="Transactions">
            <a:extLst>
              <a:ext uri="{FF2B5EF4-FFF2-40B4-BE49-F238E27FC236}">
                <a16:creationId xmlns:a16="http://schemas.microsoft.com/office/drawing/2014/main" id="{2FA6D8C4-35A2-CE48-901D-DD2F7806A53B}"/>
              </a:ext>
            </a:extLst>
          </p:cNvPr>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1593589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Serializability – Intuition, Part 4</a:t>
            </a:r>
          </a:p>
        </p:txBody>
      </p:sp>
      <p:sp>
        <p:nvSpPr>
          <p:cNvPr id="3" name="Content Placeholder 2">
            <a:extLst>
              <a:ext uri="{FF2B5EF4-FFF2-40B4-BE49-F238E27FC236}">
                <a16:creationId xmlns:a16="http://schemas.microsoft.com/office/drawing/2014/main" id="{A45D120D-C241-7A4A-B722-7E244BA606CD}"/>
              </a:ext>
            </a:extLst>
          </p:cNvPr>
          <p:cNvSpPr>
            <a:spLocks noGrp="1"/>
          </p:cNvSpPr>
          <p:nvPr>
            <p:ph idx="1"/>
          </p:nvPr>
        </p:nvSpPr>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24" name="Text Box 29" descr="T1: Read A" title="First Step">
            <a:extLst>
              <a:ext uri="{FF2B5EF4-FFF2-40B4-BE49-F238E27FC236}">
                <a16:creationId xmlns:a16="http://schemas.microsoft.com/office/drawing/2014/main" id="{06477231-8F86-2C4D-BA45-3F29D51FBC6B}"/>
              </a:ext>
            </a:extLst>
          </p:cNvPr>
          <p:cNvSpPr txBox="1">
            <a:spLocks noChangeArrowheads="1"/>
          </p:cNvSpPr>
          <p:nvPr/>
        </p:nvSpPr>
        <p:spPr bwMode="auto">
          <a:xfrm>
            <a:off x="0" y="390048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25" name="Text Box 30" descr="T1: Write B" title="Fourth Step:">
            <a:extLst>
              <a:ext uri="{FF2B5EF4-FFF2-40B4-BE49-F238E27FC236}">
                <a16:creationId xmlns:a16="http://schemas.microsoft.com/office/drawing/2014/main" id="{84D9B9A7-5991-A144-A1AE-2559F7825AD6}"/>
              </a:ext>
            </a:extLst>
          </p:cNvPr>
          <p:cNvSpPr txBox="1">
            <a:spLocks noChangeArrowheads="1"/>
          </p:cNvSpPr>
          <p:nvPr/>
        </p:nvSpPr>
        <p:spPr bwMode="auto">
          <a:xfrm>
            <a:off x="2514600" y="390048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R(B)</a:t>
            </a:r>
          </a:p>
        </p:txBody>
      </p:sp>
      <p:sp>
        <p:nvSpPr>
          <p:cNvPr id="26" name="Text Box 31" descr="T1: Write A" title="Second Step">
            <a:extLst>
              <a:ext uri="{FF2B5EF4-FFF2-40B4-BE49-F238E27FC236}">
                <a16:creationId xmlns:a16="http://schemas.microsoft.com/office/drawing/2014/main" id="{C2D22833-51D7-8E43-BB5B-1107443C98FA}"/>
              </a:ext>
            </a:extLst>
          </p:cNvPr>
          <p:cNvSpPr txBox="1">
            <a:spLocks noChangeArrowheads="1"/>
          </p:cNvSpPr>
          <p:nvPr/>
        </p:nvSpPr>
        <p:spPr bwMode="auto">
          <a:xfrm>
            <a:off x="852487" y="3914776"/>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27" name="Text Box 32" descr="T2: Write B" title="Fifth Step: ">
            <a:extLst>
              <a:ext uri="{FF2B5EF4-FFF2-40B4-BE49-F238E27FC236}">
                <a16:creationId xmlns:a16="http://schemas.microsoft.com/office/drawing/2014/main" id="{80BDFFC6-D050-634C-8AEC-AAEC4BA16C50}"/>
              </a:ext>
            </a:extLst>
          </p:cNvPr>
          <p:cNvSpPr txBox="1">
            <a:spLocks noChangeArrowheads="1"/>
          </p:cNvSpPr>
          <p:nvPr/>
        </p:nvSpPr>
        <p:spPr bwMode="auto">
          <a:xfrm>
            <a:off x="3217657" y="3910013"/>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W(B)</a:t>
            </a:r>
          </a:p>
        </p:txBody>
      </p:sp>
      <p:sp>
        <p:nvSpPr>
          <p:cNvPr id="28" name="Text Box 33" descr="T2: Read A" title="Third Step">
            <a:extLst>
              <a:ext uri="{FF2B5EF4-FFF2-40B4-BE49-F238E27FC236}">
                <a16:creationId xmlns:a16="http://schemas.microsoft.com/office/drawing/2014/main" id="{4A70AFF0-4D06-F045-8D0E-6CBE94531082}"/>
              </a:ext>
            </a:extLst>
          </p:cNvPr>
          <p:cNvSpPr txBox="1">
            <a:spLocks noChangeArrowheads="1"/>
          </p:cNvSpPr>
          <p:nvPr/>
        </p:nvSpPr>
        <p:spPr bwMode="auto">
          <a:xfrm>
            <a:off x="1657350" y="430053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29" name="Text Box 34" descr="T2: Write " title="Sixth Step">
            <a:extLst>
              <a:ext uri="{FF2B5EF4-FFF2-40B4-BE49-F238E27FC236}">
                <a16:creationId xmlns:a16="http://schemas.microsoft.com/office/drawing/2014/main" id="{A35CA444-9498-F044-AA9B-38C1E71FFE96}"/>
              </a:ext>
            </a:extLst>
          </p:cNvPr>
          <p:cNvSpPr txBox="1">
            <a:spLocks noChangeArrowheads="1"/>
          </p:cNvSpPr>
          <p:nvPr/>
        </p:nvSpPr>
        <p:spPr bwMode="auto">
          <a:xfrm>
            <a:off x="3998149" y="431958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30" name="Text Box 35" descr="T2: Write B" title="Seventh Step">
            <a:extLst>
              <a:ext uri="{FF2B5EF4-FFF2-40B4-BE49-F238E27FC236}">
                <a16:creationId xmlns:a16="http://schemas.microsoft.com/office/drawing/2014/main" id="{68FEB4C8-E2E5-0843-B268-ADD605963402}"/>
              </a:ext>
            </a:extLst>
          </p:cNvPr>
          <p:cNvSpPr txBox="1">
            <a:spLocks noChangeArrowheads="1"/>
          </p:cNvSpPr>
          <p:nvPr/>
        </p:nvSpPr>
        <p:spPr bwMode="auto">
          <a:xfrm>
            <a:off x="4910137" y="437673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31" name="Text Box 36" title="Eighth Step">
            <a:extLst>
              <a:ext uri="{FF2B5EF4-FFF2-40B4-BE49-F238E27FC236}">
                <a16:creationId xmlns:a16="http://schemas.microsoft.com/office/drawing/2014/main" id="{B66A5947-8C56-8149-8E21-D3D074FE52FF}"/>
              </a:ext>
            </a:extLst>
          </p:cNvPr>
          <p:cNvSpPr txBox="1">
            <a:spLocks noChangeArrowheads="1"/>
          </p:cNvSpPr>
          <p:nvPr/>
        </p:nvSpPr>
        <p:spPr bwMode="auto">
          <a:xfrm>
            <a:off x="5653087" y="43719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W(B)</a:t>
            </a:r>
          </a:p>
        </p:txBody>
      </p:sp>
      <p:sp>
        <p:nvSpPr>
          <p:cNvPr id="32" name="Rectangle 31" descr="T1: R(A)&#10;T1: W(A)&#10;T2: R(A)&#10;T2: W(A)&#10;T1: R(B)&#10;T1: W(B)&#10;T2: R(B)&#10;T2: W(B)" title="Transactions">
            <a:extLst>
              <a:ext uri="{FF2B5EF4-FFF2-40B4-BE49-F238E27FC236}">
                <a16:creationId xmlns:a16="http://schemas.microsoft.com/office/drawing/2014/main" id="{B42387E9-682B-CD49-93F4-C95555EC55BC}"/>
              </a:ext>
            </a:extLst>
          </p:cNvPr>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33" name="Group 49" descr="T1: R(A)&#10;T1: W(A)&#10;T2: R(A)&#10;T2: W(A)&#10;T1: R(B)&#10;T1: W(B)&#10;T2: R(B)&#10;T2: W(B)" title="Transactions">
            <a:extLst>
              <a:ext uri="{FF2B5EF4-FFF2-40B4-BE49-F238E27FC236}">
                <a16:creationId xmlns:a16="http://schemas.microsoft.com/office/drawing/2014/main" id="{1B2EAE44-9D16-544F-951F-791B7AA5F134}"/>
              </a:ext>
            </a:extLst>
          </p:cNvPr>
          <p:cNvGrpSpPr>
            <a:grpSpLocks/>
          </p:cNvGrpSpPr>
          <p:nvPr/>
        </p:nvGrpSpPr>
        <p:grpSpPr bwMode="auto">
          <a:xfrm>
            <a:off x="152400" y="2571750"/>
            <a:ext cx="6627019" cy="984647"/>
            <a:chOff x="144" y="2160"/>
            <a:chExt cx="5566" cy="827"/>
          </a:xfrm>
        </p:grpSpPr>
        <p:sp>
          <p:nvSpPr>
            <p:cNvPr id="43" name="Text Box 29">
              <a:extLst>
                <a:ext uri="{FF2B5EF4-FFF2-40B4-BE49-F238E27FC236}">
                  <a16:creationId xmlns:a16="http://schemas.microsoft.com/office/drawing/2014/main" id="{E20A69A0-0DD8-1649-AB1D-7EEB39C8F805}"/>
                </a:ext>
              </a:extLst>
            </p:cNvPr>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4" name="Text Box 30">
              <a:extLst>
                <a:ext uri="{FF2B5EF4-FFF2-40B4-BE49-F238E27FC236}">
                  <a16:creationId xmlns:a16="http://schemas.microsoft.com/office/drawing/2014/main" id="{FDB869E7-98AA-7D42-8A28-294D6EE44593}"/>
                </a:ext>
              </a:extLst>
            </p:cNvPr>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5" name="Text Box 31">
              <a:extLst>
                <a:ext uri="{FF2B5EF4-FFF2-40B4-BE49-F238E27FC236}">
                  <a16:creationId xmlns:a16="http://schemas.microsoft.com/office/drawing/2014/main" id="{20078D10-4D3E-1F40-9D66-5D1234591609}"/>
                </a:ext>
              </a:extLst>
            </p:cNvPr>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54" name="Text Box 32">
              <a:extLst>
                <a:ext uri="{FF2B5EF4-FFF2-40B4-BE49-F238E27FC236}">
                  <a16:creationId xmlns:a16="http://schemas.microsoft.com/office/drawing/2014/main" id="{96ED6ECB-8F9E-1947-9221-6C55926A51F1}"/>
                </a:ext>
              </a:extLst>
            </p:cNvPr>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5" name="Text Box 33">
              <a:extLst>
                <a:ext uri="{FF2B5EF4-FFF2-40B4-BE49-F238E27FC236}">
                  <a16:creationId xmlns:a16="http://schemas.microsoft.com/office/drawing/2014/main" id="{F13BC549-1887-6C45-9DF8-4874D8239D1E}"/>
                </a:ext>
              </a:extLst>
            </p:cNvPr>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6" name="Text Box 34">
              <a:extLst>
                <a:ext uri="{FF2B5EF4-FFF2-40B4-BE49-F238E27FC236}">
                  <a16:creationId xmlns:a16="http://schemas.microsoft.com/office/drawing/2014/main" id="{962E3059-80FB-A14B-8331-8431B1B13B98}"/>
                </a:ext>
              </a:extLst>
            </p:cNvPr>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57" name="Text Box 35">
              <a:extLst>
                <a:ext uri="{FF2B5EF4-FFF2-40B4-BE49-F238E27FC236}">
                  <a16:creationId xmlns:a16="http://schemas.microsoft.com/office/drawing/2014/main" id="{12448BE4-3351-C649-A2E6-E1F0DDEAD7B7}"/>
                </a:ext>
              </a:extLst>
            </p:cNvPr>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58" name="Text Box 36">
              <a:extLst>
                <a:ext uri="{FF2B5EF4-FFF2-40B4-BE49-F238E27FC236}">
                  <a16:creationId xmlns:a16="http://schemas.microsoft.com/office/drawing/2014/main" id="{625DEB94-8586-F247-97A3-044759BB09DC}"/>
                </a:ext>
              </a:extLst>
            </p:cNvPr>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59" name="Text Box 29" descr="T1: R(A)&#10;T1: W(A)&#10;T2: R(A)&#10;T2: W(A)&#10;T1: R(B)&#10;T1: W(B)&#10;T2: R(B)&#10;T2: W(B)" title="Transactions">
            <a:extLst>
              <a:ext uri="{FF2B5EF4-FFF2-40B4-BE49-F238E27FC236}">
                <a16:creationId xmlns:a16="http://schemas.microsoft.com/office/drawing/2014/main" id="{D9284EC6-4447-6F41-82F8-B101607AA80E}"/>
              </a:ext>
            </a:extLst>
          </p:cNvPr>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60" name="Text Box 30" descr="T1: R(A)&#10;T1: W(A)&#10;T2: R(A)&#10;T2: W(A)&#10;T1: R(B)&#10;T1: W(B)&#10;T2: R(B)&#10;T2: W(B)" title="Transactions">
            <a:extLst>
              <a:ext uri="{FF2B5EF4-FFF2-40B4-BE49-F238E27FC236}">
                <a16:creationId xmlns:a16="http://schemas.microsoft.com/office/drawing/2014/main" id="{53740746-C75C-914B-BDBC-9646C53E84BF}"/>
              </a:ext>
            </a:extLst>
          </p:cNvPr>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61" name="Text Box 31" descr="T1: R(A)&#10;T1: W(A)&#10;T2: R(A)&#10;T2: W(A)&#10;T1: R(B)&#10;T1: W(B)&#10;T2: R(B)&#10;T2: W(B)" title="Transactions">
            <a:extLst>
              <a:ext uri="{FF2B5EF4-FFF2-40B4-BE49-F238E27FC236}">
                <a16:creationId xmlns:a16="http://schemas.microsoft.com/office/drawing/2014/main" id="{45CE340E-269C-EA43-8D99-4B2242B5DDEC}"/>
              </a:ext>
            </a:extLst>
          </p:cNvPr>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62" name="Text Box 32" descr="T1: R(A)&#10;T1: W(A)&#10;T2: R(A)&#10;T2: W(A)&#10;T1: R(B)&#10;T1: W(B)&#10;T2: R(B)&#10;T2: W(B)" title="Transactions">
            <a:extLst>
              <a:ext uri="{FF2B5EF4-FFF2-40B4-BE49-F238E27FC236}">
                <a16:creationId xmlns:a16="http://schemas.microsoft.com/office/drawing/2014/main" id="{9AE3BDD2-DCAA-424F-9184-F1130AC533ED}"/>
              </a:ext>
            </a:extLst>
          </p:cNvPr>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63" name="Text Box 33" descr="T1: R(A)&#10;T1: W(A)&#10;T2: R(A)&#10;T2: W(A)&#10;T1: R(B)&#10;T1: W(B)&#10;T2: R(B)&#10;T2: W(B)" title="Transactions">
            <a:extLst>
              <a:ext uri="{FF2B5EF4-FFF2-40B4-BE49-F238E27FC236}">
                <a16:creationId xmlns:a16="http://schemas.microsoft.com/office/drawing/2014/main" id="{52818767-C7C2-7F47-893E-47F1C4E98449}"/>
              </a:ext>
            </a:extLst>
          </p:cNvPr>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65" name="Text Box 34" descr="T1: R(A)&#10;T1: W(A)&#10;T2: R(A)&#10;T2: W(A)&#10;T1: R(B)&#10;T1: W(B)&#10;T2: R(B)&#10;T2: W(B)" title="Transactions">
            <a:extLst>
              <a:ext uri="{FF2B5EF4-FFF2-40B4-BE49-F238E27FC236}">
                <a16:creationId xmlns:a16="http://schemas.microsoft.com/office/drawing/2014/main" id="{E1F6CB45-F9E8-3442-8EEF-C9198126AC3A}"/>
              </a:ext>
            </a:extLst>
          </p:cNvPr>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66" name="Text Box 35" descr="T1: R(A)&#10;T1: W(A)&#10;T2: R(A)&#10;T2: W(A)&#10;T1: R(B)&#10;T1: W(B)&#10;T2: R(B)&#10;T2: W(B)" title="Transactions">
            <a:extLst>
              <a:ext uri="{FF2B5EF4-FFF2-40B4-BE49-F238E27FC236}">
                <a16:creationId xmlns:a16="http://schemas.microsoft.com/office/drawing/2014/main" id="{8EA23DAA-6FC2-4143-AB12-0FE0B33898CA}"/>
              </a:ext>
            </a:extLst>
          </p:cNvPr>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67" name="Text Box 36" descr="T1: R(A)&#10;T1: W(A)&#10;T2: R(A)&#10;T2: W(A)&#10;T1: R(B)&#10;T1: W(B)&#10;T2: R(B)&#10;T2: W(B)" title="Transactions">
            <a:extLst>
              <a:ext uri="{FF2B5EF4-FFF2-40B4-BE49-F238E27FC236}">
                <a16:creationId xmlns:a16="http://schemas.microsoft.com/office/drawing/2014/main" id="{D651E8BD-399F-D648-BC93-18DDA824ED7C}"/>
              </a:ext>
            </a:extLst>
          </p:cNvPr>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842522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Serializability – Intuition, Part 5</a:t>
            </a:r>
          </a:p>
        </p:txBody>
      </p:sp>
      <p:sp>
        <p:nvSpPr>
          <p:cNvPr id="3" name="Content Placeholder 2">
            <a:extLst>
              <a:ext uri="{FF2B5EF4-FFF2-40B4-BE49-F238E27FC236}">
                <a16:creationId xmlns:a16="http://schemas.microsoft.com/office/drawing/2014/main" id="{2FED3C0E-7EFC-BF4B-BFD1-58C6DF856AD9}"/>
              </a:ext>
            </a:extLst>
          </p:cNvPr>
          <p:cNvSpPr>
            <a:spLocks noGrp="1"/>
          </p:cNvSpPr>
          <p:nvPr>
            <p:ph idx="1"/>
          </p:nvPr>
        </p:nvSpPr>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24" name="Text Box 29" descr="T1: Read A" title="First Step">
            <a:extLst>
              <a:ext uri="{FF2B5EF4-FFF2-40B4-BE49-F238E27FC236}">
                <a16:creationId xmlns:a16="http://schemas.microsoft.com/office/drawing/2014/main" id="{6D22C2C5-6C69-D143-85E9-AE9B5DD628FD}"/>
              </a:ext>
            </a:extLst>
          </p:cNvPr>
          <p:cNvSpPr txBox="1">
            <a:spLocks noChangeArrowheads="1"/>
          </p:cNvSpPr>
          <p:nvPr/>
        </p:nvSpPr>
        <p:spPr bwMode="auto">
          <a:xfrm>
            <a:off x="0" y="390048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25" name="Text Box 30" descr="T1: Write B" title="Third Step:">
            <a:extLst>
              <a:ext uri="{FF2B5EF4-FFF2-40B4-BE49-F238E27FC236}">
                <a16:creationId xmlns:a16="http://schemas.microsoft.com/office/drawing/2014/main" id="{FE46A8E7-3A13-134F-A1B4-29BA4F0469D7}"/>
              </a:ext>
            </a:extLst>
          </p:cNvPr>
          <p:cNvSpPr txBox="1">
            <a:spLocks noChangeArrowheads="1"/>
          </p:cNvSpPr>
          <p:nvPr/>
        </p:nvSpPr>
        <p:spPr bwMode="auto">
          <a:xfrm>
            <a:off x="1809073" y="390048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R(B)</a:t>
            </a:r>
          </a:p>
        </p:txBody>
      </p:sp>
      <p:sp>
        <p:nvSpPr>
          <p:cNvPr id="26" name="Text Box 31" descr="T1: Write A" title="Second Step">
            <a:extLst>
              <a:ext uri="{FF2B5EF4-FFF2-40B4-BE49-F238E27FC236}">
                <a16:creationId xmlns:a16="http://schemas.microsoft.com/office/drawing/2014/main" id="{88F98BA8-0956-3C45-97AA-A748B6F97594}"/>
              </a:ext>
            </a:extLst>
          </p:cNvPr>
          <p:cNvSpPr txBox="1">
            <a:spLocks noChangeArrowheads="1"/>
          </p:cNvSpPr>
          <p:nvPr/>
        </p:nvSpPr>
        <p:spPr bwMode="auto">
          <a:xfrm>
            <a:off x="852487" y="3914776"/>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27" name="Text Box 32" descr="T2: Write B" title="Fifth Step: ">
            <a:extLst>
              <a:ext uri="{FF2B5EF4-FFF2-40B4-BE49-F238E27FC236}">
                <a16:creationId xmlns:a16="http://schemas.microsoft.com/office/drawing/2014/main" id="{F8C8F717-31DD-5642-AEB9-8B9EAC3EA903}"/>
              </a:ext>
            </a:extLst>
          </p:cNvPr>
          <p:cNvSpPr txBox="1">
            <a:spLocks noChangeArrowheads="1"/>
          </p:cNvSpPr>
          <p:nvPr/>
        </p:nvSpPr>
        <p:spPr bwMode="auto">
          <a:xfrm>
            <a:off x="3217657" y="3910013"/>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W(B)</a:t>
            </a:r>
          </a:p>
        </p:txBody>
      </p:sp>
      <p:sp>
        <p:nvSpPr>
          <p:cNvPr id="28" name="Text Box 33" descr="T2: Read A" title="Fourth Step">
            <a:extLst>
              <a:ext uri="{FF2B5EF4-FFF2-40B4-BE49-F238E27FC236}">
                <a16:creationId xmlns:a16="http://schemas.microsoft.com/office/drawing/2014/main" id="{2656DB8E-AC2E-EF48-B751-AFE37D58C905}"/>
              </a:ext>
            </a:extLst>
          </p:cNvPr>
          <p:cNvSpPr txBox="1">
            <a:spLocks noChangeArrowheads="1"/>
          </p:cNvSpPr>
          <p:nvPr/>
        </p:nvSpPr>
        <p:spPr bwMode="auto">
          <a:xfrm>
            <a:off x="2513365" y="430053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29" name="Text Box 34" descr="T2: Write " title="Sixth Step">
            <a:extLst>
              <a:ext uri="{FF2B5EF4-FFF2-40B4-BE49-F238E27FC236}">
                <a16:creationId xmlns:a16="http://schemas.microsoft.com/office/drawing/2014/main" id="{42E3869A-6735-664F-908F-68A737EC0BA3}"/>
              </a:ext>
            </a:extLst>
          </p:cNvPr>
          <p:cNvSpPr txBox="1">
            <a:spLocks noChangeArrowheads="1"/>
          </p:cNvSpPr>
          <p:nvPr/>
        </p:nvSpPr>
        <p:spPr bwMode="auto">
          <a:xfrm>
            <a:off x="3998149" y="431958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30" name="Text Box 35" descr="T2: Write B" title="Seventh Step">
            <a:extLst>
              <a:ext uri="{FF2B5EF4-FFF2-40B4-BE49-F238E27FC236}">
                <a16:creationId xmlns:a16="http://schemas.microsoft.com/office/drawing/2014/main" id="{482AE42E-E727-DE4F-97AC-0662C3010698}"/>
              </a:ext>
            </a:extLst>
          </p:cNvPr>
          <p:cNvSpPr txBox="1">
            <a:spLocks noChangeArrowheads="1"/>
          </p:cNvSpPr>
          <p:nvPr/>
        </p:nvSpPr>
        <p:spPr bwMode="auto">
          <a:xfrm>
            <a:off x="4910137" y="437673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31" name="Text Box 36" title="Eighth Step">
            <a:extLst>
              <a:ext uri="{FF2B5EF4-FFF2-40B4-BE49-F238E27FC236}">
                <a16:creationId xmlns:a16="http://schemas.microsoft.com/office/drawing/2014/main" id="{5B858794-80D1-4945-9CB2-1AAAF31AF7AE}"/>
              </a:ext>
            </a:extLst>
          </p:cNvPr>
          <p:cNvSpPr txBox="1">
            <a:spLocks noChangeArrowheads="1"/>
          </p:cNvSpPr>
          <p:nvPr/>
        </p:nvSpPr>
        <p:spPr bwMode="auto">
          <a:xfrm>
            <a:off x="5653087" y="43719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W(B)</a:t>
            </a:r>
          </a:p>
        </p:txBody>
      </p:sp>
      <p:sp>
        <p:nvSpPr>
          <p:cNvPr id="32" name="Rectangle 31" descr="T1: R(A)&#10;T1: W(A)&#10;T2: R(A)&#10;T2: W(A)&#10;T1: R(B)&#10;T1: W(B)&#10;T2: R(B)&#10;T2: W(B)" title="Transactions">
            <a:extLst>
              <a:ext uri="{FF2B5EF4-FFF2-40B4-BE49-F238E27FC236}">
                <a16:creationId xmlns:a16="http://schemas.microsoft.com/office/drawing/2014/main" id="{13409DF1-2D7C-5A42-AB29-9979EEC6BA69}"/>
              </a:ext>
            </a:extLst>
          </p:cNvPr>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33" name="Group 49" descr="T1: R(A)&#10;T1: W(A)&#10;T2: R(A)&#10;T2: W(A)&#10;T1: R(B)&#10;T1: W(B)&#10;T2: R(B)&#10;T2: W(B)" title="Transactions">
            <a:extLst>
              <a:ext uri="{FF2B5EF4-FFF2-40B4-BE49-F238E27FC236}">
                <a16:creationId xmlns:a16="http://schemas.microsoft.com/office/drawing/2014/main" id="{7191775E-C66A-F444-BD33-22F487EFEC97}"/>
              </a:ext>
            </a:extLst>
          </p:cNvPr>
          <p:cNvGrpSpPr>
            <a:grpSpLocks/>
          </p:cNvGrpSpPr>
          <p:nvPr/>
        </p:nvGrpSpPr>
        <p:grpSpPr bwMode="auto">
          <a:xfrm>
            <a:off x="152400" y="2571750"/>
            <a:ext cx="6627019" cy="984647"/>
            <a:chOff x="144" y="2160"/>
            <a:chExt cx="5566" cy="827"/>
          </a:xfrm>
        </p:grpSpPr>
        <p:sp>
          <p:nvSpPr>
            <p:cNvPr id="43" name="Text Box 29">
              <a:extLst>
                <a:ext uri="{FF2B5EF4-FFF2-40B4-BE49-F238E27FC236}">
                  <a16:creationId xmlns:a16="http://schemas.microsoft.com/office/drawing/2014/main" id="{46A6C414-2121-B645-96E9-CBDD607504E9}"/>
                </a:ext>
              </a:extLst>
            </p:cNvPr>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4" name="Text Box 30">
              <a:extLst>
                <a:ext uri="{FF2B5EF4-FFF2-40B4-BE49-F238E27FC236}">
                  <a16:creationId xmlns:a16="http://schemas.microsoft.com/office/drawing/2014/main" id="{60CE0083-3DCD-9A4E-AE6F-705C384A5C5E}"/>
                </a:ext>
              </a:extLst>
            </p:cNvPr>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5" name="Text Box 31">
              <a:extLst>
                <a:ext uri="{FF2B5EF4-FFF2-40B4-BE49-F238E27FC236}">
                  <a16:creationId xmlns:a16="http://schemas.microsoft.com/office/drawing/2014/main" id="{4A415DAF-92F6-7E42-B527-75AB2F478AF9}"/>
                </a:ext>
              </a:extLst>
            </p:cNvPr>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54" name="Text Box 32">
              <a:extLst>
                <a:ext uri="{FF2B5EF4-FFF2-40B4-BE49-F238E27FC236}">
                  <a16:creationId xmlns:a16="http://schemas.microsoft.com/office/drawing/2014/main" id="{F496529A-3740-484A-93A3-BA2C2453238C}"/>
                </a:ext>
              </a:extLst>
            </p:cNvPr>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5" name="Text Box 33">
              <a:extLst>
                <a:ext uri="{FF2B5EF4-FFF2-40B4-BE49-F238E27FC236}">
                  <a16:creationId xmlns:a16="http://schemas.microsoft.com/office/drawing/2014/main" id="{FAAC959B-2FAE-E246-9A2C-0107D302A628}"/>
                </a:ext>
              </a:extLst>
            </p:cNvPr>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6" name="Text Box 34">
              <a:extLst>
                <a:ext uri="{FF2B5EF4-FFF2-40B4-BE49-F238E27FC236}">
                  <a16:creationId xmlns:a16="http://schemas.microsoft.com/office/drawing/2014/main" id="{31275E64-8962-774F-B39C-5C1149C7F6E6}"/>
                </a:ext>
              </a:extLst>
            </p:cNvPr>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57" name="Text Box 35">
              <a:extLst>
                <a:ext uri="{FF2B5EF4-FFF2-40B4-BE49-F238E27FC236}">
                  <a16:creationId xmlns:a16="http://schemas.microsoft.com/office/drawing/2014/main" id="{B23089A9-F8EB-DF47-8E7A-3008F08DF21C}"/>
                </a:ext>
              </a:extLst>
            </p:cNvPr>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58" name="Text Box 36">
              <a:extLst>
                <a:ext uri="{FF2B5EF4-FFF2-40B4-BE49-F238E27FC236}">
                  <a16:creationId xmlns:a16="http://schemas.microsoft.com/office/drawing/2014/main" id="{E01834E3-EA85-8E41-A88F-F1D8BBD9ED36}"/>
                </a:ext>
              </a:extLst>
            </p:cNvPr>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59" name="Text Box 29" descr="T1: R(A)&#10;T1: W(A)&#10;T2: R(A)&#10;T2: W(A)&#10;T1: R(B)&#10;T1: W(B)&#10;T2: R(B)&#10;T2: W(B)" title="Transactions">
            <a:extLst>
              <a:ext uri="{FF2B5EF4-FFF2-40B4-BE49-F238E27FC236}">
                <a16:creationId xmlns:a16="http://schemas.microsoft.com/office/drawing/2014/main" id="{5750BD9D-159C-554F-94F5-82F7CAF85C69}"/>
              </a:ext>
            </a:extLst>
          </p:cNvPr>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60" name="Text Box 30" descr="T1: R(A)&#10;T1: W(A)&#10;T2: R(A)&#10;T2: W(A)&#10;T1: R(B)&#10;T1: W(B)&#10;T2: R(B)&#10;T2: W(B)" title="Transactions">
            <a:extLst>
              <a:ext uri="{FF2B5EF4-FFF2-40B4-BE49-F238E27FC236}">
                <a16:creationId xmlns:a16="http://schemas.microsoft.com/office/drawing/2014/main" id="{FD4B3345-A263-7646-8289-919B03D59E10}"/>
              </a:ext>
            </a:extLst>
          </p:cNvPr>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61" name="Text Box 31" descr="T1: R(A)&#10;T1: W(A)&#10;T2: R(A)&#10;T2: W(A)&#10;T1: R(B)&#10;T1: W(B)&#10;T2: R(B)&#10;T2: W(B)" title="Transactions">
            <a:extLst>
              <a:ext uri="{FF2B5EF4-FFF2-40B4-BE49-F238E27FC236}">
                <a16:creationId xmlns:a16="http://schemas.microsoft.com/office/drawing/2014/main" id="{40C7A1B4-F671-6247-B958-18CAF449B96A}"/>
              </a:ext>
            </a:extLst>
          </p:cNvPr>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62" name="Text Box 32" descr="T1: R(A)&#10;T1: W(A)&#10;T2: R(A)&#10;T2: W(A)&#10;T1: R(B)&#10;T1: W(B)&#10;T2: R(B)&#10;T2: W(B)" title="Transactions">
            <a:extLst>
              <a:ext uri="{FF2B5EF4-FFF2-40B4-BE49-F238E27FC236}">
                <a16:creationId xmlns:a16="http://schemas.microsoft.com/office/drawing/2014/main" id="{71CFEEF1-2966-9B4D-8B30-9DB291BE3971}"/>
              </a:ext>
            </a:extLst>
          </p:cNvPr>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63" name="Text Box 33" descr="T1: R(A)&#10;T1: W(A)&#10;T2: R(A)&#10;T2: W(A)&#10;T1: R(B)&#10;T1: W(B)&#10;T2: R(B)&#10;T2: W(B)" title="Transactions">
            <a:extLst>
              <a:ext uri="{FF2B5EF4-FFF2-40B4-BE49-F238E27FC236}">
                <a16:creationId xmlns:a16="http://schemas.microsoft.com/office/drawing/2014/main" id="{252C13F2-C70C-524F-A453-254204B67C67}"/>
              </a:ext>
            </a:extLst>
          </p:cNvPr>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65" name="Text Box 34" descr="T1: R(A)&#10;T1: W(A)&#10;T2: R(A)&#10;T2: W(A)&#10;T1: R(B)&#10;T1: W(B)&#10;T2: R(B)&#10;T2: W(B)" title="Transactions">
            <a:extLst>
              <a:ext uri="{FF2B5EF4-FFF2-40B4-BE49-F238E27FC236}">
                <a16:creationId xmlns:a16="http://schemas.microsoft.com/office/drawing/2014/main" id="{3C69A390-5FA6-9248-B562-4BF1C5DD3135}"/>
              </a:ext>
            </a:extLst>
          </p:cNvPr>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66" name="Text Box 35" descr="T1: R(A)&#10;T1: W(A)&#10;T2: R(A)&#10;T2: W(A)&#10;T1: R(B)&#10;T1: W(B)&#10;T2: R(B)&#10;T2: W(B)" title="Transactions">
            <a:extLst>
              <a:ext uri="{FF2B5EF4-FFF2-40B4-BE49-F238E27FC236}">
                <a16:creationId xmlns:a16="http://schemas.microsoft.com/office/drawing/2014/main" id="{DFBB6F9A-1F0A-6745-B99C-8ECE08FE7FD6}"/>
              </a:ext>
            </a:extLst>
          </p:cNvPr>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67" name="Text Box 36" descr="T1: R(A)&#10;T1: W(A)&#10;T2: R(A)&#10;T2: W(A)&#10;T1: R(B)&#10;T1: W(B)&#10;T2: R(B)&#10;T2: W(B)" title="Transactions">
            <a:extLst>
              <a:ext uri="{FF2B5EF4-FFF2-40B4-BE49-F238E27FC236}">
                <a16:creationId xmlns:a16="http://schemas.microsoft.com/office/drawing/2014/main" id="{953AA5A3-905B-E048-9574-843B6CAA2FD4}"/>
              </a:ext>
            </a:extLst>
          </p:cNvPr>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812731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Serializability – Intuition, </a:t>
            </a:r>
            <a:r>
              <a:rPr lang="en-US" dirty="0" err="1"/>
              <a:t>cont</a:t>
            </a:r>
            <a:endParaRPr lang="en-US" dirty="0"/>
          </a:p>
        </p:txBody>
      </p:sp>
      <p:sp>
        <p:nvSpPr>
          <p:cNvPr id="3" name="Content Placeholder 2">
            <a:extLst>
              <a:ext uri="{FF2B5EF4-FFF2-40B4-BE49-F238E27FC236}">
                <a16:creationId xmlns:a16="http://schemas.microsoft.com/office/drawing/2014/main" id="{539AEDB3-6FAF-0548-B11D-54A368E085BC}"/>
              </a:ext>
            </a:extLst>
          </p:cNvPr>
          <p:cNvSpPr>
            <a:spLocks noGrp="1"/>
          </p:cNvSpPr>
          <p:nvPr>
            <p:ph idx="1"/>
          </p:nvPr>
        </p:nvSpPr>
        <p:spPr/>
        <p:txBody>
          <a:bodyPr/>
          <a:lstStyle/>
          <a:p>
            <a:r>
              <a:rPr lang="en-US" sz="1800" b="1" dirty="0">
                <a:ea typeface="Lucida Console" charset="0"/>
                <a:cs typeface="Lucida Console" charset="0"/>
              </a:rPr>
              <a:t>A schedule S is conflict serializable if</a:t>
            </a:r>
          </a:p>
          <a:p>
            <a:pPr lvl="1"/>
            <a:r>
              <a:rPr lang="en-US" sz="1500" dirty="0">
                <a:ea typeface="Lucida Console" charset="0"/>
                <a:cs typeface="Lucida Console" charset="0"/>
              </a:rPr>
              <a:t>You are able to transform S into a serial schedule by swapping </a:t>
            </a:r>
            <a:r>
              <a:rPr lang="en-US" sz="1500" b="1" dirty="0">
                <a:ea typeface="Lucida Console" charset="0"/>
                <a:cs typeface="Lucida Console" charset="0"/>
              </a:rPr>
              <a:t>consecutive non-conflicting</a:t>
            </a:r>
            <a:r>
              <a:rPr lang="en-US" sz="1500" dirty="0">
                <a:ea typeface="Lucida Console" charset="0"/>
                <a:cs typeface="Lucida Console" charset="0"/>
              </a:rPr>
              <a:t> operations of different transactions</a:t>
            </a:r>
          </a:p>
          <a:p>
            <a:r>
              <a:rPr lang="en-US" sz="1650" b="1" i="1" dirty="0">
                <a:ea typeface="Lucida Console" charset="0"/>
                <a:cs typeface="Lucida Console" charset="0"/>
              </a:rPr>
              <a:t>Example</a:t>
            </a:r>
          </a:p>
        </p:txBody>
      </p:sp>
      <p:sp>
        <p:nvSpPr>
          <p:cNvPr id="24" name="Text Box 29" descr="T1: Read A" title="First Step">
            <a:extLst>
              <a:ext uri="{FF2B5EF4-FFF2-40B4-BE49-F238E27FC236}">
                <a16:creationId xmlns:a16="http://schemas.microsoft.com/office/drawing/2014/main" id="{44678C2A-922E-4D43-B5D3-EB0D175A3597}"/>
              </a:ext>
            </a:extLst>
          </p:cNvPr>
          <p:cNvSpPr txBox="1">
            <a:spLocks noChangeArrowheads="1"/>
          </p:cNvSpPr>
          <p:nvPr/>
        </p:nvSpPr>
        <p:spPr bwMode="auto">
          <a:xfrm>
            <a:off x="0" y="390048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25" name="Text Box 30" descr="T1: Write B" title="Third Step:">
            <a:extLst>
              <a:ext uri="{FF2B5EF4-FFF2-40B4-BE49-F238E27FC236}">
                <a16:creationId xmlns:a16="http://schemas.microsoft.com/office/drawing/2014/main" id="{D630C547-F72F-9840-9609-1BD50BFA3BA0}"/>
              </a:ext>
            </a:extLst>
          </p:cNvPr>
          <p:cNvSpPr txBox="1">
            <a:spLocks noChangeArrowheads="1"/>
          </p:cNvSpPr>
          <p:nvPr/>
        </p:nvSpPr>
        <p:spPr bwMode="auto">
          <a:xfrm>
            <a:off x="1809073" y="390048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R(B)</a:t>
            </a:r>
          </a:p>
        </p:txBody>
      </p:sp>
      <p:sp>
        <p:nvSpPr>
          <p:cNvPr id="26" name="Text Box 31" descr="T1: Write A" title="Second Step">
            <a:extLst>
              <a:ext uri="{FF2B5EF4-FFF2-40B4-BE49-F238E27FC236}">
                <a16:creationId xmlns:a16="http://schemas.microsoft.com/office/drawing/2014/main" id="{1EE01DC2-6575-8D49-A45A-50F2F81EBC74}"/>
              </a:ext>
            </a:extLst>
          </p:cNvPr>
          <p:cNvSpPr txBox="1">
            <a:spLocks noChangeArrowheads="1"/>
          </p:cNvSpPr>
          <p:nvPr/>
        </p:nvSpPr>
        <p:spPr bwMode="auto">
          <a:xfrm>
            <a:off x="852487" y="3914776"/>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27" name="Text Box 32" descr="T2: Write B" title="Fourth Step: ">
            <a:extLst>
              <a:ext uri="{FF2B5EF4-FFF2-40B4-BE49-F238E27FC236}">
                <a16:creationId xmlns:a16="http://schemas.microsoft.com/office/drawing/2014/main" id="{8B9CA0BF-A7C4-2546-B534-6D0600C83C00}"/>
              </a:ext>
            </a:extLst>
          </p:cNvPr>
          <p:cNvSpPr txBox="1">
            <a:spLocks noChangeArrowheads="1"/>
          </p:cNvSpPr>
          <p:nvPr/>
        </p:nvSpPr>
        <p:spPr bwMode="auto">
          <a:xfrm>
            <a:off x="2514600" y="3910013"/>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W(B)</a:t>
            </a:r>
          </a:p>
        </p:txBody>
      </p:sp>
      <p:sp>
        <p:nvSpPr>
          <p:cNvPr id="28" name="Text Box 33" descr="T2: Read A" title="Fifth Step">
            <a:extLst>
              <a:ext uri="{FF2B5EF4-FFF2-40B4-BE49-F238E27FC236}">
                <a16:creationId xmlns:a16="http://schemas.microsoft.com/office/drawing/2014/main" id="{872295D4-5FB1-854E-90F3-871CC55AA164}"/>
              </a:ext>
            </a:extLst>
          </p:cNvPr>
          <p:cNvSpPr txBox="1">
            <a:spLocks noChangeArrowheads="1"/>
          </p:cNvSpPr>
          <p:nvPr/>
        </p:nvSpPr>
        <p:spPr bwMode="auto">
          <a:xfrm>
            <a:off x="3275365" y="4300538"/>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29" name="Text Box 34" descr="T2: Write " title="Sixth Step">
            <a:extLst>
              <a:ext uri="{FF2B5EF4-FFF2-40B4-BE49-F238E27FC236}">
                <a16:creationId xmlns:a16="http://schemas.microsoft.com/office/drawing/2014/main" id="{83BB43BB-45F3-2741-9ADE-9C61516AEA02}"/>
              </a:ext>
            </a:extLst>
          </p:cNvPr>
          <p:cNvSpPr txBox="1">
            <a:spLocks noChangeArrowheads="1"/>
          </p:cNvSpPr>
          <p:nvPr/>
        </p:nvSpPr>
        <p:spPr bwMode="auto">
          <a:xfrm>
            <a:off x="3998149" y="431958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30" name="Text Box 35" descr="T2: Write B" title="Seventh Step">
            <a:extLst>
              <a:ext uri="{FF2B5EF4-FFF2-40B4-BE49-F238E27FC236}">
                <a16:creationId xmlns:a16="http://schemas.microsoft.com/office/drawing/2014/main" id="{2E846186-C794-EB45-82D1-50C63AC18772}"/>
              </a:ext>
            </a:extLst>
          </p:cNvPr>
          <p:cNvSpPr txBox="1">
            <a:spLocks noChangeArrowheads="1"/>
          </p:cNvSpPr>
          <p:nvPr/>
        </p:nvSpPr>
        <p:spPr bwMode="auto">
          <a:xfrm>
            <a:off x="4910137" y="4376738"/>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31" name="Text Box 36" title="Eighth Step">
            <a:extLst>
              <a:ext uri="{FF2B5EF4-FFF2-40B4-BE49-F238E27FC236}">
                <a16:creationId xmlns:a16="http://schemas.microsoft.com/office/drawing/2014/main" id="{40F212CA-C524-FD41-8278-EBB1CC38E919}"/>
              </a:ext>
            </a:extLst>
          </p:cNvPr>
          <p:cNvSpPr txBox="1">
            <a:spLocks noChangeArrowheads="1"/>
          </p:cNvSpPr>
          <p:nvPr/>
        </p:nvSpPr>
        <p:spPr bwMode="auto">
          <a:xfrm>
            <a:off x="5653087" y="43719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W(B)</a:t>
            </a:r>
          </a:p>
        </p:txBody>
      </p:sp>
      <p:sp>
        <p:nvSpPr>
          <p:cNvPr id="32" name="Rectangle 31" descr="T1: R(A)&#10;T1: W(A)&#10;T2: R(A)&#10;T2: W(A)&#10;T1: R(B)&#10;T1: W(B)&#10;T2: R(B)&#10;T2: W(B)" title="Transactions">
            <a:extLst>
              <a:ext uri="{FF2B5EF4-FFF2-40B4-BE49-F238E27FC236}">
                <a16:creationId xmlns:a16="http://schemas.microsoft.com/office/drawing/2014/main" id="{033A50AF-A210-114E-AC57-50602F759803}"/>
              </a:ext>
            </a:extLst>
          </p:cNvPr>
          <p:cNvSpPr/>
          <p:nvPr/>
        </p:nvSpPr>
        <p:spPr bwMode="auto">
          <a:xfrm>
            <a:off x="152400" y="2562225"/>
            <a:ext cx="6572250" cy="1028700"/>
          </a:xfrm>
          <a:prstGeom prst="rect">
            <a:avLst/>
          </a:prstGeom>
          <a:solidFill>
            <a:schemeClr val="bg1">
              <a:lumMod val="65000"/>
            </a:schemeClr>
          </a:solidFill>
          <a:ln w="12700" cap="flat" cmpd="sng" algn="ctr">
            <a:solidFill>
              <a:schemeClr val="tx1"/>
            </a:solidFill>
            <a:prstDash val="solid"/>
            <a:round/>
            <a:headEnd type="none" w="sm" len="sm"/>
            <a:tailEnd type="none" w="sm" len="sm"/>
          </a:ln>
          <a:effectLst/>
        </p:spPr>
        <p:txBody>
          <a:bodyPr/>
          <a:lstStyle/>
          <a:p>
            <a:pPr>
              <a:defRPr/>
            </a:pPr>
            <a:endParaRPr lang="en-US" sz="1350"/>
          </a:p>
        </p:txBody>
      </p:sp>
      <p:grpSp>
        <p:nvGrpSpPr>
          <p:cNvPr id="33" name="Group 49" descr="T1: R(A)&#10;T1: W(A)&#10;T2: R(A)&#10;T2: W(A)&#10;T1: R(B)&#10;T1: W(B)&#10;T2: R(B)&#10;T2: W(B)" title="Transactions">
            <a:extLst>
              <a:ext uri="{FF2B5EF4-FFF2-40B4-BE49-F238E27FC236}">
                <a16:creationId xmlns:a16="http://schemas.microsoft.com/office/drawing/2014/main" id="{C919B079-A124-0446-A17E-775518DDF53B}"/>
              </a:ext>
            </a:extLst>
          </p:cNvPr>
          <p:cNvGrpSpPr>
            <a:grpSpLocks/>
          </p:cNvGrpSpPr>
          <p:nvPr/>
        </p:nvGrpSpPr>
        <p:grpSpPr bwMode="auto">
          <a:xfrm>
            <a:off x="152400" y="2571750"/>
            <a:ext cx="6627019" cy="984647"/>
            <a:chOff x="144" y="2160"/>
            <a:chExt cx="5566" cy="827"/>
          </a:xfrm>
        </p:grpSpPr>
        <p:sp>
          <p:nvSpPr>
            <p:cNvPr id="43" name="Text Box 29">
              <a:extLst>
                <a:ext uri="{FF2B5EF4-FFF2-40B4-BE49-F238E27FC236}">
                  <a16:creationId xmlns:a16="http://schemas.microsoft.com/office/drawing/2014/main" id="{F0818B8D-27AF-A84C-897D-59495CAE7FF0}"/>
                </a:ext>
              </a:extLst>
            </p:cNvPr>
            <p:cNvSpPr txBox="1">
              <a:spLocks noChangeArrowheads="1"/>
            </p:cNvSpPr>
            <p:nvPr/>
          </p:nvSpPr>
          <p:spPr bwMode="auto">
            <a:xfrm>
              <a:off x="144" y="2160"/>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4" name="Text Box 30">
              <a:extLst>
                <a:ext uri="{FF2B5EF4-FFF2-40B4-BE49-F238E27FC236}">
                  <a16:creationId xmlns:a16="http://schemas.microsoft.com/office/drawing/2014/main" id="{7FC25D12-EF81-7C40-A7AC-3453A694D753}"/>
                </a:ext>
              </a:extLst>
            </p:cNvPr>
            <p:cNvSpPr txBox="1">
              <a:spLocks noChangeArrowheads="1"/>
            </p:cNvSpPr>
            <p:nvPr/>
          </p:nvSpPr>
          <p:spPr bwMode="auto">
            <a:xfrm>
              <a:off x="2832" y="21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45" name="Text Box 31">
              <a:extLst>
                <a:ext uri="{FF2B5EF4-FFF2-40B4-BE49-F238E27FC236}">
                  <a16:creationId xmlns:a16="http://schemas.microsoft.com/office/drawing/2014/main" id="{9903B2FE-1667-2542-9AD0-AD14ADA399E7}"/>
                </a:ext>
              </a:extLst>
            </p:cNvPr>
            <p:cNvSpPr txBox="1">
              <a:spLocks noChangeArrowheads="1"/>
            </p:cNvSpPr>
            <p:nvPr/>
          </p:nvSpPr>
          <p:spPr bwMode="auto">
            <a:xfrm>
              <a:off x="860" y="217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54" name="Text Box 32">
              <a:extLst>
                <a:ext uri="{FF2B5EF4-FFF2-40B4-BE49-F238E27FC236}">
                  <a16:creationId xmlns:a16="http://schemas.microsoft.com/office/drawing/2014/main" id="{3705EB1E-38DC-D244-956A-28CE0E9F2F2D}"/>
                </a:ext>
              </a:extLst>
            </p:cNvPr>
            <p:cNvSpPr txBox="1">
              <a:spLocks noChangeArrowheads="1"/>
            </p:cNvSpPr>
            <p:nvPr/>
          </p:nvSpPr>
          <p:spPr bwMode="auto">
            <a:xfrm>
              <a:off x="3452" y="2168"/>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55" name="Text Box 33">
              <a:extLst>
                <a:ext uri="{FF2B5EF4-FFF2-40B4-BE49-F238E27FC236}">
                  <a16:creationId xmlns:a16="http://schemas.microsoft.com/office/drawing/2014/main" id="{2167E56A-FF77-8B42-A32F-04B62777B8C2}"/>
                </a:ext>
              </a:extLst>
            </p:cNvPr>
            <p:cNvSpPr txBox="1">
              <a:spLocks noChangeArrowheads="1"/>
            </p:cNvSpPr>
            <p:nvPr/>
          </p:nvSpPr>
          <p:spPr bwMode="auto">
            <a:xfrm>
              <a:off x="1536" y="2496"/>
              <a:ext cx="769"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56" name="Text Box 34">
              <a:extLst>
                <a:ext uri="{FF2B5EF4-FFF2-40B4-BE49-F238E27FC236}">
                  <a16:creationId xmlns:a16="http://schemas.microsoft.com/office/drawing/2014/main" id="{37F2150E-C4A9-B541-89B2-C476BD5EAFC5}"/>
                </a:ext>
              </a:extLst>
            </p:cNvPr>
            <p:cNvSpPr txBox="1">
              <a:spLocks noChangeArrowheads="1"/>
            </p:cNvSpPr>
            <p:nvPr/>
          </p:nvSpPr>
          <p:spPr bwMode="auto">
            <a:xfrm>
              <a:off x="2208" y="2512"/>
              <a:ext cx="866"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W(A)</a:t>
              </a:r>
            </a:p>
          </p:txBody>
        </p:sp>
        <p:sp>
          <p:nvSpPr>
            <p:cNvPr id="57" name="Text Box 35">
              <a:extLst>
                <a:ext uri="{FF2B5EF4-FFF2-40B4-BE49-F238E27FC236}">
                  <a16:creationId xmlns:a16="http://schemas.microsoft.com/office/drawing/2014/main" id="{191DD152-234A-894C-A1A4-488B02F2D09C}"/>
                </a:ext>
              </a:extLst>
            </p:cNvPr>
            <p:cNvSpPr txBox="1">
              <a:spLocks noChangeArrowheads="1"/>
            </p:cNvSpPr>
            <p:nvPr/>
          </p:nvSpPr>
          <p:spPr bwMode="auto">
            <a:xfrm>
              <a:off x="4268" y="2560"/>
              <a:ext cx="721"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R(B)</a:t>
              </a:r>
            </a:p>
          </p:txBody>
        </p:sp>
        <p:sp>
          <p:nvSpPr>
            <p:cNvPr id="58" name="Text Box 36">
              <a:extLst>
                <a:ext uri="{FF2B5EF4-FFF2-40B4-BE49-F238E27FC236}">
                  <a16:creationId xmlns:a16="http://schemas.microsoft.com/office/drawing/2014/main" id="{AF8DD3A1-DF3F-2048-94A9-E067D93F5D5A}"/>
                </a:ext>
              </a:extLst>
            </p:cNvPr>
            <p:cNvSpPr txBox="1">
              <a:spLocks noChangeArrowheads="1"/>
            </p:cNvSpPr>
            <p:nvPr/>
          </p:nvSpPr>
          <p:spPr bwMode="auto">
            <a:xfrm>
              <a:off x="4892" y="2556"/>
              <a:ext cx="818" cy="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grpSp>
      <p:sp>
        <p:nvSpPr>
          <p:cNvPr id="59" name="Text Box 29" descr="T1: R(A)&#10;T1: W(A)&#10;T2: R(A)&#10;T2: W(A)&#10;T1: R(B)&#10;T1: W(B)&#10;T2: R(B)&#10;T2: W(B)" title="Transactions">
            <a:extLst>
              <a:ext uri="{FF2B5EF4-FFF2-40B4-BE49-F238E27FC236}">
                <a16:creationId xmlns:a16="http://schemas.microsoft.com/office/drawing/2014/main" id="{24028D3B-FD04-D741-8554-B0B78B279917}"/>
              </a:ext>
            </a:extLst>
          </p:cNvPr>
          <p:cNvSpPr txBox="1">
            <a:spLocks noChangeArrowheads="1"/>
          </p:cNvSpPr>
          <p:nvPr/>
        </p:nvSpPr>
        <p:spPr bwMode="auto">
          <a:xfrm>
            <a:off x="152401" y="257175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60" name="Text Box 30" descr="T1: R(A)&#10;T1: W(A)&#10;T2: R(A)&#10;T2: W(A)&#10;T1: R(B)&#10;T1: W(B)&#10;T2: R(B)&#10;T2: W(B)" title="Transactions">
            <a:extLst>
              <a:ext uri="{FF2B5EF4-FFF2-40B4-BE49-F238E27FC236}">
                <a16:creationId xmlns:a16="http://schemas.microsoft.com/office/drawing/2014/main" id="{2069A5BE-3702-8E43-8C17-06E64006B0BF}"/>
              </a:ext>
            </a:extLst>
          </p:cNvPr>
          <p:cNvSpPr txBox="1">
            <a:spLocks noChangeArrowheads="1"/>
          </p:cNvSpPr>
          <p:nvPr/>
        </p:nvSpPr>
        <p:spPr bwMode="auto">
          <a:xfrm>
            <a:off x="3352801" y="257175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R(B)</a:t>
            </a:r>
          </a:p>
        </p:txBody>
      </p:sp>
      <p:sp>
        <p:nvSpPr>
          <p:cNvPr id="61" name="Text Box 31" descr="T1: R(A)&#10;T1: W(A)&#10;T2: R(A)&#10;T2: W(A)&#10;T1: R(B)&#10;T1: W(B)&#10;T2: R(B)&#10;T2: W(B)" title="Transactions">
            <a:extLst>
              <a:ext uri="{FF2B5EF4-FFF2-40B4-BE49-F238E27FC236}">
                <a16:creationId xmlns:a16="http://schemas.microsoft.com/office/drawing/2014/main" id="{61A7A058-6E0A-2C4A-ADE1-F03EBBF7668D}"/>
              </a:ext>
            </a:extLst>
          </p:cNvPr>
          <p:cNvSpPr txBox="1">
            <a:spLocks noChangeArrowheads="1"/>
          </p:cNvSpPr>
          <p:nvPr/>
        </p:nvSpPr>
        <p:spPr bwMode="auto">
          <a:xfrm>
            <a:off x="1004888" y="2586038"/>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W(A)</a:t>
            </a:r>
          </a:p>
        </p:txBody>
      </p:sp>
      <p:sp>
        <p:nvSpPr>
          <p:cNvPr id="62" name="Text Box 32" descr="T1: R(A)&#10;T1: W(A)&#10;T2: R(A)&#10;T2: W(A)&#10;T1: R(B)&#10;T1: W(B)&#10;T2: R(B)&#10;T2: W(B)" title="Transactions">
            <a:extLst>
              <a:ext uri="{FF2B5EF4-FFF2-40B4-BE49-F238E27FC236}">
                <a16:creationId xmlns:a16="http://schemas.microsoft.com/office/drawing/2014/main" id="{D6A2F807-9580-F443-8D48-CAC98A9D05CD}"/>
              </a:ext>
            </a:extLst>
          </p:cNvPr>
          <p:cNvSpPr txBox="1">
            <a:spLocks noChangeArrowheads="1"/>
          </p:cNvSpPr>
          <p:nvPr/>
        </p:nvSpPr>
        <p:spPr bwMode="auto">
          <a:xfrm>
            <a:off x="4090988" y="2581276"/>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t>W(B)</a:t>
            </a:r>
          </a:p>
        </p:txBody>
      </p:sp>
      <p:sp>
        <p:nvSpPr>
          <p:cNvPr id="63" name="Text Box 33" descr="T1: R(A)&#10;T1: W(A)&#10;T2: R(A)&#10;T2: W(A)&#10;T1: R(B)&#10;T1: W(B)&#10;T2: R(B)&#10;T2: W(B)" title="Transactions">
            <a:extLst>
              <a:ext uri="{FF2B5EF4-FFF2-40B4-BE49-F238E27FC236}">
                <a16:creationId xmlns:a16="http://schemas.microsoft.com/office/drawing/2014/main" id="{419C9A85-2D85-4643-9DF1-5649D18A960F}"/>
              </a:ext>
            </a:extLst>
          </p:cNvPr>
          <p:cNvSpPr txBox="1">
            <a:spLocks noChangeArrowheads="1"/>
          </p:cNvSpPr>
          <p:nvPr/>
        </p:nvSpPr>
        <p:spPr bwMode="auto">
          <a:xfrm>
            <a:off x="1809751" y="2971801"/>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65" name="Text Box 34" descr="T1: R(A)&#10;T1: W(A)&#10;T2: R(A)&#10;T2: W(A)&#10;T1: R(B)&#10;T1: W(B)&#10;T2: R(B)&#10;T2: W(B)" title="Transactions">
            <a:extLst>
              <a:ext uri="{FF2B5EF4-FFF2-40B4-BE49-F238E27FC236}">
                <a16:creationId xmlns:a16="http://schemas.microsoft.com/office/drawing/2014/main" id="{9A37C655-D9ED-0642-A790-09BF227E0FD1}"/>
              </a:ext>
            </a:extLst>
          </p:cNvPr>
          <p:cNvSpPr txBox="1">
            <a:spLocks noChangeArrowheads="1"/>
          </p:cNvSpPr>
          <p:nvPr/>
        </p:nvSpPr>
        <p:spPr bwMode="auto">
          <a:xfrm>
            <a:off x="2609851" y="2990851"/>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66" name="Text Box 35" descr="T1: R(A)&#10;T1: W(A)&#10;T2: R(A)&#10;T2: W(A)&#10;T1: R(B)&#10;T1: W(B)&#10;T2: R(B)&#10;T2: W(B)" title="Transactions">
            <a:extLst>
              <a:ext uri="{FF2B5EF4-FFF2-40B4-BE49-F238E27FC236}">
                <a16:creationId xmlns:a16="http://schemas.microsoft.com/office/drawing/2014/main" id="{59A09E64-441D-A348-B9AC-FF505BAA161A}"/>
              </a:ext>
            </a:extLst>
          </p:cNvPr>
          <p:cNvSpPr txBox="1">
            <a:spLocks noChangeArrowheads="1"/>
          </p:cNvSpPr>
          <p:nvPr/>
        </p:nvSpPr>
        <p:spPr bwMode="auto">
          <a:xfrm>
            <a:off x="5062538" y="3048001"/>
            <a:ext cx="857927"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R(B)</a:t>
            </a:r>
          </a:p>
        </p:txBody>
      </p:sp>
      <p:sp>
        <p:nvSpPr>
          <p:cNvPr id="67" name="Text Box 36" descr="T1: R(A)&#10;T1: W(A)&#10;T2: R(A)&#10;T2: W(A)&#10;T1: R(B)&#10;T1: W(B)&#10;T2: R(B)&#10;T2: W(B)" title="Transactions">
            <a:extLst>
              <a:ext uri="{FF2B5EF4-FFF2-40B4-BE49-F238E27FC236}">
                <a16:creationId xmlns:a16="http://schemas.microsoft.com/office/drawing/2014/main" id="{FD2C9FCE-094D-A64B-AC17-703FDE19024B}"/>
              </a:ext>
            </a:extLst>
          </p:cNvPr>
          <p:cNvSpPr txBox="1">
            <a:spLocks noChangeArrowheads="1"/>
          </p:cNvSpPr>
          <p:nvPr/>
        </p:nvSpPr>
        <p:spPr bwMode="auto">
          <a:xfrm>
            <a:off x="5805488" y="3043238"/>
            <a:ext cx="973343"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a:solidFill>
                  <a:schemeClr val="accent2"/>
                </a:solidFill>
              </a:rPr>
              <a:t>W(B)</a:t>
            </a:r>
          </a:p>
        </p:txBody>
      </p:sp>
    </p:spTree>
    <p:extLst>
      <p:ext uri="{BB962C8B-B14F-4D97-AF65-F5344CB8AC3E}">
        <p14:creationId xmlns:p14="http://schemas.microsoft.com/office/powerpoint/2010/main" val="589040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Conflict Serializability (Continued)</a:t>
            </a:r>
            <a:endParaRPr lang="en-US" dirty="0"/>
          </a:p>
        </p:txBody>
      </p:sp>
      <p:sp>
        <p:nvSpPr>
          <p:cNvPr id="3" name="Content Placeholder 2">
            <a:extLst>
              <a:ext uri="{FF2B5EF4-FFF2-40B4-BE49-F238E27FC236}">
                <a16:creationId xmlns:a16="http://schemas.microsoft.com/office/drawing/2014/main" id="{84D59DE6-1F7C-EA45-836A-45F181E43AC5}"/>
              </a:ext>
            </a:extLst>
          </p:cNvPr>
          <p:cNvSpPr>
            <a:spLocks noGrp="1"/>
          </p:cNvSpPr>
          <p:nvPr>
            <p:ph idx="1"/>
          </p:nvPr>
        </p:nvSpPr>
        <p:spPr/>
        <p:txBody>
          <a:bodyPr/>
          <a:lstStyle/>
          <a:p>
            <a:r>
              <a:rPr lang="en-US" b="1" dirty="0">
                <a:ea typeface="Lucida Console" charset="0"/>
                <a:cs typeface="Lucida Console" charset="0"/>
              </a:rPr>
              <a:t>Here’s another example:</a:t>
            </a:r>
          </a:p>
          <a:p>
            <a:pPr>
              <a:spcBef>
                <a:spcPts val="12000"/>
              </a:spcBef>
            </a:pPr>
            <a:r>
              <a:rPr lang="en-US" b="1" dirty="0">
                <a:ea typeface="Lucida Console" charset="0"/>
                <a:cs typeface="Lucida Console" charset="0"/>
              </a:rPr>
              <a:t>Conflict Serializable or not?</a:t>
            </a:r>
          </a:p>
        </p:txBody>
      </p:sp>
      <p:sp>
        <p:nvSpPr>
          <p:cNvPr id="44" name="Text Box 5" descr="T1: Read A" title="First Step"/>
          <p:cNvSpPr txBox="1">
            <a:spLocks noChangeArrowheads="1"/>
          </p:cNvSpPr>
          <p:nvPr/>
        </p:nvSpPr>
        <p:spPr bwMode="auto">
          <a:xfrm>
            <a:off x="1693099" y="1716882"/>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R(A)</a:t>
            </a:r>
          </a:p>
        </p:txBody>
      </p:sp>
      <p:sp>
        <p:nvSpPr>
          <p:cNvPr id="45" name="Text Box 7" descr="T1: Write A" title="Fourth Step"/>
          <p:cNvSpPr txBox="1">
            <a:spLocks noChangeArrowheads="1"/>
          </p:cNvSpPr>
          <p:nvPr/>
        </p:nvSpPr>
        <p:spPr bwMode="auto">
          <a:xfrm>
            <a:off x="4150549" y="1740694"/>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t>W(A)</a:t>
            </a:r>
          </a:p>
        </p:txBody>
      </p:sp>
      <p:sp>
        <p:nvSpPr>
          <p:cNvPr id="46" name="Text Box 9" descr="T2: Read A" title="Second Step"/>
          <p:cNvSpPr txBox="1">
            <a:spLocks noChangeArrowheads="1"/>
          </p:cNvSpPr>
          <p:nvPr/>
        </p:nvSpPr>
        <p:spPr bwMode="auto">
          <a:xfrm>
            <a:off x="2436049" y="2083594"/>
            <a:ext cx="915635"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R(A)</a:t>
            </a:r>
          </a:p>
        </p:txBody>
      </p:sp>
      <p:sp>
        <p:nvSpPr>
          <p:cNvPr id="47" name="Text Box 10" descr="T2: Write A" title="Third Step"/>
          <p:cNvSpPr txBox="1">
            <a:spLocks noChangeArrowheads="1"/>
          </p:cNvSpPr>
          <p:nvPr/>
        </p:nvSpPr>
        <p:spPr bwMode="auto">
          <a:xfrm>
            <a:off x="3236149" y="2102644"/>
            <a:ext cx="1031051" cy="5078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700" dirty="0">
                <a:solidFill>
                  <a:schemeClr val="accent2"/>
                </a:solidFill>
              </a:rPr>
              <a:t>W(A)</a:t>
            </a:r>
          </a:p>
        </p:txBody>
      </p:sp>
      <p:sp>
        <p:nvSpPr>
          <p:cNvPr id="48" name="Text Box 13" title="NOT"/>
          <p:cNvSpPr txBox="1">
            <a:spLocks noChangeArrowheads="1"/>
          </p:cNvSpPr>
          <p:nvPr/>
        </p:nvSpPr>
        <p:spPr bwMode="auto">
          <a:xfrm>
            <a:off x="2688553" y="3678518"/>
            <a:ext cx="1326261" cy="6001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3300" dirty="0">
                <a:latin typeface="Arial Black" charset="0"/>
              </a:rPr>
              <a:t>NOT!</a:t>
            </a:r>
          </a:p>
        </p:txBody>
      </p:sp>
    </p:spTree>
    <p:extLst>
      <p:ext uri="{BB962C8B-B14F-4D97-AF65-F5344CB8AC3E}">
        <p14:creationId xmlns:p14="http://schemas.microsoft.com/office/powerpoint/2010/main" val="51160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Conflict Dependency Graph</a:t>
            </a:r>
          </a:p>
        </p:txBody>
      </p:sp>
      <p:sp>
        <p:nvSpPr>
          <p:cNvPr id="3" name="Content Placeholder 2">
            <a:extLst>
              <a:ext uri="{FF2B5EF4-FFF2-40B4-BE49-F238E27FC236}">
                <a16:creationId xmlns:a16="http://schemas.microsoft.com/office/drawing/2014/main" id="{795B2AF6-B539-4F4B-A000-4B93F1609732}"/>
              </a:ext>
            </a:extLst>
          </p:cNvPr>
          <p:cNvSpPr>
            <a:spLocks noGrp="1"/>
          </p:cNvSpPr>
          <p:nvPr>
            <p:ph idx="1"/>
          </p:nvPr>
        </p:nvSpPr>
        <p:spPr>
          <a:xfrm>
            <a:off x="457200" y="1200151"/>
            <a:ext cx="8686800" cy="3394472"/>
          </a:xfrm>
        </p:spPr>
        <p:txBody>
          <a:bodyPr/>
          <a:lstStyle/>
          <a:p>
            <a:r>
              <a:rPr lang="en-US" sz="1800" b="1" dirty="0">
                <a:ea typeface="Lucida Console" charset="0"/>
                <a:cs typeface="Lucida Console" charset="0"/>
              </a:rPr>
              <a:t>Dependency Graph:</a:t>
            </a:r>
          </a:p>
          <a:p>
            <a:pPr lvl="1"/>
            <a:r>
              <a:rPr lang="en-US" sz="1650" dirty="0">
                <a:ea typeface="Lucida Console" charset="0"/>
                <a:cs typeface="Lucida Console" charset="0"/>
              </a:rPr>
              <a:t>One node per Xact</a:t>
            </a:r>
          </a:p>
          <a:p>
            <a:pPr lvl="1"/>
            <a:r>
              <a:rPr lang="en-US" sz="1650" dirty="0">
                <a:ea typeface="Lucida Console" charset="0"/>
                <a:cs typeface="Lucida Console" charset="0"/>
              </a:rPr>
              <a:t>Edge from </a:t>
            </a:r>
            <a:r>
              <a:rPr lang="en-US" sz="1650" dirty="0" err="1">
                <a:ea typeface="Lucida Console" charset="0"/>
                <a:cs typeface="Lucida Console" charset="0"/>
              </a:rPr>
              <a:t>Ti</a:t>
            </a:r>
            <a:r>
              <a:rPr lang="en-US" sz="1650" dirty="0">
                <a:ea typeface="Lucida Console" charset="0"/>
                <a:cs typeface="Lucida Console" charset="0"/>
              </a:rPr>
              <a:t> to </a:t>
            </a:r>
            <a:r>
              <a:rPr lang="en-US" sz="1650" dirty="0" err="1">
                <a:ea typeface="Lucida Console" charset="0"/>
                <a:cs typeface="Lucida Console" charset="0"/>
              </a:rPr>
              <a:t>Tj</a:t>
            </a:r>
            <a:r>
              <a:rPr lang="en-US" sz="1650" dirty="0">
                <a:ea typeface="Lucida Console" charset="0"/>
                <a:cs typeface="Lucida Console" charset="0"/>
              </a:rPr>
              <a:t> if:</a:t>
            </a:r>
          </a:p>
          <a:p>
            <a:pPr lvl="2"/>
            <a:r>
              <a:rPr lang="en-US" sz="1500" dirty="0">
                <a:ea typeface="Lucida Console" charset="0"/>
                <a:cs typeface="Lucida Console" charset="0"/>
              </a:rPr>
              <a:t>An operation Oi of </a:t>
            </a:r>
            <a:r>
              <a:rPr lang="en-US" sz="1500" dirty="0" err="1">
                <a:ea typeface="Lucida Console" charset="0"/>
                <a:cs typeface="Lucida Console" charset="0"/>
              </a:rPr>
              <a:t>Ti</a:t>
            </a:r>
            <a:r>
              <a:rPr lang="en-US" sz="1500" dirty="0">
                <a:ea typeface="Lucida Console" charset="0"/>
                <a:cs typeface="Lucida Console" charset="0"/>
              </a:rPr>
              <a:t> conflicts with an operation </a:t>
            </a:r>
            <a:r>
              <a:rPr lang="en-US" sz="1500" dirty="0" err="1">
                <a:ea typeface="Lucida Console" charset="0"/>
                <a:cs typeface="Lucida Console" charset="0"/>
              </a:rPr>
              <a:t>Oj</a:t>
            </a:r>
            <a:r>
              <a:rPr lang="en-US" sz="1500" dirty="0">
                <a:ea typeface="Lucida Console" charset="0"/>
                <a:cs typeface="Lucida Console" charset="0"/>
              </a:rPr>
              <a:t> of </a:t>
            </a:r>
            <a:r>
              <a:rPr lang="en-US" sz="1500" dirty="0" err="1">
                <a:ea typeface="Lucida Console" charset="0"/>
                <a:cs typeface="Lucida Console" charset="0"/>
              </a:rPr>
              <a:t>Tj</a:t>
            </a:r>
            <a:r>
              <a:rPr lang="en-US" sz="1500" dirty="0">
                <a:ea typeface="Lucida Console" charset="0"/>
                <a:cs typeface="Lucida Console" charset="0"/>
              </a:rPr>
              <a:t> and</a:t>
            </a:r>
          </a:p>
          <a:p>
            <a:pPr lvl="2"/>
            <a:r>
              <a:rPr lang="en-US" sz="1500" dirty="0">
                <a:ea typeface="Lucida Console" charset="0"/>
                <a:cs typeface="Lucida Console" charset="0"/>
              </a:rPr>
              <a:t>Oi appears earlier in the schedule than </a:t>
            </a:r>
            <a:r>
              <a:rPr lang="en-US" sz="1500" dirty="0" err="1">
                <a:ea typeface="Lucida Console" charset="0"/>
                <a:cs typeface="Lucida Console" charset="0"/>
              </a:rPr>
              <a:t>Oj</a:t>
            </a:r>
            <a:endParaRPr lang="en-US" sz="1800" b="1" dirty="0">
              <a:ea typeface="Lucida Console" charset="0"/>
              <a:cs typeface="Lucida Console" charset="0"/>
            </a:endParaRPr>
          </a:p>
          <a:p>
            <a:pPr marL="0">
              <a:spcBef>
                <a:spcPts val="2000"/>
              </a:spcBef>
            </a:pPr>
            <a:r>
              <a:rPr lang="en-US" sz="1800" b="1" dirty="0">
                <a:ea typeface="Lucida Console" charset="0"/>
                <a:cs typeface="Lucida Console" charset="0"/>
              </a:rPr>
              <a:t>Theorem: Schedule is conflict serializable if and only if its </a:t>
            </a:r>
          </a:p>
          <a:p>
            <a:pPr marL="1463040" indent="0">
              <a:spcBef>
                <a:spcPts val="0"/>
              </a:spcBef>
              <a:buNone/>
            </a:pPr>
            <a:r>
              <a:rPr lang="en-US" sz="1800" b="1" dirty="0">
                <a:ea typeface="Lucida Console" charset="0"/>
                <a:cs typeface="Lucida Console" charset="0"/>
              </a:rPr>
              <a:t>dependency graph is acyclic.</a:t>
            </a:r>
          </a:p>
          <a:p>
            <a:pPr marL="357188" indent="0">
              <a:spcBef>
                <a:spcPts val="0"/>
              </a:spcBef>
              <a:buNone/>
            </a:pPr>
            <a:r>
              <a:rPr lang="en-US" sz="1800" dirty="0">
                <a:ea typeface="Lucida Console" charset="0"/>
                <a:cs typeface="Lucida Console" charset="0"/>
              </a:rPr>
              <a:t>Proof Sketch: Conflicting operations prevent us</a:t>
            </a:r>
            <a:br>
              <a:rPr lang="en-US" sz="1800" dirty="0">
                <a:ea typeface="Lucida Console" charset="0"/>
                <a:cs typeface="Lucida Console" charset="0"/>
              </a:rPr>
            </a:br>
            <a:r>
              <a:rPr lang="en-US" sz="1800" dirty="0">
                <a:ea typeface="Lucida Console" charset="0"/>
                <a:cs typeface="Lucida Console" charset="0"/>
              </a:rPr>
              <a:t>                  from “swapping” operations into a</a:t>
            </a:r>
          </a:p>
          <a:p>
            <a:pPr marL="357188" indent="0">
              <a:spcBef>
                <a:spcPts val="0"/>
              </a:spcBef>
              <a:buNone/>
            </a:pPr>
            <a:r>
              <a:rPr lang="en-US" sz="1800" dirty="0">
                <a:ea typeface="Lucida Console" charset="0"/>
                <a:cs typeface="Lucida Console" charset="0"/>
              </a:rPr>
              <a:t>                  serial schedule</a:t>
            </a:r>
          </a:p>
        </p:txBody>
      </p:sp>
      <p:grpSp>
        <p:nvGrpSpPr>
          <p:cNvPr id="4" name="Group 3" descr="T_i -&gt; T_j" title="Depency Graph">
            <a:extLst>
              <a:ext uri="{FF2B5EF4-FFF2-40B4-BE49-F238E27FC236}">
                <a16:creationId xmlns:a16="http://schemas.microsoft.com/office/drawing/2014/main" id="{76FF2CC1-EF6F-B44F-A702-DEC044EDC9EF}"/>
              </a:ext>
            </a:extLst>
          </p:cNvPr>
          <p:cNvGrpSpPr/>
          <p:nvPr/>
        </p:nvGrpSpPr>
        <p:grpSpPr>
          <a:xfrm>
            <a:off x="6400800" y="893358"/>
            <a:ext cx="1933575" cy="504825"/>
            <a:chOff x="5444729" y="758429"/>
            <a:chExt cx="1933575" cy="504825"/>
          </a:xfrm>
        </p:grpSpPr>
        <p:sp>
          <p:nvSpPr>
            <p:cNvPr id="16" name="Oval 4"/>
            <p:cNvSpPr>
              <a:spLocks noChangeArrowheads="1"/>
            </p:cNvSpPr>
            <p:nvPr/>
          </p:nvSpPr>
          <p:spPr bwMode="auto">
            <a:xfrm>
              <a:off x="5444729" y="758429"/>
              <a:ext cx="504825" cy="504825"/>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dirty="0" err="1">
                  <a:solidFill>
                    <a:schemeClr val="tx2"/>
                  </a:solidFill>
                </a:rPr>
                <a:t>Ti</a:t>
              </a:r>
              <a:endParaRPr lang="en-US" dirty="0">
                <a:solidFill>
                  <a:schemeClr val="tx2"/>
                </a:solidFill>
              </a:endParaRPr>
            </a:p>
          </p:txBody>
        </p:sp>
        <p:sp>
          <p:nvSpPr>
            <p:cNvPr id="17" name="Oval 5"/>
            <p:cNvSpPr>
              <a:spLocks noChangeArrowheads="1"/>
            </p:cNvSpPr>
            <p:nvPr/>
          </p:nvSpPr>
          <p:spPr bwMode="auto">
            <a:xfrm>
              <a:off x="6873479" y="758429"/>
              <a:ext cx="504825" cy="504825"/>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r>
                <a:rPr lang="en-US" dirty="0" err="1">
                  <a:solidFill>
                    <a:schemeClr val="tx2"/>
                  </a:solidFill>
                </a:rPr>
                <a:t>Tj</a:t>
              </a:r>
              <a:endParaRPr lang="en-US" dirty="0">
                <a:solidFill>
                  <a:schemeClr val="tx2"/>
                </a:solidFill>
              </a:endParaRPr>
            </a:p>
          </p:txBody>
        </p:sp>
        <p:sp>
          <p:nvSpPr>
            <p:cNvPr id="21" name="Line 9"/>
            <p:cNvSpPr>
              <a:spLocks noChangeShapeType="1"/>
            </p:cNvSpPr>
            <p:nvPr/>
          </p:nvSpPr>
          <p:spPr bwMode="auto">
            <a:xfrm>
              <a:off x="5944791" y="1017985"/>
              <a:ext cx="919163" cy="10715"/>
            </a:xfrm>
            <a:prstGeom prst="line">
              <a:avLst/>
            </a:prstGeom>
            <a:noFill/>
            <a:ln w="12700">
              <a:solidFill>
                <a:schemeClr val="tx1"/>
              </a:solidFill>
              <a:round/>
              <a:headEnd type="none" w="sm" len="sm"/>
              <a:tailEnd type="arrow" w="lg" len="med"/>
            </a:ln>
            <a:extLst>
              <a:ext uri="{909E8E84-426E-40dd-AFC4-6F175D3DCCD1}">
                <a14:hiddenFill xmlns="" xmlns:a14="http://schemas.microsoft.com/office/drawing/2010/main">
                  <a:noFill/>
                </a14:hiddenFill>
              </a:ext>
            </a:extLst>
          </p:spPr>
          <p:txBody>
            <a:bodyPr wrap="none" anchor="ctr"/>
            <a:lstStyle/>
            <a:p>
              <a:endParaRPr lang="en-US" sz="1350"/>
            </a:p>
          </p:txBody>
        </p:sp>
      </p:grpSp>
    </p:spTree>
    <p:extLst>
      <p:ext uri="{BB962C8B-B14F-4D97-AF65-F5344CB8AC3E}">
        <p14:creationId xmlns:p14="http://schemas.microsoft.com/office/powerpoint/2010/main" val="159168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Example</a:t>
            </a:r>
            <a:endParaRPr lang="en-US" dirty="0"/>
          </a:p>
        </p:txBody>
      </p:sp>
      <p:sp>
        <p:nvSpPr>
          <p:cNvPr id="3" name="Content Placeholder 2">
            <a:extLst>
              <a:ext uri="{FF2B5EF4-FFF2-40B4-BE49-F238E27FC236}">
                <a16:creationId xmlns:a16="http://schemas.microsoft.com/office/drawing/2014/main" id="{B73FF829-C849-1A42-B809-E593F448D746}"/>
              </a:ext>
            </a:extLst>
          </p:cNvPr>
          <p:cNvSpPr>
            <a:spLocks noGrp="1"/>
          </p:cNvSpPr>
          <p:nvPr>
            <p:ph idx="1"/>
          </p:nvPr>
        </p:nvSpPr>
        <p:spPr/>
        <p:txBody>
          <a:bodyPr/>
          <a:lstStyle/>
          <a:p>
            <a:r>
              <a:rPr lang="en-US" b="1" dirty="0">
                <a:ea typeface="Lucida Console" charset="0"/>
                <a:cs typeface="Lucida Console" charset="0"/>
              </a:rPr>
              <a:t>A schedule that is not conflict serializable</a:t>
            </a:r>
          </a:p>
        </p:txBody>
      </p:sp>
      <p:grpSp>
        <p:nvGrpSpPr>
          <p:cNvPr id="4" name="Group 3" descr="Two independent nodes: T1 and T2" title="Depency Graph">
            <a:extLst>
              <a:ext uri="{FF2B5EF4-FFF2-40B4-BE49-F238E27FC236}">
                <a16:creationId xmlns:a16="http://schemas.microsoft.com/office/drawing/2014/main" id="{7F76C2D1-FE71-584C-BCC1-07A3087BB9A3}"/>
              </a:ext>
            </a:extLst>
          </p:cNvPr>
          <p:cNvGrpSpPr/>
          <p:nvPr/>
        </p:nvGrpSpPr>
        <p:grpSpPr>
          <a:xfrm>
            <a:off x="1196579" y="3177779"/>
            <a:ext cx="4847064" cy="504825"/>
            <a:chOff x="1196579" y="3177779"/>
            <a:chExt cx="4847064" cy="504825"/>
          </a:xfrm>
        </p:grpSpPr>
        <p:sp>
          <p:nvSpPr>
            <p:cNvPr id="36" name="Oval 5"/>
            <p:cNvSpPr>
              <a:spLocks noChangeArrowheads="1"/>
            </p:cNvSpPr>
            <p:nvPr/>
          </p:nvSpPr>
          <p:spPr bwMode="auto">
            <a:xfrm>
              <a:off x="11965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37" name="Oval 6"/>
            <p:cNvSpPr>
              <a:spLocks noChangeArrowheads="1"/>
            </p:cNvSpPr>
            <p:nvPr/>
          </p:nvSpPr>
          <p:spPr bwMode="auto">
            <a:xfrm>
              <a:off x="33682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38" name="Rectangle 7"/>
            <p:cNvSpPr>
              <a:spLocks noChangeArrowheads="1"/>
            </p:cNvSpPr>
            <p:nvPr/>
          </p:nvSpPr>
          <p:spPr bwMode="auto">
            <a:xfrm>
              <a:off x="12382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39" name="Rectangle 8"/>
            <p:cNvSpPr>
              <a:spLocks noChangeArrowheads="1"/>
            </p:cNvSpPr>
            <p:nvPr/>
          </p:nvSpPr>
          <p:spPr bwMode="auto">
            <a:xfrm>
              <a:off x="34099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55" name="Rectangle 17"/>
            <p:cNvSpPr>
              <a:spLocks noChangeArrowheads="1"/>
            </p:cNvSpPr>
            <p:nvPr/>
          </p:nvSpPr>
          <p:spPr bwMode="auto">
            <a:xfrm>
              <a:off x="4152900" y="3276601"/>
              <a:ext cx="1890743"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i="1">
                  <a:solidFill>
                    <a:schemeClr val="accent2"/>
                  </a:solidFill>
                </a:rPr>
                <a:t>Dependency graph</a:t>
              </a:r>
            </a:p>
          </p:txBody>
        </p:sp>
      </p:grpSp>
      <p:sp>
        <p:nvSpPr>
          <p:cNvPr id="59" name="Rectangle 20" descr="T1: R(A), W(A)&#10;T2: Nothing" title="Transaction Table"/>
          <p:cNvSpPr>
            <a:spLocks noChangeArrowheads="1"/>
          </p:cNvSpPr>
          <p:nvPr/>
        </p:nvSpPr>
        <p:spPr bwMode="auto">
          <a:xfrm>
            <a:off x="609600" y="2019300"/>
            <a:ext cx="6096000" cy="621325"/>
          </a:xfrm>
          <a:prstGeom prst="rect">
            <a:avLst/>
          </a:prstGeom>
          <a:solidFill>
            <a:schemeClr val="bg1"/>
          </a:solidFill>
          <a:ln w="12700">
            <a:solidFill>
              <a:schemeClr val="tx1"/>
            </a:solidFill>
            <a:miter lim="800000"/>
            <a:headEnd/>
            <a:tailEnd/>
          </a:ln>
        </p:spPr>
        <p:txBody>
          <a:bodyPr wrap="square" lIns="67866" tIns="33338" rIns="67866" bIns="33338">
            <a:spAutoFit/>
          </a:bodyPr>
          <a:lstStyle/>
          <a:p>
            <a:r>
              <a:rPr lang="en-US" dirty="0"/>
              <a:t>T1:	 R(A), W(A)  		     		   		</a:t>
            </a:r>
          </a:p>
        </p:txBody>
      </p:sp>
    </p:spTree>
    <p:extLst>
      <p:ext uri="{BB962C8B-B14F-4D97-AF65-F5344CB8AC3E}">
        <p14:creationId xmlns:p14="http://schemas.microsoft.com/office/powerpoint/2010/main" val="131174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Example, </a:t>
            </a:r>
            <a:r>
              <a:rPr lang="en-US" dirty="0" err="1"/>
              <a:t>pt</a:t>
            </a:r>
            <a:r>
              <a:rPr lang="en-US" dirty="0"/>
              <a:t> 2</a:t>
            </a:r>
          </a:p>
        </p:txBody>
      </p:sp>
      <p:sp>
        <p:nvSpPr>
          <p:cNvPr id="3" name="Content Placeholder 2">
            <a:extLst>
              <a:ext uri="{FF2B5EF4-FFF2-40B4-BE49-F238E27FC236}">
                <a16:creationId xmlns:a16="http://schemas.microsoft.com/office/drawing/2014/main" id="{DEDA8ECD-F4E3-654A-84AA-C634238A3A5A}"/>
              </a:ext>
            </a:extLst>
          </p:cNvPr>
          <p:cNvSpPr>
            <a:spLocks noGrp="1"/>
          </p:cNvSpPr>
          <p:nvPr>
            <p:ph idx="1"/>
          </p:nvPr>
        </p:nvSpPr>
        <p:spPr>
          <a:xfrm>
            <a:off x="457200" y="1200151"/>
            <a:ext cx="8229600" cy="3394472"/>
          </a:xfrm>
        </p:spPr>
        <p:txBody>
          <a:bodyPr/>
          <a:lstStyle/>
          <a:p>
            <a:r>
              <a:rPr lang="en-US" b="1" dirty="0">
                <a:ea typeface="Lucida Console" charset="0"/>
                <a:cs typeface="Lucida Console" charset="0"/>
              </a:rPr>
              <a:t>A schedule that is not conflict serializable</a:t>
            </a:r>
          </a:p>
        </p:txBody>
      </p:sp>
      <p:sp>
        <p:nvSpPr>
          <p:cNvPr id="59" name="Rectangle 20" descr="1) T1: R(A)&#10;2) T1: W(A)&#10;3) T2: R(A)" title="Schedule"/>
          <p:cNvSpPr>
            <a:spLocks noChangeArrowheads="1"/>
          </p:cNvSpPr>
          <p:nvPr/>
        </p:nvSpPr>
        <p:spPr bwMode="auto">
          <a:xfrm>
            <a:off x="612648" y="2020824"/>
            <a:ext cx="6092952" cy="621325"/>
          </a:xfrm>
          <a:prstGeom prst="rect">
            <a:avLst/>
          </a:prstGeom>
          <a:solidFill>
            <a:schemeClr val="bg1"/>
          </a:solidFill>
          <a:ln w="12700">
            <a:solidFill>
              <a:schemeClr val="tx1"/>
            </a:solidFill>
            <a:miter lim="800000"/>
            <a:headEnd/>
            <a:tailEnd/>
          </a:ln>
        </p:spPr>
        <p:txBody>
          <a:bodyPr wrap="square" lIns="67866" tIns="33338" rIns="67866" bIns="33338">
            <a:spAutoFit/>
          </a:bodyPr>
          <a:lstStyle/>
          <a:p>
            <a:r>
              <a:rPr lang="en-US" dirty="0"/>
              <a:t>T1:	 R(A), W(A),</a:t>
            </a:r>
            <a:endParaRPr lang="en-US" dirty="0">
              <a:solidFill>
                <a:schemeClr val="bg1"/>
              </a:solidFill>
            </a:endParaRPr>
          </a:p>
          <a:p>
            <a:r>
              <a:rPr lang="en-US" dirty="0"/>
              <a:t>T2:	   		R(A)</a:t>
            </a:r>
          </a:p>
        </p:txBody>
      </p:sp>
      <p:grpSp>
        <p:nvGrpSpPr>
          <p:cNvPr id="7" name="Group 6" descr="T1 has an arrow pointing at T2" title="Dependency Graph">
            <a:extLst>
              <a:ext uri="{FF2B5EF4-FFF2-40B4-BE49-F238E27FC236}">
                <a16:creationId xmlns:a16="http://schemas.microsoft.com/office/drawing/2014/main" id="{F7ACC006-08BE-C34A-8535-890DE6C2A8F5}"/>
              </a:ext>
            </a:extLst>
          </p:cNvPr>
          <p:cNvGrpSpPr/>
          <p:nvPr/>
        </p:nvGrpSpPr>
        <p:grpSpPr>
          <a:xfrm>
            <a:off x="1196579" y="3177779"/>
            <a:ext cx="4847064" cy="504825"/>
            <a:chOff x="1196579" y="3177779"/>
            <a:chExt cx="4847064" cy="504825"/>
          </a:xfrm>
        </p:grpSpPr>
        <p:grpSp>
          <p:nvGrpSpPr>
            <p:cNvPr id="19" name="Group 18" descr="Two independent nodes: T1 and T2" title="Depency Graph">
              <a:extLst>
                <a:ext uri="{FF2B5EF4-FFF2-40B4-BE49-F238E27FC236}">
                  <a16:creationId xmlns:a16="http://schemas.microsoft.com/office/drawing/2014/main" id="{F811DE2A-F132-6442-BF23-80FCA9F8E15C}"/>
                </a:ext>
              </a:extLst>
            </p:cNvPr>
            <p:cNvGrpSpPr/>
            <p:nvPr/>
          </p:nvGrpSpPr>
          <p:grpSpPr>
            <a:xfrm>
              <a:off x="1196579" y="3177779"/>
              <a:ext cx="4847064" cy="504825"/>
              <a:chOff x="1196579" y="3177779"/>
              <a:chExt cx="4847064" cy="504825"/>
            </a:xfrm>
          </p:grpSpPr>
          <p:sp>
            <p:nvSpPr>
              <p:cNvPr id="21" name="Oval 5">
                <a:extLst>
                  <a:ext uri="{FF2B5EF4-FFF2-40B4-BE49-F238E27FC236}">
                    <a16:creationId xmlns:a16="http://schemas.microsoft.com/office/drawing/2014/main" id="{FA0D4BAE-D749-6D4D-BF10-6F562E05ACC7}"/>
                  </a:ext>
                </a:extLst>
              </p:cNvPr>
              <p:cNvSpPr>
                <a:spLocks noChangeArrowheads="1"/>
              </p:cNvSpPr>
              <p:nvPr/>
            </p:nvSpPr>
            <p:spPr bwMode="auto">
              <a:xfrm>
                <a:off x="11965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22" name="Oval 6">
                <a:extLst>
                  <a:ext uri="{FF2B5EF4-FFF2-40B4-BE49-F238E27FC236}">
                    <a16:creationId xmlns:a16="http://schemas.microsoft.com/office/drawing/2014/main" id="{88DC6B58-038A-0443-9738-284F9BF624F5}"/>
                  </a:ext>
                </a:extLst>
              </p:cNvPr>
              <p:cNvSpPr>
                <a:spLocks noChangeArrowheads="1"/>
              </p:cNvSpPr>
              <p:nvPr/>
            </p:nvSpPr>
            <p:spPr bwMode="auto">
              <a:xfrm>
                <a:off x="33682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23" name="Rectangle 7">
                <a:extLst>
                  <a:ext uri="{FF2B5EF4-FFF2-40B4-BE49-F238E27FC236}">
                    <a16:creationId xmlns:a16="http://schemas.microsoft.com/office/drawing/2014/main" id="{226D6C80-77C2-DB4B-A483-9286502F7BF2}"/>
                  </a:ext>
                </a:extLst>
              </p:cNvPr>
              <p:cNvSpPr>
                <a:spLocks noChangeArrowheads="1"/>
              </p:cNvSpPr>
              <p:nvPr/>
            </p:nvSpPr>
            <p:spPr bwMode="auto">
              <a:xfrm>
                <a:off x="12382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4" name="Rectangle 8">
                <a:extLst>
                  <a:ext uri="{FF2B5EF4-FFF2-40B4-BE49-F238E27FC236}">
                    <a16:creationId xmlns:a16="http://schemas.microsoft.com/office/drawing/2014/main" id="{312AD557-48E5-5647-9274-4238E85E4206}"/>
                  </a:ext>
                </a:extLst>
              </p:cNvPr>
              <p:cNvSpPr>
                <a:spLocks noChangeArrowheads="1"/>
              </p:cNvSpPr>
              <p:nvPr/>
            </p:nvSpPr>
            <p:spPr bwMode="auto">
              <a:xfrm>
                <a:off x="34099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5" name="Rectangle 17">
                <a:extLst>
                  <a:ext uri="{FF2B5EF4-FFF2-40B4-BE49-F238E27FC236}">
                    <a16:creationId xmlns:a16="http://schemas.microsoft.com/office/drawing/2014/main" id="{4754468D-5834-2C4E-82F3-FFB2F91310AE}"/>
                  </a:ext>
                </a:extLst>
              </p:cNvPr>
              <p:cNvSpPr>
                <a:spLocks noChangeArrowheads="1"/>
              </p:cNvSpPr>
              <p:nvPr/>
            </p:nvSpPr>
            <p:spPr bwMode="auto">
              <a:xfrm>
                <a:off x="4152900" y="3276601"/>
                <a:ext cx="1890743"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i="1">
                    <a:solidFill>
                      <a:schemeClr val="accent2"/>
                    </a:solidFill>
                  </a:rPr>
                  <a:t>Dependency graph</a:t>
                </a:r>
              </a:p>
            </p:txBody>
          </p:sp>
        </p:grpSp>
        <p:cxnSp>
          <p:nvCxnSpPr>
            <p:cNvPr id="6" name="Straight Arrow Connector 5">
              <a:extLst>
                <a:ext uri="{FF2B5EF4-FFF2-40B4-BE49-F238E27FC236}">
                  <a16:creationId xmlns:a16="http://schemas.microsoft.com/office/drawing/2014/main" id="{C5635F7E-39F4-BE44-BB29-7508267519FD}"/>
                </a:ext>
              </a:extLst>
            </p:cNvPr>
            <p:cNvCxnSpPr>
              <a:stCxn id="21" idx="6"/>
              <a:endCxn id="22" idx="2"/>
            </p:cNvCxnSpPr>
            <p:nvPr/>
          </p:nvCxnSpPr>
          <p:spPr>
            <a:xfrm>
              <a:off x="1701404" y="3430192"/>
              <a:ext cx="1666875" cy="0"/>
            </a:xfrm>
            <a:prstGeom prst="straightConnector1">
              <a:avLst/>
            </a:prstGeom>
            <a:ln>
              <a:headEnd type="none"/>
              <a:tailEnd type="arrow"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2296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Example, </a:t>
            </a:r>
            <a:r>
              <a:rPr lang="en-US" dirty="0" err="1"/>
              <a:t>pt</a:t>
            </a:r>
            <a:r>
              <a:rPr lang="en-US" dirty="0"/>
              <a:t> 3</a:t>
            </a:r>
          </a:p>
        </p:txBody>
      </p:sp>
      <p:sp>
        <p:nvSpPr>
          <p:cNvPr id="3" name="Content Placeholder 2">
            <a:extLst>
              <a:ext uri="{FF2B5EF4-FFF2-40B4-BE49-F238E27FC236}">
                <a16:creationId xmlns:a16="http://schemas.microsoft.com/office/drawing/2014/main" id="{D774874A-2CF6-3F4F-BFAB-0EF644A1E868}"/>
              </a:ext>
            </a:extLst>
          </p:cNvPr>
          <p:cNvSpPr>
            <a:spLocks noGrp="1"/>
          </p:cNvSpPr>
          <p:nvPr>
            <p:ph idx="1"/>
          </p:nvPr>
        </p:nvSpPr>
        <p:spPr/>
        <p:txBody>
          <a:bodyPr/>
          <a:lstStyle/>
          <a:p>
            <a:r>
              <a:rPr lang="en-US" b="1" dirty="0">
                <a:ea typeface="Lucida Console" charset="0"/>
                <a:cs typeface="Lucida Console" charset="0"/>
              </a:rPr>
              <a:t>A schedule that is not conflict serializable</a:t>
            </a:r>
          </a:p>
        </p:txBody>
      </p:sp>
      <p:sp>
        <p:nvSpPr>
          <p:cNvPr id="59" name="Rectangle 20" descr="1: T1:R(A)&#10;2: T1:  W(A),           &#10;3: T2: R(A)&#10;4: T2:  W(A)&#10;5: T2: R(B)&#10;6: T2:  W(B)&#10;" title="Schedule"/>
          <p:cNvSpPr>
            <a:spLocks noChangeArrowheads="1"/>
          </p:cNvSpPr>
          <p:nvPr/>
        </p:nvSpPr>
        <p:spPr bwMode="auto">
          <a:xfrm>
            <a:off x="612648" y="2018063"/>
            <a:ext cx="6092952" cy="621325"/>
          </a:xfrm>
          <a:prstGeom prst="rect">
            <a:avLst/>
          </a:prstGeom>
          <a:solidFill>
            <a:schemeClr val="bg1"/>
          </a:solidFill>
          <a:ln w="12700">
            <a:solidFill>
              <a:schemeClr val="tx1"/>
            </a:solidFill>
            <a:miter lim="800000"/>
            <a:headEnd/>
            <a:tailEnd/>
          </a:ln>
        </p:spPr>
        <p:txBody>
          <a:bodyPr wrap="square" lIns="67866" tIns="33338" rIns="67866" bIns="33338">
            <a:spAutoFit/>
          </a:bodyPr>
          <a:lstStyle/>
          <a:p>
            <a:r>
              <a:rPr lang="en-US" dirty="0"/>
              <a:t>T1:	 R(A), W(A),   		     </a:t>
            </a:r>
            <a:endParaRPr lang="en-US" dirty="0">
              <a:solidFill>
                <a:schemeClr val="bg1"/>
              </a:solidFill>
            </a:endParaRPr>
          </a:p>
          <a:p>
            <a:r>
              <a:rPr lang="en-US" dirty="0"/>
              <a:t>T2:	   		R(A), W(A), R(B), W(B)</a:t>
            </a:r>
          </a:p>
        </p:txBody>
      </p:sp>
      <p:grpSp>
        <p:nvGrpSpPr>
          <p:cNvPr id="4" name="Group 3" descr="T1 has an arrow pointing at T2. The arrow is labeled A becuase the conflict is on A" title="Dependency Graph">
            <a:extLst>
              <a:ext uri="{FF2B5EF4-FFF2-40B4-BE49-F238E27FC236}">
                <a16:creationId xmlns:a16="http://schemas.microsoft.com/office/drawing/2014/main" id="{63055C70-8167-4A49-BD75-DC93155A47B5}"/>
              </a:ext>
            </a:extLst>
          </p:cNvPr>
          <p:cNvGrpSpPr/>
          <p:nvPr/>
        </p:nvGrpSpPr>
        <p:grpSpPr>
          <a:xfrm>
            <a:off x="1196579" y="3086100"/>
            <a:ext cx="4847064" cy="596504"/>
            <a:chOff x="1196579" y="3086100"/>
            <a:chExt cx="4847064" cy="596504"/>
          </a:xfrm>
        </p:grpSpPr>
        <p:grpSp>
          <p:nvGrpSpPr>
            <p:cNvPr id="26" name="Group 25" descr="T1 has an arrow pointing at T2. The arrow is labeled A becuase the conflict is on A" title="Dependency Graph">
              <a:extLst>
                <a:ext uri="{FF2B5EF4-FFF2-40B4-BE49-F238E27FC236}">
                  <a16:creationId xmlns:a16="http://schemas.microsoft.com/office/drawing/2014/main" id="{D6766ED0-89E8-B246-B3C1-6920DDDC250A}"/>
                </a:ext>
              </a:extLst>
            </p:cNvPr>
            <p:cNvGrpSpPr/>
            <p:nvPr/>
          </p:nvGrpSpPr>
          <p:grpSpPr>
            <a:xfrm>
              <a:off x="1196579" y="3177779"/>
              <a:ext cx="4847064" cy="504825"/>
              <a:chOff x="1196579" y="3177779"/>
              <a:chExt cx="4847064" cy="504825"/>
            </a:xfrm>
          </p:grpSpPr>
          <p:grpSp>
            <p:nvGrpSpPr>
              <p:cNvPr id="27" name="Group 26" descr="Two independent nodes: T1 and T2" title="Depency Graph">
                <a:extLst>
                  <a:ext uri="{FF2B5EF4-FFF2-40B4-BE49-F238E27FC236}">
                    <a16:creationId xmlns:a16="http://schemas.microsoft.com/office/drawing/2014/main" id="{0DFBFDC7-C8F1-D641-B58E-2FC420DA90EB}"/>
                  </a:ext>
                </a:extLst>
              </p:cNvPr>
              <p:cNvGrpSpPr/>
              <p:nvPr/>
            </p:nvGrpSpPr>
            <p:grpSpPr>
              <a:xfrm>
                <a:off x="1196579" y="3177779"/>
                <a:ext cx="4847064" cy="504825"/>
                <a:chOff x="1196579" y="3177779"/>
                <a:chExt cx="4847064" cy="504825"/>
              </a:xfrm>
            </p:grpSpPr>
            <p:sp>
              <p:nvSpPr>
                <p:cNvPr id="29" name="Oval 5">
                  <a:extLst>
                    <a:ext uri="{FF2B5EF4-FFF2-40B4-BE49-F238E27FC236}">
                      <a16:creationId xmlns:a16="http://schemas.microsoft.com/office/drawing/2014/main" id="{256BC4FE-9A20-374C-BBEF-87909B15337D}"/>
                    </a:ext>
                  </a:extLst>
                </p:cNvPr>
                <p:cNvSpPr>
                  <a:spLocks noChangeArrowheads="1"/>
                </p:cNvSpPr>
                <p:nvPr/>
              </p:nvSpPr>
              <p:spPr bwMode="auto">
                <a:xfrm>
                  <a:off x="11965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30" name="Oval 6">
                  <a:extLst>
                    <a:ext uri="{FF2B5EF4-FFF2-40B4-BE49-F238E27FC236}">
                      <a16:creationId xmlns:a16="http://schemas.microsoft.com/office/drawing/2014/main" id="{029D3297-C42A-4E4B-A051-EC57F628B14F}"/>
                    </a:ext>
                  </a:extLst>
                </p:cNvPr>
                <p:cNvSpPr>
                  <a:spLocks noChangeArrowheads="1"/>
                </p:cNvSpPr>
                <p:nvPr/>
              </p:nvSpPr>
              <p:spPr bwMode="auto">
                <a:xfrm>
                  <a:off x="33682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31" name="Rectangle 7">
                  <a:extLst>
                    <a:ext uri="{FF2B5EF4-FFF2-40B4-BE49-F238E27FC236}">
                      <a16:creationId xmlns:a16="http://schemas.microsoft.com/office/drawing/2014/main" id="{D208D94A-4EF3-8841-867C-4671322F1CC3}"/>
                    </a:ext>
                  </a:extLst>
                </p:cNvPr>
                <p:cNvSpPr>
                  <a:spLocks noChangeArrowheads="1"/>
                </p:cNvSpPr>
                <p:nvPr/>
              </p:nvSpPr>
              <p:spPr bwMode="auto">
                <a:xfrm>
                  <a:off x="12382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32" name="Rectangle 8">
                  <a:extLst>
                    <a:ext uri="{FF2B5EF4-FFF2-40B4-BE49-F238E27FC236}">
                      <a16:creationId xmlns:a16="http://schemas.microsoft.com/office/drawing/2014/main" id="{64BE961C-8FDF-2A4F-97A7-8DC509279745}"/>
                    </a:ext>
                  </a:extLst>
                </p:cNvPr>
                <p:cNvSpPr>
                  <a:spLocks noChangeArrowheads="1"/>
                </p:cNvSpPr>
                <p:nvPr/>
              </p:nvSpPr>
              <p:spPr bwMode="auto">
                <a:xfrm>
                  <a:off x="34099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33" name="Rectangle 17">
                  <a:extLst>
                    <a:ext uri="{FF2B5EF4-FFF2-40B4-BE49-F238E27FC236}">
                      <a16:creationId xmlns:a16="http://schemas.microsoft.com/office/drawing/2014/main" id="{EC1611F5-A133-F345-A35F-D3B622FD357C}"/>
                    </a:ext>
                  </a:extLst>
                </p:cNvPr>
                <p:cNvSpPr>
                  <a:spLocks noChangeArrowheads="1"/>
                </p:cNvSpPr>
                <p:nvPr/>
              </p:nvSpPr>
              <p:spPr bwMode="auto">
                <a:xfrm>
                  <a:off x="4152900" y="3276601"/>
                  <a:ext cx="1890743"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i="1">
                      <a:solidFill>
                        <a:schemeClr val="accent2"/>
                      </a:solidFill>
                    </a:rPr>
                    <a:t>Dependency graph</a:t>
                  </a:r>
                </a:p>
              </p:txBody>
            </p:sp>
          </p:grpSp>
          <p:cxnSp>
            <p:nvCxnSpPr>
              <p:cNvPr id="28" name="Straight Arrow Connector 27">
                <a:extLst>
                  <a:ext uri="{FF2B5EF4-FFF2-40B4-BE49-F238E27FC236}">
                    <a16:creationId xmlns:a16="http://schemas.microsoft.com/office/drawing/2014/main" id="{A6709950-C2FF-7C47-AF62-5F78B18F2F36}"/>
                  </a:ext>
                </a:extLst>
              </p:cNvPr>
              <p:cNvCxnSpPr>
                <a:stCxn id="29" idx="6"/>
                <a:endCxn id="30" idx="2"/>
              </p:cNvCxnSpPr>
              <p:nvPr/>
            </p:nvCxnSpPr>
            <p:spPr>
              <a:xfrm>
                <a:off x="1701404" y="3430192"/>
                <a:ext cx="1666875" cy="0"/>
              </a:xfrm>
              <a:prstGeom prst="straightConnector1">
                <a:avLst/>
              </a:prstGeom>
              <a:ln>
                <a:headEnd type="none"/>
                <a:tailEnd type="arrow" w="lg" len="lg"/>
              </a:ln>
            </p:spPr>
            <p:style>
              <a:lnRef idx="1">
                <a:schemeClr val="accent1"/>
              </a:lnRef>
              <a:fillRef idx="0">
                <a:schemeClr val="accent1"/>
              </a:fillRef>
              <a:effectRef idx="0">
                <a:schemeClr val="accent1"/>
              </a:effectRef>
              <a:fontRef idx="minor">
                <a:schemeClr val="tx1"/>
              </a:fontRef>
            </p:style>
          </p:cxnSp>
        </p:grpSp>
        <p:sp>
          <p:nvSpPr>
            <p:cNvPr id="44" name="Rectangle 15">
              <a:extLst>
                <a:ext uri="{FF2B5EF4-FFF2-40B4-BE49-F238E27FC236}">
                  <a16:creationId xmlns:a16="http://schemas.microsoft.com/office/drawing/2014/main" id="{455AA28B-3EF2-4E40-93C7-CA1B2EEF0423}"/>
                </a:ext>
              </a:extLst>
            </p:cNvPr>
            <p:cNvSpPr>
              <a:spLocks noChangeArrowheads="1"/>
            </p:cNvSpPr>
            <p:nvPr/>
          </p:nvSpPr>
          <p:spPr bwMode="auto">
            <a:xfrm>
              <a:off x="2296120" y="3086100"/>
              <a:ext cx="270272" cy="3440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A</a:t>
              </a:r>
            </a:p>
          </p:txBody>
        </p:sp>
      </p:grpSp>
    </p:spTree>
    <p:extLst>
      <p:ext uri="{BB962C8B-B14F-4D97-AF65-F5344CB8AC3E}">
        <p14:creationId xmlns:p14="http://schemas.microsoft.com/office/powerpoint/2010/main" val="189750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Example, </a:t>
            </a:r>
            <a:r>
              <a:rPr lang="en-US" dirty="0" err="1"/>
              <a:t>pt</a:t>
            </a:r>
            <a:r>
              <a:rPr lang="en-US" dirty="0"/>
              <a:t> 4</a:t>
            </a:r>
          </a:p>
        </p:txBody>
      </p:sp>
      <p:sp>
        <p:nvSpPr>
          <p:cNvPr id="6" name="Content Placeholder 5">
            <a:extLst>
              <a:ext uri="{FF2B5EF4-FFF2-40B4-BE49-F238E27FC236}">
                <a16:creationId xmlns:a16="http://schemas.microsoft.com/office/drawing/2014/main" id="{9AE9C98D-4114-B240-8D4B-03D917CE1180}"/>
              </a:ext>
            </a:extLst>
          </p:cNvPr>
          <p:cNvSpPr>
            <a:spLocks noGrp="1"/>
          </p:cNvSpPr>
          <p:nvPr>
            <p:ph idx="1"/>
          </p:nvPr>
        </p:nvSpPr>
        <p:spPr/>
        <p:txBody>
          <a:bodyPr/>
          <a:lstStyle/>
          <a:p>
            <a:r>
              <a:rPr lang="en-US" b="1" dirty="0">
                <a:ea typeface="Lucida Console" charset="0"/>
                <a:cs typeface="Lucida Console" charset="0"/>
              </a:rPr>
              <a:t>A schedule that is not conflict serializable</a:t>
            </a:r>
          </a:p>
        </p:txBody>
      </p:sp>
      <p:sp>
        <p:nvSpPr>
          <p:cNvPr id="59" name="Rectangle 20" descr="1: T1:R(A)&#10;2: T1:  W(A),           &#10;3: T2: R(A)&#10;4: T2:  W(A)&#10;5: T2: R(B)&#10;6: T2:  W(B)&#10;7. T1: R(B)" title="Schedule"/>
          <p:cNvSpPr>
            <a:spLocks noChangeArrowheads="1"/>
          </p:cNvSpPr>
          <p:nvPr/>
        </p:nvSpPr>
        <p:spPr bwMode="auto">
          <a:xfrm>
            <a:off x="612649" y="2020824"/>
            <a:ext cx="6092952" cy="621325"/>
          </a:xfrm>
          <a:prstGeom prst="rect">
            <a:avLst/>
          </a:prstGeom>
          <a:solidFill>
            <a:schemeClr val="bg1"/>
          </a:solidFill>
          <a:ln w="12700">
            <a:solidFill>
              <a:schemeClr val="tx1"/>
            </a:solidFill>
            <a:miter lim="800000"/>
            <a:headEnd/>
            <a:tailEnd/>
          </a:ln>
        </p:spPr>
        <p:txBody>
          <a:bodyPr wrap="square" lIns="67866" tIns="33338" rIns="67866" bIns="33338">
            <a:spAutoFit/>
          </a:bodyPr>
          <a:lstStyle/>
          <a:p>
            <a:r>
              <a:rPr lang="en-US" dirty="0"/>
              <a:t>T1:	 R(A), W(A),   		     	             R(B)</a:t>
            </a:r>
            <a:endParaRPr lang="en-US" dirty="0">
              <a:solidFill>
                <a:schemeClr val="bg1"/>
              </a:solidFill>
            </a:endParaRPr>
          </a:p>
          <a:p>
            <a:r>
              <a:rPr lang="en-US" dirty="0"/>
              <a:t>T2:	   		R(A), W(A), R(B), W(B)</a:t>
            </a:r>
          </a:p>
        </p:txBody>
      </p:sp>
      <p:grpSp>
        <p:nvGrpSpPr>
          <p:cNvPr id="7" name="Group 6" descr="T1 has an arrow pointing at T2. The arrow is labeled A becuase the conflict is on A. Also an arrow from T2 to T1 labeled B. " title="Dependency Graph">
            <a:extLst>
              <a:ext uri="{FF2B5EF4-FFF2-40B4-BE49-F238E27FC236}">
                <a16:creationId xmlns:a16="http://schemas.microsoft.com/office/drawing/2014/main" id="{0E13B3CF-5820-2B41-B013-B443041498E0}"/>
              </a:ext>
            </a:extLst>
          </p:cNvPr>
          <p:cNvGrpSpPr/>
          <p:nvPr/>
        </p:nvGrpSpPr>
        <p:grpSpPr>
          <a:xfrm>
            <a:off x="1196579" y="3028950"/>
            <a:ext cx="4847064" cy="859037"/>
            <a:chOff x="1196579" y="3028950"/>
            <a:chExt cx="4847064" cy="859037"/>
          </a:xfrm>
        </p:grpSpPr>
        <p:grpSp>
          <p:nvGrpSpPr>
            <p:cNvPr id="4" name="Group 3" descr="T1 has an arrow pointing at T2. The arrow is labeled A becuase the conflict is on A. Also an arrow from T2 to T1 labeled B. " title="Dependency Graph">
              <a:extLst>
                <a:ext uri="{FF2B5EF4-FFF2-40B4-BE49-F238E27FC236}">
                  <a16:creationId xmlns:a16="http://schemas.microsoft.com/office/drawing/2014/main" id="{50A2701C-C2B7-B643-9661-9FEB1FF275E6}"/>
                </a:ext>
              </a:extLst>
            </p:cNvPr>
            <p:cNvGrpSpPr/>
            <p:nvPr/>
          </p:nvGrpSpPr>
          <p:grpSpPr>
            <a:xfrm>
              <a:off x="1196579" y="3028950"/>
              <a:ext cx="4847064" cy="859037"/>
              <a:chOff x="1196579" y="3028950"/>
              <a:chExt cx="4847064" cy="859037"/>
            </a:xfrm>
          </p:grpSpPr>
          <p:sp>
            <p:nvSpPr>
              <p:cNvPr id="54" name="Rectangle 16"/>
              <p:cNvSpPr>
                <a:spLocks noChangeArrowheads="1"/>
              </p:cNvSpPr>
              <p:nvPr/>
            </p:nvSpPr>
            <p:spPr bwMode="auto">
              <a:xfrm>
                <a:off x="2312259" y="3543897"/>
                <a:ext cx="261938" cy="344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B</a:t>
                </a:r>
              </a:p>
            </p:txBody>
          </p:sp>
          <p:grpSp>
            <p:nvGrpSpPr>
              <p:cNvPr id="32" name="Group 31" descr="T1 has an arrow pointing at T2. The arrow is labeled A becuase the conflict is on A" title="Dependency Graph">
                <a:extLst>
                  <a:ext uri="{FF2B5EF4-FFF2-40B4-BE49-F238E27FC236}">
                    <a16:creationId xmlns:a16="http://schemas.microsoft.com/office/drawing/2014/main" id="{D02D9A9C-E04F-FD45-9D31-FA808545207F}"/>
                  </a:ext>
                </a:extLst>
              </p:cNvPr>
              <p:cNvGrpSpPr/>
              <p:nvPr/>
            </p:nvGrpSpPr>
            <p:grpSpPr>
              <a:xfrm>
                <a:off x="1196579" y="3028950"/>
                <a:ext cx="4847064" cy="653654"/>
                <a:chOff x="1196579" y="3028950"/>
                <a:chExt cx="4847064" cy="653654"/>
              </a:xfrm>
            </p:grpSpPr>
            <p:grpSp>
              <p:nvGrpSpPr>
                <p:cNvPr id="33" name="Group 32" descr="T1 has an arrow pointing at T2. The arrow is labeled A becuase the conflict is on A" title="Dependency Graph">
                  <a:extLst>
                    <a:ext uri="{FF2B5EF4-FFF2-40B4-BE49-F238E27FC236}">
                      <a16:creationId xmlns:a16="http://schemas.microsoft.com/office/drawing/2014/main" id="{8143DFF4-E468-C34F-A980-4C99FD98DE8B}"/>
                    </a:ext>
                  </a:extLst>
                </p:cNvPr>
                <p:cNvGrpSpPr/>
                <p:nvPr/>
              </p:nvGrpSpPr>
              <p:grpSpPr>
                <a:xfrm>
                  <a:off x="1196579" y="3177779"/>
                  <a:ext cx="4847064" cy="504825"/>
                  <a:chOff x="1196579" y="3177779"/>
                  <a:chExt cx="4847064" cy="504825"/>
                </a:xfrm>
              </p:grpSpPr>
              <p:grpSp>
                <p:nvGrpSpPr>
                  <p:cNvPr id="35" name="Group 34" descr="Two independent nodes: T1 and T2" title="Depency Graph">
                    <a:extLst>
                      <a:ext uri="{FF2B5EF4-FFF2-40B4-BE49-F238E27FC236}">
                        <a16:creationId xmlns:a16="http://schemas.microsoft.com/office/drawing/2014/main" id="{851D94CC-1C25-6E41-A33A-DEEF08035D03}"/>
                      </a:ext>
                    </a:extLst>
                  </p:cNvPr>
                  <p:cNvGrpSpPr/>
                  <p:nvPr/>
                </p:nvGrpSpPr>
                <p:grpSpPr>
                  <a:xfrm>
                    <a:off x="1196579" y="3177779"/>
                    <a:ext cx="4847064" cy="504825"/>
                    <a:chOff x="1196579" y="3177779"/>
                    <a:chExt cx="4847064" cy="504825"/>
                  </a:xfrm>
                </p:grpSpPr>
                <p:sp>
                  <p:nvSpPr>
                    <p:cNvPr id="45" name="Oval 5">
                      <a:extLst>
                        <a:ext uri="{FF2B5EF4-FFF2-40B4-BE49-F238E27FC236}">
                          <a16:creationId xmlns:a16="http://schemas.microsoft.com/office/drawing/2014/main" id="{7E23FAC9-20D4-3744-B589-9335FA45F754}"/>
                        </a:ext>
                      </a:extLst>
                    </p:cNvPr>
                    <p:cNvSpPr>
                      <a:spLocks noChangeArrowheads="1"/>
                    </p:cNvSpPr>
                    <p:nvPr/>
                  </p:nvSpPr>
                  <p:spPr bwMode="auto">
                    <a:xfrm>
                      <a:off x="11965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46" name="Oval 6">
                      <a:extLst>
                        <a:ext uri="{FF2B5EF4-FFF2-40B4-BE49-F238E27FC236}">
                          <a16:creationId xmlns:a16="http://schemas.microsoft.com/office/drawing/2014/main" id="{898E33D2-757A-2349-B8FB-23DA8ABD46DB}"/>
                        </a:ext>
                      </a:extLst>
                    </p:cNvPr>
                    <p:cNvSpPr>
                      <a:spLocks noChangeArrowheads="1"/>
                    </p:cNvSpPr>
                    <p:nvPr/>
                  </p:nvSpPr>
                  <p:spPr bwMode="auto">
                    <a:xfrm>
                      <a:off x="3368279" y="3177779"/>
                      <a:ext cx="504825" cy="504825"/>
                    </a:xfrm>
                    <a:prstGeom prst="ellipse">
                      <a:avLst/>
                    </a:prstGeom>
                    <a:noFill/>
                    <a:ln w="127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1350"/>
                    </a:p>
                  </p:txBody>
                </p:sp>
                <p:sp>
                  <p:nvSpPr>
                    <p:cNvPr id="47" name="Rectangle 7">
                      <a:extLst>
                        <a:ext uri="{FF2B5EF4-FFF2-40B4-BE49-F238E27FC236}">
                          <a16:creationId xmlns:a16="http://schemas.microsoft.com/office/drawing/2014/main" id="{475C9D2A-3F49-5E4F-9670-BBF9AE24C5D3}"/>
                        </a:ext>
                      </a:extLst>
                    </p:cNvPr>
                    <p:cNvSpPr>
                      <a:spLocks noChangeArrowheads="1"/>
                    </p:cNvSpPr>
                    <p:nvPr/>
                  </p:nvSpPr>
                  <p:spPr bwMode="auto">
                    <a:xfrm>
                      <a:off x="12382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48" name="Rectangle 8">
                      <a:extLst>
                        <a:ext uri="{FF2B5EF4-FFF2-40B4-BE49-F238E27FC236}">
                          <a16:creationId xmlns:a16="http://schemas.microsoft.com/office/drawing/2014/main" id="{F3951490-81AC-014C-8DC8-0F66AB1AE5A0}"/>
                        </a:ext>
                      </a:extLst>
                    </p:cNvPr>
                    <p:cNvSpPr>
                      <a:spLocks noChangeArrowheads="1"/>
                    </p:cNvSpPr>
                    <p:nvPr/>
                  </p:nvSpPr>
                  <p:spPr bwMode="auto">
                    <a:xfrm>
                      <a:off x="3409950" y="3276601"/>
                      <a:ext cx="366287"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56" name="Rectangle 17">
                      <a:extLst>
                        <a:ext uri="{FF2B5EF4-FFF2-40B4-BE49-F238E27FC236}">
                          <a16:creationId xmlns:a16="http://schemas.microsoft.com/office/drawing/2014/main" id="{3767A3EC-CCDB-CB4E-A14A-A30C005A13A3}"/>
                        </a:ext>
                      </a:extLst>
                    </p:cNvPr>
                    <p:cNvSpPr>
                      <a:spLocks noChangeArrowheads="1"/>
                    </p:cNvSpPr>
                    <p:nvPr/>
                  </p:nvSpPr>
                  <p:spPr bwMode="auto">
                    <a:xfrm>
                      <a:off x="4152900" y="3276601"/>
                      <a:ext cx="1890743" cy="34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i="1" dirty="0">
                          <a:solidFill>
                            <a:schemeClr val="accent2"/>
                          </a:solidFill>
                        </a:rPr>
                        <a:t>Dependency graph</a:t>
                      </a:r>
                    </a:p>
                  </p:txBody>
                </p:sp>
              </p:grpSp>
              <p:cxnSp>
                <p:nvCxnSpPr>
                  <p:cNvPr id="44" name="Straight Arrow Connector 43">
                    <a:extLst>
                      <a:ext uri="{FF2B5EF4-FFF2-40B4-BE49-F238E27FC236}">
                        <a16:creationId xmlns:a16="http://schemas.microsoft.com/office/drawing/2014/main" id="{B4F441FC-231F-8147-9C74-6056888F6507}"/>
                      </a:ext>
                    </a:extLst>
                  </p:cNvPr>
                  <p:cNvCxnSpPr>
                    <a:cxnSpLocks/>
                  </p:cNvCxnSpPr>
                  <p:nvPr/>
                </p:nvCxnSpPr>
                <p:spPr>
                  <a:xfrm>
                    <a:off x="1701404" y="3333750"/>
                    <a:ext cx="1666875" cy="0"/>
                  </a:xfrm>
                  <a:prstGeom prst="straightConnector1">
                    <a:avLst/>
                  </a:prstGeom>
                  <a:ln>
                    <a:headEnd type="none"/>
                    <a:tailEnd type="arrow" w="lg" len="lg"/>
                  </a:ln>
                </p:spPr>
                <p:style>
                  <a:lnRef idx="1">
                    <a:schemeClr val="accent1"/>
                  </a:lnRef>
                  <a:fillRef idx="0">
                    <a:schemeClr val="accent1"/>
                  </a:fillRef>
                  <a:effectRef idx="0">
                    <a:schemeClr val="accent1"/>
                  </a:effectRef>
                  <a:fontRef idx="minor">
                    <a:schemeClr val="tx1"/>
                  </a:fontRef>
                </p:style>
              </p:cxnSp>
            </p:grpSp>
            <p:sp>
              <p:nvSpPr>
                <p:cNvPr id="34" name="Rectangle 15">
                  <a:extLst>
                    <a:ext uri="{FF2B5EF4-FFF2-40B4-BE49-F238E27FC236}">
                      <a16:creationId xmlns:a16="http://schemas.microsoft.com/office/drawing/2014/main" id="{D711E3A4-3E00-CB4E-A6E9-ACD72BA2E703}"/>
                    </a:ext>
                  </a:extLst>
                </p:cNvPr>
                <p:cNvSpPr>
                  <a:spLocks noChangeArrowheads="1"/>
                </p:cNvSpPr>
                <p:nvPr/>
              </p:nvSpPr>
              <p:spPr bwMode="auto">
                <a:xfrm>
                  <a:off x="2296120" y="3028950"/>
                  <a:ext cx="270272" cy="3440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A</a:t>
                  </a:r>
                </a:p>
              </p:txBody>
            </p:sp>
          </p:grpSp>
        </p:grpSp>
        <p:cxnSp>
          <p:nvCxnSpPr>
            <p:cNvPr id="57" name="Straight Arrow Connector 56">
              <a:extLst>
                <a:ext uri="{FF2B5EF4-FFF2-40B4-BE49-F238E27FC236}">
                  <a16:creationId xmlns:a16="http://schemas.microsoft.com/office/drawing/2014/main" id="{67761C17-C452-AF4C-9A69-D2D022202AE6}"/>
                </a:ext>
              </a:extLst>
            </p:cNvPr>
            <p:cNvCxnSpPr>
              <a:cxnSpLocks/>
            </p:cNvCxnSpPr>
            <p:nvPr/>
          </p:nvCxnSpPr>
          <p:spPr>
            <a:xfrm>
              <a:off x="1685925" y="3486150"/>
              <a:ext cx="1666875" cy="0"/>
            </a:xfrm>
            <a:prstGeom prst="straightConnector1">
              <a:avLst/>
            </a:prstGeom>
            <a:ln>
              <a:headEnd type="arrow"/>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329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View </a:t>
            </a:r>
            <a:r>
              <a:rPr lang="en-US" dirty="0" err="1"/>
              <a:t>Serializability</a:t>
            </a:r>
            <a:endParaRPr lang="en-US" dirty="0"/>
          </a:p>
        </p:txBody>
      </p:sp>
      <p:sp>
        <p:nvSpPr>
          <p:cNvPr id="3" name="Content Placeholder 2">
            <a:extLst>
              <a:ext uri="{FF2B5EF4-FFF2-40B4-BE49-F238E27FC236}">
                <a16:creationId xmlns:a16="http://schemas.microsoft.com/office/drawing/2014/main" id="{C9475732-7321-7D4F-A54A-472913260005}"/>
              </a:ext>
            </a:extLst>
          </p:cNvPr>
          <p:cNvSpPr>
            <a:spLocks noGrp="1"/>
          </p:cNvSpPr>
          <p:nvPr>
            <p:ph idx="1"/>
          </p:nvPr>
        </p:nvSpPr>
        <p:spPr>
          <a:xfrm>
            <a:off x="457200" y="971550"/>
            <a:ext cx="8534400" cy="3394472"/>
          </a:xfrm>
        </p:spPr>
        <p:txBody>
          <a:bodyPr/>
          <a:lstStyle/>
          <a:p>
            <a:r>
              <a:rPr lang="en-US" sz="1800" b="1" dirty="0">
                <a:ea typeface="Lucida Console" charset="0"/>
                <a:cs typeface="Lucida Console" charset="0"/>
              </a:rPr>
              <a:t>Alternative notion of </a:t>
            </a:r>
            <a:r>
              <a:rPr lang="en-US" sz="1800" b="1" dirty="0" err="1">
                <a:ea typeface="Lucida Console" charset="0"/>
                <a:cs typeface="Lucida Console" charset="0"/>
              </a:rPr>
              <a:t>serializability</a:t>
            </a:r>
            <a:r>
              <a:rPr lang="en-US" sz="1800" b="1" dirty="0">
                <a:ea typeface="Lucida Console" charset="0"/>
                <a:cs typeface="Lucida Console" charset="0"/>
              </a:rPr>
              <a:t>: fewer false negatives</a:t>
            </a:r>
          </a:p>
          <a:p>
            <a:r>
              <a:rPr lang="en-US" sz="1800" b="1" dirty="0">
                <a:ea typeface="Lucida Console" charset="0"/>
                <a:cs typeface="Lucida Console" charset="0"/>
              </a:rPr>
              <a:t>Schedules S1 and S2 are view equivalent if:</a:t>
            </a:r>
          </a:p>
          <a:p>
            <a:pPr lvl="1"/>
            <a:r>
              <a:rPr lang="en-US" sz="1650" i="1" dirty="0">
                <a:ea typeface="Lucida Console" charset="0"/>
                <a:cs typeface="Lucida Console" charset="0"/>
              </a:rPr>
              <a:t>Same initial reads</a:t>
            </a:r>
            <a:r>
              <a:rPr lang="en-US" sz="1650" dirty="0">
                <a:ea typeface="Lucida Console" charset="0"/>
                <a:cs typeface="Lucida Console" charset="0"/>
              </a:rPr>
              <a:t>:</a:t>
            </a:r>
          </a:p>
          <a:p>
            <a:pPr lvl="2"/>
            <a:r>
              <a:rPr lang="en-US" sz="1450" dirty="0">
                <a:ea typeface="Lucida Console" charset="0"/>
                <a:cs typeface="Lucida Console" charset="0"/>
              </a:rPr>
              <a:t> If </a:t>
            </a:r>
            <a:r>
              <a:rPr lang="en-US" sz="1450" dirty="0" err="1">
                <a:ea typeface="Lucida Console" charset="0"/>
                <a:cs typeface="Lucida Console" charset="0"/>
              </a:rPr>
              <a:t>Ti</a:t>
            </a:r>
            <a:r>
              <a:rPr lang="en-US" sz="1450" dirty="0">
                <a:ea typeface="Lucida Console" charset="0"/>
                <a:cs typeface="Lucida Console" charset="0"/>
              </a:rPr>
              <a:t> reads initial value of A in S1, then </a:t>
            </a:r>
            <a:r>
              <a:rPr lang="en-US" sz="1450" dirty="0" err="1">
                <a:ea typeface="Lucida Console" charset="0"/>
                <a:cs typeface="Lucida Console" charset="0"/>
              </a:rPr>
              <a:t>Ti</a:t>
            </a:r>
            <a:r>
              <a:rPr lang="en-US" sz="1450" dirty="0">
                <a:ea typeface="Lucida Console" charset="0"/>
                <a:cs typeface="Lucida Console" charset="0"/>
              </a:rPr>
              <a:t> also reads initial value of A in S2</a:t>
            </a:r>
          </a:p>
          <a:p>
            <a:pPr lvl="1"/>
            <a:r>
              <a:rPr lang="en-US" sz="1650" i="1" dirty="0">
                <a:ea typeface="Lucida Console" charset="0"/>
                <a:cs typeface="Lucida Console" charset="0"/>
              </a:rPr>
              <a:t>Same dependent reads</a:t>
            </a:r>
            <a:r>
              <a:rPr lang="en-US" sz="1650" dirty="0">
                <a:ea typeface="Lucida Console" charset="0"/>
                <a:cs typeface="Lucida Console" charset="0"/>
              </a:rPr>
              <a:t>: </a:t>
            </a:r>
          </a:p>
          <a:p>
            <a:pPr lvl="2"/>
            <a:r>
              <a:rPr lang="en-US" sz="1450" dirty="0">
                <a:ea typeface="Lucida Console" charset="0"/>
                <a:cs typeface="Lucida Console" charset="0"/>
              </a:rPr>
              <a:t>If </a:t>
            </a:r>
            <a:r>
              <a:rPr lang="en-US" sz="1450" dirty="0" err="1">
                <a:ea typeface="Lucida Console" charset="0"/>
                <a:cs typeface="Lucida Console" charset="0"/>
              </a:rPr>
              <a:t>Ti</a:t>
            </a:r>
            <a:r>
              <a:rPr lang="en-US" sz="1450" dirty="0">
                <a:ea typeface="Lucida Console" charset="0"/>
                <a:cs typeface="Lucida Console" charset="0"/>
              </a:rPr>
              <a:t> reads value of A written by </a:t>
            </a:r>
            <a:r>
              <a:rPr lang="en-US" sz="1450" dirty="0" err="1">
                <a:ea typeface="Lucida Console" charset="0"/>
                <a:cs typeface="Lucida Console" charset="0"/>
              </a:rPr>
              <a:t>Tj</a:t>
            </a:r>
            <a:r>
              <a:rPr lang="en-US" sz="1450" dirty="0">
                <a:ea typeface="Lucida Console" charset="0"/>
                <a:cs typeface="Lucida Console" charset="0"/>
              </a:rPr>
              <a:t> in S1, then </a:t>
            </a:r>
            <a:r>
              <a:rPr lang="en-US" sz="1450" dirty="0" err="1">
                <a:ea typeface="Lucida Console" charset="0"/>
                <a:cs typeface="Lucida Console" charset="0"/>
              </a:rPr>
              <a:t>Ti</a:t>
            </a:r>
            <a:r>
              <a:rPr lang="en-US" sz="1450" dirty="0">
                <a:ea typeface="Lucida Console" charset="0"/>
                <a:cs typeface="Lucida Console" charset="0"/>
              </a:rPr>
              <a:t> also reads value of A written by </a:t>
            </a:r>
            <a:r>
              <a:rPr lang="en-US" sz="1450" dirty="0" err="1">
                <a:ea typeface="Lucida Console" charset="0"/>
                <a:cs typeface="Lucida Console" charset="0"/>
              </a:rPr>
              <a:t>Tj</a:t>
            </a:r>
            <a:r>
              <a:rPr lang="en-US" sz="1450" dirty="0">
                <a:ea typeface="Lucida Console" charset="0"/>
                <a:cs typeface="Lucida Console" charset="0"/>
              </a:rPr>
              <a:t> in S2</a:t>
            </a:r>
          </a:p>
          <a:p>
            <a:pPr lvl="1"/>
            <a:r>
              <a:rPr lang="en-US" sz="1650" i="1" dirty="0">
                <a:ea typeface="Lucida Console" charset="0"/>
                <a:cs typeface="Lucida Console" charset="0"/>
              </a:rPr>
              <a:t>Same winning writes</a:t>
            </a:r>
            <a:r>
              <a:rPr lang="en-US" sz="1650" dirty="0">
                <a:ea typeface="Lucida Console" charset="0"/>
                <a:cs typeface="Lucida Console" charset="0"/>
              </a:rPr>
              <a:t>: </a:t>
            </a:r>
          </a:p>
          <a:p>
            <a:pPr lvl="2"/>
            <a:r>
              <a:rPr lang="en-US" sz="1450" dirty="0">
                <a:ea typeface="Lucida Console" charset="0"/>
                <a:cs typeface="Lucida Console" charset="0"/>
              </a:rPr>
              <a:t>If </a:t>
            </a:r>
            <a:r>
              <a:rPr lang="en-US" sz="1450" dirty="0" err="1">
                <a:ea typeface="Lucida Console" charset="0"/>
                <a:cs typeface="Lucida Console" charset="0"/>
              </a:rPr>
              <a:t>Ti</a:t>
            </a:r>
            <a:r>
              <a:rPr lang="en-US" sz="1450" dirty="0">
                <a:ea typeface="Lucida Console" charset="0"/>
                <a:cs typeface="Lucida Console" charset="0"/>
              </a:rPr>
              <a:t> writes final value of A in S1, then </a:t>
            </a:r>
            <a:r>
              <a:rPr lang="en-US" sz="1450" dirty="0" err="1">
                <a:ea typeface="Lucida Console" charset="0"/>
                <a:cs typeface="Lucida Console" charset="0"/>
              </a:rPr>
              <a:t>Ti</a:t>
            </a:r>
            <a:r>
              <a:rPr lang="en-US" sz="1450" dirty="0">
                <a:ea typeface="Lucida Console" charset="0"/>
                <a:cs typeface="Lucida Console" charset="0"/>
              </a:rPr>
              <a:t> also writes final value of A in S2</a:t>
            </a:r>
          </a:p>
          <a:p>
            <a:r>
              <a:rPr lang="en-US" sz="1800" dirty="0">
                <a:ea typeface="Lucida Console" charset="0"/>
                <a:cs typeface="Lucida Console" charset="0"/>
              </a:rPr>
              <a:t>Basically, allows all conflict serializable schedules + “blind writes”</a:t>
            </a:r>
          </a:p>
        </p:txBody>
      </p:sp>
      <p:grpSp>
        <p:nvGrpSpPr>
          <p:cNvPr id="30" name="Group 6" title="Schedule 1 Equivalen to Schedule 2"/>
          <p:cNvGrpSpPr>
            <a:grpSpLocks/>
          </p:cNvGrpSpPr>
          <p:nvPr/>
        </p:nvGrpSpPr>
        <p:grpSpPr bwMode="auto">
          <a:xfrm>
            <a:off x="3052396" y="4462677"/>
            <a:ext cx="400050" cy="152400"/>
            <a:chOff x="2592" y="3012"/>
            <a:chExt cx="336" cy="128"/>
          </a:xfrm>
        </p:grpSpPr>
        <p:sp>
          <p:nvSpPr>
            <p:cNvPr id="31" name="Line 7"/>
            <p:cNvSpPr>
              <a:spLocks noChangeShapeType="1"/>
            </p:cNvSpPr>
            <p:nvPr/>
          </p:nvSpPr>
          <p:spPr bwMode="auto">
            <a:xfrm>
              <a:off x="2592" y="3012"/>
              <a:ext cx="336"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sz="1350">
                <a:solidFill>
                  <a:schemeClr val="tx2"/>
                </a:solidFill>
              </a:endParaRPr>
            </a:p>
          </p:txBody>
        </p:sp>
        <p:sp>
          <p:nvSpPr>
            <p:cNvPr id="32" name="Line 8"/>
            <p:cNvSpPr>
              <a:spLocks noChangeShapeType="1"/>
            </p:cNvSpPr>
            <p:nvPr/>
          </p:nvSpPr>
          <p:spPr bwMode="auto">
            <a:xfrm>
              <a:off x="2592" y="3076"/>
              <a:ext cx="336"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sz="1350">
                <a:solidFill>
                  <a:schemeClr val="tx2"/>
                </a:solidFill>
              </a:endParaRPr>
            </a:p>
          </p:txBody>
        </p:sp>
        <p:sp>
          <p:nvSpPr>
            <p:cNvPr id="33" name="Line 9"/>
            <p:cNvSpPr>
              <a:spLocks noChangeShapeType="1"/>
            </p:cNvSpPr>
            <p:nvPr/>
          </p:nvSpPr>
          <p:spPr bwMode="auto">
            <a:xfrm>
              <a:off x="2592" y="3140"/>
              <a:ext cx="336"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sz="1350">
                <a:solidFill>
                  <a:schemeClr val="tx2"/>
                </a:solidFill>
              </a:endParaRPr>
            </a:p>
          </p:txBody>
        </p:sp>
      </p:grpSp>
      <p:sp>
        <p:nvSpPr>
          <p:cNvPr id="34" name="Text Box 10"/>
          <p:cNvSpPr txBox="1">
            <a:spLocks noChangeArrowheads="1"/>
          </p:cNvSpPr>
          <p:nvPr/>
        </p:nvSpPr>
        <p:spPr bwMode="auto">
          <a:xfrm>
            <a:off x="2971434" y="4157877"/>
            <a:ext cx="64633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a:solidFill>
                  <a:schemeClr val="tx2"/>
                </a:solidFill>
                <a:latin typeface="Tahoma" charset="0"/>
              </a:rPr>
              <a:t>view</a:t>
            </a:r>
          </a:p>
        </p:txBody>
      </p:sp>
      <p:grpSp>
        <p:nvGrpSpPr>
          <p:cNvPr id="4" name="Group 3" descr="T1: R(A)&#10;T2: W(A)&#10;T1: W(A)" title="Schedule 1">
            <a:extLst>
              <a:ext uri="{FF2B5EF4-FFF2-40B4-BE49-F238E27FC236}">
                <a16:creationId xmlns:a16="http://schemas.microsoft.com/office/drawing/2014/main" id="{D897DD7A-2410-C64C-A3FE-DD4166ACF4EC}"/>
              </a:ext>
            </a:extLst>
          </p:cNvPr>
          <p:cNvGrpSpPr/>
          <p:nvPr/>
        </p:nvGrpSpPr>
        <p:grpSpPr>
          <a:xfrm>
            <a:off x="304800" y="3945947"/>
            <a:ext cx="2633296" cy="898324"/>
            <a:chOff x="304800" y="3945947"/>
            <a:chExt cx="2633296" cy="898324"/>
          </a:xfrm>
        </p:grpSpPr>
        <p:sp>
          <p:nvSpPr>
            <p:cNvPr id="28" name="Rectangle 4"/>
            <p:cNvSpPr>
              <a:spLocks noChangeArrowheads="1"/>
            </p:cNvSpPr>
            <p:nvPr/>
          </p:nvSpPr>
          <p:spPr bwMode="auto">
            <a:xfrm>
              <a:off x="304800" y="3945947"/>
              <a:ext cx="2633296" cy="898324"/>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square" lIns="67866" tIns="33338" rIns="67866" bIns="33338">
              <a:spAutoFit/>
            </a:bodyPr>
            <a:lstStyle/>
            <a:p>
              <a:r>
                <a:rPr lang="en-US" dirty="0">
                  <a:solidFill>
                    <a:schemeClr val="tx2"/>
                  </a:solidFill>
                </a:rPr>
                <a:t>T1: R(A)	     W(A)</a:t>
              </a:r>
            </a:p>
            <a:p>
              <a:r>
                <a:rPr lang="en-US" dirty="0">
                  <a:solidFill>
                    <a:schemeClr val="tx2"/>
                  </a:solidFill>
                </a:rPr>
                <a:t>T2:          W(A)</a:t>
              </a:r>
            </a:p>
            <a:p>
              <a:r>
                <a:rPr lang="en-US" dirty="0">
                  <a:solidFill>
                    <a:schemeClr val="tx2"/>
                  </a:solidFill>
                </a:rPr>
                <a:t>T3:		   W(A)</a:t>
              </a:r>
            </a:p>
          </p:txBody>
        </p:sp>
        <p:sp>
          <p:nvSpPr>
            <p:cNvPr id="44" name="Oval 43"/>
            <p:cNvSpPr/>
            <p:nvPr/>
          </p:nvSpPr>
          <p:spPr bwMode="auto">
            <a:xfrm rot="20821537">
              <a:off x="993898" y="3994552"/>
              <a:ext cx="1485899" cy="742950"/>
            </a:xfrm>
            <a:prstGeom prst="ellipse">
              <a:avLst/>
            </a:prstGeom>
            <a:solidFill>
              <a:srgbClr val="FFFF00">
                <a:alpha val="51000"/>
              </a:srgbClr>
            </a:solidFill>
            <a:ln w="12700" cap="flat" cmpd="sng" algn="ctr">
              <a:solidFill>
                <a:schemeClr val="tx1"/>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2700" dirty="0">
                <a:solidFill>
                  <a:schemeClr val="tx2"/>
                </a:solidFill>
                <a:latin typeface="Book Antiqua" charset="0"/>
              </a:endParaRPr>
            </a:p>
          </p:txBody>
        </p:sp>
      </p:grpSp>
      <p:grpSp>
        <p:nvGrpSpPr>
          <p:cNvPr id="5" name="Group 4" descr="T1: R(A)&#10;T2: W(A)&#10;T2: W(A)" title="Schedule 2">
            <a:extLst>
              <a:ext uri="{FF2B5EF4-FFF2-40B4-BE49-F238E27FC236}">
                <a16:creationId xmlns:a16="http://schemas.microsoft.com/office/drawing/2014/main" id="{0A68FE82-725B-AB4C-B321-D175183B8CA8}"/>
              </a:ext>
            </a:extLst>
          </p:cNvPr>
          <p:cNvGrpSpPr/>
          <p:nvPr/>
        </p:nvGrpSpPr>
        <p:grpSpPr>
          <a:xfrm>
            <a:off x="3566746" y="3945946"/>
            <a:ext cx="2971800" cy="898324"/>
            <a:chOff x="3566746" y="3945946"/>
            <a:chExt cx="2971800" cy="898324"/>
          </a:xfrm>
        </p:grpSpPr>
        <p:sp>
          <p:nvSpPr>
            <p:cNvPr id="29" name="Rectangle 5"/>
            <p:cNvSpPr>
              <a:spLocks noChangeArrowheads="1"/>
            </p:cNvSpPr>
            <p:nvPr/>
          </p:nvSpPr>
          <p:spPr bwMode="auto">
            <a:xfrm>
              <a:off x="3566746" y="3945946"/>
              <a:ext cx="2971800" cy="898324"/>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67866" tIns="33338" rIns="67866" bIns="33338">
              <a:spAutoFit/>
            </a:bodyPr>
            <a:lstStyle/>
            <a:p>
              <a:r>
                <a:rPr lang="en-US" dirty="0">
                  <a:solidFill>
                    <a:schemeClr val="tx2"/>
                  </a:solidFill>
                </a:rPr>
                <a:t>T1: R(A)  W(A)</a:t>
              </a:r>
            </a:p>
            <a:p>
              <a:r>
                <a:rPr lang="en-US" dirty="0">
                  <a:solidFill>
                    <a:schemeClr val="tx2"/>
                  </a:solidFill>
                </a:rPr>
                <a:t>T2:	              W(A)</a:t>
              </a:r>
            </a:p>
            <a:p>
              <a:r>
                <a:rPr lang="en-US" dirty="0">
                  <a:solidFill>
                    <a:schemeClr val="tx2"/>
                  </a:solidFill>
                </a:rPr>
                <a:t>T3:		          W(A)</a:t>
              </a:r>
            </a:p>
          </p:txBody>
        </p:sp>
        <p:sp>
          <p:nvSpPr>
            <p:cNvPr id="45" name="Oval 44"/>
            <p:cNvSpPr/>
            <p:nvPr/>
          </p:nvSpPr>
          <p:spPr bwMode="auto">
            <a:xfrm rot="1126504">
              <a:off x="4323562" y="3996042"/>
              <a:ext cx="1572915" cy="739433"/>
            </a:xfrm>
            <a:prstGeom prst="ellipse">
              <a:avLst/>
            </a:prstGeom>
            <a:solidFill>
              <a:srgbClr val="FFFF00">
                <a:alpha val="51000"/>
              </a:srgbClr>
            </a:solidFill>
            <a:ln w="12700" cap="flat" cmpd="sng" algn="ctr">
              <a:solidFill>
                <a:schemeClr val="tx1"/>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2700">
                <a:solidFill>
                  <a:schemeClr val="tx2"/>
                </a:solidFill>
                <a:latin typeface="Book Antiqua" charset="0"/>
              </a:endParaRPr>
            </a:p>
          </p:txBody>
        </p:sp>
      </p:grpSp>
    </p:spTree>
    <p:extLst>
      <p:ext uri="{BB962C8B-B14F-4D97-AF65-F5344CB8AC3E}">
        <p14:creationId xmlns:p14="http://schemas.microsoft.com/office/powerpoint/2010/main" val="526545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Notes on Serializability Definitions</a:t>
            </a:r>
          </a:p>
        </p:txBody>
      </p:sp>
      <p:sp>
        <p:nvSpPr>
          <p:cNvPr id="3" name="Content Placeholder 2">
            <a:extLst>
              <a:ext uri="{FF2B5EF4-FFF2-40B4-BE49-F238E27FC236}">
                <a16:creationId xmlns:a16="http://schemas.microsoft.com/office/drawing/2014/main" id="{F0E60A60-A7CC-2A43-AC0D-2012E64D2330}"/>
              </a:ext>
            </a:extLst>
          </p:cNvPr>
          <p:cNvSpPr>
            <a:spLocks noGrp="1"/>
          </p:cNvSpPr>
          <p:nvPr>
            <p:ph idx="1"/>
          </p:nvPr>
        </p:nvSpPr>
        <p:spPr>
          <a:xfrm>
            <a:off x="457200" y="1200151"/>
            <a:ext cx="8382000" cy="3394472"/>
          </a:xfrm>
        </p:spPr>
        <p:txBody>
          <a:bodyPr>
            <a:normAutofit/>
          </a:bodyPr>
          <a:lstStyle/>
          <a:p>
            <a:r>
              <a:rPr lang="en-US" sz="1600" b="1" dirty="0">
                <a:ea typeface="Lucida Console" charset="0"/>
                <a:cs typeface="Lucida Console" charset="0"/>
              </a:rPr>
              <a:t>View Serializability allows (a few) more schedules than conflict serializability</a:t>
            </a:r>
          </a:p>
          <a:p>
            <a:pPr lvl="1"/>
            <a:r>
              <a:rPr lang="en-US" sz="1600" dirty="0">
                <a:ea typeface="Lucida Console" charset="0"/>
                <a:cs typeface="Lucida Console" charset="0"/>
              </a:rPr>
              <a:t>But V.S. is difficult to enforce efficiently.</a:t>
            </a:r>
          </a:p>
          <a:p>
            <a:pPr>
              <a:spcBef>
                <a:spcPts val="2400"/>
              </a:spcBef>
            </a:pPr>
            <a:r>
              <a:rPr lang="en-US" sz="1600" b="1" dirty="0">
                <a:ea typeface="Lucida Console" charset="0"/>
                <a:cs typeface="Lucida Console" charset="0"/>
              </a:rPr>
              <a:t>Neither definition allows all schedules that are actually serializable.</a:t>
            </a:r>
          </a:p>
          <a:p>
            <a:pPr lvl="1"/>
            <a:r>
              <a:rPr lang="en-US" sz="1600" dirty="0">
                <a:ea typeface="Lucida Console" charset="0"/>
                <a:cs typeface="Lucida Console" charset="0"/>
              </a:rPr>
              <a:t>Because they don’t understand the meanings of the operations or the data</a:t>
            </a:r>
            <a:endParaRPr lang="en-US" sz="1600" b="1" dirty="0">
              <a:ea typeface="Lucida Console" charset="0"/>
              <a:cs typeface="Lucida Console" charset="0"/>
            </a:endParaRPr>
          </a:p>
          <a:p>
            <a:pPr>
              <a:spcBef>
                <a:spcPts val="2400"/>
              </a:spcBef>
            </a:pPr>
            <a:r>
              <a:rPr lang="en-US" sz="1600" b="1" dirty="0">
                <a:ea typeface="Lucida Console" charset="0"/>
                <a:cs typeface="Lucida Console" charset="0"/>
              </a:rPr>
              <a:t>Conflict Serializability is what gets used, because it can be enforced efficiently</a:t>
            </a:r>
          </a:p>
          <a:p>
            <a:pPr lvl="1"/>
            <a:r>
              <a:rPr lang="en-US" sz="1600" dirty="0">
                <a:latin typeface="Tahoma" charset="0"/>
                <a:ea typeface="ＭＳ Ｐゴシック" charset="0"/>
              </a:rPr>
              <a:t>To allow more concurrency, some special cases do get handled separately.  </a:t>
            </a:r>
          </a:p>
          <a:p>
            <a:pPr lvl="1"/>
            <a:r>
              <a:rPr lang="en-US" sz="1600" dirty="0">
                <a:latin typeface="Tahoma" charset="0"/>
                <a:ea typeface="ＭＳ Ｐゴシック" charset="0"/>
              </a:rPr>
              <a:t>(Search the web for “Escrow Transactions” for example)</a:t>
            </a:r>
          </a:p>
          <a:p>
            <a:endParaRPr lang="en-US" sz="1600" dirty="0"/>
          </a:p>
        </p:txBody>
      </p:sp>
    </p:spTree>
    <p:extLst>
      <p:ext uri="{BB962C8B-B14F-4D97-AF65-F5344CB8AC3E}">
        <p14:creationId xmlns:p14="http://schemas.microsoft.com/office/powerpoint/2010/main" val="122239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541B27"/>
      </a:dk2>
      <a:lt2>
        <a:srgbClr val="AACDCA"/>
      </a:lt2>
      <a:accent1>
        <a:srgbClr val="D72C2F"/>
      </a:accent1>
      <a:accent2>
        <a:srgbClr val="44516F"/>
      </a:accent2>
      <a:accent3>
        <a:srgbClr val="79C6C1"/>
      </a:accent3>
      <a:accent4>
        <a:srgbClr val="FFFFFF"/>
      </a:accent4>
      <a:accent5>
        <a:srgbClr val="FFFFFF"/>
      </a:accent5>
      <a:accent6>
        <a:srgbClr val="FFFF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RCOE updated template" id="{E7FA4F46-C946-B543-8CAA-6C2DD81F0FF0}" vid="{07066D9F-7382-EB44-B453-DDAD9AB5CA43}"/>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COE updated template" id="{E7FA4F46-C946-B543-8CAA-6C2DD81F0FF0}" vid="{CEBAC97C-41B9-7340-8D0A-3D484B4F570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BRCOE updated template</Template>
  <TotalTime>2322</TotalTime>
  <Words>3326</Words>
  <Application>Microsoft Macintosh PowerPoint</Application>
  <PresentationFormat>On-screen Show (16:9)</PresentationFormat>
  <Paragraphs>727</Paragraphs>
  <Slides>49</Slides>
  <Notes>44</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49</vt:i4>
      </vt:variant>
    </vt:vector>
  </HeadingPairs>
  <TitlesOfParts>
    <vt:vector size="65" baseType="lpstr">
      <vt:lpstr>ＭＳ Ｐゴシック</vt:lpstr>
      <vt:lpstr>Osaka</vt:lpstr>
      <vt:lpstr>Arial</vt:lpstr>
      <vt:lpstr>Arial Black</vt:lpstr>
      <vt:lpstr>Book Antiqua</vt:lpstr>
      <vt:lpstr>Calibri</vt:lpstr>
      <vt:lpstr>Calibri Light</vt:lpstr>
      <vt:lpstr>Century Gothic</vt:lpstr>
      <vt:lpstr>Helvetica</vt:lpstr>
      <vt:lpstr>Helvetica Neue</vt:lpstr>
      <vt:lpstr>Helvetica Neue Light</vt:lpstr>
      <vt:lpstr>Lucida Console</vt:lpstr>
      <vt:lpstr>Tahoma</vt:lpstr>
      <vt:lpstr>Wingdings</vt:lpstr>
      <vt:lpstr>Office Theme</vt:lpstr>
      <vt:lpstr>Custom Design</vt:lpstr>
      <vt:lpstr>Transactions &amp; Concurrency Control 1</vt:lpstr>
      <vt:lpstr>Architecture of a DBMS</vt:lpstr>
      <vt:lpstr>Architecture of a DBMS, Part 2</vt:lpstr>
      <vt:lpstr>Architecture of a DBMS, Part 3</vt:lpstr>
      <vt:lpstr>Applications on DBMS</vt:lpstr>
      <vt:lpstr>Applications Want Something from the DBMS</vt:lpstr>
      <vt:lpstr>Concurrency Control &amp; Recovery</vt:lpstr>
      <vt:lpstr>Concurrent Execution: Why bother?</vt:lpstr>
      <vt:lpstr>Motivating Example</vt:lpstr>
      <vt:lpstr>Different Types of Problems</vt:lpstr>
      <vt:lpstr>Different Types of Problems, Part 2</vt:lpstr>
      <vt:lpstr>Different Types of Problems, Part 3</vt:lpstr>
      <vt:lpstr>Transactions</vt:lpstr>
      <vt:lpstr>Transaction: Concept and Implementation</vt:lpstr>
      <vt:lpstr>An Aside: Database Turing Awards</vt:lpstr>
      <vt:lpstr>What is a Transaction?</vt:lpstr>
      <vt:lpstr>Our Transaction Model</vt:lpstr>
      <vt:lpstr>Transaction Example</vt:lpstr>
      <vt:lpstr>ACID: High-Level Properties of Transactions</vt:lpstr>
      <vt:lpstr>Isolation (Concurrency)</vt:lpstr>
      <vt:lpstr>Isolation: An Example</vt:lpstr>
      <vt:lpstr>Atomicity and Durability</vt:lpstr>
      <vt:lpstr>Atomicity and Durability, cont.</vt:lpstr>
      <vt:lpstr>Transaction Consistency</vt:lpstr>
      <vt:lpstr>Summary</vt:lpstr>
      <vt:lpstr>Concurrency Control</vt:lpstr>
      <vt:lpstr>Concurrency Control: Providing Isolation</vt:lpstr>
      <vt:lpstr>Transaction Schedules</vt:lpstr>
      <vt:lpstr>Serial Equivalence</vt:lpstr>
      <vt:lpstr>Serializability</vt:lpstr>
      <vt:lpstr>Schedule 1</vt:lpstr>
      <vt:lpstr>Schedule 2</vt:lpstr>
      <vt:lpstr>Schedule 3</vt:lpstr>
      <vt:lpstr>Conflicting Operations</vt:lpstr>
      <vt:lpstr>Conflict Serializable Schedules</vt:lpstr>
      <vt:lpstr>Conflict Serializability - Intuition</vt:lpstr>
      <vt:lpstr>Conflict Serializability – Intuition, Part 2</vt:lpstr>
      <vt:lpstr>Conflict Serializability – Intuition, Part 3</vt:lpstr>
      <vt:lpstr>Conflict Serializability – Intuition, Part 4</vt:lpstr>
      <vt:lpstr>Conflict Serializability – Intuition, Part 5</vt:lpstr>
      <vt:lpstr>Conflict Serializability – Intuition, cont</vt:lpstr>
      <vt:lpstr>Conflict Serializability (Continued)</vt:lpstr>
      <vt:lpstr>Conflict Dependency Graph</vt:lpstr>
      <vt:lpstr>Example</vt:lpstr>
      <vt:lpstr>Example, pt 2</vt:lpstr>
      <vt:lpstr>Example, pt 3</vt:lpstr>
      <vt:lpstr>Example, pt 4</vt:lpstr>
      <vt:lpstr>View Serializability</vt:lpstr>
      <vt:lpstr>Notes on Serializability Definitions</vt:lpstr>
    </vt:vector>
  </TitlesOfParts>
  <Manager/>
  <Company/>
  <LinksUpToDate>false</LinksUpToDate>
  <SharedDoc>false</SharedDoc>
  <HyperlinkBase/>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Name of Course</dc:subject>
  <dc:creator>Daphne Nhuch</dc:creator>
  <cp:keywords/>
  <dc:description/>
  <cp:lastModifiedBy>Daphne Nhuch</cp:lastModifiedBy>
  <cp:revision>110</cp:revision>
  <cp:lastPrinted>2018-11-06T08:41:26Z</cp:lastPrinted>
  <dcterms:created xsi:type="dcterms:W3CDTF">2018-03-13T04:30:50Z</dcterms:created>
  <dcterms:modified xsi:type="dcterms:W3CDTF">2018-11-06T23:09:07Z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ies>
</file>