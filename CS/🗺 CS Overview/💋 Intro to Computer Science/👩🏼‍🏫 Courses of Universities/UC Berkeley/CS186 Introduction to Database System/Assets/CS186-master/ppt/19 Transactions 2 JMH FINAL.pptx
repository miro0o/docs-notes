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9" r:id="rId2"/>
  </p:sldMasterIdLst>
  <p:notesMasterIdLst>
    <p:notesMasterId r:id="rId57"/>
  </p:notesMasterIdLst>
  <p:sldIdLst>
    <p:sldId id="257" r:id="rId3"/>
    <p:sldId id="341" r:id="rId4"/>
    <p:sldId id="305" r:id="rId5"/>
    <p:sldId id="306" r:id="rId6"/>
    <p:sldId id="307" r:id="rId7"/>
    <p:sldId id="308" r:id="rId8"/>
    <p:sldId id="309" r:id="rId9"/>
    <p:sldId id="398" r:id="rId10"/>
    <p:sldId id="312" r:id="rId11"/>
    <p:sldId id="313" r:id="rId12"/>
    <p:sldId id="385" r:id="rId13"/>
    <p:sldId id="314" r:id="rId14"/>
    <p:sldId id="315" r:id="rId15"/>
    <p:sldId id="359" r:id="rId16"/>
    <p:sldId id="361" r:id="rId17"/>
    <p:sldId id="394" r:id="rId18"/>
    <p:sldId id="316" r:id="rId19"/>
    <p:sldId id="317" r:id="rId20"/>
    <p:sldId id="318" r:id="rId21"/>
    <p:sldId id="342" r:id="rId22"/>
    <p:sldId id="320" r:id="rId23"/>
    <p:sldId id="380" r:id="rId24"/>
    <p:sldId id="395" r:id="rId25"/>
    <p:sldId id="321" r:id="rId26"/>
    <p:sldId id="322" r:id="rId27"/>
    <p:sldId id="364" r:id="rId28"/>
    <p:sldId id="323" r:id="rId29"/>
    <p:sldId id="378" r:id="rId30"/>
    <p:sldId id="377" r:id="rId31"/>
    <p:sldId id="376" r:id="rId32"/>
    <p:sldId id="375" r:id="rId33"/>
    <p:sldId id="374" r:id="rId34"/>
    <p:sldId id="373" r:id="rId35"/>
    <p:sldId id="372" r:id="rId36"/>
    <p:sldId id="369" r:id="rId37"/>
    <p:sldId id="370" r:id="rId38"/>
    <p:sldId id="371" r:id="rId39"/>
    <p:sldId id="325" r:id="rId40"/>
    <p:sldId id="343" r:id="rId41"/>
    <p:sldId id="327" r:id="rId42"/>
    <p:sldId id="328" r:id="rId43"/>
    <p:sldId id="329" r:id="rId44"/>
    <p:sldId id="397" r:id="rId45"/>
    <p:sldId id="383" r:id="rId46"/>
    <p:sldId id="330" r:id="rId47"/>
    <p:sldId id="331" r:id="rId48"/>
    <p:sldId id="335" r:id="rId49"/>
    <p:sldId id="332" r:id="rId50"/>
    <p:sldId id="387" r:id="rId51"/>
    <p:sldId id="334" r:id="rId52"/>
    <p:sldId id="393" r:id="rId53"/>
    <p:sldId id="336" r:id="rId54"/>
    <p:sldId id="337" r:id="rId55"/>
    <p:sldId id="338" r:id="rId5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00">
          <p15:clr>
            <a:srgbClr val="A4A3A4"/>
          </p15:clr>
        </p15:guide>
        <p15:guide id="2" pos="518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Joseph Hellerstein"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68" autoAdjust="0"/>
    <p:restoredTop sz="86377" autoAdjust="0"/>
  </p:normalViewPr>
  <p:slideViewPr>
    <p:cSldViewPr>
      <p:cViewPr varScale="1">
        <p:scale>
          <a:sx n="82" d="100"/>
          <a:sy n="82" d="100"/>
        </p:scale>
        <p:origin x="176" y="976"/>
      </p:cViewPr>
      <p:guideLst>
        <p:guide orient="horz" pos="2700"/>
        <p:guide pos="5184"/>
      </p:guideLst>
    </p:cSldViewPr>
  </p:slideViewPr>
  <p:outlineViewPr>
    <p:cViewPr>
      <p:scale>
        <a:sx n="33" d="100"/>
        <a:sy n="33" d="100"/>
      </p:scale>
      <p:origin x="0" y="-65544"/>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E7B2F-76B0-4CCC-83FA-00CA85CD8DA2}" type="datetimeFigureOut">
              <a:rPr lang="en-US" smtClean="0"/>
              <a:t>11/7/18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DA6495-08A5-4780-AF01-64577BB694EC}" type="slidenum">
              <a:rPr lang="en-US" smtClean="0"/>
              <a:t>‹#›</a:t>
            </a:fld>
            <a:endParaRPr lang="en-US"/>
          </a:p>
        </p:txBody>
      </p:sp>
    </p:spTree>
    <p:extLst>
      <p:ext uri="{BB962C8B-B14F-4D97-AF65-F5344CB8AC3E}">
        <p14:creationId xmlns:p14="http://schemas.microsoft.com/office/powerpoint/2010/main" val="159869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65200">
              <a:defRPr sz="1200">
                <a:solidFill>
                  <a:srgbClr val="CF0E30"/>
                </a:solidFill>
                <a:latin typeface="Book Antiqua" charset="0"/>
                <a:ea typeface="Osaka" charset="-128"/>
              </a:defRPr>
            </a:lvl1pPr>
            <a:lvl2pPr marL="742950" indent="-285750" defTabSz="965200">
              <a:defRPr sz="1200">
                <a:solidFill>
                  <a:srgbClr val="CF0E30"/>
                </a:solidFill>
                <a:latin typeface="Book Antiqua" charset="0"/>
                <a:ea typeface="Osaka" charset="-128"/>
              </a:defRPr>
            </a:lvl2pPr>
            <a:lvl3pPr marL="1143000" indent="-228600" defTabSz="965200">
              <a:defRPr sz="1200">
                <a:solidFill>
                  <a:srgbClr val="CF0E30"/>
                </a:solidFill>
                <a:latin typeface="Book Antiqua" charset="0"/>
                <a:ea typeface="Osaka" charset="-128"/>
              </a:defRPr>
            </a:lvl3pPr>
            <a:lvl4pPr marL="1600200" indent="-228600" defTabSz="965200">
              <a:defRPr sz="1200">
                <a:solidFill>
                  <a:srgbClr val="CF0E30"/>
                </a:solidFill>
                <a:latin typeface="Book Antiqua" charset="0"/>
                <a:ea typeface="Osaka" charset="-128"/>
              </a:defRPr>
            </a:lvl4pPr>
            <a:lvl5pPr marL="2057400" indent="-228600" defTabSz="965200">
              <a:defRPr sz="1200">
                <a:solidFill>
                  <a:srgbClr val="CF0E30"/>
                </a:solidFill>
                <a:latin typeface="Book Antiqua" charset="0"/>
                <a:ea typeface="Osaka" charset="-128"/>
              </a:defRPr>
            </a:lvl5pPr>
            <a:lvl6pPr marL="2514600" indent="-228600" defTabSz="965200" eaLnBrk="0" fontAlgn="base" hangingPunct="0">
              <a:spcBef>
                <a:spcPct val="0"/>
              </a:spcBef>
              <a:spcAft>
                <a:spcPct val="0"/>
              </a:spcAft>
              <a:defRPr sz="1200">
                <a:solidFill>
                  <a:srgbClr val="CF0E30"/>
                </a:solidFill>
                <a:latin typeface="Book Antiqua" charset="0"/>
                <a:ea typeface="Osaka" charset="-128"/>
              </a:defRPr>
            </a:lvl6pPr>
            <a:lvl7pPr marL="2971800" indent="-228600" defTabSz="965200" eaLnBrk="0" fontAlgn="base" hangingPunct="0">
              <a:spcBef>
                <a:spcPct val="0"/>
              </a:spcBef>
              <a:spcAft>
                <a:spcPct val="0"/>
              </a:spcAft>
              <a:defRPr sz="1200">
                <a:solidFill>
                  <a:srgbClr val="CF0E30"/>
                </a:solidFill>
                <a:latin typeface="Book Antiqua" charset="0"/>
                <a:ea typeface="Osaka" charset="-128"/>
              </a:defRPr>
            </a:lvl7pPr>
            <a:lvl8pPr marL="3429000" indent="-228600" defTabSz="965200" eaLnBrk="0" fontAlgn="base" hangingPunct="0">
              <a:spcBef>
                <a:spcPct val="0"/>
              </a:spcBef>
              <a:spcAft>
                <a:spcPct val="0"/>
              </a:spcAft>
              <a:defRPr sz="1200">
                <a:solidFill>
                  <a:srgbClr val="CF0E30"/>
                </a:solidFill>
                <a:latin typeface="Book Antiqua" charset="0"/>
                <a:ea typeface="Osaka" charset="-128"/>
              </a:defRPr>
            </a:lvl8pPr>
            <a:lvl9pPr marL="3886200" indent="-228600" defTabSz="965200" eaLnBrk="0" fontAlgn="base" hangingPunct="0">
              <a:spcBef>
                <a:spcPct val="0"/>
              </a:spcBef>
              <a:spcAft>
                <a:spcPct val="0"/>
              </a:spcAft>
              <a:defRPr sz="1200">
                <a:solidFill>
                  <a:srgbClr val="CF0E30"/>
                </a:solidFill>
                <a:latin typeface="Book Antiqua" charset="0"/>
                <a:ea typeface="Osaka" charset="-128"/>
              </a:defRPr>
            </a:lvl9pPr>
          </a:lstStyle>
          <a:p>
            <a:fld id="{224305B6-CF60-844B-A029-5CD3ABCFE7E0}" type="slidenum">
              <a:rPr lang="en-US" altLang="en-US" sz="1300"/>
              <a:pPr/>
              <a:t>1</a:t>
            </a:fld>
            <a:endParaRPr lang="en-US" altLang="en-US" sz="1300"/>
          </a:p>
        </p:txBody>
      </p:sp>
    </p:spTree>
    <p:extLst>
      <p:ext uri="{BB962C8B-B14F-4D97-AF65-F5344CB8AC3E}">
        <p14:creationId xmlns:p14="http://schemas.microsoft.com/office/powerpoint/2010/main" val="211524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a:t>
            </a:fld>
            <a:endParaRPr lang="en-US" dirty="0"/>
          </a:p>
        </p:txBody>
      </p:sp>
    </p:spTree>
    <p:extLst>
      <p:ext uri="{BB962C8B-B14F-4D97-AF65-F5344CB8AC3E}">
        <p14:creationId xmlns:p14="http://schemas.microsoft.com/office/powerpoint/2010/main" val="3667639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a:t>
            </a:fld>
            <a:endParaRPr lang="en-US" dirty="0"/>
          </a:p>
        </p:txBody>
      </p:sp>
    </p:spTree>
    <p:extLst>
      <p:ext uri="{BB962C8B-B14F-4D97-AF65-F5344CB8AC3E}">
        <p14:creationId xmlns:p14="http://schemas.microsoft.com/office/powerpoint/2010/main" val="3308115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5</a:t>
            </a:fld>
            <a:endParaRPr lang="en-US" dirty="0"/>
          </a:p>
        </p:txBody>
      </p:sp>
    </p:spTree>
    <p:extLst>
      <p:ext uri="{BB962C8B-B14F-4D97-AF65-F5344CB8AC3E}">
        <p14:creationId xmlns:p14="http://schemas.microsoft.com/office/powerpoint/2010/main" val="244190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6</a:t>
            </a:fld>
            <a:endParaRPr lang="en-US" dirty="0"/>
          </a:p>
        </p:txBody>
      </p:sp>
    </p:spTree>
    <p:extLst>
      <p:ext uri="{BB962C8B-B14F-4D97-AF65-F5344CB8AC3E}">
        <p14:creationId xmlns:p14="http://schemas.microsoft.com/office/powerpoint/2010/main" val="3951304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7</a:t>
            </a:fld>
            <a:endParaRPr lang="en-US" dirty="0"/>
          </a:p>
        </p:txBody>
      </p:sp>
    </p:spTree>
    <p:extLst>
      <p:ext uri="{BB962C8B-B14F-4D97-AF65-F5344CB8AC3E}">
        <p14:creationId xmlns:p14="http://schemas.microsoft.com/office/powerpoint/2010/main" val="663216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8</a:t>
            </a:fld>
            <a:endParaRPr lang="en-US" dirty="0"/>
          </a:p>
        </p:txBody>
      </p:sp>
    </p:spTree>
    <p:extLst>
      <p:ext uri="{BB962C8B-B14F-4D97-AF65-F5344CB8AC3E}">
        <p14:creationId xmlns:p14="http://schemas.microsoft.com/office/powerpoint/2010/main" val="1821859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9</a:t>
            </a:fld>
            <a:endParaRPr lang="en-US" dirty="0"/>
          </a:p>
        </p:txBody>
      </p:sp>
    </p:spTree>
    <p:extLst>
      <p:ext uri="{BB962C8B-B14F-4D97-AF65-F5344CB8AC3E}">
        <p14:creationId xmlns:p14="http://schemas.microsoft.com/office/powerpoint/2010/main" val="2850633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10</a:t>
            </a:fld>
            <a:endParaRPr lang="en-US" dirty="0"/>
          </a:p>
        </p:txBody>
      </p:sp>
    </p:spTree>
    <p:extLst>
      <p:ext uri="{BB962C8B-B14F-4D97-AF65-F5344CB8AC3E}">
        <p14:creationId xmlns:p14="http://schemas.microsoft.com/office/powerpoint/2010/main" val="3377776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11</a:t>
            </a:fld>
            <a:endParaRPr lang="en-US" dirty="0"/>
          </a:p>
        </p:txBody>
      </p:sp>
    </p:spTree>
    <p:extLst>
      <p:ext uri="{BB962C8B-B14F-4D97-AF65-F5344CB8AC3E}">
        <p14:creationId xmlns:p14="http://schemas.microsoft.com/office/powerpoint/2010/main" val="759370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12</a:t>
            </a:fld>
            <a:endParaRPr lang="en-US" dirty="0"/>
          </a:p>
        </p:txBody>
      </p:sp>
    </p:spTree>
    <p:extLst>
      <p:ext uri="{BB962C8B-B14F-4D97-AF65-F5344CB8AC3E}">
        <p14:creationId xmlns:p14="http://schemas.microsoft.com/office/powerpoint/2010/main" val="1646278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13</a:t>
            </a:fld>
            <a:endParaRPr lang="en-US" dirty="0"/>
          </a:p>
        </p:txBody>
      </p:sp>
    </p:spTree>
    <p:extLst>
      <p:ext uri="{BB962C8B-B14F-4D97-AF65-F5344CB8AC3E}">
        <p14:creationId xmlns:p14="http://schemas.microsoft.com/office/powerpoint/2010/main" val="2787921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14</a:t>
            </a:fld>
            <a:endParaRPr lang="en-US" dirty="0"/>
          </a:p>
        </p:txBody>
      </p:sp>
    </p:spTree>
    <p:extLst>
      <p:ext uri="{BB962C8B-B14F-4D97-AF65-F5344CB8AC3E}">
        <p14:creationId xmlns:p14="http://schemas.microsoft.com/office/powerpoint/2010/main" val="4106121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17</a:t>
            </a:fld>
            <a:endParaRPr lang="en-US" dirty="0"/>
          </a:p>
        </p:txBody>
      </p:sp>
    </p:spTree>
    <p:extLst>
      <p:ext uri="{BB962C8B-B14F-4D97-AF65-F5344CB8AC3E}">
        <p14:creationId xmlns:p14="http://schemas.microsoft.com/office/powerpoint/2010/main" val="2061051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18</a:t>
            </a:fld>
            <a:endParaRPr lang="en-US" dirty="0"/>
          </a:p>
        </p:txBody>
      </p:sp>
    </p:spTree>
    <p:extLst>
      <p:ext uri="{BB962C8B-B14F-4D97-AF65-F5344CB8AC3E}">
        <p14:creationId xmlns:p14="http://schemas.microsoft.com/office/powerpoint/2010/main" val="2939351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19</a:t>
            </a:fld>
            <a:endParaRPr lang="en-US" dirty="0"/>
          </a:p>
        </p:txBody>
      </p:sp>
    </p:spTree>
    <p:extLst>
      <p:ext uri="{BB962C8B-B14F-4D97-AF65-F5344CB8AC3E}">
        <p14:creationId xmlns:p14="http://schemas.microsoft.com/office/powerpoint/2010/main" val="80842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21</a:t>
            </a:fld>
            <a:endParaRPr lang="en-US" dirty="0"/>
          </a:p>
        </p:txBody>
      </p:sp>
    </p:spTree>
    <p:extLst>
      <p:ext uri="{BB962C8B-B14F-4D97-AF65-F5344CB8AC3E}">
        <p14:creationId xmlns:p14="http://schemas.microsoft.com/office/powerpoint/2010/main" val="4057265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24</a:t>
            </a:fld>
            <a:endParaRPr lang="en-US" dirty="0"/>
          </a:p>
        </p:txBody>
      </p:sp>
    </p:spTree>
    <p:extLst>
      <p:ext uri="{BB962C8B-B14F-4D97-AF65-F5344CB8AC3E}">
        <p14:creationId xmlns:p14="http://schemas.microsoft.com/office/powerpoint/2010/main" val="3310429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25</a:t>
            </a:fld>
            <a:endParaRPr lang="en-US" dirty="0"/>
          </a:p>
        </p:txBody>
      </p:sp>
    </p:spTree>
    <p:extLst>
      <p:ext uri="{BB962C8B-B14F-4D97-AF65-F5344CB8AC3E}">
        <p14:creationId xmlns:p14="http://schemas.microsoft.com/office/powerpoint/2010/main" val="3574629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27</a:t>
            </a:fld>
            <a:endParaRPr lang="en-US" dirty="0"/>
          </a:p>
        </p:txBody>
      </p:sp>
    </p:spTree>
    <p:extLst>
      <p:ext uri="{BB962C8B-B14F-4D97-AF65-F5344CB8AC3E}">
        <p14:creationId xmlns:p14="http://schemas.microsoft.com/office/powerpoint/2010/main" val="480245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28</a:t>
            </a:fld>
            <a:endParaRPr lang="en-US" dirty="0"/>
          </a:p>
        </p:txBody>
      </p:sp>
    </p:spTree>
    <p:extLst>
      <p:ext uri="{BB962C8B-B14F-4D97-AF65-F5344CB8AC3E}">
        <p14:creationId xmlns:p14="http://schemas.microsoft.com/office/powerpoint/2010/main" val="21618576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29</a:t>
            </a:fld>
            <a:endParaRPr lang="en-US" dirty="0"/>
          </a:p>
        </p:txBody>
      </p:sp>
    </p:spTree>
    <p:extLst>
      <p:ext uri="{BB962C8B-B14F-4D97-AF65-F5344CB8AC3E}">
        <p14:creationId xmlns:p14="http://schemas.microsoft.com/office/powerpoint/2010/main" val="1794115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30</a:t>
            </a:fld>
            <a:endParaRPr lang="en-US" dirty="0"/>
          </a:p>
        </p:txBody>
      </p:sp>
    </p:spTree>
    <p:extLst>
      <p:ext uri="{BB962C8B-B14F-4D97-AF65-F5344CB8AC3E}">
        <p14:creationId xmlns:p14="http://schemas.microsoft.com/office/powerpoint/2010/main" val="12157050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31</a:t>
            </a:fld>
            <a:endParaRPr lang="en-US" dirty="0"/>
          </a:p>
        </p:txBody>
      </p:sp>
    </p:spTree>
    <p:extLst>
      <p:ext uri="{BB962C8B-B14F-4D97-AF65-F5344CB8AC3E}">
        <p14:creationId xmlns:p14="http://schemas.microsoft.com/office/powerpoint/2010/main" val="18194430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32</a:t>
            </a:fld>
            <a:endParaRPr lang="en-US" dirty="0"/>
          </a:p>
        </p:txBody>
      </p:sp>
    </p:spTree>
    <p:extLst>
      <p:ext uri="{BB962C8B-B14F-4D97-AF65-F5344CB8AC3E}">
        <p14:creationId xmlns:p14="http://schemas.microsoft.com/office/powerpoint/2010/main" val="19597239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33</a:t>
            </a:fld>
            <a:endParaRPr lang="en-US" dirty="0"/>
          </a:p>
        </p:txBody>
      </p:sp>
    </p:spTree>
    <p:extLst>
      <p:ext uri="{BB962C8B-B14F-4D97-AF65-F5344CB8AC3E}">
        <p14:creationId xmlns:p14="http://schemas.microsoft.com/office/powerpoint/2010/main" val="9293230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34</a:t>
            </a:fld>
            <a:endParaRPr lang="en-US" dirty="0"/>
          </a:p>
        </p:txBody>
      </p:sp>
    </p:spTree>
    <p:extLst>
      <p:ext uri="{BB962C8B-B14F-4D97-AF65-F5344CB8AC3E}">
        <p14:creationId xmlns:p14="http://schemas.microsoft.com/office/powerpoint/2010/main" val="33618130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35</a:t>
            </a:fld>
            <a:endParaRPr lang="en-US" dirty="0"/>
          </a:p>
        </p:txBody>
      </p:sp>
    </p:spTree>
    <p:extLst>
      <p:ext uri="{BB962C8B-B14F-4D97-AF65-F5344CB8AC3E}">
        <p14:creationId xmlns:p14="http://schemas.microsoft.com/office/powerpoint/2010/main" val="2411838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36</a:t>
            </a:fld>
            <a:endParaRPr lang="en-US" dirty="0"/>
          </a:p>
        </p:txBody>
      </p:sp>
    </p:spTree>
    <p:extLst>
      <p:ext uri="{BB962C8B-B14F-4D97-AF65-F5344CB8AC3E}">
        <p14:creationId xmlns:p14="http://schemas.microsoft.com/office/powerpoint/2010/main" val="38801169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37</a:t>
            </a:fld>
            <a:endParaRPr lang="en-US" dirty="0"/>
          </a:p>
        </p:txBody>
      </p:sp>
    </p:spTree>
    <p:extLst>
      <p:ext uri="{BB962C8B-B14F-4D97-AF65-F5344CB8AC3E}">
        <p14:creationId xmlns:p14="http://schemas.microsoft.com/office/powerpoint/2010/main" val="37428440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38</a:t>
            </a:fld>
            <a:endParaRPr lang="en-US" dirty="0"/>
          </a:p>
        </p:txBody>
      </p:sp>
    </p:spTree>
    <p:extLst>
      <p:ext uri="{BB962C8B-B14F-4D97-AF65-F5344CB8AC3E}">
        <p14:creationId xmlns:p14="http://schemas.microsoft.com/office/powerpoint/2010/main" val="9799230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40</a:t>
            </a:fld>
            <a:endParaRPr lang="en-US" dirty="0"/>
          </a:p>
        </p:txBody>
      </p:sp>
    </p:spTree>
    <p:extLst>
      <p:ext uri="{BB962C8B-B14F-4D97-AF65-F5344CB8AC3E}">
        <p14:creationId xmlns:p14="http://schemas.microsoft.com/office/powerpoint/2010/main" val="25943483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41</a:t>
            </a:fld>
            <a:endParaRPr lang="en-US" dirty="0"/>
          </a:p>
        </p:txBody>
      </p:sp>
    </p:spTree>
    <p:extLst>
      <p:ext uri="{BB962C8B-B14F-4D97-AF65-F5344CB8AC3E}">
        <p14:creationId xmlns:p14="http://schemas.microsoft.com/office/powerpoint/2010/main" val="35988115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42</a:t>
            </a:fld>
            <a:endParaRPr lang="en-US" dirty="0"/>
          </a:p>
        </p:txBody>
      </p:sp>
    </p:spTree>
    <p:extLst>
      <p:ext uri="{BB962C8B-B14F-4D97-AF65-F5344CB8AC3E}">
        <p14:creationId xmlns:p14="http://schemas.microsoft.com/office/powerpoint/2010/main" val="38093720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43</a:t>
            </a:fld>
            <a:endParaRPr lang="en-US" dirty="0"/>
          </a:p>
        </p:txBody>
      </p:sp>
    </p:spTree>
    <p:extLst>
      <p:ext uri="{BB962C8B-B14F-4D97-AF65-F5344CB8AC3E}">
        <p14:creationId xmlns:p14="http://schemas.microsoft.com/office/powerpoint/2010/main" val="4067045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45</a:t>
            </a:fld>
            <a:endParaRPr lang="en-US" dirty="0"/>
          </a:p>
        </p:txBody>
      </p:sp>
    </p:spTree>
    <p:extLst>
      <p:ext uri="{BB962C8B-B14F-4D97-AF65-F5344CB8AC3E}">
        <p14:creationId xmlns:p14="http://schemas.microsoft.com/office/powerpoint/2010/main" val="28299903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46</a:t>
            </a:fld>
            <a:endParaRPr lang="en-US" dirty="0"/>
          </a:p>
        </p:txBody>
      </p:sp>
    </p:spTree>
    <p:extLst>
      <p:ext uri="{BB962C8B-B14F-4D97-AF65-F5344CB8AC3E}">
        <p14:creationId xmlns:p14="http://schemas.microsoft.com/office/powerpoint/2010/main" val="12590371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47</a:t>
            </a:fld>
            <a:endParaRPr lang="en-US" dirty="0"/>
          </a:p>
        </p:txBody>
      </p:sp>
    </p:spTree>
    <p:extLst>
      <p:ext uri="{BB962C8B-B14F-4D97-AF65-F5344CB8AC3E}">
        <p14:creationId xmlns:p14="http://schemas.microsoft.com/office/powerpoint/2010/main" val="37895869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48</a:t>
            </a:fld>
            <a:endParaRPr lang="en-US" dirty="0"/>
          </a:p>
        </p:txBody>
      </p:sp>
    </p:spTree>
    <p:extLst>
      <p:ext uri="{BB962C8B-B14F-4D97-AF65-F5344CB8AC3E}">
        <p14:creationId xmlns:p14="http://schemas.microsoft.com/office/powerpoint/2010/main" val="24546269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49</a:t>
            </a:fld>
            <a:endParaRPr lang="en-US" dirty="0"/>
          </a:p>
        </p:txBody>
      </p:sp>
    </p:spTree>
    <p:extLst>
      <p:ext uri="{BB962C8B-B14F-4D97-AF65-F5344CB8AC3E}">
        <p14:creationId xmlns:p14="http://schemas.microsoft.com/office/powerpoint/2010/main" val="26027672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52</a:t>
            </a:fld>
            <a:endParaRPr lang="en-US" dirty="0"/>
          </a:p>
        </p:txBody>
      </p:sp>
    </p:spTree>
    <p:extLst>
      <p:ext uri="{BB962C8B-B14F-4D97-AF65-F5344CB8AC3E}">
        <p14:creationId xmlns:p14="http://schemas.microsoft.com/office/powerpoint/2010/main" val="40627837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53</a:t>
            </a:fld>
            <a:endParaRPr lang="en-US" dirty="0"/>
          </a:p>
        </p:txBody>
      </p:sp>
    </p:spTree>
    <p:extLst>
      <p:ext uri="{BB962C8B-B14F-4D97-AF65-F5344CB8AC3E}">
        <p14:creationId xmlns:p14="http://schemas.microsoft.com/office/powerpoint/2010/main" val="43246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CBDC78-7E38-40A1-BA4E-B0A1F110EDAD}" type="slidenum">
              <a:rPr lang="en-US" smtClean="0"/>
              <a:t>54</a:t>
            </a:fld>
            <a:endParaRPr lang="en-US" dirty="0"/>
          </a:p>
        </p:txBody>
      </p:sp>
    </p:spTree>
    <p:extLst>
      <p:ext uri="{BB962C8B-B14F-4D97-AF65-F5344CB8AC3E}">
        <p14:creationId xmlns:p14="http://schemas.microsoft.com/office/powerpoint/2010/main" val="3439929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Cover">
    <p:spTree>
      <p:nvGrpSpPr>
        <p:cNvPr id="1" name=""/>
        <p:cNvGrpSpPr/>
        <p:nvPr/>
      </p:nvGrpSpPr>
      <p:grpSpPr>
        <a:xfrm>
          <a:off x="0" y="0"/>
          <a:ext cx="0" cy="0"/>
          <a:chOff x="0" y="0"/>
          <a:chExt cx="0" cy="0"/>
        </a:xfrm>
      </p:grpSpPr>
      <p:sp>
        <p:nvSpPr>
          <p:cNvPr id="15" name="Title 1"/>
          <p:cNvSpPr>
            <a:spLocks noGrp="1"/>
          </p:cNvSpPr>
          <p:nvPr>
            <p:ph type="title"/>
          </p:nvPr>
        </p:nvSpPr>
        <p:spPr>
          <a:xfrm>
            <a:off x="246888" y="971550"/>
            <a:ext cx="6629400" cy="1600200"/>
          </a:xfrm>
        </p:spPr>
        <p:txBody>
          <a:bodyPr anchor="t">
            <a:normAutofit/>
          </a:bodyPr>
          <a:lstStyle>
            <a:lvl1pPr algn="l">
              <a:defRPr sz="4400" b="1" baseline="0">
                <a:solidFill>
                  <a:schemeClr val="tx1"/>
                </a:solidFill>
                <a:latin typeface="Helvetica Neue" charset="0"/>
                <a:cs typeface="Helvetica" panose="020B0604020202020204" pitchFamily="34" charset="0"/>
              </a:defRPr>
            </a:lvl1pPr>
          </a:lstStyle>
          <a:p>
            <a:r>
              <a:rPr lang="en-US"/>
              <a:t>Click to edit Master title style</a:t>
            </a:r>
            <a:endParaRPr lang="en-US" dirty="0"/>
          </a:p>
        </p:txBody>
      </p:sp>
      <p:sp>
        <p:nvSpPr>
          <p:cNvPr id="10" name="Content Placeholder 1"/>
          <p:cNvSpPr>
            <a:spLocks noGrp="1"/>
          </p:cNvSpPr>
          <p:nvPr>
            <p:ph sz="quarter" idx="10" hasCustomPrompt="1"/>
          </p:nvPr>
        </p:nvSpPr>
        <p:spPr>
          <a:xfrm>
            <a:off x="246888" y="2771486"/>
            <a:ext cx="5437632" cy="1565401"/>
          </a:xfrm>
        </p:spPr>
        <p:txBody>
          <a:bodyPr>
            <a:noAutofit/>
          </a:bodyPr>
          <a:lstStyle>
            <a:lvl1pPr marL="0" indent="0" algn="r">
              <a:buNone/>
              <a:defRPr sz="2800" baseline="0">
                <a:solidFill>
                  <a:sysClr val="windowText" lastClr="000000"/>
                </a:solidFill>
                <a:latin typeface="Helvetica Neue" charset="0"/>
              </a:defRPr>
            </a:lvl1pPr>
          </a:lstStyle>
          <a:p>
            <a:pPr lvl="0"/>
            <a:r>
              <a:rPr lang="en-US" dirty="0"/>
              <a:t>Lecture Name</a:t>
            </a:r>
          </a:p>
        </p:txBody>
      </p:sp>
      <p:pic>
        <p:nvPicPr>
          <p:cNvPr id="6" name="Shape 15" descr="skitched-3-4.jpg"/>
          <p:cNvPicPr preferRelativeResize="0"/>
          <p:nvPr userDrawn="1"/>
        </p:nvPicPr>
        <p:blipFill rotWithShape="1">
          <a:blip r:embed="rId2">
            <a:alphaModFix/>
          </a:blip>
          <a:srcRect/>
          <a:stretch/>
        </p:blipFill>
        <p:spPr>
          <a:xfrm>
            <a:off x="5791200" y="3257550"/>
            <a:ext cx="3132137" cy="1727200"/>
          </a:xfrm>
          <a:prstGeom prst="rect">
            <a:avLst/>
          </a:prstGeom>
          <a:noFill/>
          <a:ln>
            <a:noFill/>
          </a:ln>
        </p:spPr>
      </p:pic>
    </p:spTree>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lined Cover">
    <p:bg>
      <p:bgPr>
        <a:solidFill>
          <a:schemeClr val="bg1"/>
        </a:solidFill>
        <a:effectLst/>
      </p:bgPr>
    </p:bg>
    <p:spTree>
      <p:nvGrpSpPr>
        <p:cNvPr id="1" name=""/>
        <p:cNvGrpSpPr/>
        <p:nvPr/>
      </p:nvGrpSpPr>
      <p:grpSpPr>
        <a:xfrm>
          <a:off x="0" y="0"/>
          <a:ext cx="0" cy="0"/>
          <a:chOff x="0" y="0"/>
          <a:chExt cx="0" cy="0"/>
        </a:xfrm>
      </p:grpSpPr>
      <p:sp>
        <p:nvSpPr>
          <p:cNvPr id="15" name="Title 1"/>
          <p:cNvSpPr>
            <a:spLocks noGrp="1"/>
          </p:cNvSpPr>
          <p:nvPr>
            <p:ph type="title"/>
          </p:nvPr>
        </p:nvSpPr>
        <p:spPr>
          <a:xfrm>
            <a:off x="246888" y="285750"/>
            <a:ext cx="6534912" cy="1340358"/>
          </a:xfrm>
        </p:spPr>
        <p:txBody>
          <a:bodyPr anchor="t">
            <a:noAutofit/>
          </a:bodyPr>
          <a:lstStyle>
            <a:lvl1pPr algn="l">
              <a:defRPr sz="4400" b="1" baseline="0">
                <a:solidFill>
                  <a:schemeClr val="tx1"/>
                </a:solidFill>
                <a:latin typeface="Helvetica Neue" charset="0"/>
                <a:cs typeface="Helvetica" panose="020B0604020202020204" pitchFamily="34" charset="0"/>
              </a:defRPr>
            </a:lvl1pPr>
          </a:lstStyle>
          <a:p>
            <a:r>
              <a:rPr lang="en-US"/>
              <a:t>Click to edit Master title style</a:t>
            </a:r>
            <a:endParaRPr lang="en-US" dirty="0"/>
          </a:p>
        </p:txBody>
      </p:sp>
      <p:sp>
        <p:nvSpPr>
          <p:cNvPr id="10" name="Content Placeholder 1"/>
          <p:cNvSpPr>
            <a:spLocks noGrp="1"/>
          </p:cNvSpPr>
          <p:nvPr>
            <p:ph sz="quarter" idx="10"/>
          </p:nvPr>
        </p:nvSpPr>
        <p:spPr>
          <a:xfrm>
            <a:off x="246888" y="1962150"/>
            <a:ext cx="8741664" cy="2743200"/>
          </a:xfrm>
        </p:spPr>
        <p:txBody>
          <a:bodyPr>
            <a:noAutofit/>
          </a:bodyPr>
          <a:lstStyle>
            <a:lvl1pPr marL="0" indent="0" algn="l">
              <a:buNone/>
              <a:defRPr sz="3200" baseline="0">
                <a:solidFill>
                  <a:schemeClr val="tx1"/>
                </a:solidFill>
                <a:latin typeface="Helvetica Neue" charset="0"/>
                <a:cs typeface="Helvetica" panose="020B0604020202020204" pitchFamily="34" charset="0"/>
              </a:defRPr>
            </a:lvl1pPr>
          </a:lstStyle>
          <a:p>
            <a:pPr lvl="0"/>
            <a:r>
              <a:rPr lang="en-US"/>
              <a:t>Click to edit Master text styles</a:t>
            </a:r>
          </a:p>
        </p:txBody>
      </p:sp>
      <p:pic>
        <p:nvPicPr>
          <p:cNvPr id="5" name="Shape 15" descr="skitched-3-4.jpg"/>
          <p:cNvPicPr preferRelativeResize="0"/>
          <p:nvPr userDrawn="1"/>
        </p:nvPicPr>
        <p:blipFill rotWithShape="1">
          <a:blip r:embed="rId2">
            <a:alphaModFix/>
          </a:blip>
          <a:srcRect/>
          <a:stretch/>
        </p:blipFill>
        <p:spPr>
          <a:xfrm>
            <a:off x="7186942" y="285750"/>
            <a:ext cx="1830918" cy="1009650"/>
          </a:xfrm>
          <a:prstGeom prst="rect">
            <a:avLst/>
          </a:prstGeom>
          <a:noFill/>
          <a:ln>
            <a:noFill/>
          </a:ln>
        </p:spPr>
      </p:pic>
    </p:spTree>
    <p:extLst>
      <p:ext uri="{BB962C8B-B14F-4D97-AF65-F5344CB8AC3E}">
        <p14:creationId xmlns:p14="http://schemas.microsoft.com/office/powerpoint/2010/main" val="3801740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amp; Image R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6888" y="310896"/>
            <a:ext cx="7144512" cy="768096"/>
          </a:xfrm>
        </p:spPr>
        <p:txBody>
          <a:bodyPr anchor="t">
            <a:noAutofit/>
          </a:bodyPr>
          <a:lstStyle>
            <a:lvl1pPr algn="l">
              <a:defRPr sz="3200" baseline="0">
                <a:latin typeface="Helvetica Neue" charset="0"/>
                <a:cs typeface="Helvetica" panose="020B0604020202020204" pitchFamily="34" charset="0"/>
              </a:defRPr>
            </a:lvl1pPr>
          </a:lstStyle>
          <a:p>
            <a:r>
              <a:rPr lang="en-US"/>
              <a:t>Click to edit Master title style</a:t>
            </a:r>
            <a:endParaRPr lang="en-US" dirty="0"/>
          </a:p>
        </p:txBody>
      </p:sp>
      <p:sp>
        <p:nvSpPr>
          <p:cNvPr id="3" name="Content Placeholder 1"/>
          <p:cNvSpPr>
            <a:spLocks noGrp="1"/>
          </p:cNvSpPr>
          <p:nvPr>
            <p:ph sz="half" idx="1"/>
          </p:nvPr>
        </p:nvSpPr>
        <p:spPr>
          <a:xfrm>
            <a:off x="246888" y="1078992"/>
            <a:ext cx="4343400" cy="3017520"/>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2"/>
          <p:cNvSpPr>
            <a:spLocks noGrp="1"/>
          </p:cNvSpPr>
          <p:nvPr>
            <p:ph sz="half" idx="10"/>
          </p:nvPr>
        </p:nvSpPr>
        <p:spPr>
          <a:xfrm>
            <a:off x="4663440" y="1078992"/>
            <a:ext cx="4224528" cy="3044952"/>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p:cNvPicPr>
            <a:picLocks noChangeAspect="1"/>
          </p:cNvPicPr>
          <p:nvPr userDrawn="1"/>
        </p:nvPicPr>
        <p:blipFill>
          <a:blip r:embed="rId2"/>
          <a:stretch>
            <a:fillRect/>
          </a:stretch>
        </p:blipFill>
        <p:spPr>
          <a:xfrm>
            <a:off x="7487293" y="320736"/>
            <a:ext cx="1377815" cy="762066"/>
          </a:xfrm>
          <a:prstGeom prst="rect">
            <a:avLst/>
          </a:prstGeom>
        </p:spPr>
      </p:pic>
    </p:spTree>
    <p:extLst>
      <p:ext uri="{BB962C8B-B14F-4D97-AF65-F5344CB8AC3E}">
        <p14:creationId xmlns:p14="http://schemas.microsoft.com/office/powerpoint/2010/main" val="1929105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 Title and Content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888" y="310896"/>
            <a:ext cx="7068312" cy="667512"/>
          </a:xfrm>
        </p:spPr>
        <p:txBody>
          <a:bodyPr anchor="t">
            <a:normAutofit/>
          </a:bodyPr>
          <a:lstStyle>
            <a:lvl1pPr algn="l">
              <a:defRPr sz="3200">
                <a:latin typeface="Helvetica" panose="020B0604020202020204" pitchFamily="34" charset="0"/>
                <a:cs typeface="Helvetica" panose="020B0604020202020204" pitchFamily="34" charset="0"/>
              </a:defRPr>
            </a:lvl1pPr>
          </a:lstStyle>
          <a:p>
            <a:r>
              <a:rPr lang="en-US" dirty="0"/>
              <a:t>Click3 to edit Master title style</a:t>
            </a:r>
          </a:p>
        </p:txBody>
      </p:sp>
      <p:sp>
        <p:nvSpPr>
          <p:cNvPr id="7" name="Content Placeholder 1"/>
          <p:cNvSpPr>
            <a:spLocks noGrp="1"/>
          </p:cNvSpPr>
          <p:nvPr>
            <p:ph sz="quarter" idx="13"/>
          </p:nvPr>
        </p:nvSpPr>
        <p:spPr>
          <a:xfrm>
            <a:off x="246888" y="1060704"/>
            <a:ext cx="8668512" cy="3090672"/>
          </a:xfrm>
        </p:spPr>
        <p:txBody>
          <a:bodyPr>
            <a:normAutofit/>
          </a:bodyPr>
          <a:lstStyle>
            <a:lvl1pPr marL="342900" indent="-342900">
              <a:buClr>
                <a:schemeClr val="accent2"/>
              </a:buClr>
              <a:buFont typeface="Arial" panose="020B0604020202020204" pitchFamily="34" charset="0"/>
              <a:buChar char="•"/>
              <a:defRPr sz="2800">
                <a:solidFill>
                  <a:schemeClr val="tx1"/>
                </a:solidFill>
              </a:defRPr>
            </a:lvl1pPr>
            <a:lvl2pPr marL="742950" indent="-285750">
              <a:buClr>
                <a:schemeClr val="accent2"/>
              </a:buClr>
              <a:buFont typeface="Arial" panose="020B0604020202020204" pitchFamily="34" charset="0"/>
              <a:buChar char="•"/>
              <a:defRPr sz="2600">
                <a:solidFill>
                  <a:schemeClr val="tx1"/>
                </a:solidFill>
              </a:defRPr>
            </a:lvl2pPr>
            <a:lvl3pPr marL="1143000" indent="-228600">
              <a:buClr>
                <a:schemeClr val="accent2"/>
              </a:buClr>
              <a:buFont typeface="Arial" panose="020B0604020202020204" pitchFamily="34" charset="0"/>
              <a:buChar char="•"/>
              <a:defRPr sz="2400">
                <a:solidFill>
                  <a:schemeClr val="tx1"/>
                </a:solidFill>
              </a:defRPr>
            </a:lvl3pPr>
            <a:lvl4pPr marL="1600200" indent="-228600">
              <a:buClr>
                <a:schemeClr val="accent2"/>
              </a:buClr>
              <a:buFont typeface="Arial" panose="020B0604020202020204" pitchFamily="34" charset="0"/>
              <a:buChar char="•"/>
              <a:defRPr sz="1800"/>
            </a:lvl4pPr>
            <a:lvl5pPr>
              <a:defRPr sz="1600"/>
            </a:lvl5pPr>
          </a:lstStyle>
          <a:p>
            <a:pPr lvl="0"/>
            <a:r>
              <a:rPr lang="en-US"/>
              <a:t>Click to edit Master text styles</a:t>
            </a:r>
          </a:p>
          <a:p>
            <a:pPr lvl="1"/>
            <a:r>
              <a:rPr lang="en-US"/>
              <a:t>Second level</a:t>
            </a:r>
          </a:p>
          <a:p>
            <a:pPr lvl="2"/>
            <a:r>
              <a:rPr lang="en-US"/>
              <a:t>Third level</a:t>
            </a:r>
          </a:p>
        </p:txBody>
      </p:sp>
      <p:sp>
        <p:nvSpPr>
          <p:cNvPr id="6" name="Slide Deck Title text box"/>
          <p:cNvSpPr txBox="1">
            <a:spLocks noChangeArrowheads="1"/>
          </p:cNvSpPr>
          <p:nvPr userDrawn="1"/>
        </p:nvSpPr>
        <p:spPr bwMode="auto">
          <a:xfrm>
            <a:off x="4667250" y="4379976"/>
            <a:ext cx="422433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Rockwell" charset="0"/>
                <a:ea typeface="ＭＳ Ｐゴシック" charset="0"/>
                <a:cs typeface="ＭＳ Ｐゴシック" charset="0"/>
              </a:defRPr>
            </a:lvl1pPr>
            <a:lvl2pPr marL="742950" indent="-285750" eaLnBrk="0" hangingPunct="0">
              <a:defRPr sz="2400">
                <a:solidFill>
                  <a:schemeClr val="tx1"/>
                </a:solidFill>
                <a:latin typeface="Rockwell" charset="0"/>
                <a:ea typeface="ＭＳ Ｐゴシック" charset="0"/>
              </a:defRPr>
            </a:lvl2pPr>
            <a:lvl3pPr marL="1143000" indent="-228600" eaLnBrk="0" hangingPunct="0">
              <a:defRPr sz="2400">
                <a:solidFill>
                  <a:schemeClr val="tx1"/>
                </a:solidFill>
                <a:latin typeface="Rockwell" charset="0"/>
                <a:ea typeface="ＭＳ Ｐゴシック" charset="0"/>
              </a:defRPr>
            </a:lvl3pPr>
            <a:lvl4pPr marL="1600200" indent="-228600" eaLnBrk="0" hangingPunct="0">
              <a:defRPr sz="2400">
                <a:solidFill>
                  <a:schemeClr val="tx1"/>
                </a:solidFill>
                <a:latin typeface="Rockwell" charset="0"/>
                <a:ea typeface="ＭＳ Ｐゴシック" charset="0"/>
              </a:defRPr>
            </a:lvl4pPr>
            <a:lvl5pPr marL="2057400" indent="-228600" eaLnBrk="0" hangingPunct="0">
              <a:defRPr sz="2400">
                <a:solidFill>
                  <a:schemeClr val="tx1"/>
                </a:solidFill>
                <a:latin typeface="Rockwell" charset="0"/>
                <a:ea typeface="ＭＳ Ｐゴシック" charset="0"/>
              </a:defRPr>
            </a:lvl5pPr>
            <a:lvl6pPr marL="2514600" indent="-228600" eaLnBrk="0" fontAlgn="base" hangingPunct="0">
              <a:spcBef>
                <a:spcPct val="0"/>
              </a:spcBef>
              <a:spcAft>
                <a:spcPct val="0"/>
              </a:spcAft>
              <a:defRPr sz="2400">
                <a:solidFill>
                  <a:schemeClr val="tx1"/>
                </a:solidFill>
                <a:latin typeface="Rockwell" charset="0"/>
                <a:ea typeface="ＭＳ Ｐゴシック" charset="0"/>
              </a:defRPr>
            </a:lvl6pPr>
            <a:lvl7pPr marL="2971800" indent="-228600" eaLnBrk="0" fontAlgn="base" hangingPunct="0">
              <a:spcBef>
                <a:spcPct val="0"/>
              </a:spcBef>
              <a:spcAft>
                <a:spcPct val="0"/>
              </a:spcAft>
              <a:defRPr sz="2400">
                <a:solidFill>
                  <a:schemeClr val="tx1"/>
                </a:solidFill>
                <a:latin typeface="Rockwell" charset="0"/>
                <a:ea typeface="ＭＳ Ｐゴシック" charset="0"/>
              </a:defRPr>
            </a:lvl7pPr>
            <a:lvl8pPr marL="3429000" indent="-228600" eaLnBrk="0" fontAlgn="base" hangingPunct="0">
              <a:spcBef>
                <a:spcPct val="0"/>
              </a:spcBef>
              <a:spcAft>
                <a:spcPct val="0"/>
              </a:spcAft>
              <a:defRPr sz="2400">
                <a:solidFill>
                  <a:schemeClr val="tx1"/>
                </a:solidFill>
                <a:latin typeface="Rockwell" charset="0"/>
                <a:ea typeface="ＭＳ Ｐゴシック" charset="0"/>
              </a:defRPr>
            </a:lvl8pPr>
            <a:lvl9pPr marL="3886200" indent="-228600" eaLnBrk="0" fontAlgn="base" hangingPunct="0">
              <a:spcBef>
                <a:spcPct val="0"/>
              </a:spcBef>
              <a:spcAft>
                <a:spcPct val="0"/>
              </a:spcAft>
              <a:defRPr sz="2400">
                <a:solidFill>
                  <a:schemeClr val="tx1"/>
                </a:solidFill>
                <a:latin typeface="Rockwell" charset="0"/>
                <a:ea typeface="ＭＳ Ｐゴシック" charset="0"/>
              </a:defRPr>
            </a:lvl9pPr>
          </a:lstStyle>
          <a:p>
            <a:pPr algn="r" eaLnBrk="1" hangingPunct="1">
              <a:defRPr/>
            </a:pPr>
            <a:r>
              <a:rPr lang="en-US" sz="1400" dirty="0">
                <a:solidFill>
                  <a:schemeClr val="bg1"/>
                </a:solidFill>
                <a:latin typeface="Century Gothic" charset="0"/>
                <a:cs typeface="Century Gothic" charset="0"/>
              </a:rPr>
              <a:t>Slide Deck Title</a:t>
            </a:r>
          </a:p>
        </p:txBody>
      </p:sp>
      <p:pic>
        <p:nvPicPr>
          <p:cNvPr id="3" name="Picture 2"/>
          <p:cNvPicPr>
            <a:picLocks noChangeAspect="1"/>
          </p:cNvPicPr>
          <p:nvPr userDrawn="1"/>
        </p:nvPicPr>
        <p:blipFill>
          <a:blip r:embed="rId2"/>
          <a:stretch>
            <a:fillRect/>
          </a:stretch>
        </p:blipFill>
        <p:spPr>
          <a:xfrm>
            <a:off x="7513773" y="310896"/>
            <a:ext cx="1377815" cy="762066"/>
          </a:xfrm>
          <a:prstGeom prst="rect">
            <a:avLst/>
          </a:prstGeom>
        </p:spPr>
      </p:pic>
    </p:spTree>
    <p:extLst>
      <p:ext uri="{BB962C8B-B14F-4D97-AF65-F5344CB8AC3E}">
        <p14:creationId xmlns:p14="http://schemas.microsoft.com/office/powerpoint/2010/main" val="3872850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lined Title and Content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888" y="310896"/>
            <a:ext cx="7525512" cy="1143000"/>
          </a:xfrm>
        </p:spPr>
        <p:txBody>
          <a:bodyPr anchor="t">
            <a:normAutofit/>
          </a:bodyPr>
          <a:lstStyle>
            <a:lvl1pPr algn="l">
              <a:defRPr sz="3200">
                <a:latin typeface="Helvetica" panose="020B0604020202020204" pitchFamily="34" charset="0"/>
                <a:cs typeface="Helvetica" panose="020B0604020202020204" pitchFamily="34" charset="0"/>
              </a:defRPr>
            </a:lvl1pPr>
          </a:lstStyle>
          <a:p>
            <a:r>
              <a:rPr lang="en-US" dirty="0"/>
              <a:t>Click to edit Master title style</a:t>
            </a:r>
            <a:br>
              <a:rPr lang="en-US" dirty="0"/>
            </a:br>
            <a:endParaRPr lang="en-US" dirty="0"/>
          </a:p>
        </p:txBody>
      </p:sp>
      <p:sp>
        <p:nvSpPr>
          <p:cNvPr id="7" name="Content Placeholder 1"/>
          <p:cNvSpPr>
            <a:spLocks noGrp="1"/>
          </p:cNvSpPr>
          <p:nvPr>
            <p:ph sz="quarter" idx="13"/>
          </p:nvPr>
        </p:nvSpPr>
        <p:spPr>
          <a:xfrm>
            <a:off x="228600" y="1536192"/>
            <a:ext cx="8668512" cy="2615184"/>
          </a:xfrm>
        </p:spPr>
        <p:txBody>
          <a:bodyPr>
            <a:normAutofit/>
          </a:bodyPr>
          <a:lstStyle>
            <a:lvl1pPr marL="342900" indent="-342900">
              <a:buClr>
                <a:schemeClr val="accent2"/>
              </a:buClr>
              <a:buFont typeface="Arial" panose="020B0604020202020204" pitchFamily="34" charset="0"/>
              <a:buChar char="•"/>
              <a:defRPr sz="2800"/>
            </a:lvl1pPr>
            <a:lvl2pPr marL="742950" indent="-285750">
              <a:buClr>
                <a:schemeClr val="accent2"/>
              </a:buClr>
              <a:buFont typeface="Arial" panose="020B0604020202020204" pitchFamily="34" charset="0"/>
              <a:buChar char="•"/>
              <a:defRPr sz="2600"/>
            </a:lvl2pPr>
            <a:lvl3pPr marL="1143000" indent="-228600">
              <a:buClr>
                <a:schemeClr val="accent2"/>
              </a:buClr>
              <a:buFont typeface="Arial" panose="020B0604020202020204" pitchFamily="34" charset="0"/>
              <a:buChar char="•"/>
              <a:defRPr sz="2400"/>
            </a:lvl3pPr>
            <a:lvl4pPr marL="1600200" indent="-228600">
              <a:buClr>
                <a:schemeClr val="accent2"/>
              </a:buClr>
              <a:buFont typeface="Arial" panose="020B0604020202020204" pitchFamily="34" charset="0"/>
              <a:buChar char="•"/>
              <a:defRPr sz="1800"/>
            </a:lvl4pPr>
            <a:lvl5pPr>
              <a:defRPr sz="1600"/>
            </a:lvl5pPr>
          </a:lstStyle>
          <a:p>
            <a:pPr lvl="0"/>
            <a:r>
              <a:rPr lang="en-US"/>
              <a:t>Click to edit Master text styles</a:t>
            </a:r>
          </a:p>
          <a:p>
            <a:pPr lvl="1"/>
            <a:r>
              <a:rPr lang="en-US"/>
              <a:t>Second level</a:t>
            </a:r>
          </a:p>
          <a:p>
            <a:pPr lvl="2"/>
            <a:r>
              <a:rPr lang="en-US"/>
              <a:t>Third level</a:t>
            </a:r>
          </a:p>
        </p:txBody>
      </p:sp>
      <p:pic>
        <p:nvPicPr>
          <p:cNvPr id="3" name="Picture 2"/>
          <p:cNvPicPr>
            <a:picLocks noChangeAspect="1"/>
          </p:cNvPicPr>
          <p:nvPr userDrawn="1"/>
        </p:nvPicPr>
        <p:blipFill>
          <a:blip r:embed="rId2"/>
          <a:stretch>
            <a:fillRect/>
          </a:stretch>
        </p:blipFill>
        <p:spPr>
          <a:xfrm>
            <a:off x="7513773" y="545526"/>
            <a:ext cx="1377815" cy="762066"/>
          </a:xfrm>
          <a:prstGeom prst="rect">
            <a:avLst/>
          </a:prstGeom>
        </p:spPr>
      </p:pic>
    </p:spTree>
    <p:extLst>
      <p:ext uri="{BB962C8B-B14F-4D97-AF65-F5344CB8AC3E}">
        <p14:creationId xmlns:p14="http://schemas.microsoft.com/office/powerpoint/2010/main" val="2004729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lined Content and Image Righ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6888" y="310896"/>
            <a:ext cx="7449312" cy="1161288"/>
          </a:xfrm>
          <a:solidFill>
            <a:schemeClr val="bg1"/>
          </a:solidFill>
        </p:spPr>
        <p:txBody>
          <a:bodyPr anchor="t">
            <a:normAutofit/>
          </a:bodyPr>
          <a:lstStyle>
            <a:lvl1pPr algn="l">
              <a:defRPr sz="3200" baseline="0">
                <a:latin typeface="Helvetica Neue" charset="0"/>
                <a:cs typeface="Helvetica" panose="020B0604020202020204" pitchFamily="34" charset="0"/>
              </a:defRPr>
            </a:lvl1pPr>
          </a:lstStyle>
          <a:p>
            <a:r>
              <a:rPr lang="en-US"/>
              <a:t>Click to edit Master title style</a:t>
            </a:r>
            <a:endParaRPr lang="en-US" dirty="0"/>
          </a:p>
        </p:txBody>
      </p:sp>
      <p:sp>
        <p:nvSpPr>
          <p:cNvPr id="3" name="Content Placeholder 1"/>
          <p:cNvSpPr>
            <a:spLocks noGrp="1"/>
          </p:cNvSpPr>
          <p:nvPr>
            <p:ph sz="half" idx="1"/>
          </p:nvPr>
        </p:nvSpPr>
        <p:spPr>
          <a:xfrm>
            <a:off x="246888" y="1554480"/>
            <a:ext cx="4343400" cy="2633472"/>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2"/>
          <p:cNvSpPr>
            <a:spLocks noGrp="1"/>
          </p:cNvSpPr>
          <p:nvPr>
            <p:ph sz="half" idx="10"/>
          </p:nvPr>
        </p:nvSpPr>
        <p:spPr>
          <a:xfrm>
            <a:off x="4663440" y="1554480"/>
            <a:ext cx="4224528" cy="2633472"/>
          </a:xfrm>
        </p:spPr>
        <p:txBody>
          <a:bodyPr>
            <a:normAutofit/>
          </a:bodyPr>
          <a:lstStyle>
            <a:lvl1pPr>
              <a:defRPr sz="2600"/>
            </a:lvl1pPr>
            <a:lvl2pPr>
              <a:defRPr sz="2400"/>
            </a:lvl2pPr>
            <a:lvl3pPr>
              <a:defRPr sz="22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pic>
        <p:nvPicPr>
          <p:cNvPr id="4" name="Picture 3"/>
          <p:cNvPicPr>
            <a:picLocks noChangeAspect="1"/>
          </p:cNvPicPr>
          <p:nvPr userDrawn="1"/>
        </p:nvPicPr>
        <p:blipFill>
          <a:blip r:embed="rId2"/>
          <a:stretch>
            <a:fillRect/>
          </a:stretch>
        </p:blipFill>
        <p:spPr>
          <a:xfrm>
            <a:off x="7510153" y="444147"/>
            <a:ext cx="1377815" cy="762066"/>
          </a:xfrm>
          <a:prstGeom prst="rect">
            <a:avLst/>
          </a:prstGeom>
        </p:spPr>
      </p:pic>
    </p:spTree>
    <p:extLst>
      <p:ext uri="{BB962C8B-B14F-4D97-AF65-F5344CB8AC3E}">
        <p14:creationId xmlns:p14="http://schemas.microsoft.com/office/powerpoint/2010/main" val="1369137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5" descr="skitched-3-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1864" y="2933700"/>
            <a:ext cx="3132137" cy="129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1618" name="Rectangle 2"/>
          <p:cNvSpPr>
            <a:spLocks noGrp="1" noChangeArrowheads="1"/>
          </p:cNvSpPr>
          <p:nvPr>
            <p:ph type="ctrTitle"/>
          </p:nvPr>
        </p:nvSpPr>
        <p:spPr>
          <a:xfrm>
            <a:off x="685800" y="1436675"/>
            <a:ext cx="7620000" cy="857250"/>
          </a:xfrm>
        </p:spPr>
        <p:txBody>
          <a:bodyPr/>
          <a:lstStyle>
            <a:lvl1pPr algn="l">
              <a:defRPr>
                <a:latin typeface="Helvetica Neue" charset="0"/>
                <a:ea typeface="Helvetica Neue" charset="0"/>
                <a:cs typeface="Helvetica Neue" charset="0"/>
              </a:defRPr>
            </a:lvl1pPr>
          </a:lstStyle>
          <a:p>
            <a:r>
              <a:rPr lang="en-US" dirty="0"/>
              <a:t>Click to edit Master title style</a:t>
            </a:r>
          </a:p>
        </p:txBody>
      </p:sp>
      <p:sp>
        <p:nvSpPr>
          <p:cNvPr id="111619" name="Rectangle 3"/>
          <p:cNvSpPr>
            <a:spLocks noGrp="1" noChangeArrowheads="1"/>
          </p:cNvSpPr>
          <p:nvPr>
            <p:ph type="subTitle" idx="1"/>
          </p:nvPr>
        </p:nvSpPr>
        <p:spPr>
          <a:xfrm>
            <a:off x="1371600" y="3048000"/>
            <a:ext cx="4572000" cy="1047750"/>
          </a:xfrm>
        </p:spPr>
        <p:txBody>
          <a:bodyPr anchor="b" anchorCtr="0"/>
          <a:lstStyle>
            <a:lvl1pPr marL="0" indent="0" algn="r">
              <a:buFontTx/>
              <a:buNone/>
              <a:defRPr>
                <a:latin typeface="Helvetica Neue" charset="0"/>
                <a:ea typeface="Helvetica Neue" charset="0"/>
                <a:cs typeface="Helvetica Neue" charset="0"/>
              </a:defRPr>
            </a:lvl1pPr>
          </a:lstStyle>
          <a:p>
            <a:r>
              <a:rPr lang="en-US"/>
              <a:t>Click to edit Master subtitle style</a:t>
            </a:r>
            <a:endParaRPr lang="en-US" dirty="0"/>
          </a:p>
        </p:txBody>
      </p:sp>
      <p:sp>
        <p:nvSpPr>
          <p:cNvPr id="5" name="Date Placeholder 4"/>
          <p:cNvSpPr>
            <a:spLocks noGrp="1" noChangeArrowheads="1"/>
          </p:cNvSpPr>
          <p:nvPr>
            <p:ph type="dt" sz="half" idx="10"/>
          </p:nvPr>
        </p:nvSpPr>
        <p:spPr bwMode="auto">
          <a:xfrm>
            <a:off x="685800" y="4686300"/>
            <a:ext cx="190500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0" hangingPunct="0">
              <a:defRPr sz="1050">
                <a:solidFill>
                  <a:schemeClr val="tx1"/>
                </a:solidFill>
                <a:latin typeface="Helvetica Neue" charset="0"/>
                <a:ea typeface="Helvetica Neue" charset="0"/>
                <a:cs typeface="Helvetica Neue" charset="0"/>
              </a:defRPr>
            </a:lvl1pPr>
          </a:lstStyle>
          <a:p>
            <a:pPr>
              <a:defRPr/>
            </a:pPr>
            <a:endParaRPr lang="en-US"/>
          </a:p>
        </p:txBody>
      </p:sp>
      <p:sp>
        <p:nvSpPr>
          <p:cNvPr id="6" name="Footer Placeholder 5"/>
          <p:cNvSpPr>
            <a:spLocks noGrp="1" noChangeArrowheads="1"/>
          </p:cNvSpPr>
          <p:nvPr>
            <p:ph type="ftr" sz="quarter" idx="11"/>
          </p:nvPr>
        </p:nvSpPr>
        <p:spPr bwMode="auto">
          <a:xfrm>
            <a:off x="3124200" y="4686300"/>
            <a:ext cx="289560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0" hangingPunct="0">
              <a:defRPr sz="1050">
                <a:solidFill>
                  <a:schemeClr val="tx1"/>
                </a:solidFill>
                <a:latin typeface="Helvetica Neue" charset="0"/>
                <a:ea typeface="Helvetica Neue" charset="0"/>
                <a:cs typeface="Helvetica Neue" charset="0"/>
              </a:defRPr>
            </a:lvl1pPr>
          </a:lstStyle>
          <a:p>
            <a:pPr>
              <a:defRPr/>
            </a:pPr>
            <a:endParaRPr lang="en-US"/>
          </a:p>
        </p:txBody>
      </p:sp>
      <p:sp>
        <p:nvSpPr>
          <p:cNvPr id="7" name="Rectangle 6"/>
          <p:cNvSpPr>
            <a:spLocks noGrp="1" noChangeArrowheads="1"/>
          </p:cNvSpPr>
          <p:nvPr>
            <p:ph type="sldNum" sz="quarter" idx="12"/>
          </p:nvPr>
        </p:nvSpPr>
        <p:spPr>
          <a:xfrm>
            <a:off x="6553200" y="4686300"/>
            <a:ext cx="1905000" cy="342900"/>
          </a:xfrm>
        </p:spPr>
        <p:txBody>
          <a:bodyPr/>
          <a:lstStyle>
            <a:lvl1pPr>
              <a:defRPr>
                <a:latin typeface="Helvetica Neue" charset="0"/>
                <a:ea typeface="Helvetica Neue" charset="0"/>
                <a:cs typeface="Helvetica Neue" charset="0"/>
              </a:defRPr>
            </a:lvl1pPr>
          </a:lstStyle>
          <a:p>
            <a:pPr>
              <a:defRPr/>
            </a:pPr>
            <a:fld id="{59B8027A-901F-8D4B-BEEB-5E526ED1FF3C}" type="slidenum">
              <a:rPr lang="en-US" smtClean="0"/>
              <a:pPr>
                <a:defRPr/>
              </a:pPr>
              <a:t>‹#›</a:t>
            </a:fld>
            <a:endParaRPr lang="en-US"/>
          </a:p>
        </p:txBody>
      </p:sp>
      <p:pic>
        <p:nvPicPr>
          <p:cNvPr id="8" name="Picture 5" descr="skitched-3-4.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11864" y="2933700"/>
            <a:ext cx="3132137" cy="129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990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68884267-D271-3C43-A608-FB4A870ECEE6}" type="slidenum">
              <a:rPr lang="en-US" smtClean="0"/>
              <a:pPr>
                <a:defRPr/>
              </a:pPr>
              <a:t>‹#›</a:t>
            </a:fld>
            <a:endParaRPr lang="en-US"/>
          </a:p>
        </p:txBody>
      </p:sp>
    </p:spTree>
    <p:extLst>
      <p:ext uri="{BB962C8B-B14F-4D97-AF65-F5344CB8AC3E}">
        <p14:creationId xmlns:p14="http://schemas.microsoft.com/office/powerpoint/2010/main" val="208115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pPr>
              <a:defRPr/>
            </a:pPr>
            <a:fld id="{4D122405-2E08-4242-8FD0-A2A778523DA5}" type="slidenum">
              <a:rPr lang="en-US" smtClean="0"/>
              <a:pPr>
                <a:defRPr/>
              </a:pPr>
              <a:t>‹#›</a:t>
            </a:fld>
            <a:endParaRPr lang="en-US"/>
          </a:p>
        </p:txBody>
      </p:sp>
    </p:spTree>
    <p:extLst>
      <p:ext uri="{BB962C8B-B14F-4D97-AF65-F5344CB8AC3E}">
        <p14:creationId xmlns:p14="http://schemas.microsoft.com/office/powerpoint/2010/main" val="675993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9F783B0-C189-9248-9374-C3851D12A000}" type="datetimeFigureOut">
              <a:rPr lang="en-US" smtClean="0"/>
              <a:t>11/7/18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44127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783B0-C189-9248-9374-C3851D12A000}" type="datetimeFigureOut">
              <a:rPr lang="en-US" smtClean="0"/>
              <a:t>11/7/18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769672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783B0-C189-9248-9374-C3851D12A000}" type="datetimeFigureOut">
              <a:rPr lang="en-US" smtClean="0"/>
              <a:t>11/7/18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599281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9F783B0-C189-9248-9374-C3851D12A000}" type="datetimeFigureOut">
              <a:rPr lang="en-US" smtClean="0"/>
              <a:t>11/7/18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220121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a:t>Click to edit Master title style</a:t>
            </a:r>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9F783B0-C189-9248-9374-C3851D12A000}" type="datetimeFigureOut">
              <a:rPr lang="en-US" smtClean="0"/>
              <a:t>11/7/18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268772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9F783B0-C189-9248-9374-C3851D12A000}" type="datetimeFigureOut">
              <a:rPr lang="en-US" smtClean="0"/>
              <a:t>11/7/18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103936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F783B0-C189-9248-9374-C3851D12A000}" type="datetimeFigureOut">
              <a:rPr lang="en-US" smtClean="0"/>
              <a:t>11/7/18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750503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783B0-C189-9248-9374-C3851D12A000}" type="datetimeFigureOut">
              <a:rPr lang="en-US" smtClean="0"/>
              <a:t>11/7/18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92629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783B0-C189-9248-9374-C3851D12A000}" type="datetimeFigureOut">
              <a:rPr lang="en-US" smtClean="0"/>
              <a:t>11/7/18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1268016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783B0-C189-9248-9374-C3851D12A000}" type="datetimeFigureOut">
              <a:rPr lang="en-US" smtClean="0"/>
              <a:t>11/7/18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2065489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783B0-C189-9248-9374-C3851D12A000}" type="datetimeFigureOut">
              <a:rPr lang="en-US" smtClean="0"/>
              <a:t>11/7/18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DBE92-7D83-6C40-B90C-DDFD8E85BD1A}" type="slidenum">
              <a:rPr lang="en-US" smtClean="0"/>
              <a:t>‹#›</a:t>
            </a:fld>
            <a:endParaRPr lang="en-US"/>
          </a:p>
        </p:txBody>
      </p:sp>
    </p:spTree>
    <p:extLst>
      <p:ext uri="{BB962C8B-B14F-4D97-AF65-F5344CB8AC3E}">
        <p14:creationId xmlns:p14="http://schemas.microsoft.com/office/powerpoint/2010/main" val="60979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F8FFD81-3213-4789-B5DF-194594E817CD}" type="datetimeFigureOut">
              <a:rPr lang="en-US" smtClean="0"/>
              <a:t>11/7/18</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312FCA20-D3C1-4D02-835D-77BA55FE14B2}" type="slidenum">
              <a:rPr lang="en-US" smtClean="0"/>
              <a:t>‹#›</a:t>
            </a:fld>
            <a:endParaRPr lang="en-US"/>
          </a:p>
        </p:txBody>
      </p:sp>
      <p:sp>
        <p:nvSpPr>
          <p:cNvPr id="7" name="Rectangle 6"/>
          <p:cNvSpPr/>
          <p:nvPr userDrawn="1"/>
        </p:nvSpPr>
        <p:spPr>
          <a:xfrm>
            <a:off x="6574971" y="3692071"/>
            <a:ext cx="2569029" cy="145142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8982671"/>
      </p:ext>
    </p:extLst>
  </p:cSld>
  <p:clrMap bg1="lt1" tx1="dk1" bg2="lt2" tx2="dk2" accent1="accent1" accent2="accent2" accent3="accent3" accent4="accent4" accent5="accent5" accent6="accent6" hlink="hlink" folHlink="folHlink"/>
  <p:sldLayoutIdLst>
    <p:sldLayoutId id="2147483694" r:id="rId1"/>
    <p:sldLayoutId id="2147483660" r:id="rId2"/>
    <p:sldLayoutId id="2147483668" r:id="rId3"/>
    <p:sldLayoutId id="2147483673" r:id="rId4"/>
    <p:sldLayoutId id="2147483666" r:id="rId5"/>
    <p:sldLayoutId id="2147483667" r:id="rId6"/>
    <p:sldLayoutId id="2147483691" r:id="rId7"/>
    <p:sldLayoutId id="2147483692" r:id="rId8"/>
    <p:sldLayoutId id="2147483693" r:id="rId9"/>
  </p:sldLayoutIdLst>
  <p:txStyles>
    <p:titleStyle>
      <a:lvl1pPr algn="l" defTabSz="914400" rtl="0" eaLnBrk="1" latinLnBrk="0" hangingPunct="1">
        <a:spcBef>
          <a:spcPct val="0"/>
        </a:spcBef>
        <a:buNone/>
        <a:defRPr sz="3200" kern="1200" baseline="0">
          <a:solidFill>
            <a:schemeClr val="tx1"/>
          </a:solidFill>
          <a:latin typeface="Helvetica Neue" charset="0"/>
          <a:ea typeface="+mj-ea"/>
          <a:cs typeface="+mj-cs"/>
        </a:defRPr>
      </a:lvl1pPr>
    </p:titleStyle>
    <p:bodyStyle>
      <a:lvl1pPr marL="342900" indent="-342900" algn="l" defTabSz="914400" rtl="0" eaLnBrk="1" latinLnBrk="0" hangingPunct="1">
        <a:spcBef>
          <a:spcPct val="20000"/>
        </a:spcBef>
        <a:buClr>
          <a:schemeClr val="accent2"/>
        </a:buClr>
        <a:buFont typeface="Arial" panose="020B0604020202020204" pitchFamily="34" charset="0"/>
        <a:buChar char="•"/>
        <a:defRPr sz="2000" kern="1200" baseline="0">
          <a:solidFill>
            <a:schemeClr val="tx1"/>
          </a:solidFill>
          <a:latin typeface="Helvetica Neue" charset="0"/>
          <a:ea typeface="+mn-ea"/>
          <a:cs typeface="+mn-cs"/>
        </a:defRPr>
      </a:lvl1pPr>
      <a:lvl2pPr marL="742950" indent="-285750" algn="l" defTabSz="914400" rtl="0" eaLnBrk="1" latinLnBrk="0" hangingPunct="1">
        <a:spcBef>
          <a:spcPct val="20000"/>
        </a:spcBef>
        <a:buClr>
          <a:schemeClr val="accent2"/>
        </a:buClr>
        <a:buFont typeface="Arial" panose="020B0604020202020204" pitchFamily="34" charset="0"/>
        <a:buChar char="•"/>
        <a:defRPr sz="1800" kern="1200" baseline="0">
          <a:solidFill>
            <a:schemeClr val="tx1"/>
          </a:solidFill>
          <a:latin typeface="Helvetica Neue" charset="0"/>
          <a:ea typeface="+mn-ea"/>
          <a:cs typeface="+mn-cs"/>
        </a:defRPr>
      </a:lvl2pPr>
      <a:lvl3pPr marL="1143000" indent="-228600" algn="l" defTabSz="914400" rtl="0" eaLnBrk="1" latinLnBrk="0" hangingPunct="1">
        <a:spcBef>
          <a:spcPct val="20000"/>
        </a:spcBef>
        <a:buClr>
          <a:schemeClr val="accent2"/>
        </a:buClr>
        <a:buFont typeface="Arial" panose="020B0604020202020204" pitchFamily="34" charset="0"/>
        <a:buChar char="•"/>
        <a:defRPr sz="1600" kern="1200" baseline="0">
          <a:solidFill>
            <a:schemeClr val="tx1"/>
          </a:solidFill>
          <a:latin typeface="Helvetica Neue" charset="0"/>
          <a:ea typeface="+mn-ea"/>
          <a:cs typeface="+mn-cs"/>
        </a:defRPr>
      </a:lvl3pPr>
      <a:lvl4pPr marL="160020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59F783B0-C189-9248-9374-C3851D12A000}" type="datetimeFigureOut">
              <a:rPr lang="en-US" smtClean="0"/>
              <a:t>11/7/18</a:t>
            </a:fld>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D0DBE92-7D83-6C40-B90C-DDFD8E85BD1A}" type="slidenum">
              <a:rPr lang="en-US" smtClean="0"/>
              <a:t>‹#›</a:t>
            </a:fld>
            <a:endParaRPr lang="en-US"/>
          </a:p>
        </p:txBody>
      </p:sp>
    </p:spTree>
    <p:extLst>
      <p:ext uri="{BB962C8B-B14F-4D97-AF65-F5344CB8AC3E}">
        <p14:creationId xmlns:p14="http://schemas.microsoft.com/office/powerpoint/2010/main" val="75756974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6.tiff"/><Relationship Id="rId4" Type="http://schemas.openxmlformats.org/officeDocument/2006/relationships/image" Target="../media/image5.tiff"/></Relationships>
</file>

<file path=ppt/slides/_rels/slide2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7.tiff"/><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p:cNvSpPr>
            <a:spLocks noGrp="1" noChangeArrowheads="1"/>
          </p:cNvSpPr>
          <p:nvPr>
            <p:ph type="title"/>
          </p:nvPr>
        </p:nvSpPr>
        <p:spPr/>
        <p:txBody>
          <a:bodyPr>
            <a:normAutofit/>
          </a:bodyPr>
          <a:lstStyle/>
          <a:p>
            <a:pPr eaLnBrk="1" hangingPunct="1"/>
            <a:r>
              <a:rPr lang="en-US" altLang="en-US" dirty="0">
                <a:latin typeface="Helvetica Neue Light" charset="0"/>
              </a:rPr>
              <a:t>Transactions &amp;</a:t>
            </a:r>
            <a:br>
              <a:rPr lang="en-US" altLang="en-US" dirty="0">
                <a:latin typeface="Helvetica Neue Light" charset="0"/>
              </a:rPr>
            </a:br>
            <a:r>
              <a:rPr lang="en-US" altLang="en-US" dirty="0">
                <a:latin typeface="Helvetica Neue Light" charset="0"/>
              </a:rPr>
              <a:t>Concurrency Control 2</a:t>
            </a:r>
          </a:p>
        </p:txBody>
      </p:sp>
      <p:sp>
        <p:nvSpPr>
          <p:cNvPr id="16388" name="Subtitle 3"/>
          <p:cNvSpPr>
            <a:spLocks noGrp="1"/>
          </p:cNvSpPr>
          <p:nvPr>
            <p:ph sz="quarter" idx="10"/>
          </p:nvPr>
        </p:nvSpPr>
        <p:spPr/>
        <p:txBody>
          <a:bodyPr/>
          <a:lstStyle/>
          <a:p>
            <a:pPr eaLnBrk="1" hangingPunct="1"/>
            <a:r>
              <a:rPr lang="en-US" altLang="en-US" dirty="0">
                <a:latin typeface="Helvetica Neue" charset="0"/>
              </a:rPr>
              <a:t>R&amp;G 16/17</a:t>
            </a:r>
          </a:p>
        </p:txBody>
      </p:sp>
      <p:sp>
        <p:nvSpPr>
          <p:cNvPr id="6" name="Text Box 8"/>
          <p:cNvSpPr txBox="1">
            <a:spLocks noChangeArrowheads="1"/>
          </p:cNvSpPr>
          <p:nvPr/>
        </p:nvSpPr>
        <p:spPr bwMode="auto">
          <a:xfrm>
            <a:off x="1485900" y="3486150"/>
            <a:ext cx="3840480" cy="1015663"/>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xmlns="">
                <a:solidFill>
                  <a:srgbClr val="FFFFFF"/>
                </a:solidFill>
              </a14:hiddenFill>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500" dirty="0">
                <a:latin typeface="+mn-lt"/>
              </a:rPr>
              <a:t>There are three side effects of acid. Enhanced long term memory, decreased short term memory, and I forget the third.</a:t>
            </a:r>
          </a:p>
          <a:p>
            <a:r>
              <a:rPr lang="en-US" sz="1500" dirty="0">
                <a:latin typeface="+mn-lt"/>
              </a:rPr>
              <a:t>		</a:t>
            </a:r>
            <a:r>
              <a:rPr lang="en-US" sz="1500" dirty="0">
                <a:solidFill>
                  <a:schemeClr val="tx1"/>
                </a:solidFill>
                <a:latin typeface="+mn-lt"/>
              </a:rPr>
              <a:t>- Timothy Leary</a:t>
            </a:r>
          </a:p>
        </p:txBody>
      </p:sp>
    </p:spTree>
    <p:extLst>
      <p:ext uri="{BB962C8B-B14F-4D97-AF65-F5344CB8AC3E}">
        <p14:creationId xmlns:p14="http://schemas.microsoft.com/office/powerpoint/2010/main" val="180928901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PHASE Locking</a:t>
            </a:r>
          </a:p>
        </p:txBody>
      </p:sp>
      <p:sp>
        <p:nvSpPr>
          <p:cNvPr id="5" name="Text Placeholder 4">
            <a:extLst>
              <a:ext uri="{FF2B5EF4-FFF2-40B4-BE49-F238E27FC236}">
                <a16:creationId xmlns:a16="http://schemas.microsoft.com/office/drawing/2014/main" id="{23D4504C-742B-424D-B53B-DB4EF14B537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687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Two Phase Locking (2PL)</a:t>
            </a:r>
            <a:endParaRPr lang="en-US" dirty="0"/>
          </a:p>
        </p:txBody>
      </p:sp>
      <p:sp>
        <p:nvSpPr>
          <p:cNvPr id="3" name="Content Placeholder 2">
            <a:extLst>
              <a:ext uri="{FF2B5EF4-FFF2-40B4-BE49-F238E27FC236}">
                <a16:creationId xmlns:a16="http://schemas.microsoft.com/office/drawing/2014/main" id="{B7E6E64E-5D3F-AD4E-ACC9-3F1E981D909B}"/>
              </a:ext>
            </a:extLst>
          </p:cNvPr>
          <p:cNvSpPr>
            <a:spLocks noGrp="1"/>
          </p:cNvSpPr>
          <p:nvPr>
            <p:ph idx="1"/>
          </p:nvPr>
        </p:nvSpPr>
        <p:spPr/>
        <p:txBody>
          <a:bodyPr/>
          <a:lstStyle/>
          <a:p>
            <a:r>
              <a:rPr lang="en-US" sz="1800" b="1" dirty="0">
                <a:ea typeface="Lucida Console" charset="0"/>
                <a:cs typeface="Lucida Console" charset="0"/>
              </a:rPr>
              <a:t>The most </a:t>
            </a:r>
            <a:r>
              <a:rPr lang="en-US" sz="1800" b="1">
                <a:ea typeface="Lucida Console" charset="0"/>
                <a:cs typeface="Lucida Console" charset="0"/>
              </a:rPr>
              <a:t>common scheme </a:t>
            </a:r>
            <a:r>
              <a:rPr lang="en-US" sz="1800" b="1" dirty="0">
                <a:ea typeface="Lucida Console" charset="0"/>
                <a:cs typeface="Lucida Console" charset="0"/>
              </a:rPr>
              <a:t>for enforcing conflict serializability</a:t>
            </a:r>
          </a:p>
          <a:p>
            <a:r>
              <a:rPr lang="en-US" sz="1950" b="1" dirty="0">
                <a:ea typeface="Lucida Console" charset="0"/>
                <a:cs typeface="Lucida Console" charset="0"/>
              </a:rPr>
              <a:t>A bit “pessimistic”</a:t>
            </a:r>
          </a:p>
          <a:p>
            <a:pPr lvl="1"/>
            <a:r>
              <a:rPr lang="en-US" sz="1650" dirty="0">
                <a:ea typeface="Lucida Console" charset="0"/>
                <a:cs typeface="Lucida Console" charset="0"/>
              </a:rPr>
              <a:t>Sets locks for fear of conflict… Some cost here.</a:t>
            </a:r>
          </a:p>
          <a:p>
            <a:pPr lvl="1"/>
            <a:r>
              <a:rPr lang="en-US" sz="1650" dirty="0">
                <a:ea typeface="Lucida Console" charset="0"/>
                <a:cs typeface="Lucida Console" charset="0"/>
              </a:rPr>
              <a:t>Alternative schemes use multiple versions of data and</a:t>
            </a:r>
            <a:br>
              <a:rPr lang="en-US" sz="1650" dirty="0">
                <a:ea typeface="Lucida Console" charset="0"/>
                <a:cs typeface="Lucida Console" charset="0"/>
              </a:rPr>
            </a:br>
            <a:r>
              <a:rPr lang="en-US" sz="1650" dirty="0">
                <a:ea typeface="Lucida Console" charset="0"/>
                <a:cs typeface="Lucida Console" charset="0"/>
              </a:rPr>
              <a:t>“optimistically” let transactions move forward</a:t>
            </a:r>
          </a:p>
          <a:p>
            <a:pPr lvl="2"/>
            <a:r>
              <a:rPr lang="en-US" sz="1450" dirty="0">
                <a:ea typeface="Lucida Console" charset="0"/>
                <a:cs typeface="Lucida Console" charset="0"/>
              </a:rPr>
              <a:t>Abort when conflicts are detected.</a:t>
            </a:r>
          </a:p>
          <a:p>
            <a:pPr lvl="2"/>
            <a:r>
              <a:rPr lang="en-US" sz="1450" dirty="0">
                <a:ea typeface="Lucida Console" charset="0"/>
                <a:cs typeface="Lucida Console" charset="0"/>
              </a:rPr>
              <a:t>Some names to know/look up:</a:t>
            </a:r>
          </a:p>
          <a:p>
            <a:pPr lvl="3"/>
            <a:r>
              <a:rPr lang="en-US" sz="1200" dirty="0">
                <a:latin typeface="Helvetica Neue"/>
                <a:ea typeface="Lucida Console" charset="0"/>
                <a:cs typeface="Lucida Console" charset="0"/>
              </a:rPr>
              <a:t>Optimistic Concurrency Control</a:t>
            </a:r>
          </a:p>
          <a:p>
            <a:pPr lvl="3"/>
            <a:r>
              <a:rPr lang="en-US" sz="1200" dirty="0">
                <a:latin typeface="Helvetica Neue"/>
                <a:ea typeface="Lucida Console" charset="0"/>
                <a:cs typeface="Lucida Console" charset="0"/>
              </a:rPr>
              <a:t>Timestamp-Ordered </a:t>
            </a:r>
            <a:r>
              <a:rPr lang="en-US" sz="1200" dirty="0" err="1">
                <a:latin typeface="Helvetica Neue"/>
                <a:ea typeface="Lucida Console" charset="0"/>
                <a:cs typeface="Lucida Console" charset="0"/>
              </a:rPr>
              <a:t>Multiversion</a:t>
            </a:r>
            <a:r>
              <a:rPr lang="en-US" sz="1200" dirty="0">
                <a:latin typeface="Helvetica Neue"/>
                <a:ea typeface="Lucida Console" charset="0"/>
                <a:cs typeface="Lucida Console" charset="0"/>
              </a:rPr>
              <a:t> Concurrency Control</a:t>
            </a:r>
          </a:p>
          <a:p>
            <a:pPr lvl="2"/>
            <a:r>
              <a:rPr lang="en-US" sz="1500" dirty="0">
                <a:ea typeface="Lucida Console" charset="0"/>
                <a:cs typeface="Lucida Console" charset="0"/>
              </a:rPr>
              <a:t>We will not study these schemes in this lecture</a:t>
            </a:r>
          </a:p>
        </p:txBody>
      </p:sp>
    </p:spTree>
    <p:extLst>
      <p:ext uri="{BB962C8B-B14F-4D97-AF65-F5344CB8AC3E}">
        <p14:creationId xmlns:p14="http://schemas.microsoft.com/office/powerpoint/2010/main" val="57471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Two Phase Locking (2PL), Part 2</a:t>
            </a:r>
          </a:p>
        </p:txBody>
      </p:sp>
      <p:sp>
        <p:nvSpPr>
          <p:cNvPr id="3" name="Content Placeholder 2">
            <a:extLst>
              <a:ext uri="{FF2B5EF4-FFF2-40B4-BE49-F238E27FC236}">
                <a16:creationId xmlns:a16="http://schemas.microsoft.com/office/drawing/2014/main" id="{36A2C432-3B46-834E-96C4-68DD664E9C1B}"/>
              </a:ext>
            </a:extLst>
          </p:cNvPr>
          <p:cNvSpPr>
            <a:spLocks noGrp="1"/>
          </p:cNvSpPr>
          <p:nvPr>
            <p:ph idx="1"/>
          </p:nvPr>
        </p:nvSpPr>
        <p:spPr/>
        <p:txBody>
          <a:bodyPr/>
          <a:lstStyle/>
          <a:p>
            <a:r>
              <a:rPr lang="en-US" dirty="0"/>
              <a:t>Rules:</a:t>
            </a:r>
          </a:p>
          <a:p>
            <a:pPr lvl="1"/>
            <a:r>
              <a:rPr lang="en-US" dirty="0"/>
              <a:t>Xact must obtain a S (shared) lock  before reading, and an X (exclusive) lock before writing.</a:t>
            </a:r>
          </a:p>
          <a:p>
            <a:pPr lvl="1"/>
            <a:r>
              <a:rPr lang="en-US" b="1" dirty="0"/>
              <a:t>Xact cannot get new locks after releasing any locks</a:t>
            </a:r>
          </a:p>
        </p:txBody>
      </p:sp>
      <p:graphicFrame>
        <p:nvGraphicFramePr>
          <p:cNvPr id="11" name="Group 23" title="Lock Compatability Matrix"/>
          <p:cNvGraphicFramePr>
            <a:graphicFrameLocks noGrp="1"/>
          </p:cNvGraphicFramePr>
          <p:nvPr>
            <p:extLst>
              <p:ext uri="{D42A27DB-BD31-4B8C-83A1-F6EECF244321}">
                <p14:modId xmlns:p14="http://schemas.microsoft.com/office/powerpoint/2010/main" val="4284420268"/>
              </p:ext>
            </p:extLst>
          </p:nvPr>
        </p:nvGraphicFramePr>
        <p:xfrm>
          <a:off x="3095636" y="2721472"/>
          <a:ext cx="1714500" cy="1485900"/>
        </p:xfrm>
        <a:graphic>
          <a:graphicData uri="http://schemas.openxmlformats.org/drawingml/2006/table">
            <a:tbl>
              <a:tblPr firstRow="1" firstCol="1">
                <a:tableStyleId>{91EBBBCC-DAD2-459C-BE2E-F6DE35CF9A28}</a:tableStyleId>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tblGrid>
              <a:tr h="45113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solidFill>
                      <a:schemeClr val="accent5"/>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u="none" strike="noStrike" cap="none" normalizeH="0" baseline="0" dirty="0">
                          <a:ln>
                            <a:noFill/>
                          </a:ln>
                          <a:solidFill>
                            <a:schemeClr val="tx2"/>
                          </a:solidFill>
                          <a:effectLst/>
                        </a:rPr>
                        <a:t>S</a:t>
                      </a:r>
                      <a:endParaRPr kumimoji="0" lang="en-US" sz="18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solidFill>
                      <a:schemeClr val="accent5"/>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u="none" strike="noStrike" cap="none" normalizeH="0" baseline="0" dirty="0">
                          <a:ln>
                            <a:noFill/>
                          </a:ln>
                          <a:solidFill>
                            <a:schemeClr val="tx2"/>
                          </a:solidFill>
                          <a:effectLst/>
                        </a:rPr>
                        <a:t>X</a:t>
                      </a:r>
                      <a:endParaRPr kumimoji="0" lang="en-US" sz="18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solidFill>
                      <a:schemeClr val="accent5"/>
                    </a:solidFill>
                  </a:tcPr>
                </a:tc>
                <a:extLst>
                  <a:ext uri="{0D108BD9-81ED-4DB2-BD59-A6C34878D82A}">
                    <a16:rowId xmlns:a16="http://schemas.microsoft.com/office/drawing/2014/main" val="10000"/>
                  </a:ext>
                </a:extLst>
              </a:tr>
              <a:tr h="48004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u="none" strike="noStrike" cap="none" normalizeH="0" baseline="0">
                          <a:ln>
                            <a:noFill/>
                          </a:ln>
                          <a:solidFill>
                            <a:schemeClr val="tx2"/>
                          </a:solidFill>
                          <a:effectLst/>
                        </a:rPr>
                        <a:t>S</a:t>
                      </a:r>
                      <a:endParaRPr kumimoji="0" lang="en-US" sz="1800" b="1" i="0" u="none" strike="noStrike" cap="none" normalizeH="0" baseline="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700" b="1" u="none" strike="noStrike" cap="none" normalizeH="0" baseline="0" dirty="0">
                          <a:ln>
                            <a:noFill/>
                          </a:ln>
                          <a:solidFill>
                            <a:schemeClr val="tx2"/>
                          </a:solidFill>
                          <a:effectLst/>
                          <a:sym typeface="Symbol" charset="0"/>
                        </a:rPr>
                        <a:t></a:t>
                      </a:r>
                      <a:endParaRPr kumimoji="0" lang="en-US" sz="27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u="none" strike="noStrike" cap="none" normalizeH="0" baseline="0" dirty="0">
                          <a:ln>
                            <a:noFill/>
                          </a:ln>
                          <a:solidFill>
                            <a:schemeClr val="tx2"/>
                          </a:solidFill>
                          <a:effectLst/>
                        </a:rPr>
                        <a:t>–</a:t>
                      </a:r>
                      <a:endParaRPr kumimoji="0" lang="en-US" sz="18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tc>
                <a:extLst>
                  <a:ext uri="{0D108BD9-81ED-4DB2-BD59-A6C34878D82A}">
                    <a16:rowId xmlns:a16="http://schemas.microsoft.com/office/drawing/2014/main" val="10001"/>
                  </a:ext>
                </a:extLst>
              </a:tr>
              <a:tr h="55471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u="none" strike="noStrike" cap="none" normalizeH="0" baseline="0">
                          <a:ln>
                            <a:noFill/>
                          </a:ln>
                          <a:solidFill>
                            <a:schemeClr val="tx2"/>
                          </a:solidFill>
                          <a:effectLst/>
                        </a:rPr>
                        <a:t>X</a:t>
                      </a:r>
                      <a:endParaRPr kumimoji="0" lang="en-US" sz="1800" b="1" i="0" u="none" strike="noStrike" cap="none" normalizeH="0" baseline="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u="none" strike="noStrike" cap="none" normalizeH="0" baseline="0" dirty="0">
                          <a:ln>
                            <a:noFill/>
                          </a:ln>
                          <a:solidFill>
                            <a:schemeClr val="tx2"/>
                          </a:solidFill>
                          <a:effectLst/>
                        </a:rPr>
                        <a:t>–</a:t>
                      </a:r>
                      <a:endParaRPr kumimoji="0" lang="en-US" sz="18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u="none" strike="noStrike" cap="none" normalizeH="0" baseline="0" dirty="0">
                          <a:ln>
                            <a:noFill/>
                          </a:ln>
                          <a:solidFill>
                            <a:schemeClr val="tx2"/>
                          </a:solidFill>
                          <a:effectLst/>
                        </a:rPr>
                        <a:t>–</a:t>
                      </a:r>
                      <a:endParaRPr kumimoji="0" lang="en-US" sz="18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82" marB="34282" anchor="ctr" horzOverflow="overflow"/>
                </a:tc>
                <a:extLst>
                  <a:ext uri="{0D108BD9-81ED-4DB2-BD59-A6C34878D82A}">
                    <a16:rowId xmlns:a16="http://schemas.microsoft.com/office/drawing/2014/main" val="10002"/>
                  </a:ext>
                </a:extLst>
              </a:tr>
            </a:tbl>
          </a:graphicData>
        </a:graphic>
      </p:graphicFrame>
      <p:sp>
        <p:nvSpPr>
          <p:cNvPr id="12" name="Text Box 22" title="Lock Compatability Matrix"/>
          <p:cNvSpPr txBox="1">
            <a:spLocks noChangeArrowheads="1"/>
          </p:cNvSpPr>
          <p:nvPr/>
        </p:nvSpPr>
        <p:spPr bwMode="auto">
          <a:xfrm>
            <a:off x="1371600" y="3284042"/>
            <a:ext cx="1609736" cy="923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800" dirty="0"/>
              <a:t>Lock</a:t>
            </a:r>
          </a:p>
          <a:p>
            <a:r>
              <a:rPr lang="en-US" sz="1800" dirty="0"/>
              <a:t>Compatibility</a:t>
            </a:r>
          </a:p>
          <a:p>
            <a:r>
              <a:rPr lang="en-US" sz="1800" dirty="0"/>
              <a:t>Matrix</a:t>
            </a:r>
          </a:p>
        </p:txBody>
      </p:sp>
    </p:spTree>
    <p:extLst>
      <p:ext uri="{BB962C8B-B14F-4D97-AF65-F5344CB8AC3E}">
        <p14:creationId xmlns:p14="http://schemas.microsoft.com/office/powerpoint/2010/main" val="142192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Two Phase Locking (2PL), Part 3</a:t>
            </a:r>
          </a:p>
        </p:txBody>
      </p:sp>
      <p:sp>
        <p:nvSpPr>
          <p:cNvPr id="3" name="Content Placeholder 2">
            <a:extLst>
              <a:ext uri="{FF2B5EF4-FFF2-40B4-BE49-F238E27FC236}">
                <a16:creationId xmlns:a16="http://schemas.microsoft.com/office/drawing/2014/main" id="{83944C27-1CFD-DF4E-BE24-A4BC8E84058A}"/>
              </a:ext>
            </a:extLst>
          </p:cNvPr>
          <p:cNvSpPr>
            <a:spLocks noGrp="1"/>
          </p:cNvSpPr>
          <p:nvPr>
            <p:ph idx="1"/>
          </p:nvPr>
        </p:nvSpPr>
        <p:spPr/>
        <p:txBody>
          <a:bodyPr/>
          <a:lstStyle/>
          <a:p>
            <a:r>
              <a:rPr lang="en-US" b="1" dirty="0">
                <a:ea typeface="Lucida Console" charset="0"/>
                <a:cs typeface="Lucida Console" charset="0"/>
              </a:rPr>
              <a:t>2PL guarantees conflict serializability (why?)</a:t>
            </a:r>
          </a:p>
          <a:p>
            <a:r>
              <a:rPr lang="en-US" dirty="0">
                <a:ea typeface="Lucida Console" charset="0"/>
                <a:cs typeface="Lucida Console" charset="0"/>
              </a:rPr>
              <a:t>But, does not prevent </a:t>
            </a:r>
            <a:r>
              <a:rPr lang="en-US" b="1" dirty="0">
                <a:ea typeface="Lucida Console" charset="0"/>
                <a:cs typeface="Lucida Console" charset="0"/>
              </a:rPr>
              <a:t>cascading aborts</a:t>
            </a:r>
          </a:p>
        </p:txBody>
      </p:sp>
      <p:grpSp>
        <p:nvGrpSpPr>
          <p:cNvPr id="4" name="Group 3" descr="Number of locks held strictly increasing during the acqusition phase. Then when the release phase begins the number of locks held strictly decreases. Upside parabola shape. " title="Lock Acquisitio nGraph">
            <a:extLst>
              <a:ext uri="{FF2B5EF4-FFF2-40B4-BE49-F238E27FC236}">
                <a16:creationId xmlns:a16="http://schemas.microsoft.com/office/drawing/2014/main" id="{F21BDD55-AE36-344A-B4EB-9432A21F6B59}"/>
              </a:ext>
            </a:extLst>
          </p:cNvPr>
          <p:cNvGrpSpPr/>
          <p:nvPr/>
        </p:nvGrpSpPr>
        <p:grpSpPr>
          <a:xfrm>
            <a:off x="255068" y="2533413"/>
            <a:ext cx="5243283" cy="2198132"/>
            <a:chOff x="1787129" y="914400"/>
            <a:chExt cx="5243283" cy="2198132"/>
          </a:xfrm>
        </p:grpSpPr>
        <p:sp>
          <p:nvSpPr>
            <p:cNvPr id="13" name="Line 23"/>
            <p:cNvSpPr>
              <a:spLocks noChangeShapeType="1"/>
            </p:cNvSpPr>
            <p:nvPr/>
          </p:nvSpPr>
          <p:spPr bwMode="auto">
            <a:xfrm>
              <a:off x="3200400" y="2743200"/>
              <a:ext cx="3714750" cy="0"/>
            </a:xfrm>
            <a:prstGeom prst="line">
              <a:avLst/>
            </a:prstGeom>
            <a:noFill/>
            <a:ln w="38100">
              <a:solidFill>
                <a:schemeClr val="tx1"/>
              </a:solidFill>
              <a:round/>
              <a:headEnd type="none" w="sm" len="sm"/>
              <a:tailEnd type="arrow" w="sm" len="sm"/>
            </a:ln>
            <a:extLst>
              <a:ext uri="{909E8E84-426E-40dd-AFC4-6F175D3DCCD1}">
                <a14:hiddenFill xmlns:a14="http://schemas.microsoft.com/office/drawing/2010/main" xmlns="">
                  <a:noFill/>
                </a14:hiddenFill>
              </a:ext>
            </a:extLst>
          </p:spPr>
          <p:txBody>
            <a:bodyPr/>
            <a:lstStyle/>
            <a:p>
              <a:endParaRPr lang="en-US" sz="1350"/>
            </a:p>
          </p:txBody>
        </p:sp>
        <p:sp>
          <p:nvSpPr>
            <p:cNvPr id="14" name="Text Box 24"/>
            <p:cNvSpPr txBox="1">
              <a:spLocks noChangeArrowheads="1"/>
            </p:cNvSpPr>
            <p:nvPr/>
          </p:nvSpPr>
          <p:spPr bwMode="auto">
            <a:xfrm>
              <a:off x="4514850" y="2743200"/>
              <a:ext cx="64152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800" dirty="0">
                  <a:solidFill>
                    <a:schemeClr val="tx2"/>
                  </a:solidFill>
                </a:rPr>
                <a:t>time</a:t>
              </a:r>
            </a:p>
          </p:txBody>
        </p:sp>
        <p:sp>
          <p:nvSpPr>
            <p:cNvPr id="15" name="Line 25"/>
            <p:cNvSpPr>
              <a:spLocks noChangeShapeType="1"/>
            </p:cNvSpPr>
            <p:nvPr/>
          </p:nvSpPr>
          <p:spPr bwMode="auto">
            <a:xfrm flipH="1" flipV="1">
              <a:off x="3200400" y="914400"/>
              <a:ext cx="0" cy="1828800"/>
            </a:xfrm>
            <a:prstGeom prst="line">
              <a:avLst/>
            </a:prstGeom>
            <a:noFill/>
            <a:ln w="38100">
              <a:solidFill>
                <a:schemeClr val="tx1"/>
              </a:solidFill>
              <a:round/>
              <a:headEnd type="none" w="sm" len="sm"/>
              <a:tailEnd type="arrow" w="sm" len="sm"/>
            </a:ln>
            <a:extLst>
              <a:ext uri="{909E8E84-426E-40dd-AFC4-6F175D3DCCD1}">
                <a14:hiddenFill xmlns:a14="http://schemas.microsoft.com/office/drawing/2010/main" xmlns="">
                  <a:noFill/>
                </a14:hiddenFill>
              </a:ext>
            </a:extLst>
          </p:spPr>
          <p:txBody>
            <a:bodyPr/>
            <a:lstStyle/>
            <a:p>
              <a:endParaRPr lang="en-US" sz="1350"/>
            </a:p>
          </p:txBody>
        </p:sp>
        <p:sp>
          <p:nvSpPr>
            <p:cNvPr id="16" name="Text Box 26"/>
            <p:cNvSpPr txBox="1">
              <a:spLocks noChangeArrowheads="1"/>
            </p:cNvSpPr>
            <p:nvPr/>
          </p:nvSpPr>
          <p:spPr bwMode="auto">
            <a:xfrm>
              <a:off x="1787129" y="1714500"/>
              <a:ext cx="141577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800" dirty="0">
                  <a:solidFill>
                    <a:schemeClr val="tx2"/>
                  </a:solidFill>
                </a:rPr>
                <a:t># locks held</a:t>
              </a:r>
            </a:p>
          </p:txBody>
        </p:sp>
        <p:sp>
          <p:nvSpPr>
            <p:cNvPr id="17" name="Freeform 28"/>
            <p:cNvSpPr>
              <a:spLocks/>
            </p:cNvSpPr>
            <p:nvPr/>
          </p:nvSpPr>
          <p:spPr bwMode="auto">
            <a:xfrm>
              <a:off x="3219450" y="1333500"/>
              <a:ext cx="3295650" cy="1398985"/>
            </a:xfrm>
            <a:custGeom>
              <a:avLst/>
              <a:gdLst>
                <a:gd name="T0" fmla="*/ 0 w 3082"/>
                <a:gd name="T1" fmla="*/ 2147483647 h 1175"/>
                <a:gd name="T2" fmla="*/ 2147483647 w 3082"/>
                <a:gd name="T3" fmla="*/ 2147483647 h 1175"/>
                <a:gd name="T4" fmla="*/ 2147483647 w 3082"/>
                <a:gd name="T5" fmla="*/ 2147483647 h 1175"/>
                <a:gd name="T6" fmla="*/ 2147483647 w 3082"/>
                <a:gd name="T7" fmla="*/ 2147483647 h 1175"/>
                <a:gd name="T8" fmla="*/ 2147483647 w 3082"/>
                <a:gd name="T9" fmla="*/ 2147483647 h 1175"/>
                <a:gd name="T10" fmla="*/ 2147483647 w 3082"/>
                <a:gd name="T11" fmla="*/ 2147483647 h 1175"/>
                <a:gd name="T12" fmla="*/ 2147483647 w 3082"/>
                <a:gd name="T13" fmla="*/ 2147483647 h 1175"/>
                <a:gd name="T14" fmla="*/ 2147483647 w 3082"/>
                <a:gd name="T15" fmla="*/ 2147483647 h 1175"/>
                <a:gd name="T16" fmla="*/ 2147483647 w 3082"/>
                <a:gd name="T17" fmla="*/ 2147483647 h 1175"/>
                <a:gd name="T18" fmla="*/ 2147483647 w 3082"/>
                <a:gd name="T19" fmla="*/ 2147483647 h 1175"/>
                <a:gd name="T20" fmla="*/ 2147483647 w 3082"/>
                <a:gd name="T21" fmla="*/ 2147483647 h 1175"/>
                <a:gd name="T22" fmla="*/ 2147483647 w 3082"/>
                <a:gd name="T23" fmla="*/ 2147483647 h 1175"/>
                <a:gd name="T24" fmla="*/ 2147483647 w 3082"/>
                <a:gd name="T25" fmla="*/ 2147483647 h 1175"/>
                <a:gd name="T26" fmla="*/ 2147483647 w 3082"/>
                <a:gd name="T27" fmla="*/ 2147483647 h 1175"/>
                <a:gd name="T28" fmla="*/ 2147483647 w 3082"/>
                <a:gd name="T29" fmla="*/ 2147483647 h 1175"/>
                <a:gd name="T30" fmla="*/ 2147483647 w 3082"/>
                <a:gd name="T31" fmla="*/ 2147483647 h 1175"/>
                <a:gd name="T32" fmla="*/ 2147483647 w 3082"/>
                <a:gd name="T33" fmla="*/ 0 h 1175"/>
                <a:gd name="T34" fmla="*/ 2147483647 w 3082"/>
                <a:gd name="T35" fmla="*/ 2147483647 h 1175"/>
                <a:gd name="T36" fmla="*/ 2147483647 w 3082"/>
                <a:gd name="T37" fmla="*/ 2147483647 h 1175"/>
                <a:gd name="T38" fmla="*/ 2147483647 w 3082"/>
                <a:gd name="T39" fmla="*/ 2147483647 h 1175"/>
                <a:gd name="T40" fmla="*/ 2147483647 w 3082"/>
                <a:gd name="T41" fmla="*/ 2147483647 h 1175"/>
                <a:gd name="T42" fmla="*/ 2147483647 w 3082"/>
                <a:gd name="T43" fmla="*/ 2147483647 h 1175"/>
                <a:gd name="T44" fmla="*/ 2147483647 w 3082"/>
                <a:gd name="T45" fmla="*/ 2147483647 h 1175"/>
                <a:gd name="T46" fmla="*/ 2147483647 w 3082"/>
                <a:gd name="T47" fmla="*/ 2147483647 h 1175"/>
                <a:gd name="T48" fmla="*/ 2147483647 w 3082"/>
                <a:gd name="T49" fmla="*/ 2147483647 h 1175"/>
                <a:gd name="T50" fmla="*/ 2147483647 w 3082"/>
                <a:gd name="T51" fmla="*/ 2147483647 h 1175"/>
                <a:gd name="T52" fmla="*/ 2147483647 w 3082"/>
                <a:gd name="T53" fmla="*/ 2147483647 h 1175"/>
                <a:gd name="T54" fmla="*/ 2147483647 w 3082"/>
                <a:gd name="T55" fmla="*/ 2147483647 h 1175"/>
                <a:gd name="T56" fmla="*/ 2147483647 w 3082"/>
                <a:gd name="T57" fmla="*/ 2147483647 h 1175"/>
                <a:gd name="T58" fmla="*/ 2147483647 w 3082"/>
                <a:gd name="T59" fmla="*/ 2147483647 h 1175"/>
                <a:gd name="T60" fmla="*/ 2147483647 w 3082"/>
                <a:gd name="T61" fmla="*/ 2147483647 h 117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082"/>
                <a:gd name="T94" fmla="*/ 0 h 1175"/>
                <a:gd name="T95" fmla="*/ 3082 w 3082"/>
                <a:gd name="T96" fmla="*/ 1175 h 117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082" h="1175">
                  <a:moveTo>
                    <a:pt x="0" y="1167"/>
                  </a:moveTo>
                  <a:cubicBezTo>
                    <a:pt x="46" y="1151"/>
                    <a:pt x="82" y="1119"/>
                    <a:pt x="124" y="1097"/>
                  </a:cubicBezTo>
                  <a:cubicBezTo>
                    <a:pt x="159" y="1079"/>
                    <a:pt x="198" y="1070"/>
                    <a:pt x="233" y="1050"/>
                  </a:cubicBezTo>
                  <a:cubicBezTo>
                    <a:pt x="287" y="1019"/>
                    <a:pt x="336" y="986"/>
                    <a:pt x="397" y="973"/>
                  </a:cubicBezTo>
                  <a:cubicBezTo>
                    <a:pt x="444" y="940"/>
                    <a:pt x="497" y="912"/>
                    <a:pt x="552" y="895"/>
                  </a:cubicBezTo>
                  <a:cubicBezTo>
                    <a:pt x="563" y="888"/>
                    <a:pt x="628" y="849"/>
                    <a:pt x="646" y="832"/>
                  </a:cubicBezTo>
                  <a:cubicBezTo>
                    <a:pt x="658" y="821"/>
                    <a:pt x="665" y="805"/>
                    <a:pt x="677" y="794"/>
                  </a:cubicBezTo>
                  <a:cubicBezTo>
                    <a:pt x="688" y="784"/>
                    <a:pt x="704" y="779"/>
                    <a:pt x="716" y="770"/>
                  </a:cubicBezTo>
                  <a:cubicBezTo>
                    <a:pt x="756" y="739"/>
                    <a:pt x="794" y="702"/>
                    <a:pt x="832" y="669"/>
                  </a:cubicBezTo>
                  <a:cubicBezTo>
                    <a:pt x="856" y="648"/>
                    <a:pt x="886" y="635"/>
                    <a:pt x="910" y="614"/>
                  </a:cubicBezTo>
                  <a:cubicBezTo>
                    <a:pt x="922" y="603"/>
                    <a:pt x="929" y="587"/>
                    <a:pt x="941" y="576"/>
                  </a:cubicBezTo>
                  <a:cubicBezTo>
                    <a:pt x="952" y="566"/>
                    <a:pt x="968" y="561"/>
                    <a:pt x="980" y="552"/>
                  </a:cubicBezTo>
                  <a:cubicBezTo>
                    <a:pt x="1018" y="522"/>
                    <a:pt x="1047" y="492"/>
                    <a:pt x="1089" y="467"/>
                  </a:cubicBezTo>
                  <a:cubicBezTo>
                    <a:pt x="1125" y="421"/>
                    <a:pt x="1170" y="389"/>
                    <a:pt x="1206" y="342"/>
                  </a:cubicBezTo>
                  <a:cubicBezTo>
                    <a:pt x="1256" y="277"/>
                    <a:pt x="1294" y="219"/>
                    <a:pt x="1354" y="163"/>
                  </a:cubicBezTo>
                  <a:cubicBezTo>
                    <a:pt x="1394" y="126"/>
                    <a:pt x="1461" y="86"/>
                    <a:pt x="1502" y="54"/>
                  </a:cubicBezTo>
                  <a:cubicBezTo>
                    <a:pt x="1543" y="22"/>
                    <a:pt x="1605" y="28"/>
                    <a:pt x="1650" y="0"/>
                  </a:cubicBezTo>
                  <a:cubicBezTo>
                    <a:pt x="1766" y="21"/>
                    <a:pt x="1881" y="55"/>
                    <a:pt x="1992" y="93"/>
                  </a:cubicBezTo>
                  <a:cubicBezTo>
                    <a:pt x="2048" y="112"/>
                    <a:pt x="2109" y="113"/>
                    <a:pt x="2163" y="140"/>
                  </a:cubicBezTo>
                  <a:cubicBezTo>
                    <a:pt x="2232" y="175"/>
                    <a:pt x="2307" y="218"/>
                    <a:pt x="2374" y="256"/>
                  </a:cubicBezTo>
                  <a:cubicBezTo>
                    <a:pt x="2407" y="275"/>
                    <a:pt x="2434" y="312"/>
                    <a:pt x="2467" y="334"/>
                  </a:cubicBezTo>
                  <a:cubicBezTo>
                    <a:pt x="2509" y="390"/>
                    <a:pt x="2570" y="431"/>
                    <a:pt x="2607" y="490"/>
                  </a:cubicBezTo>
                  <a:cubicBezTo>
                    <a:pt x="2647" y="553"/>
                    <a:pt x="2608" y="523"/>
                    <a:pt x="2654" y="552"/>
                  </a:cubicBezTo>
                  <a:cubicBezTo>
                    <a:pt x="2672" y="608"/>
                    <a:pt x="2686" y="666"/>
                    <a:pt x="2701" y="723"/>
                  </a:cubicBezTo>
                  <a:cubicBezTo>
                    <a:pt x="2704" y="734"/>
                    <a:pt x="2703" y="745"/>
                    <a:pt x="2708" y="755"/>
                  </a:cubicBezTo>
                  <a:cubicBezTo>
                    <a:pt x="2738" y="811"/>
                    <a:pt x="2780" y="846"/>
                    <a:pt x="2817" y="895"/>
                  </a:cubicBezTo>
                  <a:cubicBezTo>
                    <a:pt x="2847" y="934"/>
                    <a:pt x="2861" y="961"/>
                    <a:pt x="2903" y="988"/>
                  </a:cubicBezTo>
                  <a:cubicBezTo>
                    <a:pt x="2921" y="1040"/>
                    <a:pt x="2895" y="979"/>
                    <a:pt x="2942" y="1035"/>
                  </a:cubicBezTo>
                  <a:cubicBezTo>
                    <a:pt x="3001" y="1105"/>
                    <a:pt x="2904" y="1028"/>
                    <a:pt x="2989" y="1089"/>
                  </a:cubicBezTo>
                  <a:cubicBezTo>
                    <a:pt x="3027" y="1150"/>
                    <a:pt x="2978" y="1079"/>
                    <a:pt x="3027" y="1128"/>
                  </a:cubicBezTo>
                  <a:cubicBezTo>
                    <a:pt x="3050" y="1151"/>
                    <a:pt x="3051" y="1160"/>
                    <a:pt x="3082" y="1175"/>
                  </a:cubicBezTo>
                </a:path>
              </a:pathLst>
            </a:custGeom>
            <a:noFill/>
            <a:ln w="28575">
              <a:solidFill>
                <a:srgbClr val="FF0000"/>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a:lstStyle/>
            <a:p>
              <a:endParaRPr lang="en-US" sz="1350"/>
            </a:p>
          </p:txBody>
        </p:sp>
        <p:sp>
          <p:nvSpPr>
            <p:cNvPr id="18" name="Text Box 30"/>
            <p:cNvSpPr txBox="1">
              <a:spLocks noChangeArrowheads="1"/>
            </p:cNvSpPr>
            <p:nvPr/>
          </p:nvSpPr>
          <p:spPr bwMode="auto">
            <a:xfrm>
              <a:off x="5486400" y="1085850"/>
              <a:ext cx="154401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800">
                  <a:solidFill>
                    <a:schemeClr val="accent2"/>
                  </a:solidFill>
                </a:rPr>
                <a:t>release phase</a:t>
              </a:r>
            </a:p>
          </p:txBody>
        </p:sp>
        <p:sp>
          <p:nvSpPr>
            <p:cNvPr id="19" name="Text Box 31"/>
            <p:cNvSpPr txBox="1">
              <a:spLocks noChangeArrowheads="1"/>
            </p:cNvSpPr>
            <p:nvPr/>
          </p:nvSpPr>
          <p:spPr bwMode="auto">
            <a:xfrm>
              <a:off x="3429000" y="1085850"/>
              <a:ext cx="1485900"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800">
                  <a:solidFill>
                    <a:schemeClr val="accent2"/>
                  </a:solidFill>
                </a:rPr>
                <a:t>acquisition phase</a:t>
              </a:r>
            </a:p>
          </p:txBody>
        </p:sp>
        <p:sp>
          <p:nvSpPr>
            <p:cNvPr id="21" name="Line 29"/>
            <p:cNvSpPr>
              <a:spLocks noChangeShapeType="1"/>
            </p:cNvSpPr>
            <p:nvPr/>
          </p:nvSpPr>
          <p:spPr bwMode="auto">
            <a:xfrm>
              <a:off x="4972050" y="1028700"/>
              <a:ext cx="0" cy="1714500"/>
            </a:xfrm>
            <a:prstGeom prst="line">
              <a:avLst/>
            </a:prstGeom>
            <a:noFill/>
            <a:ln w="28575">
              <a:solidFill>
                <a:schemeClr val="tx1"/>
              </a:solidFill>
              <a:prstDash val="dash"/>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sz="1350"/>
            </a:p>
          </p:txBody>
        </p:sp>
      </p:grpSp>
    </p:spTree>
    <p:extLst>
      <p:ext uri="{BB962C8B-B14F-4D97-AF65-F5344CB8AC3E}">
        <p14:creationId xmlns:p14="http://schemas.microsoft.com/office/powerpoint/2010/main" val="475549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Why 2PL guarantees conflict serializability</a:t>
            </a:r>
            <a:endParaRPr lang="en-US" dirty="0"/>
          </a:p>
        </p:txBody>
      </p:sp>
      <p:sp>
        <p:nvSpPr>
          <p:cNvPr id="3" name="Content Placeholder 2">
            <a:extLst>
              <a:ext uri="{FF2B5EF4-FFF2-40B4-BE49-F238E27FC236}">
                <a16:creationId xmlns:a16="http://schemas.microsoft.com/office/drawing/2014/main" id="{13189A0D-DA9B-8E4D-A6C7-505A0E910D22}"/>
              </a:ext>
            </a:extLst>
          </p:cNvPr>
          <p:cNvSpPr>
            <a:spLocks noGrp="1"/>
          </p:cNvSpPr>
          <p:nvPr>
            <p:ph idx="1"/>
          </p:nvPr>
        </p:nvSpPr>
        <p:spPr>
          <a:xfrm>
            <a:off x="304800" y="1123950"/>
            <a:ext cx="8915400" cy="3394472"/>
          </a:xfrm>
        </p:spPr>
        <p:txBody>
          <a:bodyPr/>
          <a:lstStyle/>
          <a:p>
            <a:r>
              <a:rPr lang="en-US" sz="1800" dirty="0">
                <a:ea typeface="Lucida Console" charset="0"/>
                <a:cs typeface="Lucida Console" charset="0"/>
              </a:rPr>
              <a:t>When a committing transaction has reached the end of its acquisition phase</a:t>
            </a:r>
            <a:r>
              <a:rPr lang="mr-IN" sz="1800" dirty="0">
                <a:ea typeface="Lucida Console" charset="0"/>
                <a:cs typeface="Lucida Console" charset="0"/>
              </a:rPr>
              <a:t>…</a:t>
            </a:r>
            <a:endParaRPr lang="en-US" sz="1800" dirty="0">
              <a:ea typeface="Lucida Console" charset="0"/>
              <a:cs typeface="Lucida Console" charset="0"/>
            </a:endParaRPr>
          </a:p>
          <a:p>
            <a:pPr lvl="1"/>
            <a:r>
              <a:rPr lang="en-US" sz="1650" dirty="0">
                <a:ea typeface="Lucida Console" charset="0"/>
                <a:cs typeface="Lucida Console" charset="0"/>
              </a:rPr>
              <a:t>Call this </a:t>
            </a:r>
            <a:r>
              <a:rPr lang="en-US" sz="1650">
                <a:ea typeface="Lucida Console" charset="0"/>
                <a:cs typeface="Lucida Console" charset="0"/>
              </a:rPr>
              <a:t>the “lock </a:t>
            </a:r>
            <a:r>
              <a:rPr lang="en-US" sz="1650" dirty="0">
                <a:ea typeface="Lucida Console" charset="0"/>
                <a:cs typeface="Lucida Console" charset="0"/>
              </a:rPr>
              <a:t>point”</a:t>
            </a:r>
          </a:p>
          <a:p>
            <a:pPr lvl="1"/>
            <a:r>
              <a:rPr lang="en-US" sz="1650" dirty="0">
                <a:ea typeface="Lucida Console" charset="0"/>
                <a:cs typeface="Lucida Console" charset="0"/>
              </a:rPr>
              <a:t>At this point, it has </a:t>
            </a:r>
            <a:r>
              <a:rPr lang="en-US" sz="1650" i="1" dirty="0">
                <a:ea typeface="Lucida Console" charset="0"/>
                <a:cs typeface="Lucida Console" charset="0"/>
              </a:rPr>
              <a:t>everything it needs </a:t>
            </a:r>
            <a:r>
              <a:rPr lang="en-US" sz="1650" dirty="0">
                <a:ea typeface="Lucida Console" charset="0"/>
                <a:cs typeface="Lucida Console" charset="0"/>
              </a:rPr>
              <a:t>locked</a:t>
            </a:r>
            <a:r>
              <a:rPr lang="mr-IN" sz="1650" dirty="0">
                <a:ea typeface="Lucida Console" charset="0"/>
                <a:cs typeface="Lucida Console" charset="0"/>
              </a:rPr>
              <a:t>…</a:t>
            </a:r>
            <a:endParaRPr lang="en-US" sz="1650" dirty="0">
              <a:ea typeface="Lucida Console" charset="0"/>
              <a:cs typeface="Lucida Console" charset="0"/>
            </a:endParaRPr>
          </a:p>
          <a:p>
            <a:pPr lvl="1"/>
            <a:r>
              <a:rPr lang="mr-IN" sz="1650" dirty="0">
                <a:ea typeface="Lucida Console" charset="0"/>
                <a:cs typeface="Lucida Console" charset="0"/>
              </a:rPr>
              <a:t>…</a:t>
            </a:r>
            <a:r>
              <a:rPr lang="en-US" sz="1650" dirty="0">
                <a:ea typeface="Lucida Console" charset="0"/>
                <a:cs typeface="Lucida Console" charset="0"/>
              </a:rPr>
              <a:t> and any conflicting transactions either:</a:t>
            </a:r>
          </a:p>
          <a:p>
            <a:pPr lvl="2"/>
            <a:r>
              <a:rPr lang="en-US" sz="1500" dirty="0">
                <a:ea typeface="Lucida Console" charset="0"/>
                <a:cs typeface="Lucida Console" charset="0"/>
              </a:rPr>
              <a:t>started release phase before this point</a:t>
            </a:r>
          </a:p>
          <a:p>
            <a:pPr lvl="2"/>
            <a:r>
              <a:rPr lang="en-US" sz="1500" dirty="0">
                <a:ea typeface="Lucida Console" charset="0"/>
                <a:cs typeface="Lucida Console" charset="0"/>
              </a:rPr>
              <a:t>are blocked waiting for this transaction</a:t>
            </a:r>
          </a:p>
          <a:p>
            <a:r>
              <a:rPr lang="en-US" sz="1800" dirty="0">
                <a:ea typeface="Lucida Console" charset="0"/>
                <a:cs typeface="Lucida Console" charset="0"/>
              </a:rPr>
              <a:t>Visibility of actions of two conflicting transactions are ordered by their lock points</a:t>
            </a:r>
          </a:p>
          <a:p>
            <a:r>
              <a:rPr lang="en-US" sz="1800" dirty="0">
                <a:ea typeface="Lucida Console" charset="0"/>
                <a:cs typeface="Lucida Console" charset="0"/>
              </a:rPr>
              <a:t>The order of lock points gives us an equivalent serial schedule!</a:t>
            </a:r>
          </a:p>
          <a:p>
            <a:pPr marL="0" indent="0">
              <a:buNone/>
            </a:pPr>
            <a:endParaRPr lang="en-US" sz="1800" dirty="0">
              <a:ea typeface="Lucida Console" charset="0"/>
              <a:cs typeface="Lucida Console" charset="0"/>
            </a:endParaRPr>
          </a:p>
        </p:txBody>
      </p:sp>
    </p:spTree>
    <p:extLst>
      <p:ext uri="{BB962C8B-B14F-4D97-AF65-F5344CB8AC3E}">
        <p14:creationId xmlns:p14="http://schemas.microsoft.com/office/powerpoint/2010/main" val="165149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Strict Two Phase Locking (2PL)</a:t>
            </a:r>
            <a:endParaRPr lang="en-US" dirty="0"/>
          </a:p>
        </p:txBody>
      </p:sp>
      <p:sp>
        <p:nvSpPr>
          <p:cNvPr id="3" name="Content Placeholder 2">
            <a:extLst>
              <a:ext uri="{FF2B5EF4-FFF2-40B4-BE49-F238E27FC236}">
                <a16:creationId xmlns:a16="http://schemas.microsoft.com/office/drawing/2014/main" id="{9CB94D6C-8065-0C48-A54A-B98E11EE446E}"/>
              </a:ext>
            </a:extLst>
          </p:cNvPr>
          <p:cNvSpPr>
            <a:spLocks noGrp="1"/>
          </p:cNvSpPr>
          <p:nvPr>
            <p:ph idx="1"/>
          </p:nvPr>
        </p:nvSpPr>
        <p:spPr/>
        <p:txBody>
          <a:bodyPr>
            <a:normAutofit/>
          </a:bodyPr>
          <a:lstStyle/>
          <a:p>
            <a:r>
              <a:rPr lang="en-US" sz="1800" b="1" dirty="0">
                <a:ea typeface="Lucida Console" charset="0"/>
                <a:cs typeface="Lucida Console" charset="0"/>
              </a:rPr>
              <a:t>Problem: Cascading Aborts</a:t>
            </a:r>
          </a:p>
          <a:p>
            <a:r>
              <a:rPr lang="en-US" sz="1800" dirty="0">
                <a:ea typeface="Lucida Console" charset="0"/>
                <a:cs typeface="Lucida Console" charset="0"/>
              </a:rPr>
              <a:t>Example: rollback of T1 requires rollback of T2!</a:t>
            </a:r>
          </a:p>
        </p:txBody>
      </p:sp>
      <p:sp>
        <p:nvSpPr>
          <p:cNvPr id="26" name="Rectangle 25" descr="T1: R(A)&#10;T1: W(A)&#10;T2: R(A)&#10;T2: W(A)&#10;Abort" title="Schedule"/>
          <p:cNvSpPr>
            <a:spLocks noChangeArrowheads="1"/>
          </p:cNvSpPr>
          <p:nvPr/>
        </p:nvSpPr>
        <p:spPr bwMode="auto">
          <a:xfrm>
            <a:off x="838200" y="1962150"/>
            <a:ext cx="5772150" cy="571500"/>
          </a:xfrm>
          <a:prstGeom prst="rect">
            <a:avLst/>
          </a:prstGeom>
          <a:noFill/>
          <a:ln w="127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a:lstStyle/>
          <a:p>
            <a:r>
              <a:rPr lang="en-US" sz="1500" b="1" dirty="0">
                <a:latin typeface="Tahoma" charset="0"/>
              </a:rPr>
              <a:t>T1:	R(A), W(A)			 Abort</a:t>
            </a:r>
          </a:p>
          <a:p>
            <a:r>
              <a:rPr lang="en-US" sz="1500" b="1" dirty="0">
                <a:latin typeface="Tahoma" charset="0"/>
              </a:rPr>
              <a:t>T2:			R(A), W(A)</a:t>
            </a:r>
          </a:p>
          <a:p>
            <a:endParaRPr lang="en-US" sz="1500" dirty="0"/>
          </a:p>
        </p:txBody>
      </p:sp>
    </p:spTree>
    <p:extLst>
      <p:ext uri="{BB962C8B-B14F-4D97-AF65-F5344CB8AC3E}">
        <p14:creationId xmlns:p14="http://schemas.microsoft.com/office/powerpoint/2010/main" val="48044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Strict Two Phase Locking</a:t>
            </a:r>
          </a:p>
        </p:txBody>
      </p:sp>
      <p:sp>
        <p:nvSpPr>
          <p:cNvPr id="3" name="Content Placeholder 2">
            <a:extLst>
              <a:ext uri="{FF2B5EF4-FFF2-40B4-BE49-F238E27FC236}">
                <a16:creationId xmlns:a16="http://schemas.microsoft.com/office/drawing/2014/main" id="{9CB94D6C-8065-0C48-A54A-B98E11EE446E}"/>
              </a:ext>
            </a:extLst>
          </p:cNvPr>
          <p:cNvSpPr>
            <a:spLocks noGrp="1"/>
          </p:cNvSpPr>
          <p:nvPr>
            <p:ph idx="1"/>
          </p:nvPr>
        </p:nvSpPr>
        <p:spPr>
          <a:xfrm>
            <a:off x="228600" y="1200151"/>
            <a:ext cx="8458200" cy="3394472"/>
          </a:xfrm>
        </p:spPr>
        <p:txBody>
          <a:bodyPr>
            <a:normAutofit/>
          </a:bodyPr>
          <a:lstStyle/>
          <a:p>
            <a:endParaRPr lang="en-US" sz="1800" dirty="0">
              <a:ea typeface="Lucida Console" charset="0"/>
              <a:cs typeface="Lucida Console" charset="0"/>
            </a:endParaRPr>
          </a:p>
          <a:p>
            <a:r>
              <a:rPr lang="en-US" sz="1700" dirty="0">
                <a:ea typeface="Lucida Console" charset="0"/>
                <a:cs typeface="Lucida Console" charset="0"/>
              </a:rPr>
              <a:t>Same as 2PL, except all locks released together when transaction completes</a:t>
            </a:r>
            <a:endParaRPr lang="en-US" dirty="0">
              <a:ea typeface="Lucida Console" charset="0"/>
              <a:cs typeface="Lucida Console" charset="0"/>
            </a:endParaRPr>
          </a:p>
          <a:p>
            <a:pPr lvl="1"/>
            <a:r>
              <a:rPr lang="en-US" sz="1700" dirty="0">
                <a:ea typeface="Lucida Console" charset="0"/>
                <a:cs typeface="Lucida Console" charset="0"/>
              </a:rPr>
              <a:t>(i.e.) either</a:t>
            </a:r>
          </a:p>
          <a:p>
            <a:pPr lvl="2"/>
            <a:r>
              <a:rPr lang="en-US" dirty="0">
                <a:ea typeface="Lucida Console" charset="0"/>
                <a:cs typeface="Lucida Console" charset="0"/>
              </a:rPr>
              <a:t>Transaction has committed (all writes durable), OR</a:t>
            </a:r>
          </a:p>
          <a:p>
            <a:pPr lvl="2"/>
            <a:r>
              <a:rPr lang="en-US" dirty="0">
                <a:ea typeface="Lucida Console" charset="0"/>
                <a:cs typeface="Lucida Console" charset="0"/>
              </a:rPr>
              <a:t>Transaction has aborted (all writes have been undone)</a:t>
            </a:r>
          </a:p>
        </p:txBody>
      </p:sp>
      <p:pic>
        <p:nvPicPr>
          <p:cNvPr id="2" name="Picture 1" descr="X axis is time and y axis is number of locks held. In the acquisition phase the number of locks held goes up with time. At some point all locks are released leading to a verticle line " title="Graph"/>
          <p:cNvPicPr>
            <a:picLocks noChangeAspect="1"/>
          </p:cNvPicPr>
          <p:nvPr/>
        </p:nvPicPr>
        <p:blipFill>
          <a:blip r:embed="rId3"/>
          <a:stretch>
            <a:fillRect/>
          </a:stretch>
        </p:blipFill>
        <p:spPr>
          <a:xfrm>
            <a:off x="228600" y="2952750"/>
            <a:ext cx="5167313" cy="2362200"/>
          </a:xfrm>
          <a:prstGeom prst="rect">
            <a:avLst/>
          </a:prstGeom>
        </p:spPr>
      </p:pic>
    </p:spTree>
    <p:extLst>
      <p:ext uri="{BB962C8B-B14F-4D97-AF65-F5344CB8AC3E}">
        <p14:creationId xmlns:p14="http://schemas.microsoft.com/office/powerpoint/2010/main" val="188795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Next ...</a:t>
            </a:r>
            <a:endParaRPr lang="en-US" dirty="0"/>
          </a:p>
        </p:txBody>
      </p:sp>
      <p:sp>
        <p:nvSpPr>
          <p:cNvPr id="4" name="Content Placeholder 3">
            <a:extLst>
              <a:ext uri="{FF2B5EF4-FFF2-40B4-BE49-F238E27FC236}">
                <a16:creationId xmlns:a16="http://schemas.microsoft.com/office/drawing/2014/main" id="{AC2BCFA9-80C1-3046-BE68-64382BA682B6}"/>
              </a:ext>
            </a:extLst>
          </p:cNvPr>
          <p:cNvSpPr>
            <a:spLocks noGrp="1"/>
          </p:cNvSpPr>
          <p:nvPr>
            <p:ph idx="1"/>
          </p:nvPr>
        </p:nvSpPr>
        <p:spPr/>
        <p:txBody>
          <a:bodyPr/>
          <a:lstStyle/>
          <a:p>
            <a:r>
              <a:rPr lang="en-US" dirty="0"/>
              <a:t>A few examples</a:t>
            </a:r>
          </a:p>
        </p:txBody>
      </p:sp>
    </p:spTree>
    <p:extLst>
      <p:ext uri="{BB962C8B-B14F-4D97-AF65-F5344CB8AC3E}">
        <p14:creationId xmlns:p14="http://schemas.microsoft.com/office/powerpoint/2010/main" val="198153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a:xfrm>
            <a:off x="457200" y="57150"/>
            <a:ext cx="8229600" cy="857250"/>
          </a:xfrm>
        </p:spPr>
        <p:txBody>
          <a:bodyPr/>
          <a:lstStyle/>
          <a:p>
            <a:r>
              <a:rPr lang="en-US" dirty="0"/>
              <a:t>Non-2PL, A = 1000, B = 2000, Output = ?</a:t>
            </a:r>
          </a:p>
        </p:txBody>
      </p:sp>
      <p:graphicFrame>
        <p:nvGraphicFramePr>
          <p:cNvPr id="11" name="Group 73" descr="Lock schedule for two transactions" title="Schedule"/>
          <p:cNvGraphicFramePr>
            <a:graphicFrameLocks/>
          </p:cNvGraphicFramePr>
          <p:nvPr>
            <p:extLst>
              <p:ext uri="{D42A27DB-BD31-4B8C-83A1-F6EECF244321}">
                <p14:modId xmlns:p14="http://schemas.microsoft.com/office/powerpoint/2010/main" val="2698896854"/>
              </p:ext>
            </p:extLst>
          </p:nvPr>
        </p:nvGraphicFramePr>
        <p:xfrm>
          <a:off x="487680" y="777478"/>
          <a:ext cx="5829300" cy="4362212"/>
        </p:xfrm>
        <a:graphic>
          <a:graphicData uri="http://schemas.openxmlformats.org/drawingml/2006/table">
            <a:tbl>
              <a:tblPr firstRow="1"/>
              <a:tblGrid>
                <a:gridCol w="2914650">
                  <a:extLst>
                    <a:ext uri="{9D8B030D-6E8A-4147-A177-3AD203B41FA5}">
                      <a16:colId xmlns:a16="http://schemas.microsoft.com/office/drawing/2014/main" val="20000"/>
                    </a:ext>
                  </a:extLst>
                </a:gridCol>
                <a:gridCol w="2914650">
                  <a:extLst>
                    <a:ext uri="{9D8B030D-6E8A-4147-A177-3AD203B41FA5}">
                      <a16:colId xmlns:a16="http://schemas.microsoft.com/office/drawing/2014/main" val="20001"/>
                    </a:ext>
                  </a:extLst>
                </a:gridCol>
              </a:tblGrid>
              <a:tr h="2286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ahoma" pitchFamily="-110" charset="0"/>
                        </a:rPr>
                        <a:t>T1</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ahoma" pitchFamily="-110" charset="0"/>
                        </a:rPr>
                        <a:t>T2</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Lock_X</a:t>
                      </a:r>
                      <a:r>
                        <a:rPr kumimoji="0" lang="en-US" sz="1100" b="1" i="0" u="none" strike="noStrike" cap="none" normalizeH="0" baseline="0" dirty="0">
                          <a:ln>
                            <a:noFill/>
                          </a:ln>
                          <a:solidFill>
                            <a:srgbClr val="FF0000"/>
                          </a:solidFill>
                          <a:effectLst/>
                          <a:latin typeface="Tahoma" pitchFamily="-110" charset="0"/>
                        </a:rPr>
                        <a:t>(A)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rgbClr val="FF0000"/>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2"/>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100" b="1" i="0" u="none" strike="noStrike" cap="none" normalizeH="0" baseline="0" dirty="0" err="1">
                          <a:ln>
                            <a:noFill/>
                          </a:ln>
                          <a:solidFill>
                            <a:srgbClr val="FF0000"/>
                          </a:solidFill>
                          <a:effectLst/>
                          <a:latin typeface="Tahoma" pitchFamily="-110" charset="0"/>
                        </a:rPr>
                        <a:t>Lock_S</a:t>
                      </a:r>
                      <a:r>
                        <a:rPr kumimoji="0" lang="en-US" sz="1100" b="1" i="0" u="none" strike="noStrike" cap="none" normalizeH="0" baseline="0" dirty="0">
                          <a:ln>
                            <a:noFill/>
                          </a:ln>
                          <a:solidFill>
                            <a:srgbClr val="FF0000"/>
                          </a:solidFill>
                          <a:effectLst/>
                          <a:latin typeface="Tahoma" pitchFamily="-110" charset="0"/>
                        </a:rPr>
                        <a:t>(A)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A: = A-50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46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Write(A)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a:ln>
                            <a:noFill/>
                          </a:ln>
                          <a:solidFill>
                            <a:srgbClr val="FF0000"/>
                          </a:solidFill>
                          <a:effectLst/>
                          <a:latin typeface="Tahoma" pitchFamily="-110" charset="0"/>
                        </a:rPr>
                        <a:t>Unlock(A)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a:ln>
                            <a:noFill/>
                          </a:ln>
                          <a:solidFill>
                            <a:srgbClr val="FF0000"/>
                          </a:solidFill>
                          <a:effectLst/>
                          <a:latin typeface="Tahoma" pitchFamily="-110" charset="0"/>
                        </a:rPr>
                        <a:t>Lock_S(B)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Lock_X</a:t>
                      </a:r>
                      <a:r>
                        <a:rPr kumimoji="0" lang="en-US" sz="1100" b="1" i="0" u="none" strike="noStrike" cap="none" normalizeH="0" baseline="0" dirty="0">
                          <a:ln>
                            <a:noFill/>
                          </a:ln>
                          <a:solidFill>
                            <a:srgbClr val="FF0000"/>
                          </a:solidFill>
                          <a:effectLst/>
                          <a:latin typeface="Tahoma" pitchFamily="-110" charset="0"/>
                        </a:rPr>
                        <a:t>(B)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PRINT(A), PRINT(B), PRINT(A+B)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3"/>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B := B +50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5"/>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Write(B)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6"/>
                  </a:ext>
                </a:extLst>
              </a:tr>
              <a:tr h="1752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 name="TextBox 1"/>
          <p:cNvSpPr txBox="1"/>
          <p:nvPr/>
        </p:nvSpPr>
        <p:spPr>
          <a:xfrm>
            <a:off x="3116580" y="4443828"/>
            <a:ext cx="2800350" cy="323165"/>
          </a:xfrm>
          <a:prstGeom prst="rect">
            <a:avLst/>
          </a:prstGeom>
          <a:solidFill>
            <a:schemeClr val="accent6"/>
          </a:solidFill>
          <a:ln>
            <a:solidFill>
              <a:schemeClr val="tx2"/>
            </a:solidFill>
          </a:ln>
          <a:effectLst>
            <a:outerShdw blurRad="50800" dist="76200" dir="2700000" algn="tl" rotWithShape="0">
              <a:prstClr val="black">
                <a:alpha val="40000"/>
              </a:prstClr>
            </a:outerShdw>
          </a:effectLst>
        </p:spPr>
        <p:txBody>
          <a:bodyPr wrap="square" rtlCol="0">
            <a:spAutoFit/>
          </a:bodyPr>
          <a:lstStyle/>
          <a:p>
            <a:r>
              <a:rPr lang="en-US" sz="1500" dirty="0">
                <a:solidFill>
                  <a:srgbClr val="002060"/>
                </a:solidFill>
              </a:rPr>
              <a:t>Output: 950, 2000, 2950</a:t>
            </a:r>
          </a:p>
        </p:txBody>
      </p:sp>
    </p:spTree>
    <p:extLst>
      <p:ext uri="{BB962C8B-B14F-4D97-AF65-F5344CB8AC3E}">
        <p14:creationId xmlns:p14="http://schemas.microsoft.com/office/powerpoint/2010/main" val="112605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a:xfrm>
            <a:off x="457200" y="57150"/>
            <a:ext cx="8229600" cy="857250"/>
          </a:xfrm>
        </p:spPr>
        <p:txBody>
          <a:bodyPr>
            <a:normAutofit fontScale="90000"/>
          </a:bodyPr>
          <a:lstStyle/>
          <a:p>
            <a:r>
              <a:rPr lang="en-US" dirty="0"/>
              <a:t>Non-2PL, A = 1000, B = 2000, Output = ? </a:t>
            </a:r>
            <a:r>
              <a:rPr lang="en-US" dirty="0" err="1"/>
              <a:t>cont</a:t>
            </a:r>
            <a:endParaRPr lang="en-US" dirty="0"/>
          </a:p>
        </p:txBody>
      </p:sp>
      <p:graphicFrame>
        <p:nvGraphicFramePr>
          <p:cNvPr id="11" name="Group 73" descr="Lock schedule for two transactions" title="Schedule"/>
          <p:cNvGraphicFramePr>
            <a:graphicFrameLocks/>
          </p:cNvGraphicFramePr>
          <p:nvPr>
            <p:extLst>
              <p:ext uri="{D42A27DB-BD31-4B8C-83A1-F6EECF244321}">
                <p14:modId xmlns:p14="http://schemas.microsoft.com/office/powerpoint/2010/main" val="593009925"/>
              </p:ext>
            </p:extLst>
          </p:nvPr>
        </p:nvGraphicFramePr>
        <p:xfrm>
          <a:off x="484632" y="781288"/>
          <a:ext cx="5829300" cy="4362212"/>
        </p:xfrm>
        <a:graphic>
          <a:graphicData uri="http://schemas.openxmlformats.org/drawingml/2006/table">
            <a:tbl>
              <a:tblPr firstRow="1"/>
              <a:tblGrid>
                <a:gridCol w="2914650">
                  <a:extLst>
                    <a:ext uri="{9D8B030D-6E8A-4147-A177-3AD203B41FA5}">
                      <a16:colId xmlns:a16="http://schemas.microsoft.com/office/drawing/2014/main" val="20000"/>
                    </a:ext>
                  </a:extLst>
                </a:gridCol>
                <a:gridCol w="2914650">
                  <a:extLst>
                    <a:ext uri="{9D8B030D-6E8A-4147-A177-3AD203B41FA5}">
                      <a16:colId xmlns:a16="http://schemas.microsoft.com/office/drawing/2014/main" val="20001"/>
                    </a:ext>
                  </a:extLst>
                </a:gridCol>
              </a:tblGrid>
              <a:tr h="2286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ahoma" pitchFamily="-110" charset="0"/>
                        </a:rPr>
                        <a:t>T1</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ahoma" pitchFamily="-110" charset="0"/>
                        </a:rPr>
                        <a:t>T2</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Lock_X</a:t>
                      </a:r>
                      <a:r>
                        <a:rPr kumimoji="0" lang="en-US" sz="1100" b="1" i="0" u="none" strike="noStrike" cap="none" normalizeH="0" baseline="0" dirty="0">
                          <a:ln>
                            <a:noFill/>
                          </a:ln>
                          <a:solidFill>
                            <a:srgbClr val="FF0000"/>
                          </a:solidFill>
                          <a:effectLst/>
                          <a:latin typeface="Tahoma" pitchFamily="-110" charset="0"/>
                        </a:rPr>
                        <a:t>(A)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Read(A):            (A=1000)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rgbClr val="FF0000"/>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2"/>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100" b="1" i="0" u="none" strike="noStrike" cap="none" normalizeH="0" baseline="0" dirty="0" err="1">
                          <a:ln>
                            <a:noFill/>
                          </a:ln>
                          <a:solidFill>
                            <a:srgbClr val="FF0000"/>
                          </a:solidFill>
                          <a:effectLst/>
                          <a:latin typeface="Tahoma" pitchFamily="-110" charset="0"/>
                        </a:rPr>
                        <a:t>Lock_S</a:t>
                      </a:r>
                      <a:r>
                        <a:rPr kumimoji="0" lang="en-US" sz="1100" b="1" i="0" u="none" strike="noStrike" cap="none" normalizeH="0" baseline="0" dirty="0">
                          <a:ln>
                            <a:noFill/>
                          </a:ln>
                          <a:solidFill>
                            <a:srgbClr val="FF0000"/>
                          </a:solidFill>
                          <a:effectLst/>
                          <a:latin typeface="Tahoma" pitchFamily="-110" charset="0"/>
                        </a:rPr>
                        <a:t>(A)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A: = A-50           (A=950)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46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Write(A)             A=950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Read(A)                            (A = 950)</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Lock_S</a:t>
                      </a:r>
                      <a:r>
                        <a:rPr kumimoji="0" lang="en-US" sz="1100" b="1" i="0" u="none" strike="noStrike" cap="none" normalizeH="0" baseline="0" dirty="0">
                          <a:ln>
                            <a:noFill/>
                          </a:ln>
                          <a:solidFill>
                            <a:srgbClr val="FF0000"/>
                          </a:solidFill>
                          <a:effectLst/>
                          <a:latin typeface="Tahoma" pitchFamily="-110" charset="0"/>
                        </a:rPr>
                        <a:t>(B)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Lock_X</a:t>
                      </a:r>
                      <a:r>
                        <a:rPr kumimoji="0" lang="en-US" sz="1100" b="1" i="0" u="none" strike="noStrike" cap="none" normalizeH="0" baseline="0" dirty="0">
                          <a:ln>
                            <a:noFill/>
                          </a:ln>
                          <a:solidFill>
                            <a:srgbClr val="FF0000"/>
                          </a:solidFill>
                          <a:effectLst/>
                          <a:latin typeface="Tahoma" pitchFamily="-110" charset="0"/>
                        </a:rPr>
                        <a:t>(B)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Read(B)                             (B=2000)</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PRINT(A), PRINT(B), PRINT(A+B)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3"/>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Read(B)               (B=2000)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B := B +50          (B=2050)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5"/>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Write(</a:t>
                      </a:r>
                      <a:r>
                        <a:rPr kumimoji="0" lang="en-US" sz="1100" b="1" i="0" u="none" strike="noStrike" cap="none" normalizeH="0" baseline="0">
                          <a:ln>
                            <a:noFill/>
                          </a:ln>
                          <a:solidFill>
                            <a:schemeClr val="tx2"/>
                          </a:solidFill>
                          <a:effectLst/>
                          <a:latin typeface="Tahoma" pitchFamily="-110" charset="0"/>
                        </a:rPr>
                        <a:t>B)               B=2050</a:t>
                      </a:r>
                      <a:endParaRPr kumimoji="0" lang="en-US" sz="1100" b="1" i="0" u="none" strike="noStrike" cap="none" normalizeH="0" baseline="0" dirty="0">
                        <a:ln>
                          <a:noFill/>
                        </a:ln>
                        <a:solidFill>
                          <a:schemeClr val="tx2"/>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6"/>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 name="TextBox 1"/>
          <p:cNvSpPr txBox="1"/>
          <p:nvPr/>
        </p:nvSpPr>
        <p:spPr>
          <a:xfrm>
            <a:off x="3118104" y="4443984"/>
            <a:ext cx="2800350" cy="323165"/>
          </a:xfrm>
          <a:prstGeom prst="rect">
            <a:avLst/>
          </a:prstGeom>
          <a:solidFill>
            <a:schemeClr val="accent6"/>
          </a:solidFill>
          <a:ln>
            <a:solidFill>
              <a:schemeClr val="tx2"/>
            </a:solidFill>
          </a:ln>
          <a:effectLst>
            <a:outerShdw blurRad="50800" dist="76200" dir="2700000" algn="tl" rotWithShape="0">
              <a:prstClr val="black">
                <a:alpha val="40000"/>
              </a:prstClr>
            </a:outerShdw>
          </a:effectLst>
        </p:spPr>
        <p:txBody>
          <a:bodyPr wrap="square" rtlCol="0">
            <a:spAutoFit/>
          </a:bodyPr>
          <a:lstStyle/>
          <a:p>
            <a:r>
              <a:rPr lang="en-US" sz="1500" dirty="0">
                <a:solidFill>
                  <a:srgbClr val="002060"/>
                </a:solidFill>
              </a:rPr>
              <a:t>Output: 950, 2000, 2950</a:t>
            </a:r>
          </a:p>
        </p:txBody>
      </p:sp>
    </p:spTree>
    <p:extLst>
      <p:ext uri="{BB962C8B-B14F-4D97-AF65-F5344CB8AC3E}">
        <p14:creationId xmlns:p14="http://schemas.microsoft.com/office/powerpoint/2010/main" val="99423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a:xfrm>
            <a:off x="457200" y="-95250"/>
            <a:ext cx="8229600" cy="857250"/>
          </a:xfrm>
        </p:spPr>
        <p:txBody>
          <a:bodyPr/>
          <a:lstStyle/>
          <a:p>
            <a:r>
              <a:rPr lang="en-US" dirty="0"/>
              <a:t>2PL, A = 1000, B = 2000, Output = ?</a:t>
            </a:r>
          </a:p>
        </p:txBody>
      </p:sp>
      <p:grpSp>
        <p:nvGrpSpPr>
          <p:cNvPr id="4" name="Group 3" descr="Lock schedule for two transactions" title="Schedule">
            <a:extLst>
              <a:ext uri="{FF2B5EF4-FFF2-40B4-BE49-F238E27FC236}">
                <a16:creationId xmlns:a16="http://schemas.microsoft.com/office/drawing/2014/main" id="{BD351509-1946-D946-A37D-EAC070B66BB6}"/>
              </a:ext>
            </a:extLst>
          </p:cNvPr>
          <p:cNvGrpSpPr/>
          <p:nvPr/>
        </p:nvGrpSpPr>
        <p:grpSpPr>
          <a:xfrm>
            <a:off x="484632" y="590550"/>
            <a:ext cx="5829300" cy="4522822"/>
            <a:chOff x="1943100" y="571501"/>
            <a:chExt cx="5829300" cy="4522822"/>
          </a:xfrm>
        </p:grpSpPr>
        <p:graphicFrame>
          <p:nvGraphicFramePr>
            <p:cNvPr id="11" name="Group 73"/>
            <p:cNvGraphicFramePr>
              <a:graphicFrameLocks/>
            </p:cNvGraphicFramePr>
            <p:nvPr>
              <p:extLst>
                <p:ext uri="{D42A27DB-BD31-4B8C-83A1-F6EECF244321}">
                  <p14:modId xmlns:p14="http://schemas.microsoft.com/office/powerpoint/2010/main" val="2918316102"/>
                </p:ext>
              </p:extLst>
            </p:nvPr>
          </p:nvGraphicFramePr>
          <p:xfrm>
            <a:off x="1943100" y="571501"/>
            <a:ext cx="5829300" cy="4522822"/>
          </p:xfrm>
          <a:graphic>
            <a:graphicData uri="http://schemas.openxmlformats.org/drawingml/2006/table">
              <a:tbl>
                <a:tblPr firstRow="1"/>
                <a:tblGrid>
                  <a:gridCol w="2914650">
                    <a:extLst>
                      <a:ext uri="{9D8B030D-6E8A-4147-A177-3AD203B41FA5}">
                        <a16:colId xmlns:a16="http://schemas.microsoft.com/office/drawing/2014/main" val="20000"/>
                      </a:ext>
                    </a:extLst>
                  </a:gridCol>
                  <a:gridCol w="2914650">
                    <a:extLst>
                      <a:ext uri="{9D8B030D-6E8A-4147-A177-3AD203B41FA5}">
                        <a16:colId xmlns:a16="http://schemas.microsoft.com/office/drawing/2014/main" val="20001"/>
                      </a:ext>
                    </a:extLst>
                  </a:gridCol>
                </a:tblGrid>
                <a:tr h="29591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ahoma" pitchFamily="-110" charset="0"/>
                          </a:rPr>
                          <a:t>T1</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Tahoma" pitchFamily="-110" charset="0"/>
                          </a:rPr>
                          <a:t>T2</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Lock_X</a:t>
                        </a:r>
                        <a:r>
                          <a:rPr kumimoji="0" lang="en-US" sz="1100" b="1" i="0" u="none" strike="noStrike" cap="none" normalizeH="0" baseline="0" dirty="0">
                            <a:ln>
                              <a:noFill/>
                            </a:ln>
                            <a:solidFill>
                              <a:srgbClr val="FF0000"/>
                            </a:solidFill>
                            <a:effectLst/>
                            <a:latin typeface="Tahoma" pitchFamily="-110" charset="0"/>
                          </a:rPr>
                          <a:t>(A)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rgbClr val="FF0000"/>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A: = A-50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sz="1100" b="1" i="0" u="none" strike="noStrike" cap="none" normalizeH="0" baseline="0" dirty="0">
                          <a:ln>
                            <a:noFill/>
                          </a:ln>
                          <a:solidFill>
                            <a:srgbClr val="FF0000"/>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Write(A)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9900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Lock_X</a:t>
                        </a:r>
                        <a:r>
                          <a:rPr kumimoji="0" lang="en-US" sz="1100" b="1" i="0" u="none" strike="noStrike" cap="none" normalizeH="0" baseline="0" dirty="0">
                            <a:ln>
                              <a:noFill/>
                            </a:ln>
                            <a:solidFill>
                              <a:srgbClr val="FF0000"/>
                            </a:solidFill>
                            <a:effectLst/>
                            <a:latin typeface="Tahoma" pitchFamily="-110" charset="0"/>
                          </a:rPr>
                          <a:t>(B)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252707">
                  <a:tc>
                    <a:txBody>
                      <a:bodyPr/>
                      <a:lstStyle/>
                      <a:p>
                        <a:endParaRPr lang="en-US" sz="1100" dirty="0"/>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100" b="1" i="0" u="none" strike="noStrike" cap="none" normalizeH="0" baseline="0" dirty="0" err="1">
                            <a:ln>
                              <a:noFill/>
                            </a:ln>
                            <a:solidFill>
                              <a:srgbClr val="FF0000"/>
                            </a:solidFill>
                            <a:effectLst/>
                            <a:latin typeface="Tahoma" pitchFamily="-110" charset="0"/>
                          </a:rPr>
                          <a:t>Lock_S</a:t>
                        </a:r>
                        <a:r>
                          <a:rPr kumimoji="0" lang="en-US" sz="1100" b="1" i="0" u="none" strike="noStrike" cap="none" normalizeH="0" baseline="0" dirty="0">
                            <a:ln>
                              <a:noFill/>
                            </a:ln>
                            <a:solidFill>
                              <a:srgbClr val="FF0000"/>
                            </a:solidFill>
                            <a:effectLst/>
                            <a:latin typeface="Tahoma" pitchFamily="-110" charset="0"/>
                          </a:rPr>
                          <a:t>(A)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252707">
                  <a:tc>
                    <a:txBody>
                      <a:bodyPr/>
                      <a:lstStyle/>
                      <a:p>
                        <a:endParaRPr lang="en-US" sz="1100" dirty="0"/>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cap="none" normalizeH="0" baseline="0" dirty="0">
                            <a:ln>
                              <a:noFill/>
                            </a:ln>
                            <a:solidFill>
                              <a:schemeClr val="tx2"/>
                            </a:solidFill>
                            <a:effectLst/>
                            <a:latin typeface="Tahoma" pitchFamily="-110" charset="0"/>
                          </a:rPr>
                          <a:t>Read(A)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25270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sz="1100" dirty="0"/>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25270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B := B +50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sz="1100" dirty="0"/>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25270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Write(B)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endParaRPr lang="en-US" sz="1100" dirty="0"/>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2"/>
                          </a:solidFill>
                          <a:effectLst/>
                          <a:latin typeface="Tahoma" pitchFamily="-110"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pitchFamily="-110"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pitchFamily="-110" charset="0"/>
                          </a:rPr>
                          <a:t>Lock_S</a:t>
                        </a:r>
                        <a:r>
                          <a:rPr kumimoji="0" lang="en-US" sz="1100" b="1" i="0" u="none" strike="noStrike" cap="none" normalizeH="0" baseline="0" dirty="0">
                            <a:ln>
                              <a:noFill/>
                            </a:ln>
                            <a:solidFill>
                              <a:srgbClr val="FF0000"/>
                            </a:solidFill>
                            <a:effectLst/>
                            <a:latin typeface="Tahoma" pitchFamily="-110" charset="0"/>
                          </a:rPr>
                          <a:t>(B)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3"/>
                    </a:ext>
                  </a:extLst>
                </a:tr>
                <a:tr h="252707">
                  <a:tc>
                    <a:txBody>
                      <a:bodyPr/>
                      <a:lstStyle/>
                      <a:p>
                        <a:endParaRPr lang="en-US" sz="1100"/>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100" b="1" i="0" u="none" strike="noStrike" cap="none" normalizeH="0" baseline="0" dirty="0">
                            <a:ln>
                              <a:noFill/>
                            </a:ln>
                            <a:solidFill>
                              <a:srgbClr val="FF0000"/>
                            </a:solidFill>
                            <a:effectLst/>
                            <a:latin typeface="Tahoma" pitchFamily="-110" charset="0"/>
                          </a:rPr>
                          <a:t>Unlock(A)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252707">
                  <a:tc>
                    <a:txBody>
                      <a:bodyPr/>
                      <a:lstStyle/>
                      <a:p>
                        <a:endParaRPr lang="en-US" sz="1100"/>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Read(B)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5"/>
                    </a:ext>
                  </a:extLst>
                </a:tr>
                <a:tr h="252707">
                  <a:tc>
                    <a:txBody>
                      <a:bodyPr/>
                      <a:lstStyle/>
                      <a:p>
                        <a:endParaRPr lang="en-US" sz="1100"/>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pitchFamily="-110" charset="0"/>
                          </a:rPr>
                          <a:t>Unlock(B)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6"/>
                    </a:ext>
                  </a:extLst>
                </a:tr>
                <a:tr h="252707">
                  <a:tc>
                    <a:txBody>
                      <a:bodyPr/>
                      <a:lstStyle/>
                      <a:p>
                        <a:endParaRPr lang="en-US" sz="1100" dirty="0"/>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pitchFamily="-110" charset="0"/>
                          </a:rPr>
                          <a:t>PRINT(A), PRINT(B), PRINT(A+B)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7"/>
                    </a:ext>
                  </a:extLst>
                </a:tr>
              </a:tbl>
            </a:graphicData>
          </a:graphic>
        </p:graphicFrame>
        <p:sp>
          <p:nvSpPr>
            <p:cNvPr id="12" name="TextBox 11"/>
            <p:cNvSpPr txBox="1"/>
            <p:nvPr/>
          </p:nvSpPr>
          <p:spPr>
            <a:xfrm>
              <a:off x="2343150" y="4629150"/>
              <a:ext cx="2114550" cy="300082"/>
            </a:xfrm>
            <a:prstGeom prst="rect">
              <a:avLst/>
            </a:prstGeom>
            <a:solidFill>
              <a:schemeClr val="accent6"/>
            </a:solidFill>
            <a:ln>
              <a:solidFill>
                <a:schemeClr val="tx2"/>
              </a:solidFill>
            </a:ln>
            <a:effectLst>
              <a:outerShdw blurRad="50800" dist="76200" dir="2700000" algn="tl" rotWithShape="0">
                <a:prstClr val="black">
                  <a:alpha val="40000"/>
                </a:prstClr>
              </a:outerShdw>
            </a:effectLst>
          </p:spPr>
          <p:txBody>
            <a:bodyPr wrap="square" rtlCol="0">
              <a:spAutoFit/>
            </a:bodyPr>
            <a:lstStyle/>
            <a:p>
              <a:r>
                <a:rPr lang="en-US" sz="1350" dirty="0">
                  <a:solidFill>
                    <a:srgbClr val="002060"/>
                  </a:solidFill>
                </a:rPr>
                <a:t>Output: 950, 2050, 3000</a:t>
              </a:r>
            </a:p>
          </p:txBody>
        </p:sp>
      </p:grpSp>
    </p:spTree>
    <p:extLst>
      <p:ext uri="{BB962C8B-B14F-4D97-AF65-F5344CB8AC3E}">
        <p14:creationId xmlns:p14="http://schemas.microsoft.com/office/powerpoint/2010/main" val="157344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a:xfrm>
            <a:off x="457200" y="-95250"/>
            <a:ext cx="8229600" cy="857250"/>
          </a:xfrm>
        </p:spPr>
        <p:txBody>
          <a:bodyPr/>
          <a:lstStyle/>
          <a:p>
            <a:r>
              <a:rPr lang="en-US" dirty="0"/>
              <a:t>Strict 2PL, A = 1000, B = 2000, Output = ?</a:t>
            </a:r>
          </a:p>
        </p:txBody>
      </p:sp>
      <p:graphicFrame>
        <p:nvGraphicFramePr>
          <p:cNvPr id="12" name="Group 68" descr="Lock schedule for two transactions" title="Schedule"/>
          <p:cNvGraphicFramePr>
            <a:graphicFrameLocks/>
          </p:cNvGraphicFramePr>
          <p:nvPr>
            <p:extLst>
              <p:ext uri="{D42A27DB-BD31-4B8C-83A1-F6EECF244321}">
                <p14:modId xmlns:p14="http://schemas.microsoft.com/office/powerpoint/2010/main" val="1643183095"/>
              </p:ext>
            </p:extLst>
          </p:nvPr>
        </p:nvGraphicFramePr>
        <p:xfrm>
          <a:off x="484632" y="777240"/>
          <a:ext cx="5829300" cy="4362212"/>
        </p:xfrm>
        <a:graphic>
          <a:graphicData uri="http://schemas.openxmlformats.org/drawingml/2006/table">
            <a:tbl>
              <a:tblPr firstRow="1"/>
              <a:tblGrid>
                <a:gridCol w="2914650">
                  <a:extLst>
                    <a:ext uri="{9D8B030D-6E8A-4147-A177-3AD203B41FA5}">
                      <a16:colId xmlns:a16="http://schemas.microsoft.com/office/drawing/2014/main" val="20000"/>
                    </a:ext>
                  </a:extLst>
                </a:gridCol>
                <a:gridCol w="2914650">
                  <a:extLst>
                    <a:ext uri="{9D8B030D-6E8A-4147-A177-3AD203B41FA5}">
                      <a16:colId xmlns:a16="http://schemas.microsoft.com/office/drawing/2014/main" val="20001"/>
                    </a:ext>
                  </a:extLst>
                </a:gridCol>
              </a:tblGrid>
              <a:tr h="2286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1"/>
                          </a:solidFill>
                          <a:effectLst/>
                          <a:latin typeface="Tahoma" charset="0"/>
                          <a:ea typeface="ＭＳ Ｐゴシック" charset="0"/>
                          <a:cs typeface="ＭＳ Ｐゴシック" charset="0"/>
                        </a:rPr>
                        <a:t>T1</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1"/>
                          </a:solidFill>
                          <a:effectLst/>
                          <a:latin typeface="Tahoma" charset="0"/>
                          <a:ea typeface="ＭＳ Ｐゴシック" charset="0"/>
                          <a:cs typeface="ＭＳ Ｐゴシック" charset="0"/>
                        </a:rPr>
                        <a:t>T2</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charset="0"/>
                          <a:ea typeface="ＭＳ Ｐゴシック" charset="0"/>
                          <a:cs typeface="ＭＳ Ｐゴシック" charset="0"/>
                        </a:rPr>
                        <a:t>Lock_X</a:t>
                      </a:r>
                      <a:r>
                        <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rPr>
                        <a:t>(A)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Read(A)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100" b="1" i="0" u="none" strike="noStrike" cap="none" normalizeH="0" baseline="0" dirty="0" err="1">
                          <a:ln>
                            <a:noFill/>
                          </a:ln>
                          <a:solidFill>
                            <a:srgbClr val="FF0000"/>
                          </a:solidFill>
                          <a:effectLst/>
                          <a:latin typeface="Tahoma" charset="0"/>
                          <a:ea typeface="ＭＳ Ｐゴシック" charset="0"/>
                          <a:cs typeface="ＭＳ Ｐゴシック" charset="0"/>
                        </a:rPr>
                        <a:t>Lock_S</a:t>
                      </a:r>
                      <a:r>
                        <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rPr>
                        <a:t>(A)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A: = A-50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46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Write(A)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charset="0"/>
                          <a:ea typeface="ＭＳ Ｐゴシック" charset="0"/>
                          <a:cs typeface="ＭＳ Ｐゴシック" charset="0"/>
                        </a:rPr>
                        <a:t>Lock_X</a:t>
                      </a:r>
                      <a:r>
                        <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rPr>
                        <a:t>(B)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Read(B)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B := B +50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Write(B)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a:ln>
                            <a:noFill/>
                          </a:ln>
                          <a:solidFill>
                            <a:srgbClr val="FF0000"/>
                          </a:solidFill>
                          <a:effectLst/>
                          <a:latin typeface="Tahoma" charset="0"/>
                          <a:ea typeface="ＭＳ Ｐゴシック" charset="0"/>
                          <a:cs typeface="ＭＳ Ｐゴシック" charset="0"/>
                        </a:rPr>
                        <a:t>Unlock(A)</a:t>
                      </a: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a:ln>
                            <a:noFill/>
                          </a:ln>
                          <a:solidFill>
                            <a:srgbClr val="FF0000"/>
                          </a:solidFill>
                          <a:effectLst/>
                          <a:latin typeface="Tahoma" charset="0"/>
                          <a:ea typeface="ＭＳ Ｐゴシック" charset="0"/>
                          <a:cs typeface="ＭＳ Ｐゴシック" charset="0"/>
                        </a:rPr>
                        <a:t>Unlock(B)</a:t>
                      </a: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Read(A)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2"/>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err="1">
                          <a:ln>
                            <a:noFill/>
                          </a:ln>
                          <a:solidFill>
                            <a:srgbClr val="FF0000"/>
                          </a:solidFill>
                          <a:effectLst/>
                          <a:latin typeface="Tahoma" charset="0"/>
                          <a:ea typeface="ＭＳ Ｐゴシック" charset="0"/>
                          <a:cs typeface="ＭＳ Ｐゴシック" charset="0"/>
                        </a:rPr>
                        <a:t>Lock_S</a:t>
                      </a:r>
                      <a:r>
                        <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rPr>
                        <a:t>(B)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3"/>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Read(B)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chemeClr val="tx2"/>
                          </a:solidFill>
                          <a:effectLst/>
                          <a:latin typeface="Tahoma" charset="0"/>
                          <a:ea typeface="ＭＳ Ｐゴシック" charset="0"/>
                          <a:cs typeface="ＭＳ Ｐゴシック" charset="0"/>
                        </a:rPr>
                        <a:t>PRINT(A), PRINT(B), PRINT(A+B)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5"/>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rPr>
                        <a:t>Unlock(A)</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6"/>
                  </a:ext>
                </a:extLst>
              </a:tr>
              <a:tr h="2286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100" b="1" i="0" u="none" strike="noStrike" cap="none" normalizeH="0" baseline="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100" b="1" i="0" u="none" strike="noStrike" cap="none" normalizeH="0" baseline="0" dirty="0">
                          <a:ln>
                            <a:noFill/>
                          </a:ln>
                          <a:solidFill>
                            <a:srgbClr val="FF0000"/>
                          </a:solidFill>
                          <a:effectLst/>
                          <a:latin typeface="Tahoma" charset="0"/>
                          <a:ea typeface="ＭＳ Ｐゴシック" charset="0"/>
                          <a:cs typeface="ＭＳ Ｐゴシック" charset="0"/>
                        </a:rPr>
                        <a:t>Unlock(B)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7"/>
                  </a:ext>
                </a:extLst>
              </a:tr>
            </a:tbl>
          </a:graphicData>
        </a:graphic>
      </p:graphicFrame>
      <p:sp>
        <p:nvSpPr>
          <p:cNvPr id="7" name="TextBox 6">
            <a:extLst>
              <a:ext uri="{FF2B5EF4-FFF2-40B4-BE49-F238E27FC236}">
                <a16:creationId xmlns:a16="http://schemas.microsoft.com/office/drawing/2014/main" id="{C5CC4B14-0CBD-E94D-B3C4-47C5A5505C6C}"/>
              </a:ext>
            </a:extLst>
          </p:cNvPr>
          <p:cNvSpPr txBox="1"/>
          <p:nvPr/>
        </p:nvSpPr>
        <p:spPr>
          <a:xfrm>
            <a:off x="884682" y="4648199"/>
            <a:ext cx="2114550" cy="300082"/>
          </a:xfrm>
          <a:prstGeom prst="rect">
            <a:avLst/>
          </a:prstGeom>
          <a:solidFill>
            <a:schemeClr val="accent6"/>
          </a:solidFill>
          <a:ln>
            <a:solidFill>
              <a:schemeClr val="tx2"/>
            </a:solidFill>
          </a:ln>
          <a:effectLst>
            <a:outerShdw blurRad="50800" dist="76200" dir="2700000" algn="tl" rotWithShape="0">
              <a:prstClr val="black">
                <a:alpha val="40000"/>
              </a:prstClr>
            </a:outerShdw>
          </a:effectLst>
        </p:spPr>
        <p:txBody>
          <a:bodyPr wrap="square" rtlCol="0">
            <a:spAutoFit/>
          </a:bodyPr>
          <a:lstStyle/>
          <a:p>
            <a:r>
              <a:rPr lang="en-US" sz="1350" dirty="0">
                <a:solidFill>
                  <a:srgbClr val="002060"/>
                </a:solidFill>
              </a:rPr>
              <a:t>Output: 950, 2050, 3000</a:t>
            </a:r>
          </a:p>
        </p:txBody>
      </p:sp>
    </p:spTree>
    <p:extLst>
      <p:ext uri="{BB962C8B-B14F-4D97-AF65-F5344CB8AC3E}">
        <p14:creationId xmlns:p14="http://schemas.microsoft.com/office/powerpoint/2010/main" val="17556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Which schedules does Strict 2PL allow?</a:t>
            </a:r>
            <a:endParaRPr lang="en-US" dirty="0"/>
          </a:p>
        </p:txBody>
      </p:sp>
      <p:grpSp>
        <p:nvGrpSpPr>
          <p:cNvPr id="5" name="Group 4" descr="All Schedules is the outermost category. Serializable schedules are a large portion of all schedules. View serializable schedules are about half of all serializable schedules. Conflict Serialiable is a large portion of view serializable. Avoiding cascade aborts is half in serializable and half in conflict serializable. Serial schedules are the smallest and are contained by scheduels that avoid cascading aborts and are conflict serializable" title="Scheule Ven Diagram">
            <a:extLst>
              <a:ext uri="{FF2B5EF4-FFF2-40B4-BE49-F238E27FC236}">
                <a16:creationId xmlns:a16="http://schemas.microsoft.com/office/drawing/2014/main" id="{4634A72D-D2E7-E346-A621-21D1BCE415D6}"/>
              </a:ext>
            </a:extLst>
          </p:cNvPr>
          <p:cNvGrpSpPr/>
          <p:nvPr/>
        </p:nvGrpSpPr>
        <p:grpSpPr>
          <a:xfrm>
            <a:off x="457200" y="981553"/>
            <a:ext cx="5867400" cy="3908565"/>
            <a:chOff x="472440" y="997208"/>
            <a:chExt cx="5867400" cy="3908565"/>
          </a:xfrm>
        </p:grpSpPr>
        <p:sp>
          <p:nvSpPr>
            <p:cNvPr id="11" name="AutoShape 4"/>
            <p:cNvSpPr>
              <a:spLocks noChangeArrowheads="1"/>
            </p:cNvSpPr>
            <p:nvPr/>
          </p:nvSpPr>
          <p:spPr bwMode="auto">
            <a:xfrm>
              <a:off x="758190" y="1352550"/>
              <a:ext cx="5448300" cy="3412144"/>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grpSp>
          <p:nvGrpSpPr>
            <p:cNvPr id="4" name="Group 3">
              <a:extLst>
                <a:ext uri="{FF2B5EF4-FFF2-40B4-BE49-F238E27FC236}">
                  <a16:creationId xmlns:a16="http://schemas.microsoft.com/office/drawing/2014/main" id="{571181DD-9393-4C4E-BB5C-6E1F548B2E16}"/>
                </a:ext>
              </a:extLst>
            </p:cNvPr>
            <p:cNvGrpSpPr/>
            <p:nvPr/>
          </p:nvGrpSpPr>
          <p:grpSpPr>
            <a:xfrm>
              <a:off x="472440" y="997208"/>
              <a:ext cx="5867400" cy="3908565"/>
              <a:chOff x="472440" y="997208"/>
              <a:chExt cx="5867400" cy="3908565"/>
            </a:xfrm>
          </p:grpSpPr>
          <p:sp>
            <p:nvSpPr>
              <p:cNvPr id="13" name="Text Box 5"/>
              <p:cNvSpPr txBox="1">
                <a:spLocks noChangeArrowheads="1"/>
              </p:cNvSpPr>
              <p:nvPr/>
            </p:nvSpPr>
            <p:spPr bwMode="auto">
              <a:xfrm>
                <a:off x="961787" y="1667939"/>
                <a:ext cx="1815703" cy="415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100" dirty="0">
                    <a:solidFill>
                      <a:schemeClr val="tx2"/>
                    </a:solidFill>
                    <a:latin typeface="Times New Roman" charset="0"/>
                    <a:cs typeface="Times New Roman" charset="0"/>
                  </a:rPr>
                  <a:t>Serializable</a:t>
                </a:r>
              </a:p>
            </p:txBody>
          </p:sp>
          <p:sp>
            <p:nvSpPr>
              <p:cNvPr id="14" name="AutoShape 6"/>
              <p:cNvSpPr>
                <a:spLocks noChangeArrowheads="1"/>
              </p:cNvSpPr>
              <p:nvPr/>
            </p:nvSpPr>
            <p:spPr bwMode="auto">
              <a:xfrm>
                <a:off x="1043940" y="2952750"/>
                <a:ext cx="4924425" cy="1354822"/>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5" name="Text Box 7"/>
              <p:cNvSpPr txBox="1">
                <a:spLocks noChangeArrowheads="1"/>
              </p:cNvSpPr>
              <p:nvPr/>
            </p:nvSpPr>
            <p:spPr bwMode="auto">
              <a:xfrm>
                <a:off x="1101090" y="3067051"/>
                <a:ext cx="1676400" cy="10618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100" dirty="0">
                    <a:solidFill>
                      <a:schemeClr val="tx2"/>
                    </a:solidFill>
                    <a:latin typeface="Times New Roman" charset="0"/>
                    <a:cs typeface="Times New Roman" charset="0"/>
                  </a:rPr>
                  <a:t>Avoid</a:t>
                </a:r>
              </a:p>
              <a:p>
                <a:r>
                  <a:rPr lang="en-US" sz="2100" dirty="0">
                    <a:solidFill>
                      <a:schemeClr val="tx2"/>
                    </a:solidFill>
                    <a:latin typeface="Times New Roman" charset="0"/>
                    <a:cs typeface="Times New Roman" charset="0"/>
                  </a:rPr>
                  <a:t>Cascading</a:t>
                </a:r>
                <a:br>
                  <a:rPr lang="en-US" sz="2100" dirty="0">
                    <a:solidFill>
                      <a:schemeClr val="tx2"/>
                    </a:solidFill>
                    <a:latin typeface="Times New Roman" charset="0"/>
                    <a:cs typeface="Times New Roman" charset="0"/>
                  </a:rPr>
                </a:br>
                <a:r>
                  <a:rPr lang="en-US" sz="2100" dirty="0">
                    <a:solidFill>
                      <a:schemeClr val="tx2"/>
                    </a:solidFill>
                    <a:latin typeface="Times New Roman" charset="0"/>
                    <a:cs typeface="Times New Roman" charset="0"/>
                  </a:rPr>
                  <a:t>Aborts</a:t>
                </a:r>
              </a:p>
            </p:txBody>
          </p:sp>
          <p:sp>
            <p:nvSpPr>
              <p:cNvPr id="16" name="AutoShape 8"/>
              <p:cNvSpPr>
                <a:spLocks noChangeArrowheads="1"/>
              </p:cNvSpPr>
              <p:nvPr/>
            </p:nvSpPr>
            <p:spPr bwMode="auto">
              <a:xfrm>
                <a:off x="3832386" y="3459599"/>
                <a:ext cx="1104900" cy="463630"/>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7" name="Text Box 9"/>
              <p:cNvSpPr txBox="1">
                <a:spLocks noChangeArrowheads="1"/>
              </p:cNvSpPr>
              <p:nvPr/>
            </p:nvSpPr>
            <p:spPr bwMode="auto">
              <a:xfrm>
                <a:off x="3999073" y="3467100"/>
                <a:ext cx="984874" cy="415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100" dirty="0">
                    <a:solidFill>
                      <a:schemeClr val="tx2"/>
                    </a:solidFill>
                    <a:latin typeface="Times New Roman" charset="0"/>
                    <a:cs typeface="Times New Roman" charset="0"/>
                  </a:rPr>
                  <a:t>Serial</a:t>
                </a:r>
              </a:p>
            </p:txBody>
          </p:sp>
          <p:sp>
            <p:nvSpPr>
              <p:cNvPr id="18" name="AutoShape 10"/>
              <p:cNvSpPr>
                <a:spLocks noChangeArrowheads="1"/>
              </p:cNvSpPr>
              <p:nvPr/>
            </p:nvSpPr>
            <p:spPr bwMode="auto">
              <a:xfrm>
                <a:off x="3215640" y="2209800"/>
                <a:ext cx="2305050" cy="2258037"/>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9" name="AutoShape 11"/>
              <p:cNvSpPr>
                <a:spLocks noChangeArrowheads="1"/>
              </p:cNvSpPr>
              <p:nvPr/>
            </p:nvSpPr>
            <p:spPr bwMode="auto">
              <a:xfrm>
                <a:off x="2815590" y="1581150"/>
                <a:ext cx="2986088" cy="3010716"/>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1" name="Text Box 12"/>
              <p:cNvSpPr txBox="1">
                <a:spLocks noChangeArrowheads="1"/>
              </p:cNvSpPr>
              <p:nvPr/>
            </p:nvSpPr>
            <p:spPr bwMode="auto">
              <a:xfrm>
                <a:off x="3063240" y="1695450"/>
                <a:ext cx="2457450" cy="415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100" dirty="0">
                    <a:solidFill>
                      <a:schemeClr val="tx2"/>
                    </a:solidFill>
                    <a:latin typeface="Times New Roman" charset="0"/>
                    <a:cs typeface="Times New Roman" charset="0"/>
                  </a:rPr>
                  <a:t>View Serializable</a:t>
                </a:r>
              </a:p>
            </p:txBody>
          </p:sp>
          <p:sp>
            <p:nvSpPr>
              <p:cNvPr id="23" name="Text Box 13"/>
              <p:cNvSpPr txBox="1">
                <a:spLocks noChangeArrowheads="1"/>
              </p:cNvSpPr>
              <p:nvPr/>
            </p:nvSpPr>
            <p:spPr bwMode="auto">
              <a:xfrm>
                <a:off x="3272790" y="2334816"/>
                <a:ext cx="2381250" cy="3847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1900" dirty="0">
                    <a:solidFill>
                      <a:schemeClr val="tx2"/>
                    </a:solidFill>
                    <a:latin typeface="Times New Roman" charset="0"/>
                    <a:cs typeface="Times New Roman" charset="0"/>
                  </a:rPr>
                  <a:t>Conflict Serializable</a:t>
                </a:r>
              </a:p>
            </p:txBody>
          </p:sp>
          <p:sp>
            <p:nvSpPr>
              <p:cNvPr id="22" name="AutoShape 4"/>
              <p:cNvSpPr>
                <a:spLocks noChangeArrowheads="1"/>
              </p:cNvSpPr>
              <p:nvPr/>
            </p:nvSpPr>
            <p:spPr bwMode="auto">
              <a:xfrm>
                <a:off x="472440" y="1092200"/>
                <a:ext cx="5867400" cy="3813573"/>
              </a:xfrm>
              <a:prstGeom prst="roundRect">
                <a:avLst>
                  <a:gd name="adj" fmla="val 16667"/>
                </a:avLst>
              </a:prstGeom>
              <a:noFill/>
              <a:ln w="381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5" name="Text Box 5"/>
              <p:cNvSpPr txBox="1">
                <a:spLocks noChangeArrowheads="1"/>
              </p:cNvSpPr>
              <p:nvPr/>
            </p:nvSpPr>
            <p:spPr bwMode="auto">
              <a:xfrm>
                <a:off x="872886" y="997208"/>
                <a:ext cx="2057003" cy="415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a:defRPr sz="3600">
                    <a:solidFill>
                      <a:srgbClr val="CF0E30"/>
                    </a:solidFill>
                    <a:latin typeface="Book Antiqua" charset="0"/>
                    <a:ea typeface="ＭＳ Ｐゴシック" charset="0"/>
                    <a:cs typeface="ＭＳ Ｐゴシック" charset="0"/>
                  </a:defRPr>
                </a:lvl1pPr>
                <a:lvl2pPr marL="742950" indent="-285750">
                  <a:defRPr sz="3600">
                    <a:solidFill>
                      <a:srgbClr val="CF0E30"/>
                    </a:solidFill>
                    <a:latin typeface="Book Antiqua" charset="0"/>
                    <a:ea typeface="ＭＳ Ｐゴシック" charset="0"/>
                  </a:defRPr>
                </a:lvl2pPr>
                <a:lvl3pPr marL="1143000" indent="-228600">
                  <a:defRPr sz="3600">
                    <a:solidFill>
                      <a:srgbClr val="CF0E30"/>
                    </a:solidFill>
                    <a:latin typeface="Book Antiqua" charset="0"/>
                    <a:ea typeface="ＭＳ Ｐゴシック" charset="0"/>
                  </a:defRPr>
                </a:lvl3pPr>
                <a:lvl4pPr marL="1600200" indent="-228600">
                  <a:defRPr sz="3600">
                    <a:solidFill>
                      <a:srgbClr val="CF0E30"/>
                    </a:solidFill>
                    <a:latin typeface="Book Antiqua" charset="0"/>
                    <a:ea typeface="ＭＳ Ｐゴシック" charset="0"/>
                  </a:defRPr>
                </a:lvl4pPr>
                <a:lvl5pPr marL="2057400" indent="-228600">
                  <a:defRPr sz="3600">
                    <a:solidFill>
                      <a:srgbClr val="CF0E30"/>
                    </a:solidFill>
                    <a:latin typeface="Book Antiqua" charset="0"/>
                    <a:ea typeface="ＭＳ Ｐゴシック" charset="0"/>
                  </a:defRPr>
                </a:lvl5pPr>
                <a:lvl6pPr marL="2514600" indent="-228600" eaLnBrk="0" fontAlgn="base" hangingPunct="0">
                  <a:spcBef>
                    <a:spcPct val="0"/>
                  </a:spcBef>
                  <a:spcAft>
                    <a:spcPct val="0"/>
                  </a:spcAft>
                  <a:defRPr sz="3600">
                    <a:solidFill>
                      <a:srgbClr val="CF0E30"/>
                    </a:solidFill>
                    <a:latin typeface="Book Antiqua" charset="0"/>
                    <a:ea typeface="ＭＳ Ｐゴシック" charset="0"/>
                  </a:defRPr>
                </a:lvl6pPr>
                <a:lvl7pPr marL="2971800" indent="-228600" eaLnBrk="0" fontAlgn="base" hangingPunct="0">
                  <a:spcBef>
                    <a:spcPct val="0"/>
                  </a:spcBef>
                  <a:spcAft>
                    <a:spcPct val="0"/>
                  </a:spcAft>
                  <a:defRPr sz="3600">
                    <a:solidFill>
                      <a:srgbClr val="CF0E30"/>
                    </a:solidFill>
                    <a:latin typeface="Book Antiqua" charset="0"/>
                    <a:ea typeface="ＭＳ Ｐゴシック" charset="0"/>
                  </a:defRPr>
                </a:lvl7pPr>
                <a:lvl8pPr marL="3429000" indent="-228600" eaLnBrk="0" fontAlgn="base" hangingPunct="0">
                  <a:spcBef>
                    <a:spcPct val="0"/>
                  </a:spcBef>
                  <a:spcAft>
                    <a:spcPct val="0"/>
                  </a:spcAft>
                  <a:defRPr sz="3600">
                    <a:solidFill>
                      <a:srgbClr val="CF0E30"/>
                    </a:solidFill>
                    <a:latin typeface="Book Antiqua" charset="0"/>
                    <a:ea typeface="ＭＳ Ｐゴシック" charset="0"/>
                  </a:defRPr>
                </a:lvl8pPr>
                <a:lvl9pPr marL="3886200" indent="-228600" eaLnBrk="0" fontAlgn="base" hangingPunct="0">
                  <a:spcBef>
                    <a:spcPct val="0"/>
                  </a:spcBef>
                  <a:spcAft>
                    <a:spcPct val="0"/>
                  </a:spcAft>
                  <a:defRPr sz="3600">
                    <a:solidFill>
                      <a:srgbClr val="CF0E30"/>
                    </a:solidFill>
                    <a:latin typeface="Book Antiqua" charset="0"/>
                    <a:ea typeface="ＭＳ Ｐゴシック" charset="0"/>
                  </a:defRPr>
                </a:lvl9pPr>
              </a:lstStyle>
              <a:p>
                <a:r>
                  <a:rPr lang="en-US" sz="2100" dirty="0">
                    <a:solidFill>
                      <a:schemeClr val="tx2"/>
                    </a:solidFill>
                    <a:latin typeface="Times New Roman" charset="0"/>
                    <a:cs typeface="Times New Roman" charset="0"/>
                  </a:rPr>
                  <a:t>All Schedules</a:t>
                </a:r>
              </a:p>
            </p:txBody>
          </p:sp>
        </p:grpSp>
        <p:sp>
          <p:nvSpPr>
            <p:cNvPr id="26" name="Rectangle 13" title="Diagram">
              <a:extLst>
                <a:ext uri="{FF2B5EF4-FFF2-40B4-BE49-F238E27FC236}">
                  <a16:creationId xmlns:a16="http://schemas.microsoft.com/office/drawing/2014/main" id="{FB60A092-1CAB-CB4F-A722-EE087C9C1F79}"/>
                </a:ext>
              </a:extLst>
            </p:cNvPr>
            <p:cNvSpPr>
              <a:spLocks noChangeArrowheads="1"/>
            </p:cNvSpPr>
            <p:nvPr/>
          </p:nvSpPr>
          <p:spPr bwMode="auto">
            <a:xfrm>
              <a:off x="3458529" y="3080272"/>
              <a:ext cx="1990725" cy="1053750"/>
            </a:xfrm>
            <a:prstGeom prst="rect">
              <a:avLst/>
            </a:prstGeom>
            <a:pattFill prst="pct50">
              <a:fgClr>
                <a:srgbClr val="FF00FF">
                  <a:alpha val="39999"/>
                </a:srgbClr>
              </a:fgClr>
              <a:bgClr>
                <a:srgbClr val="FFFFFF">
                  <a:alpha val="39999"/>
                </a:srgbClr>
              </a:bgClr>
            </a:patt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nchor="ctr"/>
            <a:lstStyle/>
            <a:p>
              <a:endParaRPr lang="en-US" sz="1350" dirty="0"/>
            </a:p>
          </p:txBody>
        </p:sp>
      </p:grpSp>
    </p:spTree>
    <p:extLst>
      <p:ext uri="{BB962C8B-B14F-4D97-AF65-F5344CB8AC3E}">
        <p14:creationId xmlns:p14="http://schemas.microsoft.com/office/powerpoint/2010/main" val="196612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a:t>
            </a:r>
          </a:p>
        </p:txBody>
      </p:sp>
      <p:sp>
        <p:nvSpPr>
          <p:cNvPr id="32" name="Can 31" descr="Lowest level" title="Database">
            <a:extLst>
              <a:ext uri="{FF2B5EF4-FFF2-40B4-BE49-F238E27FC236}">
                <a16:creationId xmlns:a16="http://schemas.microsoft.com/office/drawing/2014/main" id="{215609CA-34D2-8B40-9BF6-320E39CA9575}"/>
              </a:ext>
            </a:extLst>
          </p:cNvPr>
          <p:cNvSpPr/>
          <p:nvPr/>
        </p:nvSpPr>
        <p:spPr bwMode="auto">
          <a:xfrm>
            <a:off x="2683233" y="4321554"/>
            <a:ext cx="1742140" cy="777781"/>
          </a:xfrm>
          <a:prstGeom prst="can">
            <a:avLst>
              <a:gd name="adj" fmla="val 41129"/>
            </a:avLst>
          </a:prstGeom>
          <a:gradFill rotWithShape="1">
            <a:gsLst>
              <a:gs pos="0">
                <a:srgbClr val="ABD2EB">
                  <a:shade val="51000"/>
                  <a:satMod val="130000"/>
                </a:srgbClr>
              </a:gs>
              <a:gs pos="80000">
                <a:srgbClr val="ABD2EB">
                  <a:shade val="93000"/>
                  <a:satMod val="130000"/>
                </a:srgbClr>
              </a:gs>
              <a:gs pos="100000">
                <a:srgbClr val="ABD2EB">
                  <a:shade val="94000"/>
                  <a:satMod val="135000"/>
                </a:srgbClr>
              </a:gs>
            </a:gsLst>
            <a:lin ang="16200000" scaled="0"/>
          </a:gradFill>
          <a:ln w="9525" cap="flat" cmpd="sng" algn="ctr">
            <a:solidFill>
              <a:srgbClr val="ABD2EB">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Database</a:t>
            </a:r>
          </a:p>
        </p:txBody>
      </p:sp>
      <p:sp>
        <p:nvSpPr>
          <p:cNvPr id="54" name="Right Brace 53" descr="Lies on top of the database. The rest of the DBMS is above the transaction manager. You are here">
            <a:extLst>
              <a:ext uri="{FF2B5EF4-FFF2-40B4-BE49-F238E27FC236}">
                <a16:creationId xmlns:a16="http://schemas.microsoft.com/office/drawing/2014/main" id="{C20748A1-F7E9-0942-AF4C-06DA19451887}"/>
              </a:ext>
            </a:extLst>
          </p:cNvPr>
          <p:cNvSpPr/>
          <p:nvPr/>
        </p:nvSpPr>
        <p:spPr>
          <a:xfrm rot="5400000">
            <a:off x="3312115" y="863652"/>
            <a:ext cx="427228" cy="5429251"/>
          </a:xfrm>
          <a:prstGeom prst="rightBrace">
            <a:avLst>
              <a:gd name="adj1" fmla="val 0"/>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55" name="Left Arrow 54" descr="Lies on top of the database. The rest of the DBMS is above the transaction manager. You are here">
            <a:extLst>
              <a:ext uri="{FF2B5EF4-FFF2-40B4-BE49-F238E27FC236}">
                <a16:creationId xmlns:a16="http://schemas.microsoft.com/office/drawing/2014/main" id="{393E2C56-1528-5E42-BBC2-740825732F14}"/>
              </a:ext>
            </a:extLst>
          </p:cNvPr>
          <p:cNvSpPr/>
          <p:nvPr/>
        </p:nvSpPr>
        <p:spPr>
          <a:xfrm flipH="1">
            <a:off x="1817532" y="4037178"/>
            <a:ext cx="299852" cy="29761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Helvetica Neue" charset="0"/>
              <a:ea typeface="Helvetica Neue" charset="0"/>
              <a:cs typeface="Helvetica Neue" charset="0"/>
            </a:endParaRPr>
          </a:p>
        </p:txBody>
      </p:sp>
      <p:sp>
        <p:nvSpPr>
          <p:cNvPr id="56" name="TextBox 55" descr="Lies on top of the database. The rest of the DBMS is above the transaction manager. You are here">
            <a:extLst>
              <a:ext uri="{FF2B5EF4-FFF2-40B4-BE49-F238E27FC236}">
                <a16:creationId xmlns:a16="http://schemas.microsoft.com/office/drawing/2014/main" id="{1F8D233E-CB25-9A42-98C3-E6BE847F8486}"/>
              </a:ext>
            </a:extLst>
          </p:cNvPr>
          <p:cNvSpPr txBox="1"/>
          <p:nvPr/>
        </p:nvSpPr>
        <p:spPr>
          <a:xfrm>
            <a:off x="381000" y="4034709"/>
            <a:ext cx="1613687" cy="323165"/>
          </a:xfrm>
          <a:prstGeom prst="rect">
            <a:avLst/>
          </a:prstGeom>
          <a:noFill/>
        </p:spPr>
        <p:txBody>
          <a:bodyPr wrap="square" rtlCol="0">
            <a:spAutoFit/>
          </a:bodyPr>
          <a:lstStyle/>
          <a:p>
            <a:r>
              <a:rPr lang="en-US" sz="1500" dirty="0">
                <a:latin typeface="Helvetica Neue" charset="0"/>
                <a:ea typeface="Helvetica Neue" charset="0"/>
                <a:cs typeface="Helvetica Neue" charset="0"/>
              </a:rPr>
              <a:t>You are here</a:t>
            </a:r>
          </a:p>
        </p:txBody>
      </p:sp>
      <p:sp>
        <p:nvSpPr>
          <p:cNvPr id="76" name="Rectangle 75" descr="Disk Space Management, Buffer Management, Files and Index Management, Relational Operators, Query Parsing &amp; Optimization, SQL Client" title="DBMS 1">
            <a:extLst>
              <a:ext uri="{FF2B5EF4-FFF2-40B4-BE49-F238E27FC236}">
                <a16:creationId xmlns:a16="http://schemas.microsoft.com/office/drawing/2014/main" id="{30578596-9BCD-4749-816D-C6AC64181C82}"/>
              </a:ext>
            </a:extLst>
          </p:cNvPr>
          <p:cNvSpPr/>
          <p:nvPr/>
        </p:nvSpPr>
        <p:spPr bwMode="auto">
          <a:xfrm>
            <a:off x="709613" y="1652348"/>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77" name="Rectangle 76" descr="Disk Space Management, Buffer Management, Files and Index Management, Relational Operators, Query Parsing &amp; Optimization, SQL Client" title="DBMS 1">
            <a:extLst>
              <a:ext uri="{FF2B5EF4-FFF2-40B4-BE49-F238E27FC236}">
                <a16:creationId xmlns:a16="http://schemas.microsoft.com/office/drawing/2014/main" id="{424E7234-2D77-0344-B012-ABE7CD8D31B9}"/>
              </a:ext>
            </a:extLst>
          </p:cNvPr>
          <p:cNvSpPr/>
          <p:nvPr/>
        </p:nvSpPr>
        <p:spPr bwMode="auto">
          <a:xfrm>
            <a:off x="785433" y="1709723"/>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78" name="Rectangle 77" descr="Disk Space Management, Buffer Management, Files and Index Management, Relational Operators, Query Parsing &amp; Optimization, SQL Client" title="DBMS 1">
            <a:extLst>
              <a:ext uri="{FF2B5EF4-FFF2-40B4-BE49-F238E27FC236}">
                <a16:creationId xmlns:a16="http://schemas.microsoft.com/office/drawing/2014/main" id="{7B5BC606-7F38-5141-BCEB-750CD593333A}"/>
              </a:ext>
            </a:extLst>
          </p:cNvPr>
          <p:cNvSpPr/>
          <p:nvPr/>
        </p:nvSpPr>
        <p:spPr bwMode="auto">
          <a:xfrm>
            <a:off x="785433" y="1298897"/>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79" name="Rectangle 78" descr="Disk Space Management, Buffer Management, Files and Index Management, Relational Operators, Query Parsing &amp; Optimization, SQL Client" title="DBMS 1">
            <a:extLst>
              <a:ext uri="{FF2B5EF4-FFF2-40B4-BE49-F238E27FC236}">
                <a16:creationId xmlns:a16="http://schemas.microsoft.com/office/drawing/2014/main" id="{6DF4BCB1-2F68-8444-BFEA-CD839BE67E1C}"/>
              </a:ext>
            </a:extLst>
          </p:cNvPr>
          <p:cNvSpPr/>
          <p:nvPr/>
        </p:nvSpPr>
        <p:spPr bwMode="auto">
          <a:xfrm>
            <a:off x="785433" y="2009731"/>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80" name="Rectangle 79" descr="Disk Space Management, Buffer Management, Files and Index Management, Relational Operators, Query Parsing &amp; Optimization, SQL Client" title="DBMS 1">
            <a:extLst>
              <a:ext uri="{FF2B5EF4-FFF2-40B4-BE49-F238E27FC236}">
                <a16:creationId xmlns:a16="http://schemas.microsoft.com/office/drawing/2014/main" id="{43B158F7-755A-B844-8D00-F4D5FEAA3810}"/>
              </a:ext>
            </a:extLst>
          </p:cNvPr>
          <p:cNvSpPr/>
          <p:nvPr/>
        </p:nvSpPr>
        <p:spPr bwMode="auto">
          <a:xfrm>
            <a:off x="785433" y="2304883"/>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81" name="Rectangle 80" descr="Disk Space Management, Buffer Management, Files and Index Management, Relational Operators, Query Parsing &amp; Optimization, SQL Client" title="DBMS 1">
            <a:extLst>
              <a:ext uri="{FF2B5EF4-FFF2-40B4-BE49-F238E27FC236}">
                <a16:creationId xmlns:a16="http://schemas.microsoft.com/office/drawing/2014/main" id="{D58ECA7F-648D-B446-8A9E-B383F09E0133}"/>
              </a:ext>
            </a:extLst>
          </p:cNvPr>
          <p:cNvSpPr/>
          <p:nvPr/>
        </p:nvSpPr>
        <p:spPr bwMode="auto">
          <a:xfrm>
            <a:off x="785435" y="2604463"/>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82" name="Rectangle 81" descr="Disk Space Management, Buffer Management, Files and Index Management, Relational Operators, Query Parsing &amp; Optimization, SQL Client" title="DBMS 1">
            <a:extLst>
              <a:ext uri="{FF2B5EF4-FFF2-40B4-BE49-F238E27FC236}">
                <a16:creationId xmlns:a16="http://schemas.microsoft.com/office/drawing/2014/main" id="{8EC17D94-CDE9-604D-B484-ED65415453E9}"/>
              </a:ext>
            </a:extLst>
          </p:cNvPr>
          <p:cNvSpPr/>
          <p:nvPr/>
        </p:nvSpPr>
        <p:spPr bwMode="auto">
          <a:xfrm>
            <a:off x="785438" y="2896409"/>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83" name="Rectangle 82" descr="Disk Space Management, Buffer Management, Files and Index Management, Relational Operators, Query Parsing &amp; Optimization, SQL Client" title="DBMS 2">
            <a:extLst>
              <a:ext uri="{FF2B5EF4-FFF2-40B4-BE49-F238E27FC236}">
                <a16:creationId xmlns:a16="http://schemas.microsoft.com/office/drawing/2014/main" id="{505EDD89-1A56-BA4A-8D42-F3A334B28CF9}"/>
              </a:ext>
            </a:extLst>
          </p:cNvPr>
          <p:cNvSpPr/>
          <p:nvPr/>
        </p:nvSpPr>
        <p:spPr bwMode="auto">
          <a:xfrm>
            <a:off x="2595564" y="1779004"/>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84" name="Rectangle 83" descr="Disk Space Management, Buffer Management, Files and Index Management, Relational Operators, Query Parsing &amp; Optimization, SQL Client" title="DBMS 2">
            <a:extLst>
              <a:ext uri="{FF2B5EF4-FFF2-40B4-BE49-F238E27FC236}">
                <a16:creationId xmlns:a16="http://schemas.microsoft.com/office/drawing/2014/main" id="{8C9FAFC3-DCB2-554C-9072-80959EC15D3E}"/>
              </a:ext>
            </a:extLst>
          </p:cNvPr>
          <p:cNvSpPr/>
          <p:nvPr/>
        </p:nvSpPr>
        <p:spPr bwMode="auto">
          <a:xfrm>
            <a:off x="2671385" y="1836378"/>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85" name="Rectangle 84" descr="Disk Space Management, Buffer Management, Files and Index Management, Relational Operators, Query Parsing &amp; Optimization, SQL Client" title="DBMS 2">
            <a:extLst>
              <a:ext uri="{FF2B5EF4-FFF2-40B4-BE49-F238E27FC236}">
                <a16:creationId xmlns:a16="http://schemas.microsoft.com/office/drawing/2014/main" id="{5E02C30E-7CF3-5C46-A519-01BB9594410C}"/>
              </a:ext>
            </a:extLst>
          </p:cNvPr>
          <p:cNvSpPr/>
          <p:nvPr/>
        </p:nvSpPr>
        <p:spPr bwMode="auto">
          <a:xfrm>
            <a:off x="2671384" y="1425552"/>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86" name="Rectangle 85" descr="Disk Space Management, Buffer Management, Files and Index Management, Relational Operators, Query Parsing &amp; Optimization, SQL Client" title="DBMS 2">
            <a:extLst>
              <a:ext uri="{FF2B5EF4-FFF2-40B4-BE49-F238E27FC236}">
                <a16:creationId xmlns:a16="http://schemas.microsoft.com/office/drawing/2014/main" id="{79D06971-8C2A-244C-82C4-A7C1C8323F2E}"/>
              </a:ext>
            </a:extLst>
          </p:cNvPr>
          <p:cNvSpPr/>
          <p:nvPr/>
        </p:nvSpPr>
        <p:spPr bwMode="auto">
          <a:xfrm>
            <a:off x="2671384" y="2136387"/>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87" name="Rectangle 86" descr="Disk Space Management, Buffer Management, Files and Index Management, Relational Operators, Query Parsing &amp; Optimization, SQL Client" title="DBMS 2">
            <a:extLst>
              <a:ext uri="{FF2B5EF4-FFF2-40B4-BE49-F238E27FC236}">
                <a16:creationId xmlns:a16="http://schemas.microsoft.com/office/drawing/2014/main" id="{1BFF5849-25C3-054A-9B05-99709EA7FD44}"/>
              </a:ext>
            </a:extLst>
          </p:cNvPr>
          <p:cNvSpPr/>
          <p:nvPr/>
        </p:nvSpPr>
        <p:spPr bwMode="auto">
          <a:xfrm>
            <a:off x="2671384" y="2431539"/>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88" name="Rectangle 87" descr="Disk Space Management, Buffer Management, Files and Index Management, Relational Operators, Query Parsing &amp; Optimization, SQL Client" title="DBMS 2">
            <a:extLst>
              <a:ext uri="{FF2B5EF4-FFF2-40B4-BE49-F238E27FC236}">
                <a16:creationId xmlns:a16="http://schemas.microsoft.com/office/drawing/2014/main" id="{321CFE47-43A6-E541-8D05-6713887481DE}"/>
              </a:ext>
            </a:extLst>
          </p:cNvPr>
          <p:cNvSpPr/>
          <p:nvPr/>
        </p:nvSpPr>
        <p:spPr bwMode="auto">
          <a:xfrm>
            <a:off x="2671387" y="2731118"/>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89" name="Rectangle 88" descr="Disk Space Management, Buffer Management, Files and Index Management, Relational Operators, Query Parsing &amp; Optimization, SQL Client" title="DBMS 2">
            <a:extLst>
              <a:ext uri="{FF2B5EF4-FFF2-40B4-BE49-F238E27FC236}">
                <a16:creationId xmlns:a16="http://schemas.microsoft.com/office/drawing/2014/main" id="{A36BC23B-D87C-514C-AEC6-A5731657F64B}"/>
              </a:ext>
            </a:extLst>
          </p:cNvPr>
          <p:cNvSpPr/>
          <p:nvPr/>
        </p:nvSpPr>
        <p:spPr bwMode="auto">
          <a:xfrm>
            <a:off x="2671390" y="3023065"/>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90" name="Rectangle 89" descr="Disk Space Management, Buffer Management, Files and Index Management, Relational Operators, Query Parsing &amp; Optimization, SQL Client" title="DBMS 3">
            <a:extLst>
              <a:ext uri="{FF2B5EF4-FFF2-40B4-BE49-F238E27FC236}">
                <a16:creationId xmlns:a16="http://schemas.microsoft.com/office/drawing/2014/main" id="{41E6E5A5-4A35-2044-A09C-5A63AC034534}"/>
              </a:ext>
            </a:extLst>
          </p:cNvPr>
          <p:cNvSpPr/>
          <p:nvPr/>
        </p:nvSpPr>
        <p:spPr bwMode="auto">
          <a:xfrm>
            <a:off x="4547405" y="1511927"/>
            <a:ext cx="1692950" cy="1615222"/>
          </a:xfrm>
          <a:prstGeom prst="rect">
            <a:avLst/>
          </a:prstGeom>
          <a:gradFill rotWithShape="1">
            <a:gsLst>
              <a:gs pos="0">
                <a:srgbClr val="15405B">
                  <a:tint val="50000"/>
                  <a:satMod val="300000"/>
                </a:srgbClr>
              </a:gs>
              <a:gs pos="35000">
                <a:srgbClr val="15405B">
                  <a:tint val="37000"/>
                  <a:satMod val="300000"/>
                </a:srgbClr>
              </a:gs>
              <a:gs pos="100000">
                <a:srgbClr val="15405B">
                  <a:tint val="15000"/>
                  <a:satMod val="350000"/>
                </a:srgbClr>
              </a:gs>
            </a:gsLst>
            <a:lin ang="16200000" scaled="1"/>
          </a:gradFill>
          <a:ln w="9525" cap="flat" cmpd="sng" algn="ctr">
            <a:solidFill>
              <a:srgbClr val="15405B">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Database Management</a:t>
            </a:r>
          </a:p>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srgbClr val="14405C"/>
                </a:solidFill>
                <a:latin typeface="Helvetica Neue" charset="0"/>
                <a:ea typeface="Helvetica Neue" charset="0"/>
                <a:cs typeface="Helvetica Neue" charset="0"/>
              </a:rPr>
              <a:t>System</a:t>
            </a:r>
          </a:p>
        </p:txBody>
      </p:sp>
      <p:sp>
        <p:nvSpPr>
          <p:cNvPr id="91" name="Rectangle 90" descr="Disk Space Management, Buffer Management, Files and Index Management, Relational Operators, Query Parsing &amp; Optimization, SQL Client" title="DBMS 3">
            <a:extLst>
              <a:ext uri="{FF2B5EF4-FFF2-40B4-BE49-F238E27FC236}">
                <a16:creationId xmlns:a16="http://schemas.microsoft.com/office/drawing/2014/main" id="{D296C849-A553-A441-8ED2-B4EE5175D62B}"/>
              </a:ext>
            </a:extLst>
          </p:cNvPr>
          <p:cNvSpPr/>
          <p:nvPr/>
        </p:nvSpPr>
        <p:spPr bwMode="auto">
          <a:xfrm>
            <a:off x="4623225" y="1569302"/>
            <a:ext cx="1532000" cy="302403"/>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Query Parsing</a:t>
            </a:r>
            <a:br>
              <a:rPr lang="en-US" sz="825" kern="0" dirty="0">
                <a:latin typeface="Helvetica Neue" charset="0"/>
                <a:ea typeface="Helvetica Neue" charset="0"/>
                <a:cs typeface="Helvetica Neue" charset="0"/>
              </a:rPr>
            </a:br>
            <a:r>
              <a:rPr lang="en-US" sz="825" kern="0" dirty="0">
                <a:latin typeface="Helvetica Neue" charset="0"/>
                <a:ea typeface="Helvetica Neue" charset="0"/>
                <a:cs typeface="Helvetica Neue" charset="0"/>
              </a:rPr>
              <a:t>&amp; Optimization</a:t>
            </a:r>
          </a:p>
        </p:txBody>
      </p:sp>
      <p:sp>
        <p:nvSpPr>
          <p:cNvPr id="92" name="Rectangle 91" descr="Disk Space Management, Buffer Management, Files and Index Management, Relational Operators, Query Parsing &amp; Optimization, SQL Client" title="DBMS 3">
            <a:extLst>
              <a:ext uri="{FF2B5EF4-FFF2-40B4-BE49-F238E27FC236}">
                <a16:creationId xmlns:a16="http://schemas.microsoft.com/office/drawing/2014/main" id="{5C65BAC8-1EED-7241-9BCF-58207A2687C1}"/>
              </a:ext>
            </a:extLst>
          </p:cNvPr>
          <p:cNvSpPr/>
          <p:nvPr/>
        </p:nvSpPr>
        <p:spPr bwMode="auto">
          <a:xfrm>
            <a:off x="4623225" y="1158476"/>
            <a:ext cx="1532000" cy="324002"/>
          </a:xfrm>
          <a:prstGeom prst="rect">
            <a:avLst/>
          </a:prstGeom>
          <a:solidFill>
            <a:schemeClr val="accent3">
              <a:lumMod val="5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prstClr val="white"/>
                </a:solidFill>
                <a:latin typeface="Helvetica Neue" charset="0"/>
                <a:ea typeface="Helvetica Neue" charset="0"/>
                <a:cs typeface="Helvetica Neue" charset="0"/>
              </a:rPr>
              <a:t>SQL Client</a:t>
            </a:r>
            <a:endParaRPr lang="en-US" sz="825" kern="0" dirty="0">
              <a:solidFill>
                <a:srgbClr val="000000"/>
              </a:solidFill>
              <a:latin typeface="Helvetica Neue" charset="0"/>
              <a:ea typeface="Helvetica Neue" charset="0"/>
              <a:cs typeface="Helvetica Neue" charset="0"/>
            </a:endParaRPr>
          </a:p>
        </p:txBody>
      </p:sp>
      <p:sp>
        <p:nvSpPr>
          <p:cNvPr id="93" name="Rectangle 92" descr="Disk Space Management, Buffer Management, Files and Index Management, Relational Operators, Query Parsing &amp; Optimization, SQL Client" title="DBMS 3">
            <a:extLst>
              <a:ext uri="{FF2B5EF4-FFF2-40B4-BE49-F238E27FC236}">
                <a16:creationId xmlns:a16="http://schemas.microsoft.com/office/drawing/2014/main" id="{12398F15-3E1D-624F-85AA-8F999EF61964}"/>
              </a:ext>
            </a:extLst>
          </p:cNvPr>
          <p:cNvSpPr/>
          <p:nvPr/>
        </p:nvSpPr>
        <p:spPr bwMode="auto">
          <a:xfrm>
            <a:off x="4623225" y="1869310"/>
            <a:ext cx="1532001" cy="300949"/>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Relational Operators</a:t>
            </a:r>
          </a:p>
        </p:txBody>
      </p:sp>
      <p:sp>
        <p:nvSpPr>
          <p:cNvPr id="94" name="Rectangle 93" descr="Disk Space Management, Buffer Management, Files and Index Management, Relational Operators, Query Parsing &amp; Optimization, SQL Client" title="DBMS 3">
            <a:extLst>
              <a:ext uri="{FF2B5EF4-FFF2-40B4-BE49-F238E27FC236}">
                <a16:creationId xmlns:a16="http://schemas.microsoft.com/office/drawing/2014/main" id="{19CBA8CA-5CAA-824D-B5FC-84ED307490EC}"/>
              </a:ext>
            </a:extLst>
          </p:cNvPr>
          <p:cNvSpPr/>
          <p:nvPr/>
        </p:nvSpPr>
        <p:spPr bwMode="auto">
          <a:xfrm>
            <a:off x="4623225" y="2164462"/>
            <a:ext cx="1532001" cy="295147"/>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Files and Index Management</a:t>
            </a:r>
          </a:p>
        </p:txBody>
      </p:sp>
      <p:sp>
        <p:nvSpPr>
          <p:cNvPr id="95" name="Rectangle 94" descr="Disk Space Management, Buffer Management, Files and Index Management, Relational Operators, Query Parsing &amp; Optimization, SQL Client" title="DBMS 3">
            <a:extLst>
              <a:ext uri="{FF2B5EF4-FFF2-40B4-BE49-F238E27FC236}">
                <a16:creationId xmlns:a16="http://schemas.microsoft.com/office/drawing/2014/main" id="{39CC98AD-83C6-204C-8EF0-63EDF9EF5B9D}"/>
              </a:ext>
            </a:extLst>
          </p:cNvPr>
          <p:cNvSpPr/>
          <p:nvPr/>
        </p:nvSpPr>
        <p:spPr bwMode="auto">
          <a:xfrm>
            <a:off x="4623227" y="2464042"/>
            <a:ext cx="1531998" cy="289505"/>
          </a:xfrm>
          <a:prstGeom prst="rect">
            <a:avLst/>
          </a:prstGeom>
          <a:solidFill>
            <a:schemeClr val="accent3">
              <a:lumMod val="60000"/>
              <a:lumOff val="40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Buffer Management</a:t>
            </a:r>
          </a:p>
        </p:txBody>
      </p:sp>
      <p:sp>
        <p:nvSpPr>
          <p:cNvPr id="96" name="Rectangle 95" descr="Disk Space Management, Buffer Management, Files and Index Management, Relational Operators, Query Parsing &amp; Optimization, SQL Client" title="DBMS 3">
            <a:extLst>
              <a:ext uri="{FF2B5EF4-FFF2-40B4-BE49-F238E27FC236}">
                <a16:creationId xmlns:a16="http://schemas.microsoft.com/office/drawing/2014/main" id="{F7417CE3-1EE1-F242-8ABE-2040B907ADC6}"/>
              </a:ext>
            </a:extLst>
          </p:cNvPr>
          <p:cNvSpPr/>
          <p:nvPr/>
        </p:nvSpPr>
        <p:spPr bwMode="auto">
          <a:xfrm>
            <a:off x="4623230" y="2755988"/>
            <a:ext cx="1531998" cy="289505"/>
          </a:xfrm>
          <a:prstGeom prst="rect">
            <a:avLst/>
          </a:prstGeom>
          <a:solidFill>
            <a:schemeClr val="accent3">
              <a:lumMod val="75000"/>
            </a:schemeClr>
          </a:solidFill>
          <a:ln w="9525" cap="flat" cmpd="sng" algn="ctr">
            <a:solidFill>
              <a:schemeClr val="bg1">
                <a:lumMod val="75000"/>
              </a:scheme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latin typeface="Helvetica Neue" charset="0"/>
                <a:ea typeface="Helvetica Neue" charset="0"/>
                <a:cs typeface="Helvetica Neue" charset="0"/>
              </a:rPr>
              <a:t>Disk Space Management</a:t>
            </a:r>
          </a:p>
        </p:txBody>
      </p:sp>
      <p:sp>
        <p:nvSpPr>
          <p:cNvPr id="29" name="Rectangle 28" descr="Lies on top of the database.  Is made of the lock manager and logging and recovery systems. The rest of the DBMS is above the transaction manager. You are here" title="Transaction Manager">
            <a:extLst>
              <a:ext uri="{FF2B5EF4-FFF2-40B4-BE49-F238E27FC236}">
                <a16:creationId xmlns:a16="http://schemas.microsoft.com/office/drawing/2014/main" id="{EE526167-5214-4307-B57E-DD8418798A37}"/>
              </a:ext>
            </a:extLst>
          </p:cNvPr>
          <p:cNvSpPr/>
          <p:nvPr/>
        </p:nvSpPr>
        <p:spPr bwMode="auto">
          <a:xfrm>
            <a:off x="3496580" y="3835981"/>
            <a:ext cx="1215047" cy="477488"/>
          </a:xfrm>
          <a:prstGeom prst="rect">
            <a:avLst/>
          </a:prstGeom>
          <a:solidFill>
            <a:schemeClr val="tx1">
              <a:lumMod val="50000"/>
              <a:lumOff val="50000"/>
            </a:schemeClr>
          </a:solidFill>
          <a:ln w="9525" cap="flat" cmpd="sng" algn="ctr">
            <a:solidFill>
              <a:srgbClr val="2A80B7">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Logging &amp; Recovery</a:t>
            </a:r>
          </a:p>
        </p:txBody>
      </p:sp>
      <p:sp>
        <p:nvSpPr>
          <p:cNvPr id="30" name="Rectangle 29" descr="Lies on top of the database.  Is made of the lock manager and logging and recovery systems. The rest of the DBMS is above the transaction manager. You are here" title="Transaction Manager">
            <a:extLst>
              <a:ext uri="{FF2B5EF4-FFF2-40B4-BE49-F238E27FC236}">
                <a16:creationId xmlns:a16="http://schemas.microsoft.com/office/drawing/2014/main" id="{EF8F2284-F254-4184-B000-D33173B438D9}"/>
              </a:ext>
            </a:extLst>
          </p:cNvPr>
          <p:cNvSpPr/>
          <p:nvPr/>
        </p:nvSpPr>
        <p:spPr bwMode="auto">
          <a:xfrm>
            <a:off x="2280943" y="3835981"/>
            <a:ext cx="1215637" cy="477488"/>
          </a:xfrm>
          <a:prstGeom prst="rect">
            <a:avLst/>
          </a:prstGeom>
          <a:gradFill rotWithShape="1">
            <a:gsLst>
              <a:gs pos="0">
                <a:srgbClr val="2A80B7">
                  <a:shade val="51000"/>
                  <a:satMod val="130000"/>
                </a:srgbClr>
              </a:gs>
              <a:gs pos="80000">
                <a:srgbClr val="2A80B7">
                  <a:shade val="93000"/>
                  <a:satMod val="130000"/>
                </a:srgbClr>
              </a:gs>
              <a:gs pos="100000">
                <a:srgbClr val="2A80B7">
                  <a:shade val="94000"/>
                  <a:satMod val="135000"/>
                </a:srgbClr>
              </a:gs>
            </a:gsLst>
            <a:lin ang="16200000" scaled="0"/>
          </a:gradFill>
          <a:ln w="9525" cap="flat" cmpd="sng" algn="ctr">
            <a:solidFill>
              <a:srgbClr val="2A80B7">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68580" tIns="34290" rIns="68580" bIns="34290" numCol="1" rtlCol="0" anchor="ctr" anchorCtr="0" compatLnSpc="1">
            <a:prstTxWarp prst="textNoShape">
              <a:avLst/>
            </a:prstTxWarp>
          </a:bodyP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350" kern="0" dirty="0">
                <a:solidFill>
                  <a:prstClr val="white"/>
                </a:solidFill>
                <a:latin typeface="Helvetica Neue" charset="0"/>
                <a:ea typeface="Helvetica Neue" charset="0"/>
                <a:cs typeface="Helvetica Neue" charset="0"/>
              </a:rPr>
              <a:t>Lock Manager</a:t>
            </a:r>
          </a:p>
        </p:txBody>
      </p:sp>
    </p:spTree>
    <p:extLst>
      <p:ext uri="{BB962C8B-B14F-4D97-AF65-F5344CB8AC3E}">
        <p14:creationId xmlns:p14="http://schemas.microsoft.com/office/powerpoint/2010/main" val="248953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9DD7-1E03-4B73-BD68-F52F804522A5}"/>
              </a:ext>
            </a:extLst>
          </p:cNvPr>
          <p:cNvSpPr>
            <a:spLocks noGrp="1"/>
          </p:cNvSpPr>
          <p:nvPr>
            <p:ph type="title"/>
          </p:nvPr>
        </p:nvSpPr>
        <p:spPr/>
        <p:txBody>
          <a:bodyPr/>
          <a:lstStyle/>
          <a:p>
            <a:r>
              <a:rPr lang="en-US" dirty="0"/>
              <a:t>How Do We Lock Data?</a:t>
            </a:r>
          </a:p>
        </p:txBody>
      </p:sp>
      <p:sp>
        <p:nvSpPr>
          <p:cNvPr id="3" name="Content Placeholder 2">
            <a:extLst>
              <a:ext uri="{FF2B5EF4-FFF2-40B4-BE49-F238E27FC236}">
                <a16:creationId xmlns:a16="http://schemas.microsoft.com/office/drawing/2014/main" id="{4D974293-9F41-44D3-94CA-91F63B2E7B1F}"/>
              </a:ext>
            </a:extLst>
          </p:cNvPr>
          <p:cNvSpPr>
            <a:spLocks noGrp="1"/>
          </p:cNvSpPr>
          <p:nvPr>
            <p:ph idx="1"/>
          </p:nvPr>
        </p:nvSpPr>
        <p:spPr/>
        <p:txBody>
          <a:bodyPr/>
          <a:lstStyle/>
          <a:p>
            <a:r>
              <a:rPr lang="en-US" dirty="0"/>
              <a:t>Not by any crypto or hardware enforcement</a:t>
            </a:r>
          </a:p>
          <a:p>
            <a:pPr lvl="1"/>
            <a:r>
              <a:rPr lang="en-US" dirty="0"/>
              <a:t>There are no adversaries here … this is all within the DBMS</a:t>
            </a:r>
          </a:p>
          <a:p>
            <a:endParaRPr lang="en-US" dirty="0"/>
          </a:p>
          <a:p>
            <a:r>
              <a:rPr lang="en-US" dirty="0"/>
              <a:t>We lock by simple convention:</a:t>
            </a:r>
          </a:p>
          <a:p>
            <a:pPr lvl="1"/>
            <a:r>
              <a:rPr lang="en-US" dirty="0"/>
              <a:t>Within DBMS internals, we observe a lock </a:t>
            </a:r>
            <a:r>
              <a:rPr lang="en-US" i="1" dirty="0"/>
              <a:t>protocol</a:t>
            </a:r>
          </a:p>
          <a:p>
            <a:pPr lvl="1"/>
            <a:r>
              <a:rPr lang="en-US" dirty="0"/>
              <a:t>If your transaction </a:t>
            </a:r>
            <a:r>
              <a:rPr lang="en-US" i="1" dirty="0"/>
              <a:t>holds</a:t>
            </a:r>
            <a:r>
              <a:rPr lang="en-US" dirty="0"/>
              <a:t> a lock, and my transaction </a:t>
            </a:r>
            <a:r>
              <a:rPr lang="en-US" i="1" dirty="0"/>
              <a:t>requests</a:t>
            </a:r>
            <a:r>
              <a:rPr lang="en-US" dirty="0"/>
              <a:t> a conflicting lock, then I am queued up waiting for that lock.</a:t>
            </a:r>
          </a:p>
        </p:txBody>
      </p:sp>
      <p:pic>
        <p:nvPicPr>
          <p:cNvPr id="1026" name="Picture 2" descr="Image result for big lock">
            <a:extLst>
              <a:ext uri="{FF2B5EF4-FFF2-40B4-BE49-F238E27FC236}">
                <a16:creationId xmlns:a16="http://schemas.microsoft.com/office/drawing/2014/main" id="{8BDB5647-ED89-46D8-9F35-5941AE6E18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53334"/>
            <a:ext cx="1752600" cy="1765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587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Lock Management</a:t>
            </a:r>
            <a:endParaRPr lang="en-US" dirty="0"/>
          </a:p>
        </p:txBody>
      </p:sp>
      <p:sp>
        <p:nvSpPr>
          <p:cNvPr id="4" name="Content Placeholder 3">
            <a:extLst>
              <a:ext uri="{FF2B5EF4-FFF2-40B4-BE49-F238E27FC236}">
                <a16:creationId xmlns:a16="http://schemas.microsoft.com/office/drawing/2014/main" id="{516D871D-1D08-4241-83FA-6216975D0BE0}"/>
              </a:ext>
            </a:extLst>
          </p:cNvPr>
          <p:cNvSpPr>
            <a:spLocks noGrp="1"/>
          </p:cNvSpPr>
          <p:nvPr>
            <p:ph idx="1"/>
          </p:nvPr>
        </p:nvSpPr>
        <p:spPr/>
        <p:txBody>
          <a:bodyPr>
            <a:normAutofit/>
          </a:bodyPr>
          <a:lstStyle/>
          <a:p>
            <a:r>
              <a:rPr lang="en-US" sz="1800" dirty="0"/>
              <a:t>Lock and unlock requests handled by Lock Manager</a:t>
            </a:r>
          </a:p>
          <a:p>
            <a:pPr>
              <a:spcBef>
                <a:spcPts val="2000"/>
              </a:spcBef>
            </a:pPr>
            <a:r>
              <a:rPr lang="en-US" sz="1800" dirty="0"/>
              <a:t>LM maintains a </a:t>
            </a:r>
            <a:r>
              <a:rPr lang="en-US" sz="1800" dirty="0" err="1"/>
              <a:t>hashtable</a:t>
            </a:r>
            <a:r>
              <a:rPr lang="en-US" sz="1800" dirty="0"/>
              <a:t>, keyed on names of objects being locked.</a:t>
            </a:r>
          </a:p>
          <a:p>
            <a:pPr>
              <a:spcBef>
                <a:spcPts val="2000"/>
              </a:spcBef>
            </a:pPr>
            <a:r>
              <a:rPr lang="en-US" sz="1800" dirty="0"/>
              <a:t>LM keeps an entry for each currently held lock</a:t>
            </a:r>
          </a:p>
          <a:p>
            <a:r>
              <a:rPr lang="en-US" sz="1800" dirty="0"/>
              <a:t>Entry contains</a:t>
            </a:r>
          </a:p>
          <a:p>
            <a:pPr lvl="1"/>
            <a:r>
              <a:rPr lang="en-US" sz="1600" dirty="0"/>
              <a:t>Granted set: Set of </a:t>
            </a:r>
            <a:r>
              <a:rPr lang="en-US" sz="1600" dirty="0" err="1"/>
              <a:t>xacts</a:t>
            </a:r>
            <a:r>
              <a:rPr lang="en-US" sz="1600" dirty="0"/>
              <a:t> currently granted access to the lock</a:t>
            </a:r>
          </a:p>
          <a:p>
            <a:pPr lvl="1"/>
            <a:r>
              <a:rPr lang="en-US" sz="1600" dirty="0"/>
              <a:t>Lock mode: Type of lock held (shared or exclusive)</a:t>
            </a:r>
          </a:p>
          <a:p>
            <a:pPr lvl="1"/>
            <a:r>
              <a:rPr lang="en-US" sz="1600" dirty="0"/>
              <a:t>Wait Queue: Queue of lock requests</a:t>
            </a:r>
          </a:p>
          <a:p>
            <a:endParaRPr lang="en-US" dirty="0"/>
          </a:p>
        </p:txBody>
      </p:sp>
      <p:graphicFrame>
        <p:nvGraphicFramePr>
          <p:cNvPr id="2" name="Table 1" descr="State of the locks" title="Lock Management"/>
          <p:cNvGraphicFramePr>
            <a:graphicFrameLocks noGrp="1"/>
          </p:cNvGraphicFramePr>
          <p:nvPr>
            <p:extLst>
              <p:ext uri="{D42A27DB-BD31-4B8C-83A1-F6EECF244321}">
                <p14:modId xmlns:p14="http://schemas.microsoft.com/office/powerpoint/2010/main" val="680292166"/>
              </p:ext>
            </p:extLst>
          </p:nvPr>
        </p:nvGraphicFramePr>
        <p:xfrm>
          <a:off x="762000" y="4034552"/>
          <a:ext cx="4677937" cy="84582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dirty="0"/>
                        <a:t>Mode</a:t>
                      </a:r>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278130">
                <a:tc>
                  <a:txBody>
                    <a:bodyPr/>
                    <a:lstStyle/>
                    <a:p>
                      <a:pPr algn="r"/>
                      <a:r>
                        <a:rPr lang="en-US" sz="1400" dirty="0"/>
                        <a:t>A</a:t>
                      </a:r>
                    </a:p>
                  </a:txBody>
                  <a:tcPr marL="68580" marR="68580" marT="34290" marB="34290"/>
                </a:tc>
                <a:tc>
                  <a:txBody>
                    <a:bodyPr/>
                    <a:lstStyle/>
                    <a:p>
                      <a:pPr algn="ctr"/>
                      <a:r>
                        <a:rPr lang="en-US" sz="1200" dirty="0"/>
                        <a:t>{T1, T2}</a:t>
                      </a:r>
                    </a:p>
                  </a:txBody>
                  <a:tcPr marL="68580" marR="68580" marT="34290" marB="34290"/>
                </a:tc>
                <a:tc>
                  <a:txBody>
                    <a:bodyPr/>
                    <a:lstStyle/>
                    <a:p>
                      <a:pPr algn="ctr"/>
                      <a:r>
                        <a:rPr lang="en-US" sz="1200" dirty="0"/>
                        <a:t>S</a:t>
                      </a:r>
                    </a:p>
                  </a:txBody>
                  <a:tcPr marL="68580" marR="68580" marT="34290" marB="34290"/>
                </a:tc>
                <a:tc>
                  <a:txBody>
                    <a:bodyPr/>
                    <a:lstStyle/>
                    <a:p>
                      <a:pPr algn="ctr"/>
                      <a:r>
                        <a:rPr lang="en-US" sz="1200" dirty="0"/>
                        <a:t>T3(X) </a:t>
                      </a:r>
                      <a:r>
                        <a:rPr lang="en-US" sz="1200" dirty="0">
                          <a:sym typeface="Wingdings"/>
                        </a:rPr>
                        <a:t> T4(X) </a:t>
                      </a:r>
                      <a:endParaRPr lang="en-US" sz="1200" dirty="0"/>
                    </a:p>
                  </a:txBody>
                  <a:tcPr marL="68580" marR="68580" marT="34290" marB="34290"/>
                </a:tc>
                <a:extLst>
                  <a:ext uri="{0D108BD9-81ED-4DB2-BD59-A6C34878D82A}">
                    <a16:rowId xmlns:a16="http://schemas.microsoft.com/office/drawing/2014/main" val="10001"/>
                  </a:ext>
                </a:extLst>
              </a:tr>
              <a:tr h="278130">
                <a:tc>
                  <a:txBody>
                    <a:bodyPr/>
                    <a:lstStyle/>
                    <a:p>
                      <a:pPr algn="r"/>
                      <a:r>
                        <a:rPr lang="en-US" sz="1400" dirty="0"/>
                        <a:t>B</a:t>
                      </a:r>
                    </a:p>
                  </a:txBody>
                  <a:tcPr marL="68580" marR="68580" marT="34290" marB="34290"/>
                </a:tc>
                <a:tc>
                  <a:txBody>
                    <a:bodyPr/>
                    <a:lstStyle/>
                    <a:p>
                      <a:pPr algn="ctr"/>
                      <a:r>
                        <a:rPr lang="en-US" sz="1200" dirty="0"/>
                        <a:t>{T6}</a:t>
                      </a:r>
                    </a:p>
                  </a:txBody>
                  <a:tcPr marL="68580" marR="68580" marT="34290" marB="34290"/>
                </a:tc>
                <a:tc>
                  <a:txBody>
                    <a:bodyPr/>
                    <a:lstStyle/>
                    <a:p>
                      <a:pPr algn="ctr"/>
                      <a:r>
                        <a:rPr lang="en-US" sz="1200" dirty="0"/>
                        <a:t>X</a:t>
                      </a:r>
                    </a:p>
                  </a:txBody>
                  <a:tcPr marL="68580" marR="68580" marT="34290" marB="34290"/>
                </a:tc>
                <a:tc>
                  <a:txBody>
                    <a:bodyPr/>
                    <a:lstStyle/>
                    <a:p>
                      <a:pPr algn="ctr"/>
                      <a:r>
                        <a:rPr lang="en-US" sz="1200" dirty="0"/>
                        <a:t>T5(X) </a:t>
                      </a:r>
                      <a:r>
                        <a:rPr lang="en-US" sz="1200" dirty="0">
                          <a:sym typeface="Wingdings"/>
                        </a:rPr>
                        <a:t> T7(S)</a:t>
                      </a:r>
                      <a:endParaRPr lang="en-US" sz="1200" dirty="0"/>
                    </a:p>
                  </a:txBody>
                  <a:tcPr marL="68580" marR="68580" marT="34290" marB="3429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97813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Lock Management (continued)</a:t>
            </a:r>
            <a:endParaRPr lang="en-US" dirty="0"/>
          </a:p>
        </p:txBody>
      </p:sp>
      <p:sp>
        <p:nvSpPr>
          <p:cNvPr id="3" name="Content Placeholder 2">
            <a:extLst>
              <a:ext uri="{FF2B5EF4-FFF2-40B4-BE49-F238E27FC236}">
                <a16:creationId xmlns:a16="http://schemas.microsoft.com/office/drawing/2014/main" id="{54816A2D-2D3D-1B45-BD9F-00E739E8B6A5}"/>
              </a:ext>
            </a:extLst>
          </p:cNvPr>
          <p:cNvSpPr>
            <a:spLocks noGrp="1"/>
          </p:cNvSpPr>
          <p:nvPr>
            <p:ph idx="1"/>
          </p:nvPr>
        </p:nvSpPr>
        <p:spPr/>
        <p:txBody>
          <a:bodyPr/>
          <a:lstStyle/>
          <a:p>
            <a:r>
              <a:rPr lang="en-US" sz="1800" b="1" dirty="0">
                <a:ea typeface="Lucida Console" charset="0"/>
                <a:cs typeface="Lucida Console" charset="0"/>
              </a:rPr>
              <a:t>When lock request arrives:</a:t>
            </a:r>
          </a:p>
          <a:p>
            <a:pPr lvl="1"/>
            <a:r>
              <a:rPr lang="en-US" sz="1650" dirty="0">
                <a:ea typeface="Lucida Console" charset="0"/>
                <a:cs typeface="Lucida Console" charset="0"/>
              </a:rPr>
              <a:t>Does any </a:t>
            </a:r>
            <a:r>
              <a:rPr lang="en-US" sz="1650" dirty="0" err="1">
                <a:ea typeface="Lucida Console" charset="0"/>
                <a:cs typeface="Lucida Console" charset="0"/>
              </a:rPr>
              <a:t>xact</a:t>
            </a:r>
            <a:r>
              <a:rPr lang="en-US" sz="1650" dirty="0">
                <a:ea typeface="Lucida Console" charset="0"/>
                <a:cs typeface="Lucida Console" charset="0"/>
              </a:rPr>
              <a:t> in Granted Set or Wait Queue want a conflicting lock?</a:t>
            </a:r>
          </a:p>
          <a:p>
            <a:pPr lvl="2"/>
            <a:r>
              <a:rPr lang="en-US" sz="1500" dirty="0">
                <a:ea typeface="Lucida Console" charset="0"/>
                <a:cs typeface="Lucida Console" charset="0"/>
              </a:rPr>
              <a:t>If no, put the requester into “granted set” and let them proceed</a:t>
            </a:r>
          </a:p>
          <a:p>
            <a:pPr lvl="2"/>
            <a:r>
              <a:rPr lang="en-US" sz="1500" dirty="0">
                <a:ea typeface="Lucida Console" charset="0"/>
                <a:cs typeface="Lucida Console" charset="0"/>
              </a:rPr>
              <a:t>If yes, put requester into wait queue (typically FIFO)</a:t>
            </a:r>
            <a:endParaRPr lang="en-US" sz="1800" dirty="0">
              <a:ea typeface="Lucida Console" charset="0"/>
              <a:cs typeface="Lucida Console" charset="0"/>
            </a:endParaRPr>
          </a:p>
          <a:p>
            <a:pPr>
              <a:spcBef>
                <a:spcPts val="3000"/>
              </a:spcBef>
            </a:pPr>
            <a:r>
              <a:rPr lang="en-US" sz="1950" b="1" dirty="0">
                <a:ea typeface="Lucida Console" charset="0"/>
                <a:cs typeface="Lucida Console" charset="0"/>
              </a:rPr>
              <a:t>Lock upgrade:</a:t>
            </a:r>
          </a:p>
          <a:p>
            <a:pPr lvl="1"/>
            <a:r>
              <a:rPr lang="en-US" dirty="0">
                <a:ea typeface="Lucida Console" charset="0"/>
                <a:cs typeface="Lucida Console" charset="0"/>
              </a:rPr>
              <a:t>Xact with shared lock can request to upgrade to exclusive</a:t>
            </a:r>
          </a:p>
        </p:txBody>
      </p:sp>
      <p:graphicFrame>
        <p:nvGraphicFramePr>
          <p:cNvPr id="5" name="Table 4" descr="State of the locks" title="Lock management"/>
          <p:cNvGraphicFramePr>
            <a:graphicFrameLocks noGrp="1"/>
          </p:cNvGraphicFramePr>
          <p:nvPr>
            <p:extLst>
              <p:ext uri="{D42A27DB-BD31-4B8C-83A1-F6EECF244321}">
                <p14:modId xmlns:p14="http://schemas.microsoft.com/office/powerpoint/2010/main" val="457417583"/>
              </p:ext>
            </p:extLst>
          </p:nvPr>
        </p:nvGraphicFramePr>
        <p:xfrm>
          <a:off x="758952" y="4032504"/>
          <a:ext cx="4677937" cy="84582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a:t>Mode</a:t>
                      </a:r>
                      <a:endParaRPr lang="en-US" sz="1400" dirty="0"/>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278130">
                <a:tc>
                  <a:txBody>
                    <a:bodyPr/>
                    <a:lstStyle/>
                    <a:p>
                      <a:pPr algn="r"/>
                      <a:r>
                        <a:rPr lang="en-US" sz="1400" dirty="0"/>
                        <a:t>A</a:t>
                      </a:r>
                    </a:p>
                  </a:txBody>
                  <a:tcPr marL="68580" marR="68580" marT="34290" marB="34290"/>
                </a:tc>
                <a:tc>
                  <a:txBody>
                    <a:bodyPr/>
                    <a:lstStyle/>
                    <a:p>
                      <a:pPr algn="ctr"/>
                      <a:r>
                        <a:rPr lang="en-US" sz="1200" dirty="0"/>
                        <a:t>{T1, T2}</a:t>
                      </a:r>
                    </a:p>
                  </a:txBody>
                  <a:tcPr marL="68580" marR="68580" marT="34290" marB="34290"/>
                </a:tc>
                <a:tc>
                  <a:txBody>
                    <a:bodyPr/>
                    <a:lstStyle/>
                    <a:p>
                      <a:pPr algn="ctr"/>
                      <a:r>
                        <a:rPr lang="en-US" sz="1200" dirty="0"/>
                        <a:t>S</a:t>
                      </a:r>
                    </a:p>
                  </a:txBody>
                  <a:tcPr marL="68580" marR="68580" marT="34290" marB="34290"/>
                </a:tc>
                <a:tc>
                  <a:txBody>
                    <a:bodyPr/>
                    <a:lstStyle/>
                    <a:p>
                      <a:pPr algn="ctr"/>
                      <a:r>
                        <a:rPr lang="en-US" sz="1200" b="1" dirty="0">
                          <a:solidFill>
                            <a:srgbClr val="C00000"/>
                          </a:solidFill>
                        </a:rPr>
                        <a:t>T2(X) </a:t>
                      </a:r>
                      <a:r>
                        <a:rPr lang="en-US" sz="1200" b="1" dirty="0">
                          <a:solidFill>
                            <a:srgbClr val="C00000"/>
                          </a:solidFill>
                          <a:sym typeface="Wingdings"/>
                        </a:rPr>
                        <a:t> </a:t>
                      </a:r>
                      <a:r>
                        <a:rPr lang="en-US" sz="1200" dirty="0"/>
                        <a:t>T3(X) </a:t>
                      </a:r>
                      <a:r>
                        <a:rPr lang="en-US" sz="1200" dirty="0">
                          <a:sym typeface="Wingdings"/>
                        </a:rPr>
                        <a:t> T4(X) </a:t>
                      </a:r>
                      <a:endParaRPr lang="en-US" sz="1200" dirty="0"/>
                    </a:p>
                  </a:txBody>
                  <a:tcPr marL="68580" marR="68580" marT="34290" marB="34290"/>
                </a:tc>
                <a:extLst>
                  <a:ext uri="{0D108BD9-81ED-4DB2-BD59-A6C34878D82A}">
                    <a16:rowId xmlns:a16="http://schemas.microsoft.com/office/drawing/2014/main" val="10001"/>
                  </a:ext>
                </a:extLst>
              </a:tr>
              <a:tr h="278130">
                <a:tc>
                  <a:txBody>
                    <a:bodyPr/>
                    <a:lstStyle/>
                    <a:p>
                      <a:pPr algn="r"/>
                      <a:r>
                        <a:rPr lang="en-US" sz="1400" dirty="0"/>
                        <a:t>B</a:t>
                      </a:r>
                    </a:p>
                  </a:txBody>
                  <a:tcPr marL="68580" marR="68580" marT="34290" marB="34290"/>
                </a:tc>
                <a:tc>
                  <a:txBody>
                    <a:bodyPr/>
                    <a:lstStyle/>
                    <a:p>
                      <a:pPr algn="ctr"/>
                      <a:r>
                        <a:rPr lang="en-US" sz="1200" dirty="0"/>
                        <a:t>{T6}</a:t>
                      </a:r>
                    </a:p>
                  </a:txBody>
                  <a:tcPr marL="68580" marR="68580" marT="34290" marB="34290"/>
                </a:tc>
                <a:tc>
                  <a:txBody>
                    <a:bodyPr/>
                    <a:lstStyle/>
                    <a:p>
                      <a:pPr algn="ctr"/>
                      <a:r>
                        <a:rPr lang="en-US" sz="1200" dirty="0"/>
                        <a:t>X</a:t>
                      </a:r>
                    </a:p>
                  </a:txBody>
                  <a:tcPr marL="68580" marR="68580" marT="34290" marB="34290"/>
                </a:tc>
                <a:tc>
                  <a:txBody>
                    <a:bodyPr/>
                    <a:lstStyle/>
                    <a:p>
                      <a:pPr algn="ctr"/>
                      <a:r>
                        <a:rPr lang="en-US" sz="1200" dirty="0"/>
                        <a:t>T5(X) </a:t>
                      </a:r>
                      <a:r>
                        <a:rPr lang="en-US" sz="1200" dirty="0">
                          <a:sym typeface="Wingdings"/>
                        </a:rPr>
                        <a:t> T7(S)</a:t>
                      </a:r>
                      <a:endParaRPr lang="en-US" sz="1200" dirty="0"/>
                    </a:p>
                  </a:txBody>
                  <a:tcPr marL="68580" marR="68580" marT="34290" marB="3429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6006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Example</a:t>
            </a:r>
          </a:p>
        </p:txBody>
      </p:sp>
      <p:graphicFrame>
        <p:nvGraphicFramePr>
          <p:cNvPr id="11" name="Group 61" descr="schedule of locks" title="Schedule"/>
          <p:cNvGraphicFramePr>
            <a:graphicFrameLocks/>
          </p:cNvGraphicFramePr>
          <p:nvPr>
            <p:extLst>
              <p:ext uri="{D42A27DB-BD31-4B8C-83A1-F6EECF244321}">
                <p14:modId xmlns:p14="http://schemas.microsoft.com/office/powerpoint/2010/main" val="1588447600"/>
              </p:ext>
            </p:extLst>
          </p:nvPr>
        </p:nvGraphicFramePr>
        <p:xfrm>
          <a:off x="457200" y="988075"/>
          <a:ext cx="5829300" cy="4118372"/>
        </p:xfrm>
        <a:graphic>
          <a:graphicData uri="http://schemas.openxmlformats.org/drawingml/2006/table">
            <a:tbl>
              <a:tblPr firstRow="1"/>
              <a:tblGrid>
                <a:gridCol w="2914650">
                  <a:extLst>
                    <a:ext uri="{9D8B030D-6E8A-4147-A177-3AD203B41FA5}">
                      <a16:colId xmlns:a16="http://schemas.microsoft.com/office/drawing/2014/main" val="20000"/>
                    </a:ext>
                  </a:extLst>
                </a:gridCol>
                <a:gridCol w="2914650">
                  <a:extLst>
                    <a:ext uri="{9D8B030D-6E8A-4147-A177-3AD203B41FA5}">
                      <a16:colId xmlns:a16="http://schemas.microsoft.com/office/drawing/2014/main" val="20001"/>
                    </a:ext>
                  </a:extLst>
                </a:gridCol>
              </a:tblGrid>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dirty="0" err="1">
                          <a:ln>
                            <a:noFill/>
                          </a:ln>
                          <a:solidFill>
                            <a:srgbClr val="FF0000"/>
                          </a:solidFill>
                          <a:effectLst/>
                          <a:latin typeface="Tahoma" charset="0"/>
                          <a:ea typeface="ＭＳ Ｐゴシック" charset="0"/>
                          <a:cs typeface="ＭＳ Ｐゴシック" charset="0"/>
                        </a:rPr>
                        <a:t>Lock_X</a:t>
                      </a:r>
                      <a:r>
                        <a:rPr kumimoji="0" lang="en-US" sz="1200" b="1" i="0" u="none" strike="noStrike" cap="none" normalizeH="0" baseline="0" dirty="0">
                          <a:ln>
                            <a:noFill/>
                          </a:ln>
                          <a:solidFill>
                            <a:srgbClr val="FF0000"/>
                          </a:solidFill>
                          <a:effectLst/>
                          <a:latin typeface="Tahoma" charset="0"/>
                          <a:ea typeface="ＭＳ Ｐゴシック" charset="0"/>
                          <a:cs typeface="ＭＳ Ｐゴシック" charset="0"/>
                        </a:rPr>
                        <a:t>(A)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a:ln>
                            <a:noFill/>
                          </a:ln>
                          <a:solidFill>
                            <a:srgbClr val="FF0000"/>
                          </a:solidFill>
                          <a:effectLst/>
                          <a:latin typeface="Tahoma" charset="0"/>
                          <a:ea typeface="ＭＳ Ｐゴシック" charset="0"/>
                          <a:cs typeface="ＭＳ Ｐゴシック" charset="0"/>
                        </a:rPr>
                        <a:t>Lock_S(B)</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2"/>
                          </a:solidFill>
                          <a:effectLst/>
                          <a:latin typeface="Tahoma" charset="0"/>
                          <a:ea typeface="ＭＳ Ｐゴシック" charset="0"/>
                          <a:cs typeface="ＭＳ Ｐゴシック" charset="0"/>
                        </a:rPr>
                        <a:t>Read(B</a:t>
                      </a:r>
                      <a:r>
                        <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rPr>
                        <a:t>)</a:t>
                      </a: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46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a:ln>
                            <a:noFill/>
                          </a:ln>
                          <a:solidFill>
                            <a:srgbClr val="FF0000"/>
                          </a:solidFill>
                          <a:effectLst/>
                          <a:latin typeface="Tahoma" charset="0"/>
                          <a:ea typeface="ＭＳ Ｐゴシック" charset="0"/>
                          <a:cs typeface="ＭＳ Ｐゴシック" charset="0"/>
                        </a:rPr>
                        <a:t>Lock_S(A)</a:t>
                      </a:r>
                      <a:endParaRPr kumimoji="0" lang="en-US" sz="12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2"/>
                          </a:solidFill>
                          <a:effectLst/>
                          <a:latin typeface="Tahoma" charset="0"/>
                          <a:ea typeface="ＭＳ Ｐゴシック" charset="0"/>
                          <a:cs typeface="ＭＳ Ｐゴシック" charset="0"/>
                        </a:rPr>
                        <a:t>Read(A)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2"/>
                          </a:solidFill>
                          <a:effectLst/>
                          <a:latin typeface="Tahoma" charset="0"/>
                          <a:ea typeface="ＭＳ Ｐゴシック" charset="0"/>
                          <a:cs typeface="ＭＳ Ｐゴシック" charset="0"/>
                        </a:rPr>
                        <a:t>A: = A-50</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dirty="0">
                          <a:ln>
                            <a:noFill/>
                          </a:ln>
                          <a:solidFill>
                            <a:schemeClr val="tx2"/>
                          </a:solidFill>
                          <a:effectLst/>
                          <a:latin typeface="Tahoma" charset="0"/>
                          <a:ea typeface="ＭＳ Ｐゴシック" charset="0"/>
                          <a:cs typeface="ＭＳ Ｐゴシック" charset="0"/>
                        </a:rPr>
                        <a:t>Write(A)</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200" b="1" i="0" u="none" strike="noStrike" cap="none" normalizeH="0" baseline="0" dirty="0" err="1">
                          <a:ln>
                            <a:noFill/>
                          </a:ln>
                          <a:solidFill>
                            <a:srgbClr val="FF0000"/>
                          </a:solidFill>
                          <a:effectLst/>
                          <a:latin typeface="Tahoma" charset="0"/>
                          <a:ea typeface="ＭＳ Ｐゴシック" charset="0"/>
                          <a:cs typeface="ＭＳ Ｐゴシック" charset="0"/>
                        </a:rPr>
                        <a:t>Lock_X</a:t>
                      </a:r>
                      <a:r>
                        <a:rPr kumimoji="0" lang="en-US" sz="1200" b="1" i="0" u="none" strike="noStrike" cap="none" normalizeH="0" baseline="0" dirty="0">
                          <a:ln>
                            <a:noFill/>
                          </a:ln>
                          <a:solidFill>
                            <a:srgbClr val="FF0000"/>
                          </a:solidFill>
                          <a:effectLst/>
                          <a:latin typeface="Tahoma" charset="0"/>
                          <a:ea typeface="ＭＳ Ｐゴシック" charset="0"/>
                          <a:cs typeface="ＭＳ Ｐゴシック" charset="0"/>
                        </a:rPr>
                        <a:t>(B)</a:t>
                      </a: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2"/>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3"/>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4"/>
                  </a:ext>
                </a:extLst>
              </a:tr>
              <a:tr h="25146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rgbClr val="FF0000"/>
                        </a:solidFill>
                        <a:effectLst/>
                        <a:latin typeface="Tahoma" charset="0"/>
                        <a:ea typeface="ＭＳ Ｐゴシック" charset="0"/>
                        <a:cs typeface="ＭＳ Ｐゴシック" charset="0"/>
                      </a:endParaRPr>
                    </a:p>
                  </a:txBody>
                  <a:tcPr marL="68580" marR="68580"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1" i="0" u="none" strike="noStrike" cap="none" normalizeH="0" baseline="0" dirty="0">
                        <a:ln>
                          <a:noFill/>
                        </a:ln>
                        <a:solidFill>
                          <a:schemeClr val="tx1"/>
                        </a:solidFill>
                        <a:effectLst/>
                        <a:latin typeface="Tahoma" charset="0"/>
                        <a:ea typeface="ＭＳ Ｐゴシック" charset="0"/>
                        <a:cs typeface="ＭＳ Ｐゴシック" charset="0"/>
                      </a:endParaRPr>
                    </a:p>
                  </a:txBody>
                  <a:tcPr marL="68580" marR="68580"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2" name="TextBox 11" descr="A:&#10; X lock held by T1&#10; wait queue = [ T2 wants S ]&#10;B:&#10; S lock held by T2&#10; wait queue = [ T1 wants X ]&#10;&#10;Uh-oh, T1 and T2 are waiting for each other!&#10;" title="Final Lock table state:"/>
          <p:cNvSpPr txBox="1"/>
          <p:nvPr/>
        </p:nvSpPr>
        <p:spPr>
          <a:xfrm>
            <a:off x="2371725" y="2645424"/>
            <a:ext cx="3571875" cy="2169825"/>
          </a:xfrm>
          <a:prstGeom prst="rect">
            <a:avLst/>
          </a:prstGeom>
          <a:solidFill>
            <a:schemeClr val="accent6"/>
          </a:solidFill>
          <a:ln>
            <a:solidFill>
              <a:schemeClr val="tx2"/>
            </a:solidFill>
          </a:ln>
          <a:effectLst>
            <a:outerShdw blurRad="50800" dist="76200" dir="2700000" algn="tl" rotWithShape="0">
              <a:prstClr val="black">
                <a:alpha val="40000"/>
              </a:prstClr>
            </a:outerShdw>
          </a:effectLst>
        </p:spPr>
        <p:txBody>
          <a:bodyPr wrap="square" rtlCol="0">
            <a:spAutoFit/>
          </a:bodyPr>
          <a:lstStyle/>
          <a:p>
            <a:r>
              <a:rPr lang="en-US" sz="1350" dirty="0">
                <a:solidFill>
                  <a:srgbClr val="002060"/>
                </a:solidFill>
              </a:rPr>
              <a:t>Final lock table state:</a:t>
            </a:r>
          </a:p>
          <a:p>
            <a:endParaRPr lang="en-US" sz="1350" dirty="0">
              <a:solidFill>
                <a:srgbClr val="002060"/>
              </a:solidFill>
            </a:endParaRPr>
          </a:p>
          <a:p>
            <a:r>
              <a:rPr lang="en-US" sz="1350" dirty="0">
                <a:solidFill>
                  <a:srgbClr val="002060"/>
                </a:solidFill>
              </a:rPr>
              <a:t>A:</a:t>
            </a:r>
          </a:p>
          <a:p>
            <a:r>
              <a:rPr lang="en-US" sz="1350" dirty="0">
                <a:solidFill>
                  <a:srgbClr val="002060"/>
                </a:solidFill>
              </a:rPr>
              <a:t>	X lock held by T1</a:t>
            </a:r>
          </a:p>
          <a:p>
            <a:r>
              <a:rPr lang="en-US" sz="1350" dirty="0">
                <a:solidFill>
                  <a:srgbClr val="002060"/>
                </a:solidFill>
              </a:rPr>
              <a:t>	wait queue = [ T2 wants S ]</a:t>
            </a:r>
          </a:p>
          <a:p>
            <a:r>
              <a:rPr lang="en-US" sz="1350" dirty="0">
                <a:solidFill>
                  <a:srgbClr val="002060"/>
                </a:solidFill>
              </a:rPr>
              <a:t>B:</a:t>
            </a:r>
          </a:p>
          <a:p>
            <a:r>
              <a:rPr lang="en-US" sz="1350" dirty="0">
                <a:solidFill>
                  <a:srgbClr val="002060"/>
                </a:solidFill>
              </a:rPr>
              <a:t>	S lock held by T2</a:t>
            </a:r>
          </a:p>
          <a:p>
            <a:r>
              <a:rPr lang="en-US" sz="1350" dirty="0">
                <a:solidFill>
                  <a:srgbClr val="002060"/>
                </a:solidFill>
              </a:rPr>
              <a:t>	wait queue = [ T1 wants X ]</a:t>
            </a:r>
          </a:p>
          <a:p>
            <a:endParaRPr lang="en-US" sz="1350" dirty="0">
              <a:solidFill>
                <a:srgbClr val="002060"/>
              </a:solidFill>
            </a:endParaRPr>
          </a:p>
          <a:p>
            <a:r>
              <a:rPr lang="en-US" sz="1350" dirty="0">
                <a:solidFill>
                  <a:srgbClr val="002060"/>
                </a:solidFill>
              </a:rPr>
              <a:t>Uh-oh, T1 and T2 are waiting for each other!</a:t>
            </a:r>
          </a:p>
        </p:txBody>
      </p:sp>
    </p:spTree>
    <p:extLst>
      <p:ext uri="{BB962C8B-B14F-4D97-AF65-F5344CB8AC3E}">
        <p14:creationId xmlns:p14="http://schemas.microsoft.com/office/powerpoint/2010/main" val="36556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a:t>
            </a:r>
          </a:p>
        </p:txBody>
      </p:sp>
      <p:sp>
        <p:nvSpPr>
          <p:cNvPr id="5" name="Text Placeholder 4">
            <a:extLst>
              <a:ext uri="{FF2B5EF4-FFF2-40B4-BE49-F238E27FC236}">
                <a16:creationId xmlns:a16="http://schemas.microsoft.com/office/drawing/2014/main" id="{1620762F-6A46-5E4D-BA89-F3F7F2AE63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84845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Deadlocks, </a:t>
            </a:r>
            <a:r>
              <a:rPr lang="en-US" dirty="0" err="1"/>
              <a:t>cont</a:t>
            </a:r>
            <a:endParaRPr lang="en-US" dirty="0"/>
          </a:p>
        </p:txBody>
      </p:sp>
      <p:sp>
        <p:nvSpPr>
          <p:cNvPr id="3" name="Content Placeholder 2">
            <a:extLst>
              <a:ext uri="{FF2B5EF4-FFF2-40B4-BE49-F238E27FC236}">
                <a16:creationId xmlns:a16="http://schemas.microsoft.com/office/drawing/2014/main" id="{85991B01-6F5A-4D4C-9FFF-611EA3285CD5}"/>
              </a:ext>
            </a:extLst>
          </p:cNvPr>
          <p:cNvSpPr>
            <a:spLocks noGrp="1"/>
          </p:cNvSpPr>
          <p:nvPr>
            <p:ph idx="1"/>
          </p:nvPr>
        </p:nvSpPr>
        <p:spPr>
          <a:xfrm>
            <a:off x="457200" y="1200151"/>
            <a:ext cx="8534400" cy="3394472"/>
          </a:xfrm>
        </p:spPr>
        <p:txBody>
          <a:bodyPr/>
          <a:lstStyle/>
          <a:p>
            <a:r>
              <a:rPr lang="en-US" sz="1800" b="1" dirty="0">
                <a:ea typeface="Lucida Console" charset="0"/>
                <a:cs typeface="Lucida Console" charset="0"/>
              </a:rPr>
              <a:t>Deadlock: Cycle of </a:t>
            </a:r>
            <a:r>
              <a:rPr lang="en-US" sz="1800" b="1" dirty="0" err="1">
                <a:ea typeface="Lucida Console" charset="0"/>
                <a:cs typeface="Lucida Console" charset="0"/>
              </a:rPr>
              <a:t>Xacts</a:t>
            </a:r>
            <a:r>
              <a:rPr lang="en-US" sz="1800" b="1" dirty="0">
                <a:ea typeface="Lucida Console" charset="0"/>
                <a:cs typeface="Lucida Console" charset="0"/>
              </a:rPr>
              <a:t> waiting for locks to be released by each other.</a:t>
            </a:r>
          </a:p>
          <a:p>
            <a:pPr>
              <a:spcBef>
                <a:spcPts val="2000"/>
              </a:spcBef>
            </a:pPr>
            <a:r>
              <a:rPr lang="en-US" sz="1800" b="1" dirty="0">
                <a:ea typeface="Lucida Console" charset="0"/>
                <a:cs typeface="Lucida Console" charset="0"/>
              </a:rPr>
              <a:t>Three ways of dealing with deadlocks:</a:t>
            </a:r>
          </a:p>
          <a:p>
            <a:pPr lvl="1"/>
            <a:r>
              <a:rPr lang="en-US" sz="1650" dirty="0">
                <a:ea typeface="Lucida Console" charset="0"/>
                <a:cs typeface="Lucida Console" charset="0"/>
              </a:rPr>
              <a:t>Prevention</a:t>
            </a:r>
          </a:p>
          <a:p>
            <a:pPr lvl="1"/>
            <a:r>
              <a:rPr lang="en-US" sz="1650" dirty="0">
                <a:ea typeface="Lucida Console" charset="0"/>
                <a:cs typeface="Lucida Console" charset="0"/>
              </a:rPr>
              <a:t>Avoidance</a:t>
            </a:r>
          </a:p>
          <a:p>
            <a:pPr lvl="1"/>
            <a:r>
              <a:rPr lang="en-US" sz="1650" dirty="0">
                <a:ea typeface="Lucida Console" charset="0"/>
                <a:cs typeface="Lucida Console" charset="0"/>
              </a:rPr>
              <a:t>Detection and Resolution</a:t>
            </a:r>
            <a:endParaRPr lang="en-US" sz="1650" b="1" dirty="0">
              <a:ea typeface="Lucida Console" charset="0"/>
              <a:cs typeface="Lucida Console" charset="0"/>
            </a:endParaRPr>
          </a:p>
          <a:p>
            <a:pPr>
              <a:spcBef>
                <a:spcPts val="2000"/>
              </a:spcBef>
            </a:pPr>
            <a:r>
              <a:rPr lang="en-US" sz="1800" b="1" dirty="0">
                <a:ea typeface="Lucida Console" charset="0"/>
                <a:cs typeface="Lucida Console" charset="0"/>
              </a:rPr>
              <a:t>Many systems just punt and use timeouts</a:t>
            </a:r>
          </a:p>
          <a:p>
            <a:pPr lvl="1"/>
            <a:r>
              <a:rPr lang="en-US" sz="1650" dirty="0">
                <a:ea typeface="Lucida Console" charset="0"/>
                <a:cs typeface="Lucida Console" charset="0"/>
              </a:rPr>
              <a:t>What are the dangers with this approach?</a:t>
            </a:r>
          </a:p>
        </p:txBody>
      </p:sp>
    </p:spTree>
    <p:extLst>
      <p:ext uri="{BB962C8B-B14F-4D97-AF65-F5344CB8AC3E}">
        <p14:creationId xmlns:p14="http://schemas.microsoft.com/office/powerpoint/2010/main" val="164945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Deadlock Scenarios</a:t>
            </a:r>
            <a:endParaRPr lang="en-US" dirty="0"/>
          </a:p>
        </p:txBody>
      </p:sp>
      <p:sp>
        <p:nvSpPr>
          <p:cNvPr id="3" name="Content Placeholder 2"/>
          <p:cNvSpPr>
            <a:spLocks noGrp="1"/>
          </p:cNvSpPr>
          <p:nvPr>
            <p:ph idx="1"/>
          </p:nvPr>
        </p:nvSpPr>
        <p:spPr>
          <a:xfrm>
            <a:off x="457200" y="1200151"/>
            <a:ext cx="8458200" cy="3394472"/>
          </a:xfrm>
        </p:spPr>
        <p:txBody>
          <a:bodyPr/>
          <a:lstStyle/>
          <a:p>
            <a:r>
              <a:rPr lang="en-US" dirty="0"/>
              <a:t>They can just happen (unavoidable)</a:t>
            </a:r>
          </a:p>
          <a:p>
            <a:pPr>
              <a:spcBef>
                <a:spcPts val="8000"/>
              </a:spcBef>
              <a:spcAft>
                <a:spcPts val="7000"/>
              </a:spcAft>
            </a:pPr>
            <a:r>
              <a:rPr lang="en-US" dirty="0"/>
              <a:t>Bad implementation of Lock Upgrade (avoidable! prioritize upgrades)</a:t>
            </a:r>
          </a:p>
          <a:p>
            <a:r>
              <a:rPr lang="en-US" dirty="0"/>
              <a:t>Multiple Lock Upgrades (unavoidable)</a:t>
            </a:r>
          </a:p>
        </p:txBody>
      </p:sp>
      <p:graphicFrame>
        <p:nvGraphicFramePr>
          <p:cNvPr id="4" name="Table 3" descr="Simultaneous lock upgrades" title="Avoidable deadlocks 2"/>
          <p:cNvGraphicFramePr>
            <a:graphicFrameLocks noGrp="1"/>
          </p:cNvGraphicFramePr>
          <p:nvPr>
            <p:extLst>
              <p:ext uri="{D42A27DB-BD31-4B8C-83A1-F6EECF244321}">
                <p14:modId xmlns:p14="http://schemas.microsoft.com/office/powerpoint/2010/main" val="3770867366"/>
              </p:ext>
            </p:extLst>
          </p:nvPr>
        </p:nvGraphicFramePr>
        <p:xfrm>
          <a:off x="1066799" y="4282409"/>
          <a:ext cx="4677937" cy="71628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a:t>Mode</a:t>
                      </a:r>
                      <a:endParaRPr lang="en-US" sz="1400" dirty="0"/>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434340">
                <a:tc>
                  <a:txBody>
                    <a:bodyPr/>
                    <a:lstStyle/>
                    <a:p>
                      <a:pPr algn="r"/>
                      <a:r>
                        <a:rPr lang="en-US" sz="1400" dirty="0"/>
                        <a:t>A</a:t>
                      </a:r>
                    </a:p>
                  </a:txBody>
                  <a:tcPr marL="68580" marR="68580" marT="34290" marB="34290"/>
                </a:tc>
                <a:tc>
                  <a:txBody>
                    <a:bodyPr/>
                    <a:lstStyle/>
                    <a:p>
                      <a:pPr algn="ctr"/>
                      <a:r>
                        <a:rPr lang="en-US" sz="1200" dirty="0"/>
                        <a:t>{T1, T2}</a:t>
                      </a:r>
                    </a:p>
                  </a:txBody>
                  <a:tcPr marL="68580" marR="68580" marT="34290" marB="34290"/>
                </a:tc>
                <a:tc>
                  <a:txBody>
                    <a:bodyPr/>
                    <a:lstStyle/>
                    <a:p>
                      <a:pPr algn="ctr"/>
                      <a:r>
                        <a:rPr lang="en-US" sz="1200" dirty="0"/>
                        <a:t>S</a:t>
                      </a:r>
                    </a:p>
                  </a:txBody>
                  <a:tcPr marL="68580" marR="68580" marT="34290" marB="34290"/>
                </a:tc>
                <a:tc>
                  <a:txBody>
                    <a:bodyPr/>
                    <a:lstStyle/>
                    <a:p>
                      <a:pPr algn="ctr"/>
                      <a:r>
                        <a:rPr lang="en-US" sz="1200" b="1" dirty="0">
                          <a:solidFill>
                            <a:srgbClr val="C00000"/>
                          </a:solidFill>
                        </a:rPr>
                        <a:t>T2(X) </a:t>
                      </a:r>
                      <a:r>
                        <a:rPr lang="en-US" sz="1200" b="1" dirty="0">
                          <a:solidFill>
                            <a:srgbClr val="C00000"/>
                          </a:solidFill>
                          <a:sym typeface="Wingdings"/>
                        </a:rPr>
                        <a:t> T1(X)  </a:t>
                      </a:r>
                      <a:r>
                        <a:rPr lang="en-US" sz="1200" dirty="0"/>
                        <a:t>T3(X) </a:t>
                      </a:r>
                      <a:r>
                        <a:rPr lang="en-US" sz="1200" dirty="0">
                          <a:sym typeface="Wingdings"/>
                        </a:rPr>
                        <a:t> T4(X) </a:t>
                      </a:r>
                      <a:endParaRPr lang="en-US" sz="1200" dirty="0"/>
                    </a:p>
                  </a:txBody>
                  <a:tcPr marL="68580" marR="68580" marT="34290" marB="34290"/>
                </a:tc>
                <a:extLst>
                  <a:ext uri="{0D108BD9-81ED-4DB2-BD59-A6C34878D82A}">
                    <a16:rowId xmlns:a16="http://schemas.microsoft.com/office/drawing/2014/main" val="10001"/>
                  </a:ext>
                </a:extLst>
              </a:tr>
            </a:tbl>
          </a:graphicData>
        </a:graphic>
      </p:graphicFrame>
      <p:graphicFrame>
        <p:nvGraphicFramePr>
          <p:cNvPr id="5" name="Table 4" descr="Both locks are waiting for eachother" title="Unavoidable deadlock"/>
          <p:cNvGraphicFramePr>
            <a:graphicFrameLocks noGrp="1"/>
          </p:cNvGraphicFramePr>
          <p:nvPr>
            <p:extLst>
              <p:ext uri="{D42A27DB-BD31-4B8C-83A1-F6EECF244321}">
                <p14:modId xmlns:p14="http://schemas.microsoft.com/office/powerpoint/2010/main" val="3567303282"/>
              </p:ext>
            </p:extLst>
          </p:nvPr>
        </p:nvGraphicFramePr>
        <p:xfrm>
          <a:off x="1066800" y="1612024"/>
          <a:ext cx="4677937" cy="84582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a:t>Mode</a:t>
                      </a:r>
                      <a:endParaRPr lang="en-US" sz="1400" dirty="0"/>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278130">
                <a:tc>
                  <a:txBody>
                    <a:bodyPr/>
                    <a:lstStyle/>
                    <a:p>
                      <a:pPr algn="r"/>
                      <a:r>
                        <a:rPr lang="en-US" sz="1400" dirty="0"/>
                        <a:t>A</a:t>
                      </a:r>
                    </a:p>
                  </a:txBody>
                  <a:tcPr marL="68580" marR="68580" marT="34290" marB="34290"/>
                </a:tc>
                <a:tc>
                  <a:txBody>
                    <a:bodyPr/>
                    <a:lstStyle/>
                    <a:p>
                      <a:pPr algn="ctr"/>
                      <a:r>
                        <a:rPr lang="en-US" sz="1200" dirty="0"/>
                        <a:t>{T1}</a:t>
                      </a:r>
                    </a:p>
                  </a:txBody>
                  <a:tcPr marL="68580" marR="68580" marT="34290" marB="34290"/>
                </a:tc>
                <a:tc>
                  <a:txBody>
                    <a:bodyPr/>
                    <a:lstStyle/>
                    <a:p>
                      <a:pPr algn="ctr"/>
                      <a:r>
                        <a:rPr lang="en-US" sz="1200" dirty="0"/>
                        <a:t>S</a:t>
                      </a:r>
                    </a:p>
                  </a:txBody>
                  <a:tcPr marL="68580" marR="68580" marT="34290" marB="34290"/>
                </a:tc>
                <a:tc>
                  <a:txBody>
                    <a:bodyPr/>
                    <a:lstStyle/>
                    <a:p>
                      <a:pPr algn="ctr"/>
                      <a:r>
                        <a:rPr lang="en-US" sz="1200" dirty="0">
                          <a:solidFill>
                            <a:schemeClr val="accent2"/>
                          </a:solidFill>
                        </a:rPr>
                        <a:t>T2(X)</a:t>
                      </a:r>
                    </a:p>
                  </a:txBody>
                  <a:tcPr marL="68580" marR="68580" marT="34290" marB="34290"/>
                </a:tc>
                <a:extLst>
                  <a:ext uri="{0D108BD9-81ED-4DB2-BD59-A6C34878D82A}">
                    <a16:rowId xmlns:a16="http://schemas.microsoft.com/office/drawing/2014/main" val="10001"/>
                  </a:ext>
                </a:extLst>
              </a:tr>
              <a:tr h="278130">
                <a:tc>
                  <a:txBody>
                    <a:bodyPr/>
                    <a:lstStyle/>
                    <a:p>
                      <a:pPr algn="r"/>
                      <a:r>
                        <a:rPr lang="en-US" sz="1400" dirty="0"/>
                        <a:t>B</a:t>
                      </a:r>
                    </a:p>
                  </a:txBody>
                  <a:tcPr marL="68580" marR="68580" marT="34290" marB="34290"/>
                </a:tc>
                <a:tc>
                  <a:txBody>
                    <a:bodyPr/>
                    <a:lstStyle/>
                    <a:p>
                      <a:pPr algn="ctr"/>
                      <a:r>
                        <a:rPr lang="en-US" sz="1200" dirty="0"/>
                        <a:t>{T2}</a:t>
                      </a:r>
                    </a:p>
                  </a:txBody>
                  <a:tcPr marL="68580" marR="68580" marT="34290" marB="34290"/>
                </a:tc>
                <a:tc>
                  <a:txBody>
                    <a:bodyPr/>
                    <a:lstStyle/>
                    <a:p>
                      <a:pPr algn="ctr"/>
                      <a:r>
                        <a:rPr lang="en-US" sz="1200" dirty="0"/>
                        <a:t>X</a:t>
                      </a:r>
                    </a:p>
                  </a:txBody>
                  <a:tcPr marL="68580" marR="68580" marT="34290" marB="34290"/>
                </a:tc>
                <a:tc>
                  <a:txBody>
                    <a:bodyPr/>
                    <a:lstStyle/>
                    <a:p>
                      <a:pPr algn="ctr"/>
                      <a:r>
                        <a:rPr lang="en-US" sz="1200" dirty="0"/>
                        <a:t>T1(S)</a:t>
                      </a:r>
                    </a:p>
                  </a:txBody>
                  <a:tcPr marL="68580" marR="68580" marT="34290" marB="34290"/>
                </a:tc>
                <a:extLst>
                  <a:ext uri="{0D108BD9-81ED-4DB2-BD59-A6C34878D82A}">
                    <a16:rowId xmlns:a16="http://schemas.microsoft.com/office/drawing/2014/main" val="10002"/>
                  </a:ext>
                </a:extLst>
              </a:tr>
            </a:tbl>
          </a:graphicData>
        </a:graphic>
      </p:graphicFrame>
      <p:graphicFrame>
        <p:nvGraphicFramePr>
          <p:cNvPr id="6" name="Table 5" descr="poorly implemented lock schedule" title="Avoidable deadlocks"/>
          <p:cNvGraphicFramePr>
            <a:graphicFrameLocks noGrp="1"/>
          </p:cNvGraphicFramePr>
          <p:nvPr>
            <p:extLst>
              <p:ext uri="{D42A27DB-BD31-4B8C-83A1-F6EECF244321}">
                <p14:modId xmlns:p14="http://schemas.microsoft.com/office/powerpoint/2010/main" val="91861203"/>
              </p:ext>
            </p:extLst>
          </p:nvPr>
        </p:nvGraphicFramePr>
        <p:xfrm>
          <a:off x="1066798" y="3088186"/>
          <a:ext cx="4677937" cy="56388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a:t>Mode</a:t>
                      </a:r>
                      <a:endParaRPr lang="en-US" sz="1400" dirty="0"/>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278130">
                <a:tc>
                  <a:txBody>
                    <a:bodyPr/>
                    <a:lstStyle/>
                    <a:p>
                      <a:pPr algn="r"/>
                      <a:r>
                        <a:rPr lang="en-US" sz="1400" dirty="0"/>
                        <a:t>A</a:t>
                      </a:r>
                    </a:p>
                  </a:txBody>
                  <a:tcPr marL="68580" marR="68580" marT="34290" marB="34290"/>
                </a:tc>
                <a:tc>
                  <a:txBody>
                    <a:bodyPr/>
                    <a:lstStyle/>
                    <a:p>
                      <a:pPr algn="ctr"/>
                      <a:r>
                        <a:rPr lang="en-US" sz="1200" dirty="0"/>
                        <a:t>{T1, T2}</a:t>
                      </a:r>
                    </a:p>
                  </a:txBody>
                  <a:tcPr marL="68580" marR="68580" marT="34290" marB="34290"/>
                </a:tc>
                <a:tc>
                  <a:txBody>
                    <a:bodyPr/>
                    <a:lstStyle/>
                    <a:p>
                      <a:pPr algn="ctr"/>
                      <a:r>
                        <a:rPr lang="en-US" sz="1200" dirty="0"/>
                        <a:t>S</a:t>
                      </a:r>
                    </a:p>
                  </a:txBody>
                  <a:tcPr marL="68580" marR="68580" marT="34290" marB="34290"/>
                </a:tc>
                <a:tc>
                  <a:txBody>
                    <a:bodyPr/>
                    <a:lstStyle/>
                    <a:p>
                      <a:pPr algn="l"/>
                      <a:endParaRPr lang="en-US" sz="1200" b="1" dirty="0">
                        <a:solidFill>
                          <a:srgbClr val="C00000"/>
                        </a:solidFill>
                      </a:endParaRPr>
                    </a:p>
                  </a:txBody>
                  <a:tcPr marL="68580" marR="68580" marT="34290" marB="34290"/>
                </a:tc>
                <a:extLst>
                  <a:ext uri="{0D108BD9-81ED-4DB2-BD59-A6C34878D82A}">
                    <a16:rowId xmlns:a16="http://schemas.microsoft.com/office/drawing/2014/main" val="10001"/>
                  </a:ext>
                </a:extLst>
              </a:tr>
            </a:tbl>
          </a:graphicData>
        </a:graphic>
      </p:graphicFrame>
      <p:sp>
        <p:nvSpPr>
          <p:cNvPr id="7" name="Rectangle 6"/>
          <p:cNvSpPr/>
          <p:nvPr/>
        </p:nvSpPr>
        <p:spPr>
          <a:xfrm>
            <a:off x="4951218" y="3375067"/>
            <a:ext cx="370614" cy="276999"/>
          </a:xfrm>
          <a:prstGeom prst="rect">
            <a:avLst/>
          </a:prstGeom>
        </p:spPr>
        <p:txBody>
          <a:bodyPr wrap="none">
            <a:spAutoFit/>
          </a:bodyPr>
          <a:lstStyle/>
          <a:p>
            <a:r>
              <a:rPr lang="en-US" sz="1200" dirty="0">
                <a:solidFill>
                  <a:srgbClr val="C00000"/>
                </a:solidFill>
                <a:sym typeface="Wingdings"/>
              </a:rPr>
              <a:t></a:t>
            </a:r>
            <a:r>
              <a:rPr lang="en-US" sz="1200" dirty="0">
                <a:solidFill>
                  <a:srgbClr val="C00000"/>
                </a:solidFill>
              </a:rPr>
              <a:t> </a:t>
            </a:r>
            <a:endParaRPr lang="en-US" sz="1200" dirty="0"/>
          </a:p>
        </p:txBody>
      </p:sp>
      <p:sp>
        <p:nvSpPr>
          <p:cNvPr id="8" name="Rectangle 7"/>
          <p:cNvSpPr/>
          <p:nvPr/>
        </p:nvSpPr>
        <p:spPr>
          <a:xfrm>
            <a:off x="5105639" y="3364591"/>
            <a:ext cx="556563" cy="276999"/>
          </a:xfrm>
          <a:prstGeom prst="rect">
            <a:avLst/>
          </a:prstGeom>
        </p:spPr>
        <p:txBody>
          <a:bodyPr wrap="none">
            <a:spAutoFit/>
          </a:bodyPr>
          <a:lstStyle/>
          <a:p>
            <a:r>
              <a:rPr lang="en-US" sz="1200" dirty="0">
                <a:solidFill>
                  <a:srgbClr val="C00000"/>
                </a:solidFill>
              </a:rPr>
              <a:t>T2(X) </a:t>
            </a:r>
            <a:endParaRPr lang="en-US" sz="1200" dirty="0"/>
          </a:p>
        </p:txBody>
      </p:sp>
      <p:sp>
        <p:nvSpPr>
          <p:cNvPr id="9" name="Rectangle 8"/>
          <p:cNvSpPr/>
          <p:nvPr/>
        </p:nvSpPr>
        <p:spPr>
          <a:xfrm>
            <a:off x="4128966" y="3364591"/>
            <a:ext cx="989373" cy="261610"/>
          </a:xfrm>
          <a:prstGeom prst="rect">
            <a:avLst/>
          </a:prstGeom>
        </p:spPr>
        <p:txBody>
          <a:bodyPr wrap="none">
            <a:spAutoFit/>
          </a:bodyPr>
          <a:lstStyle/>
          <a:p>
            <a:r>
              <a:rPr lang="en-US" sz="1100"/>
              <a:t>T3(X) </a:t>
            </a:r>
            <a:r>
              <a:rPr lang="en-US" sz="1100">
                <a:sym typeface="Wingdings"/>
              </a:rPr>
              <a:t> T4(X)</a:t>
            </a:r>
            <a:endParaRPr lang="en-US" sz="1100" dirty="0">
              <a:solidFill>
                <a:srgbClr val="C00000"/>
              </a:solidFill>
            </a:endParaRPr>
          </a:p>
        </p:txBody>
      </p:sp>
    </p:spTree>
    <p:extLst>
      <p:ext uri="{BB962C8B-B14F-4D97-AF65-F5344CB8AC3E}">
        <p14:creationId xmlns:p14="http://schemas.microsoft.com/office/powerpoint/2010/main" val="1402276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Deadlock Scenarios</a:t>
            </a:r>
            <a:endParaRPr lang="en-US" dirty="0"/>
          </a:p>
        </p:txBody>
      </p:sp>
      <p:sp>
        <p:nvSpPr>
          <p:cNvPr id="3" name="Content Placeholder 2"/>
          <p:cNvSpPr>
            <a:spLocks noGrp="1"/>
          </p:cNvSpPr>
          <p:nvPr>
            <p:ph idx="1"/>
          </p:nvPr>
        </p:nvSpPr>
        <p:spPr>
          <a:xfrm>
            <a:off x="457200" y="1200151"/>
            <a:ext cx="8458200" cy="3394472"/>
          </a:xfrm>
        </p:spPr>
        <p:txBody>
          <a:bodyPr/>
          <a:lstStyle/>
          <a:p>
            <a:r>
              <a:rPr lang="en-US" dirty="0"/>
              <a:t>They can just happen (unavoidable)</a:t>
            </a:r>
          </a:p>
          <a:p>
            <a:pPr>
              <a:spcBef>
                <a:spcPts val="8000"/>
              </a:spcBef>
              <a:spcAft>
                <a:spcPts val="7000"/>
              </a:spcAft>
            </a:pPr>
            <a:r>
              <a:rPr lang="en-US" dirty="0"/>
              <a:t>Bad implementation of Lock Upgrade (avoidable! prioritize upgrades)</a:t>
            </a:r>
          </a:p>
          <a:p>
            <a:r>
              <a:rPr lang="en-US" dirty="0"/>
              <a:t>Multiple Lock Upgrades (unavoidable)</a:t>
            </a:r>
          </a:p>
        </p:txBody>
      </p:sp>
      <p:graphicFrame>
        <p:nvGraphicFramePr>
          <p:cNvPr id="4" name="Table 3" descr="Simultaneous lock upgrades" title="Avoidable deadlocks 2"/>
          <p:cNvGraphicFramePr>
            <a:graphicFrameLocks noGrp="1"/>
          </p:cNvGraphicFramePr>
          <p:nvPr>
            <p:extLst/>
          </p:nvPr>
        </p:nvGraphicFramePr>
        <p:xfrm>
          <a:off x="1066799" y="4282409"/>
          <a:ext cx="4677937" cy="71628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a:t>Mode</a:t>
                      </a:r>
                      <a:endParaRPr lang="en-US" sz="1400" dirty="0"/>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434340">
                <a:tc>
                  <a:txBody>
                    <a:bodyPr/>
                    <a:lstStyle/>
                    <a:p>
                      <a:pPr algn="r"/>
                      <a:r>
                        <a:rPr lang="en-US" sz="1400" dirty="0"/>
                        <a:t>A</a:t>
                      </a:r>
                    </a:p>
                  </a:txBody>
                  <a:tcPr marL="68580" marR="68580" marT="34290" marB="34290"/>
                </a:tc>
                <a:tc>
                  <a:txBody>
                    <a:bodyPr/>
                    <a:lstStyle/>
                    <a:p>
                      <a:pPr algn="ctr"/>
                      <a:r>
                        <a:rPr lang="en-US" sz="1200" dirty="0"/>
                        <a:t>{T1, T2}</a:t>
                      </a:r>
                    </a:p>
                  </a:txBody>
                  <a:tcPr marL="68580" marR="68580" marT="34290" marB="34290"/>
                </a:tc>
                <a:tc>
                  <a:txBody>
                    <a:bodyPr/>
                    <a:lstStyle/>
                    <a:p>
                      <a:pPr algn="ctr"/>
                      <a:r>
                        <a:rPr lang="en-US" sz="1200" dirty="0"/>
                        <a:t>S</a:t>
                      </a:r>
                    </a:p>
                  </a:txBody>
                  <a:tcPr marL="68580" marR="68580" marT="34290" marB="34290"/>
                </a:tc>
                <a:tc>
                  <a:txBody>
                    <a:bodyPr/>
                    <a:lstStyle/>
                    <a:p>
                      <a:pPr algn="ctr"/>
                      <a:r>
                        <a:rPr lang="en-US" sz="1200" b="1" dirty="0">
                          <a:solidFill>
                            <a:srgbClr val="C00000"/>
                          </a:solidFill>
                        </a:rPr>
                        <a:t>T2(X) </a:t>
                      </a:r>
                      <a:r>
                        <a:rPr lang="en-US" sz="1200" b="1" dirty="0">
                          <a:solidFill>
                            <a:srgbClr val="C00000"/>
                          </a:solidFill>
                          <a:sym typeface="Wingdings"/>
                        </a:rPr>
                        <a:t> T1(X)  </a:t>
                      </a:r>
                      <a:r>
                        <a:rPr lang="en-US" sz="1200" dirty="0"/>
                        <a:t>T3(X) </a:t>
                      </a:r>
                      <a:r>
                        <a:rPr lang="en-US" sz="1200" dirty="0">
                          <a:sym typeface="Wingdings"/>
                        </a:rPr>
                        <a:t> T4(X) </a:t>
                      </a:r>
                      <a:endParaRPr lang="en-US" sz="1200" dirty="0"/>
                    </a:p>
                  </a:txBody>
                  <a:tcPr marL="68580" marR="68580" marT="34290" marB="34290"/>
                </a:tc>
                <a:extLst>
                  <a:ext uri="{0D108BD9-81ED-4DB2-BD59-A6C34878D82A}">
                    <a16:rowId xmlns:a16="http://schemas.microsoft.com/office/drawing/2014/main" val="10001"/>
                  </a:ext>
                </a:extLst>
              </a:tr>
            </a:tbl>
          </a:graphicData>
        </a:graphic>
      </p:graphicFrame>
      <p:graphicFrame>
        <p:nvGraphicFramePr>
          <p:cNvPr id="5" name="Table 4" descr="Both locks are waiting for eachother" title="Unavoidable deadlock"/>
          <p:cNvGraphicFramePr>
            <a:graphicFrameLocks noGrp="1"/>
          </p:cNvGraphicFramePr>
          <p:nvPr>
            <p:extLst/>
          </p:nvPr>
        </p:nvGraphicFramePr>
        <p:xfrm>
          <a:off x="1066800" y="1612024"/>
          <a:ext cx="4677937" cy="84582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a:t>Mode</a:t>
                      </a:r>
                      <a:endParaRPr lang="en-US" sz="1400" dirty="0"/>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278130">
                <a:tc>
                  <a:txBody>
                    <a:bodyPr/>
                    <a:lstStyle/>
                    <a:p>
                      <a:pPr algn="r"/>
                      <a:r>
                        <a:rPr lang="en-US" sz="1400" dirty="0"/>
                        <a:t>A</a:t>
                      </a:r>
                    </a:p>
                  </a:txBody>
                  <a:tcPr marL="68580" marR="68580" marT="34290" marB="34290"/>
                </a:tc>
                <a:tc>
                  <a:txBody>
                    <a:bodyPr/>
                    <a:lstStyle/>
                    <a:p>
                      <a:pPr algn="ctr"/>
                      <a:r>
                        <a:rPr lang="en-US" sz="1200" dirty="0"/>
                        <a:t>{T1}</a:t>
                      </a:r>
                    </a:p>
                  </a:txBody>
                  <a:tcPr marL="68580" marR="68580" marT="34290" marB="34290"/>
                </a:tc>
                <a:tc>
                  <a:txBody>
                    <a:bodyPr/>
                    <a:lstStyle/>
                    <a:p>
                      <a:pPr algn="ctr"/>
                      <a:r>
                        <a:rPr lang="en-US" sz="1200" dirty="0"/>
                        <a:t>S</a:t>
                      </a:r>
                    </a:p>
                  </a:txBody>
                  <a:tcPr marL="68580" marR="68580" marT="34290" marB="34290"/>
                </a:tc>
                <a:tc>
                  <a:txBody>
                    <a:bodyPr/>
                    <a:lstStyle/>
                    <a:p>
                      <a:pPr algn="ctr"/>
                      <a:r>
                        <a:rPr lang="en-US" sz="1200" dirty="0">
                          <a:solidFill>
                            <a:schemeClr val="accent2"/>
                          </a:solidFill>
                        </a:rPr>
                        <a:t>T2(X)</a:t>
                      </a:r>
                    </a:p>
                  </a:txBody>
                  <a:tcPr marL="68580" marR="68580" marT="34290" marB="34290"/>
                </a:tc>
                <a:extLst>
                  <a:ext uri="{0D108BD9-81ED-4DB2-BD59-A6C34878D82A}">
                    <a16:rowId xmlns:a16="http://schemas.microsoft.com/office/drawing/2014/main" val="10001"/>
                  </a:ext>
                </a:extLst>
              </a:tr>
              <a:tr h="278130">
                <a:tc>
                  <a:txBody>
                    <a:bodyPr/>
                    <a:lstStyle/>
                    <a:p>
                      <a:pPr algn="r"/>
                      <a:r>
                        <a:rPr lang="en-US" sz="1400" dirty="0"/>
                        <a:t>B</a:t>
                      </a:r>
                    </a:p>
                  </a:txBody>
                  <a:tcPr marL="68580" marR="68580" marT="34290" marB="34290"/>
                </a:tc>
                <a:tc>
                  <a:txBody>
                    <a:bodyPr/>
                    <a:lstStyle/>
                    <a:p>
                      <a:pPr algn="ctr"/>
                      <a:r>
                        <a:rPr lang="en-US" sz="1200" dirty="0"/>
                        <a:t>{T2}</a:t>
                      </a:r>
                    </a:p>
                  </a:txBody>
                  <a:tcPr marL="68580" marR="68580" marT="34290" marB="34290"/>
                </a:tc>
                <a:tc>
                  <a:txBody>
                    <a:bodyPr/>
                    <a:lstStyle/>
                    <a:p>
                      <a:pPr algn="ctr"/>
                      <a:r>
                        <a:rPr lang="en-US" sz="1200" dirty="0"/>
                        <a:t>X</a:t>
                      </a:r>
                    </a:p>
                  </a:txBody>
                  <a:tcPr marL="68580" marR="68580" marT="34290" marB="34290"/>
                </a:tc>
                <a:tc>
                  <a:txBody>
                    <a:bodyPr/>
                    <a:lstStyle/>
                    <a:p>
                      <a:pPr algn="ctr"/>
                      <a:r>
                        <a:rPr lang="en-US" sz="1200" dirty="0"/>
                        <a:t>T1(S)</a:t>
                      </a:r>
                    </a:p>
                  </a:txBody>
                  <a:tcPr marL="68580" marR="68580" marT="34290" marB="34290"/>
                </a:tc>
                <a:extLst>
                  <a:ext uri="{0D108BD9-81ED-4DB2-BD59-A6C34878D82A}">
                    <a16:rowId xmlns:a16="http://schemas.microsoft.com/office/drawing/2014/main" val="10002"/>
                  </a:ext>
                </a:extLst>
              </a:tr>
            </a:tbl>
          </a:graphicData>
        </a:graphic>
      </p:graphicFrame>
      <p:graphicFrame>
        <p:nvGraphicFramePr>
          <p:cNvPr id="6" name="Table 5" descr="poorly implemented lock schedule" title="Avoidable deadlocks"/>
          <p:cNvGraphicFramePr>
            <a:graphicFrameLocks noGrp="1"/>
          </p:cNvGraphicFramePr>
          <p:nvPr>
            <p:extLst/>
          </p:nvPr>
        </p:nvGraphicFramePr>
        <p:xfrm>
          <a:off x="1066798" y="3088186"/>
          <a:ext cx="4677937" cy="563880"/>
        </p:xfrm>
        <a:graphic>
          <a:graphicData uri="http://schemas.openxmlformats.org/drawingml/2006/table">
            <a:tbl>
              <a:tblPr firstRow="1" firstCol="1" bandRow="1">
                <a:tableStyleId>{5C22544A-7EE6-4342-B048-85BDC9FD1C3A}</a:tableStyleId>
              </a:tblPr>
              <a:tblGrid>
                <a:gridCol w="1169484">
                  <a:extLst>
                    <a:ext uri="{9D8B030D-6E8A-4147-A177-3AD203B41FA5}">
                      <a16:colId xmlns:a16="http://schemas.microsoft.com/office/drawing/2014/main" val="20000"/>
                    </a:ext>
                  </a:extLst>
                </a:gridCol>
                <a:gridCol w="1169484">
                  <a:extLst>
                    <a:ext uri="{9D8B030D-6E8A-4147-A177-3AD203B41FA5}">
                      <a16:colId xmlns:a16="http://schemas.microsoft.com/office/drawing/2014/main" val="20001"/>
                    </a:ext>
                  </a:extLst>
                </a:gridCol>
                <a:gridCol w="671861">
                  <a:extLst>
                    <a:ext uri="{9D8B030D-6E8A-4147-A177-3AD203B41FA5}">
                      <a16:colId xmlns:a16="http://schemas.microsoft.com/office/drawing/2014/main" val="20002"/>
                    </a:ext>
                  </a:extLst>
                </a:gridCol>
                <a:gridCol w="1667108">
                  <a:extLst>
                    <a:ext uri="{9D8B030D-6E8A-4147-A177-3AD203B41FA5}">
                      <a16:colId xmlns:a16="http://schemas.microsoft.com/office/drawing/2014/main" val="20003"/>
                    </a:ext>
                  </a:extLst>
                </a:gridCol>
              </a:tblGrid>
              <a:tr h="278130">
                <a:tc>
                  <a:txBody>
                    <a:bodyPr/>
                    <a:lstStyle/>
                    <a:p>
                      <a:endParaRPr lang="en-US" sz="1400" dirty="0"/>
                    </a:p>
                  </a:txBody>
                  <a:tcPr marL="68580" marR="68580" marT="34290" marB="34290"/>
                </a:tc>
                <a:tc>
                  <a:txBody>
                    <a:bodyPr/>
                    <a:lstStyle/>
                    <a:p>
                      <a:pPr algn="ctr"/>
                      <a:r>
                        <a:rPr lang="en-US" sz="1400" dirty="0"/>
                        <a:t>Granted Set</a:t>
                      </a:r>
                    </a:p>
                  </a:txBody>
                  <a:tcPr marL="68580" marR="68580" marT="34290" marB="34290"/>
                </a:tc>
                <a:tc>
                  <a:txBody>
                    <a:bodyPr/>
                    <a:lstStyle/>
                    <a:p>
                      <a:pPr algn="ctr"/>
                      <a:r>
                        <a:rPr lang="en-US" sz="1400"/>
                        <a:t>Mode</a:t>
                      </a:r>
                      <a:endParaRPr lang="en-US" sz="1400" dirty="0"/>
                    </a:p>
                  </a:txBody>
                  <a:tcPr marL="68580" marR="68580" marT="34290" marB="34290"/>
                </a:tc>
                <a:tc>
                  <a:txBody>
                    <a:bodyPr/>
                    <a:lstStyle/>
                    <a:p>
                      <a:pPr algn="ctr"/>
                      <a:r>
                        <a:rPr lang="en-US" sz="1400" dirty="0"/>
                        <a:t>Wait Queue</a:t>
                      </a:r>
                    </a:p>
                  </a:txBody>
                  <a:tcPr marL="68580" marR="68580" marT="34290" marB="34290"/>
                </a:tc>
                <a:extLst>
                  <a:ext uri="{0D108BD9-81ED-4DB2-BD59-A6C34878D82A}">
                    <a16:rowId xmlns:a16="http://schemas.microsoft.com/office/drawing/2014/main" val="10000"/>
                  </a:ext>
                </a:extLst>
              </a:tr>
              <a:tr h="278130">
                <a:tc>
                  <a:txBody>
                    <a:bodyPr/>
                    <a:lstStyle/>
                    <a:p>
                      <a:pPr algn="r"/>
                      <a:r>
                        <a:rPr lang="en-US" sz="1400" dirty="0"/>
                        <a:t>A</a:t>
                      </a:r>
                    </a:p>
                  </a:txBody>
                  <a:tcPr marL="68580" marR="68580" marT="34290" marB="34290"/>
                </a:tc>
                <a:tc>
                  <a:txBody>
                    <a:bodyPr/>
                    <a:lstStyle/>
                    <a:p>
                      <a:pPr algn="ctr"/>
                      <a:r>
                        <a:rPr lang="en-US" sz="1200" dirty="0"/>
                        <a:t>{T1, T2}</a:t>
                      </a:r>
                    </a:p>
                  </a:txBody>
                  <a:tcPr marL="68580" marR="68580" marT="34290" marB="34290"/>
                </a:tc>
                <a:tc>
                  <a:txBody>
                    <a:bodyPr/>
                    <a:lstStyle/>
                    <a:p>
                      <a:pPr algn="ctr"/>
                      <a:r>
                        <a:rPr lang="en-US" sz="1200" dirty="0"/>
                        <a:t>S</a:t>
                      </a:r>
                    </a:p>
                  </a:txBody>
                  <a:tcPr marL="68580" marR="68580" marT="34290" marB="34290"/>
                </a:tc>
                <a:tc>
                  <a:txBody>
                    <a:bodyPr/>
                    <a:lstStyle/>
                    <a:p>
                      <a:pPr algn="l"/>
                      <a:endParaRPr lang="en-US" sz="1200" b="1" dirty="0">
                        <a:solidFill>
                          <a:srgbClr val="C00000"/>
                        </a:solidFill>
                      </a:endParaRPr>
                    </a:p>
                  </a:txBody>
                  <a:tcPr marL="68580" marR="68580" marT="34290" marB="34290"/>
                </a:tc>
                <a:extLst>
                  <a:ext uri="{0D108BD9-81ED-4DB2-BD59-A6C34878D82A}">
                    <a16:rowId xmlns:a16="http://schemas.microsoft.com/office/drawing/2014/main" val="10001"/>
                  </a:ext>
                </a:extLst>
              </a:tr>
            </a:tbl>
          </a:graphicData>
        </a:graphic>
      </p:graphicFrame>
      <p:sp>
        <p:nvSpPr>
          <p:cNvPr id="7" name="Rectangle 6"/>
          <p:cNvSpPr/>
          <p:nvPr/>
        </p:nvSpPr>
        <p:spPr>
          <a:xfrm>
            <a:off x="4500993" y="3375067"/>
            <a:ext cx="370614" cy="276999"/>
          </a:xfrm>
          <a:prstGeom prst="rect">
            <a:avLst/>
          </a:prstGeom>
        </p:spPr>
        <p:txBody>
          <a:bodyPr wrap="none">
            <a:spAutoFit/>
          </a:bodyPr>
          <a:lstStyle/>
          <a:p>
            <a:r>
              <a:rPr lang="en-US" sz="1200" dirty="0">
                <a:solidFill>
                  <a:srgbClr val="C00000"/>
                </a:solidFill>
                <a:sym typeface="Wingdings"/>
              </a:rPr>
              <a:t></a:t>
            </a:r>
            <a:r>
              <a:rPr lang="en-US" sz="1200" dirty="0">
                <a:solidFill>
                  <a:srgbClr val="C00000"/>
                </a:solidFill>
              </a:rPr>
              <a:t> </a:t>
            </a:r>
            <a:endParaRPr lang="en-US" sz="1200" dirty="0"/>
          </a:p>
        </p:txBody>
      </p:sp>
      <p:sp>
        <p:nvSpPr>
          <p:cNvPr id="8" name="Rectangle 7"/>
          <p:cNvSpPr/>
          <p:nvPr/>
        </p:nvSpPr>
        <p:spPr>
          <a:xfrm>
            <a:off x="4129737" y="3359678"/>
            <a:ext cx="556563" cy="276999"/>
          </a:xfrm>
          <a:prstGeom prst="rect">
            <a:avLst/>
          </a:prstGeom>
        </p:spPr>
        <p:txBody>
          <a:bodyPr wrap="none">
            <a:spAutoFit/>
          </a:bodyPr>
          <a:lstStyle/>
          <a:p>
            <a:r>
              <a:rPr lang="en-US" sz="1200" dirty="0">
                <a:solidFill>
                  <a:srgbClr val="C00000"/>
                </a:solidFill>
              </a:rPr>
              <a:t>T2(X) </a:t>
            </a:r>
            <a:endParaRPr lang="en-US" sz="1200" dirty="0"/>
          </a:p>
        </p:txBody>
      </p:sp>
      <p:sp>
        <p:nvSpPr>
          <p:cNvPr id="9" name="Rectangle 8"/>
          <p:cNvSpPr/>
          <p:nvPr/>
        </p:nvSpPr>
        <p:spPr>
          <a:xfrm>
            <a:off x="4686300" y="3375067"/>
            <a:ext cx="989373" cy="261610"/>
          </a:xfrm>
          <a:prstGeom prst="rect">
            <a:avLst/>
          </a:prstGeom>
        </p:spPr>
        <p:txBody>
          <a:bodyPr wrap="none">
            <a:spAutoFit/>
          </a:bodyPr>
          <a:lstStyle/>
          <a:p>
            <a:r>
              <a:rPr lang="en-US" sz="1100"/>
              <a:t>T3(X) </a:t>
            </a:r>
            <a:r>
              <a:rPr lang="en-US" sz="1100">
                <a:sym typeface="Wingdings"/>
              </a:rPr>
              <a:t> T4(X)</a:t>
            </a:r>
            <a:endParaRPr lang="en-US" sz="1100" dirty="0">
              <a:solidFill>
                <a:srgbClr val="C00000"/>
              </a:solidFill>
            </a:endParaRPr>
          </a:p>
        </p:txBody>
      </p:sp>
    </p:spTree>
    <p:extLst>
      <p:ext uri="{BB962C8B-B14F-4D97-AF65-F5344CB8AC3E}">
        <p14:creationId xmlns:p14="http://schemas.microsoft.com/office/powerpoint/2010/main" val="1885664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Deadlock Prevention</a:t>
            </a:r>
            <a:endParaRPr lang="en-US" dirty="0"/>
          </a:p>
        </p:txBody>
      </p:sp>
      <p:sp>
        <p:nvSpPr>
          <p:cNvPr id="3" name="Content Placeholder 2">
            <a:extLst>
              <a:ext uri="{FF2B5EF4-FFF2-40B4-BE49-F238E27FC236}">
                <a16:creationId xmlns:a16="http://schemas.microsoft.com/office/drawing/2014/main" id="{A30CB3E6-A9BF-3F4E-A905-9E26CFDC3AC7}"/>
              </a:ext>
            </a:extLst>
          </p:cNvPr>
          <p:cNvSpPr>
            <a:spLocks noGrp="1"/>
          </p:cNvSpPr>
          <p:nvPr>
            <p:ph idx="1"/>
          </p:nvPr>
        </p:nvSpPr>
        <p:spPr/>
        <p:txBody>
          <a:bodyPr/>
          <a:lstStyle/>
          <a:p>
            <a:r>
              <a:rPr lang="en-US" sz="1800" b="1" dirty="0">
                <a:ea typeface="Lucida Console" charset="0"/>
                <a:cs typeface="Lucida Console" charset="0"/>
              </a:rPr>
              <a:t>Common technique in operating systems</a:t>
            </a:r>
          </a:p>
          <a:p>
            <a:pPr>
              <a:spcBef>
                <a:spcPts val="2000"/>
              </a:spcBef>
            </a:pPr>
            <a:r>
              <a:rPr lang="en-US" sz="1800" b="1" dirty="0">
                <a:ea typeface="Lucida Console" charset="0"/>
                <a:cs typeface="Lucida Console" charset="0"/>
              </a:rPr>
              <a:t>Standard approach: resource ordering</a:t>
            </a:r>
          </a:p>
          <a:p>
            <a:pPr lvl="1"/>
            <a:r>
              <a:rPr lang="en-US" sz="1650" dirty="0">
                <a:ea typeface="Lucida Console" charset="0"/>
                <a:cs typeface="Lucida Console" charset="0"/>
              </a:rPr>
              <a:t>Screen &lt; Network Card &lt; Printer</a:t>
            </a:r>
            <a:endParaRPr lang="en-US" sz="1800" b="1" dirty="0">
              <a:ea typeface="Lucida Console" charset="0"/>
              <a:cs typeface="Lucida Console" charset="0"/>
            </a:endParaRPr>
          </a:p>
          <a:p>
            <a:pPr>
              <a:spcBef>
                <a:spcPts val="2000"/>
              </a:spcBef>
            </a:pPr>
            <a:r>
              <a:rPr lang="en-US" sz="1800" b="1" dirty="0">
                <a:ea typeface="Lucida Console" charset="0"/>
                <a:cs typeface="Lucida Console" charset="0"/>
              </a:rPr>
              <a:t>Why is this problematic for </a:t>
            </a:r>
            <a:r>
              <a:rPr lang="en-US" sz="1800" b="1" dirty="0" err="1">
                <a:ea typeface="Lucida Console" charset="0"/>
                <a:cs typeface="Lucida Console" charset="0"/>
              </a:rPr>
              <a:t>Xacts</a:t>
            </a:r>
            <a:r>
              <a:rPr lang="en-US" sz="1800" b="1" dirty="0">
                <a:ea typeface="Lucida Console" charset="0"/>
                <a:cs typeface="Lucida Console" charset="0"/>
              </a:rPr>
              <a:t> in a DBMS?</a:t>
            </a:r>
          </a:p>
          <a:p>
            <a:pPr lvl="1">
              <a:lnSpc>
                <a:spcPct val="150000"/>
              </a:lnSpc>
              <a:spcBef>
                <a:spcPts val="24"/>
              </a:spcBef>
            </a:pPr>
            <a:r>
              <a:rPr lang="en-US" sz="1600" dirty="0">
                <a:ea typeface="Lucida Console" charset="0"/>
                <a:cs typeface="Lucida Console" charset="0"/>
              </a:rPr>
              <a:t>What order would you impose?</a:t>
            </a:r>
          </a:p>
        </p:txBody>
      </p:sp>
    </p:spTree>
    <p:extLst>
      <p:ext uri="{BB962C8B-B14F-4D97-AF65-F5344CB8AC3E}">
        <p14:creationId xmlns:p14="http://schemas.microsoft.com/office/powerpoint/2010/main" val="115253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Deadlock Avoidance</a:t>
            </a:r>
            <a:endParaRPr lang="en-US" dirty="0"/>
          </a:p>
        </p:txBody>
      </p:sp>
      <p:sp>
        <p:nvSpPr>
          <p:cNvPr id="4" name="Content Placeholder 3">
            <a:extLst>
              <a:ext uri="{FF2B5EF4-FFF2-40B4-BE49-F238E27FC236}">
                <a16:creationId xmlns:a16="http://schemas.microsoft.com/office/drawing/2014/main" id="{8E7D1438-BACE-0F4E-8BB2-82B8CDB4FC75}"/>
              </a:ext>
            </a:extLst>
          </p:cNvPr>
          <p:cNvSpPr>
            <a:spLocks noGrp="1"/>
          </p:cNvSpPr>
          <p:nvPr>
            <p:ph idx="1"/>
          </p:nvPr>
        </p:nvSpPr>
        <p:spPr>
          <a:xfrm>
            <a:off x="457200" y="1200151"/>
            <a:ext cx="8229600" cy="3394472"/>
          </a:xfrm>
        </p:spPr>
        <p:txBody>
          <a:bodyPr>
            <a:normAutofit lnSpcReduction="10000"/>
          </a:bodyPr>
          <a:lstStyle/>
          <a:p>
            <a:r>
              <a:rPr lang="en-US" sz="1500" b="1" dirty="0">
                <a:ea typeface="Lucida Console" charset="0"/>
                <a:cs typeface="Lucida Console" charset="0"/>
              </a:rPr>
              <a:t>Assign priorities based on age:  (now </a:t>
            </a:r>
            <a:r>
              <a:rPr lang="mr-IN" sz="1500" b="1" dirty="0">
                <a:ea typeface="Lucida Console" charset="0"/>
                <a:cs typeface="Lucida Console" charset="0"/>
              </a:rPr>
              <a:t>–</a:t>
            </a:r>
            <a:r>
              <a:rPr lang="en-US" sz="1500" b="1" dirty="0">
                <a:ea typeface="Lucida Console" charset="0"/>
                <a:cs typeface="Lucida Console" charset="0"/>
              </a:rPr>
              <a:t> </a:t>
            </a:r>
            <a:r>
              <a:rPr lang="en-US" sz="1500" b="1" dirty="0" err="1">
                <a:ea typeface="Lucida Console" charset="0"/>
                <a:cs typeface="Lucida Console" charset="0"/>
              </a:rPr>
              <a:t>start_time</a:t>
            </a:r>
            <a:r>
              <a:rPr lang="en-US" sz="1500" b="1" dirty="0">
                <a:ea typeface="Lucida Console" charset="0"/>
                <a:cs typeface="Lucida Console" charset="0"/>
              </a:rPr>
              <a:t>).</a:t>
            </a:r>
          </a:p>
          <a:p>
            <a:r>
              <a:rPr lang="en-US" sz="1500" dirty="0">
                <a:ea typeface="Lucida Console" charset="0"/>
                <a:cs typeface="Lucida Console" charset="0"/>
              </a:rPr>
              <a:t>Say </a:t>
            </a:r>
            <a:r>
              <a:rPr lang="en-US" sz="1500" dirty="0" err="1">
                <a:ea typeface="Lucida Console" charset="0"/>
                <a:cs typeface="Lucida Console" charset="0"/>
              </a:rPr>
              <a:t>Ti</a:t>
            </a:r>
            <a:r>
              <a:rPr lang="en-US" sz="1500" dirty="0">
                <a:ea typeface="Lucida Console" charset="0"/>
                <a:cs typeface="Lucida Console" charset="0"/>
              </a:rPr>
              <a:t> wants a lock that </a:t>
            </a:r>
            <a:r>
              <a:rPr lang="en-US" sz="1500" dirty="0" err="1">
                <a:ea typeface="Lucida Console" charset="0"/>
                <a:cs typeface="Lucida Console" charset="0"/>
              </a:rPr>
              <a:t>Tj</a:t>
            </a:r>
            <a:r>
              <a:rPr lang="en-US" sz="1500" dirty="0">
                <a:ea typeface="Lucida Console" charset="0"/>
                <a:cs typeface="Lucida Console" charset="0"/>
              </a:rPr>
              <a:t> holds.  Two possible policies:</a:t>
            </a:r>
          </a:p>
          <a:p>
            <a:pPr lvl="1"/>
            <a:r>
              <a:rPr lang="en-US" sz="1500" b="1" dirty="0">
                <a:ea typeface="Lucida Console" charset="0"/>
                <a:cs typeface="Lucida Console" charset="0"/>
              </a:rPr>
              <a:t>Wait-Die: </a:t>
            </a:r>
            <a:r>
              <a:rPr lang="en-US" sz="1500" dirty="0">
                <a:ea typeface="Lucida Console" charset="0"/>
                <a:cs typeface="Lucida Console" charset="0"/>
              </a:rPr>
              <a:t>If </a:t>
            </a:r>
            <a:r>
              <a:rPr lang="en-US" sz="1500" dirty="0" err="1">
                <a:ea typeface="Lucida Console" charset="0"/>
                <a:cs typeface="Lucida Console" charset="0"/>
              </a:rPr>
              <a:t>Ti</a:t>
            </a:r>
            <a:r>
              <a:rPr lang="en-US" sz="1500" dirty="0">
                <a:ea typeface="Lucida Console" charset="0"/>
                <a:cs typeface="Lucida Console" charset="0"/>
              </a:rPr>
              <a:t> has higher priority, </a:t>
            </a:r>
            <a:r>
              <a:rPr lang="en-US" sz="1500" dirty="0" err="1">
                <a:ea typeface="Lucida Console" charset="0"/>
                <a:cs typeface="Lucida Console" charset="0"/>
              </a:rPr>
              <a:t>Ti</a:t>
            </a:r>
            <a:r>
              <a:rPr lang="en-US" sz="1500" dirty="0">
                <a:ea typeface="Lucida Console" charset="0"/>
                <a:cs typeface="Lucida Console" charset="0"/>
              </a:rPr>
              <a:t> waits for </a:t>
            </a:r>
            <a:r>
              <a:rPr lang="en-US" sz="1500" dirty="0" err="1">
                <a:ea typeface="Lucida Console" charset="0"/>
                <a:cs typeface="Lucida Console" charset="0"/>
              </a:rPr>
              <a:t>Tj</a:t>
            </a:r>
            <a:r>
              <a:rPr lang="en-US" sz="1500" dirty="0">
                <a:ea typeface="Lucida Console" charset="0"/>
                <a:cs typeface="Lucida Console" charset="0"/>
              </a:rPr>
              <a:t>; else </a:t>
            </a:r>
            <a:r>
              <a:rPr lang="en-US" sz="1500" dirty="0" err="1">
                <a:ea typeface="Lucida Console" charset="0"/>
                <a:cs typeface="Lucida Console" charset="0"/>
              </a:rPr>
              <a:t>Ti</a:t>
            </a:r>
            <a:r>
              <a:rPr lang="en-US" sz="1500" dirty="0">
                <a:ea typeface="Lucida Console" charset="0"/>
                <a:cs typeface="Lucida Console" charset="0"/>
              </a:rPr>
              <a:t> aborts</a:t>
            </a:r>
          </a:p>
          <a:p>
            <a:pPr lvl="1"/>
            <a:r>
              <a:rPr lang="en-US" sz="1500" b="1" dirty="0">
                <a:ea typeface="Lucida Console" charset="0"/>
                <a:cs typeface="Lucida Console" charset="0"/>
              </a:rPr>
              <a:t>Wound-Wait: </a:t>
            </a:r>
            <a:r>
              <a:rPr lang="en-US" sz="1500" dirty="0">
                <a:ea typeface="Lucida Console" charset="0"/>
                <a:cs typeface="Lucida Console" charset="0"/>
              </a:rPr>
              <a:t>If </a:t>
            </a:r>
            <a:r>
              <a:rPr lang="en-US" sz="1500" dirty="0" err="1">
                <a:ea typeface="Lucida Console" charset="0"/>
                <a:cs typeface="Lucida Console" charset="0"/>
              </a:rPr>
              <a:t>Ti</a:t>
            </a:r>
            <a:r>
              <a:rPr lang="en-US" sz="1500" dirty="0">
                <a:ea typeface="Lucida Console" charset="0"/>
                <a:cs typeface="Lucida Console" charset="0"/>
              </a:rPr>
              <a:t> has higher priority, </a:t>
            </a:r>
            <a:r>
              <a:rPr lang="en-US" sz="1500" dirty="0" err="1">
                <a:ea typeface="Lucida Console" charset="0"/>
                <a:cs typeface="Lucida Console" charset="0"/>
              </a:rPr>
              <a:t>Tj</a:t>
            </a:r>
            <a:r>
              <a:rPr lang="en-US" sz="1500" dirty="0">
                <a:ea typeface="Lucida Console" charset="0"/>
                <a:cs typeface="Lucida Console" charset="0"/>
              </a:rPr>
              <a:t> aborts; else </a:t>
            </a:r>
            <a:r>
              <a:rPr lang="en-US" sz="1500" dirty="0" err="1">
                <a:ea typeface="Lucida Console" charset="0"/>
                <a:cs typeface="Lucida Console" charset="0"/>
              </a:rPr>
              <a:t>Ti</a:t>
            </a:r>
            <a:r>
              <a:rPr lang="en-US" sz="1500" dirty="0">
                <a:ea typeface="Lucida Console" charset="0"/>
                <a:cs typeface="Lucida Console" charset="0"/>
              </a:rPr>
              <a:t> waits</a:t>
            </a:r>
          </a:p>
          <a:p>
            <a:pPr lvl="1">
              <a:spcBef>
                <a:spcPts val="1500"/>
              </a:spcBef>
            </a:pPr>
            <a:r>
              <a:rPr lang="en-US" sz="1500" dirty="0">
                <a:ea typeface="Lucida Console" charset="0"/>
                <a:cs typeface="Lucida Console" charset="0"/>
              </a:rPr>
              <a:t>Read each of these like a ternary operator (C/C++/java/</a:t>
            </a:r>
            <a:r>
              <a:rPr lang="en-US" sz="1500" dirty="0" err="1">
                <a:ea typeface="Lucida Console" charset="0"/>
                <a:cs typeface="Lucida Console" charset="0"/>
              </a:rPr>
              <a:t>javascript</a:t>
            </a:r>
            <a:r>
              <a:rPr lang="en-US" sz="1500" dirty="0">
                <a:ea typeface="Lucida Console" charset="0"/>
                <a:cs typeface="Lucida Console" charset="0"/>
              </a:rPr>
              <a:t>)</a:t>
            </a:r>
          </a:p>
          <a:p>
            <a:pPr lvl="1"/>
            <a:endParaRPr lang="en-US" sz="1500" dirty="0">
              <a:ea typeface="Lucida Console" charset="0"/>
              <a:cs typeface="Lucida Console" charset="0"/>
            </a:endParaRPr>
          </a:p>
          <a:p>
            <a:pPr lvl="1"/>
            <a:endParaRPr lang="en-US" sz="1500" dirty="0">
              <a:ea typeface="Lucida Console" charset="0"/>
              <a:cs typeface="Lucida Console" charset="0"/>
            </a:endParaRPr>
          </a:p>
          <a:p>
            <a:pPr marL="342900" lvl="1" indent="0">
              <a:buNone/>
            </a:pPr>
            <a:r>
              <a:rPr lang="en-US" sz="1500" dirty="0">
                <a:ea typeface="Lucida Console" charset="0"/>
                <a:cs typeface="Lucida Console" charset="0"/>
              </a:rPr>
              <a:t>    </a:t>
            </a:r>
            <a:r>
              <a:rPr lang="en-US" sz="1500" dirty="0" err="1">
                <a:ea typeface="Lucida Console" charset="0"/>
                <a:cs typeface="Lucida Console" charset="0"/>
              </a:rPr>
              <a:t>Ti</a:t>
            </a:r>
            <a:r>
              <a:rPr lang="en-US" sz="1500" dirty="0">
                <a:ea typeface="Lucida Console" charset="0"/>
                <a:cs typeface="Lucida Console" charset="0"/>
              </a:rPr>
              <a:t> &gt; </a:t>
            </a:r>
            <a:r>
              <a:rPr lang="en-US" sz="1500" dirty="0" err="1">
                <a:ea typeface="Lucida Console" charset="0"/>
                <a:cs typeface="Lucida Console" charset="0"/>
              </a:rPr>
              <a:t>Tj</a:t>
            </a:r>
            <a:r>
              <a:rPr lang="en-US" sz="1500" dirty="0">
                <a:ea typeface="Lucida Console" charset="0"/>
                <a:cs typeface="Lucida Console" charset="0"/>
              </a:rPr>
              <a:t>    ? </a:t>
            </a:r>
            <a:br>
              <a:rPr lang="en-US" sz="1500" dirty="0">
                <a:ea typeface="Lucida Console" charset="0"/>
                <a:cs typeface="Lucida Console" charset="0"/>
              </a:rPr>
            </a:br>
            <a:r>
              <a:rPr lang="en-US" sz="1500" dirty="0">
                <a:ea typeface="Lucida Console" charset="0"/>
                <a:cs typeface="Lucida Console" charset="0"/>
              </a:rPr>
              <a:t>    </a:t>
            </a:r>
          </a:p>
          <a:p>
            <a:pPr lvl="1"/>
            <a:endParaRPr lang="en-US" sz="1500" dirty="0">
              <a:ea typeface="Lucida Console" charset="0"/>
              <a:cs typeface="Lucida Console" charset="0"/>
            </a:endParaRPr>
          </a:p>
          <a:p>
            <a:pPr lvl="1"/>
            <a:endParaRPr lang="en-US" sz="1500" dirty="0">
              <a:ea typeface="Lucida Console" charset="0"/>
              <a:cs typeface="Lucida Console" charset="0"/>
            </a:endParaRPr>
          </a:p>
          <a:p>
            <a:pPr marL="342900" lvl="1" indent="0">
              <a:buNone/>
            </a:pPr>
            <a:r>
              <a:rPr lang="en-US" sz="1500" dirty="0">
                <a:ea typeface="Lucida Console" charset="0"/>
                <a:cs typeface="Lucida Console" charset="0"/>
              </a:rPr>
              <a:t>    </a:t>
            </a:r>
            <a:r>
              <a:rPr lang="en-US" sz="1500" dirty="0" err="1">
                <a:ea typeface="Lucida Console" charset="0"/>
                <a:cs typeface="Lucida Console" charset="0"/>
              </a:rPr>
              <a:t>Ti</a:t>
            </a:r>
            <a:r>
              <a:rPr lang="en-US" sz="1500" dirty="0">
                <a:ea typeface="Lucida Console" charset="0"/>
                <a:cs typeface="Lucida Console" charset="0"/>
              </a:rPr>
              <a:t> &gt; </a:t>
            </a:r>
            <a:r>
              <a:rPr lang="en-US" sz="1500" dirty="0" err="1">
                <a:ea typeface="Lucida Console" charset="0"/>
                <a:cs typeface="Lucida Console" charset="0"/>
              </a:rPr>
              <a:t>Tj</a:t>
            </a:r>
            <a:r>
              <a:rPr lang="en-US" sz="1500" dirty="0">
                <a:ea typeface="Lucida Console" charset="0"/>
                <a:cs typeface="Lucida Console" charset="0"/>
              </a:rPr>
              <a:t>    ? </a:t>
            </a:r>
          </a:p>
        </p:txBody>
      </p:sp>
      <p:grpSp>
        <p:nvGrpSpPr>
          <p:cNvPr id="18" name="Group 2" descr="If Ti &gt; Tj wound, otherwise wait. Illustrated by a man wounding another with a sword to get into a portopotty. Illustrated by a man waiting to get into the portopotty" title="Wound Wait">
            <a:extLst>
              <a:ext uri="{FF2B5EF4-FFF2-40B4-BE49-F238E27FC236}">
                <a16:creationId xmlns:a16="http://schemas.microsoft.com/office/drawing/2014/main" id="{BB2C006C-43EE-FB49-977B-0064E49C5CBE}"/>
              </a:ext>
            </a:extLst>
          </p:cNvPr>
          <p:cNvGrpSpPr/>
          <p:nvPr/>
        </p:nvGrpSpPr>
        <p:grpSpPr>
          <a:xfrm>
            <a:off x="2405049" y="3924834"/>
            <a:ext cx="3107068" cy="1096432"/>
            <a:chOff x="2405049" y="3924834"/>
            <a:chExt cx="3107068" cy="1096432"/>
          </a:xfrm>
        </p:grpSpPr>
        <p:pic>
          <p:nvPicPr>
            <p:cNvPr id="31" name="Picture 8" descr="If Ti &gt; Tj wound, otherwise wait. Illustrated by a man wounding another with a sword to get into a portopotty. Illustrated by a man waiting to get into the portopotty" title="Wound-Wait"/>
            <p:cNvPicPr>
              <a:picLocks noChangeAspect="1"/>
            </p:cNvPicPr>
            <p:nvPr/>
          </p:nvPicPr>
          <p:blipFill>
            <a:blip r:embed="rId3">
              <a:duotone>
                <a:schemeClr val="accent1">
                  <a:shade val="45000"/>
                  <a:satMod val="135000"/>
                </a:schemeClr>
                <a:prstClr val="white"/>
              </a:duotone>
            </a:blip>
            <a:stretch>
              <a:fillRect/>
            </a:stretch>
          </p:blipFill>
          <p:spPr>
            <a:xfrm flipH="1">
              <a:off x="2498272" y="3924834"/>
              <a:ext cx="938654" cy="882921"/>
            </a:xfrm>
            <a:prstGeom prst="rect">
              <a:avLst/>
            </a:prstGeom>
          </p:spPr>
        </p:pic>
        <p:pic>
          <p:nvPicPr>
            <p:cNvPr id="30" name="Picture 18" descr="If Ti &gt; Tj wound, otherwise wait. Illustrated by a man wounding another with a sword to get into a portopotty. Illustrated by a man waiting to get into the portopotty" title="Wound-Wait"/>
            <p:cNvPicPr>
              <a:picLocks noChangeAspect="1"/>
            </p:cNvPicPr>
            <p:nvPr/>
          </p:nvPicPr>
          <p:blipFill>
            <a:blip r:embed="rId3">
              <a:duotone>
                <a:schemeClr val="accent1">
                  <a:shade val="45000"/>
                  <a:satMod val="135000"/>
                </a:schemeClr>
                <a:prstClr val="white"/>
              </a:duotone>
            </a:blip>
            <a:stretch>
              <a:fillRect/>
            </a:stretch>
          </p:blipFill>
          <p:spPr>
            <a:xfrm flipH="1">
              <a:off x="4573463" y="3930004"/>
              <a:ext cx="938654" cy="882921"/>
            </a:xfrm>
            <a:prstGeom prst="rect">
              <a:avLst/>
            </a:prstGeom>
          </p:spPr>
        </p:pic>
        <p:pic>
          <p:nvPicPr>
            <p:cNvPr id="15" name="Picture 20" descr="If Ti &gt; Tj wound, otherwise wait. Illustrated by a man wounding another with a sword to get into a portopotty. Illustrated by a man waiting to get into the portopotty" title="Wound-Wait"/>
            <p:cNvPicPr>
              <a:picLocks noChangeAspect="1"/>
            </p:cNvPicPr>
            <p:nvPr/>
          </p:nvPicPr>
          <p:blipFill rotWithShape="1">
            <a:blip r:embed="rId4"/>
            <a:srcRect r="52177"/>
            <a:stretch/>
          </p:blipFill>
          <p:spPr>
            <a:xfrm rot="4999824">
              <a:off x="2737779" y="4182712"/>
              <a:ext cx="333962" cy="698336"/>
            </a:xfrm>
            <a:prstGeom prst="rect">
              <a:avLst/>
            </a:prstGeom>
          </p:spPr>
        </p:pic>
        <p:pic>
          <p:nvPicPr>
            <p:cNvPr id="17" name="Picture 21" descr="If Ti &gt; Tj wound, otherwise wait. Illustrated by a man wounding another with a sword to get into a portopotty. Illustrated by a man waiting to get into the portopotty" title="Wound Wait"/>
            <p:cNvPicPr>
              <a:picLocks noChangeAspect="1"/>
            </p:cNvPicPr>
            <p:nvPr/>
          </p:nvPicPr>
          <p:blipFill rotWithShape="1">
            <a:blip r:embed="rId4"/>
            <a:srcRect l="47001"/>
            <a:stretch/>
          </p:blipFill>
          <p:spPr>
            <a:xfrm>
              <a:off x="2409034" y="4109419"/>
              <a:ext cx="370112" cy="698336"/>
            </a:xfrm>
            <a:prstGeom prst="rect">
              <a:avLst/>
            </a:prstGeom>
          </p:spPr>
        </p:pic>
        <p:sp>
          <p:nvSpPr>
            <p:cNvPr id="23" name="TextBox 24"/>
            <p:cNvSpPr txBox="1"/>
            <p:nvPr/>
          </p:nvSpPr>
          <p:spPr>
            <a:xfrm>
              <a:off x="3814809" y="4217179"/>
              <a:ext cx="248786" cy="369332"/>
            </a:xfrm>
            <a:prstGeom prst="rect">
              <a:avLst/>
            </a:prstGeom>
            <a:noFill/>
          </p:spPr>
          <p:txBody>
            <a:bodyPr wrap="none" rtlCol="0">
              <a:spAutoFit/>
            </a:bodyPr>
            <a:lstStyle/>
            <a:p>
              <a:r>
                <a:rPr lang="en-US">
                  <a:solidFill>
                    <a:schemeClr val="tx2"/>
                  </a:solidFill>
                  <a:latin typeface="Helvetica Neue" charset="0"/>
                  <a:ea typeface="Helvetica Neue" charset="0"/>
                  <a:cs typeface="Helvetica Neue" charset="0"/>
                </a:rPr>
                <a:t>:</a:t>
              </a:r>
              <a:endParaRPr lang="en-US" dirty="0">
                <a:solidFill>
                  <a:schemeClr val="tx2"/>
                </a:solidFill>
                <a:latin typeface="Helvetica Neue" charset="0"/>
                <a:ea typeface="Helvetica Neue" charset="0"/>
                <a:cs typeface="Helvetica Neue" charset="0"/>
              </a:endParaRPr>
            </a:p>
          </p:txBody>
        </p:sp>
        <p:sp>
          <p:nvSpPr>
            <p:cNvPr id="24" name="TextBox 32"/>
            <p:cNvSpPr txBox="1"/>
            <p:nvPr/>
          </p:nvSpPr>
          <p:spPr>
            <a:xfrm>
              <a:off x="2405049" y="4692931"/>
              <a:ext cx="790858" cy="323165"/>
            </a:xfrm>
            <a:prstGeom prst="rect">
              <a:avLst/>
            </a:prstGeom>
            <a:noFill/>
          </p:spPr>
          <p:txBody>
            <a:bodyPr wrap="none" rtlCol="0">
              <a:spAutoFit/>
            </a:bodyPr>
            <a:lstStyle/>
            <a:p>
              <a:r>
                <a:rPr lang="en-US" sz="1500" dirty="0">
                  <a:solidFill>
                    <a:schemeClr val="tx2"/>
                  </a:solidFill>
                  <a:latin typeface="Helvetica Neue" charset="0"/>
                  <a:ea typeface="Helvetica Neue" charset="0"/>
                  <a:cs typeface="Helvetica Neue" charset="0"/>
                </a:rPr>
                <a:t>Wound</a:t>
              </a:r>
            </a:p>
          </p:txBody>
        </p:sp>
        <p:pic>
          <p:nvPicPr>
            <p:cNvPr id="26" name="Picture 34" descr="If Ti &gt; Tj wound, otherwise wait. Illustrated by a man wounding another with a sword to get into a portopotty. Illustrated by a man waiting to get into the portopotty" title="Wound Wait"/>
            <p:cNvPicPr>
              <a:picLocks noChangeAspect="1"/>
            </p:cNvPicPr>
            <p:nvPr/>
          </p:nvPicPr>
          <p:blipFill rotWithShape="1">
            <a:blip r:embed="rId4"/>
            <a:srcRect r="52177"/>
            <a:stretch/>
          </p:blipFill>
          <p:spPr>
            <a:xfrm>
              <a:off x="4405180" y="4066307"/>
              <a:ext cx="333962" cy="698336"/>
            </a:xfrm>
            <a:prstGeom prst="rect">
              <a:avLst/>
            </a:prstGeom>
          </p:spPr>
        </p:pic>
        <p:pic>
          <p:nvPicPr>
            <p:cNvPr id="27" name="Picture 35" descr="If Ti &gt; Tj wound, otherwise wait. Illustrated by a man wounding another with a sword to get into a portopotty. Illustrated by a man waiting to get into the portopotty" title="Wound-Wait"/>
            <p:cNvPicPr>
              <a:picLocks noChangeAspect="1"/>
            </p:cNvPicPr>
            <p:nvPr/>
          </p:nvPicPr>
          <p:blipFill rotWithShape="1">
            <a:blip r:embed="rId4"/>
            <a:srcRect l="47001"/>
            <a:stretch/>
          </p:blipFill>
          <p:spPr>
            <a:xfrm>
              <a:off x="4820558" y="4059938"/>
              <a:ext cx="370112" cy="698336"/>
            </a:xfrm>
            <a:prstGeom prst="rect">
              <a:avLst/>
            </a:prstGeom>
          </p:spPr>
        </p:pic>
        <p:sp>
          <p:nvSpPr>
            <p:cNvPr id="28" name="TextBox 36"/>
            <p:cNvSpPr txBox="1"/>
            <p:nvPr/>
          </p:nvSpPr>
          <p:spPr>
            <a:xfrm>
              <a:off x="4518416" y="4698101"/>
              <a:ext cx="562270" cy="323165"/>
            </a:xfrm>
            <a:prstGeom prst="rect">
              <a:avLst/>
            </a:prstGeom>
            <a:noFill/>
          </p:spPr>
          <p:txBody>
            <a:bodyPr wrap="none" rtlCol="0">
              <a:spAutoFit/>
            </a:bodyPr>
            <a:lstStyle/>
            <a:p>
              <a:r>
                <a:rPr lang="en-US" sz="1500">
                  <a:solidFill>
                    <a:schemeClr val="tx2"/>
                  </a:solidFill>
                  <a:latin typeface="Helvetica Neue" charset="0"/>
                  <a:ea typeface="Helvetica Neue" charset="0"/>
                  <a:cs typeface="Helvetica Neue" charset="0"/>
                </a:rPr>
                <a:t>Wait</a:t>
              </a:r>
              <a:endParaRPr lang="en-US" sz="1500" dirty="0">
                <a:solidFill>
                  <a:schemeClr val="tx2"/>
                </a:solidFill>
                <a:latin typeface="Helvetica Neue" charset="0"/>
                <a:ea typeface="Helvetica Neue" charset="0"/>
                <a:cs typeface="Helvetica Neue" charset="0"/>
              </a:endParaRPr>
            </a:p>
          </p:txBody>
        </p:sp>
        <p:sp>
          <p:nvSpPr>
            <p:cNvPr id="13" name="Rectangle 37"/>
            <p:cNvSpPr/>
            <p:nvPr/>
          </p:nvSpPr>
          <p:spPr bwMode="auto">
            <a:xfrm>
              <a:off x="2540279" y="4478141"/>
              <a:ext cx="85317" cy="221509"/>
            </a:xfrm>
            <a:prstGeom prst="rect">
              <a:avLst/>
            </a:prstGeom>
            <a:solidFill>
              <a:schemeClr val="bg1"/>
            </a:solidFill>
            <a:ln w="12700"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endParaRPr lang="en-US" sz="900">
                <a:solidFill>
                  <a:srgbClr val="000000"/>
                </a:solidFill>
                <a:latin typeface="Helvetica Neue" charset="0"/>
              </a:endParaRPr>
            </a:p>
          </p:txBody>
        </p:sp>
        <p:pic>
          <p:nvPicPr>
            <p:cNvPr id="29" name="Picture 38" descr="If Ti &gt; Tj wound, otherwise wait. Illustrated by a man wounding another with a sword to get into a portopotty. Illustrated by a man waiting to get into the portopotty" title="Wound-Wait"/>
            <p:cNvPicPr>
              <a:picLocks noChangeAspect="1"/>
            </p:cNvPicPr>
            <p:nvPr/>
          </p:nvPicPr>
          <p:blipFill>
            <a:blip r:embed="rId5"/>
            <a:stretch>
              <a:fillRect/>
            </a:stretch>
          </p:blipFill>
          <p:spPr>
            <a:xfrm rot="3591581">
              <a:off x="2550920" y="4382699"/>
              <a:ext cx="399176" cy="299382"/>
            </a:xfrm>
            <a:prstGeom prst="rect">
              <a:avLst/>
            </a:prstGeom>
          </p:spPr>
        </p:pic>
      </p:grpSp>
      <p:grpSp>
        <p:nvGrpSpPr>
          <p:cNvPr id="16" name="Group 51" descr="If Ti &gt; Tj then wait, otherwise die. Illustrated by a man waiting for a portopotty, and a man killing another man to get into the portopotty" title="Wait Die">
            <a:extLst>
              <a:ext uri="{FF2B5EF4-FFF2-40B4-BE49-F238E27FC236}">
                <a16:creationId xmlns:a16="http://schemas.microsoft.com/office/drawing/2014/main" id="{708C6286-CDF4-6645-A164-3D3A1179E251}"/>
              </a:ext>
            </a:extLst>
          </p:cNvPr>
          <p:cNvGrpSpPr/>
          <p:nvPr/>
        </p:nvGrpSpPr>
        <p:grpSpPr>
          <a:xfrm>
            <a:off x="698810" y="2724150"/>
            <a:ext cx="4939990" cy="1090184"/>
            <a:chOff x="698810" y="2724150"/>
            <a:chExt cx="4939990" cy="1090184"/>
          </a:xfrm>
        </p:grpSpPr>
        <p:pic>
          <p:nvPicPr>
            <p:cNvPr id="32" name="Picture 52" descr="If Ti &gt; Tj then wait, otherwise die. Illustrated by a man waiting for a portopotty, and a man killing another man to get into the portopotty" title="Wait Die"/>
            <p:cNvPicPr>
              <a:picLocks noChangeAspect="1"/>
            </p:cNvPicPr>
            <p:nvPr/>
          </p:nvPicPr>
          <p:blipFill>
            <a:blip r:embed="rId3">
              <a:duotone>
                <a:schemeClr val="accent1">
                  <a:shade val="45000"/>
                  <a:satMod val="135000"/>
                </a:schemeClr>
                <a:prstClr val="white"/>
              </a:duotone>
            </a:blip>
            <a:stretch>
              <a:fillRect/>
            </a:stretch>
          </p:blipFill>
          <p:spPr>
            <a:xfrm flipH="1">
              <a:off x="4585495" y="2724150"/>
              <a:ext cx="938654" cy="882921"/>
            </a:xfrm>
            <a:prstGeom prst="rect">
              <a:avLst/>
            </a:prstGeom>
          </p:spPr>
        </p:pic>
        <p:pic>
          <p:nvPicPr>
            <p:cNvPr id="12" name="Picture 53" descr="If Ti &gt; Tj then wait, otherwise die. Illustrated by a man waiting for a portopotty, and a man killing another man to get into the portopotty" title="Wait Die"/>
            <p:cNvPicPr>
              <a:picLocks noChangeAspect="1"/>
            </p:cNvPicPr>
            <p:nvPr/>
          </p:nvPicPr>
          <p:blipFill>
            <a:blip r:embed="rId3">
              <a:duotone>
                <a:schemeClr val="accent1">
                  <a:shade val="45000"/>
                  <a:satMod val="135000"/>
                </a:schemeClr>
                <a:prstClr val="white"/>
              </a:duotone>
            </a:blip>
            <a:stretch>
              <a:fillRect/>
            </a:stretch>
          </p:blipFill>
          <p:spPr>
            <a:xfrm flipH="1">
              <a:off x="2514544" y="2724150"/>
              <a:ext cx="938654" cy="882921"/>
            </a:xfrm>
            <a:prstGeom prst="rect">
              <a:avLst/>
            </a:prstGeom>
          </p:spPr>
        </p:pic>
        <p:pic>
          <p:nvPicPr>
            <p:cNvPr id="2" name="Picture 54" descr="If Ti &gt; Tj then wait, otherwise die. Illustrated by a man waiting for a portopotty, and a man killing another man to get into the portopotty" title="Wait Die"/>
            <p:cNvPicPr>
              <a:picLocks noChangeAspect="1"/>
            </p:cNvPicPr>
            <p:nvPr/>
          </p:nvPicPr>
          <p:blipFill rotWithShape="1">
            <a:blip r:embed="rId4"/>
            <a:srcRect r="52177"/>
            <a:stretch/>
          </p:blipFill>
          <p:spPr>
            <a:xfrm>
              <a:off x="2657793" y="2940725"/>
              <a:ext cx="333962" cy="698336"/>
            </a:xfrm>
            <a:prstGeom prst="rect">
              <a:avLst/>
            </a:prstGeom>
          </p:spPr>
        </p:pic>
        <p:pic>
          <p:nvPicPr>
            <p:cNvPr id="7" name="Picture 55" descr="If Ti &gt; Tj then wait, otherwise die. Illustrated by a man waiting for a portopotty, and a man killing another man to get into the portopotty" title="Wait Die"/>
            <p:cNvPicPr>
              <a:picLocks noChangeAspect="1"/>
            </p:cNvPicPr>
            <p:nvPr/>
          </p:nvPicPr>
          <p:blipFill rotWithShape="1">
            <a:blip r:embed="rId4"/>
            <a:srcRect l="47001"/>
            <a:stretch/>
          </p:blipFill>
          <p:spPr>
            <a:xfrm>
              <a:off x="2407238" y="2918359"/>
              <a:ext cx="370112" cy="698336"/>
            </a:xfrm>
            <a:prstGeom prst="rect">
              <a:avLst/>
            </a:prstGeom>
          </p:spPr>
        </p:pic>
        <p:pic>
          <p:nvPicPr>
            <p:cNvPr id="8" name="Picture 56" descr="If Ti &gt; Tj then wait, otherwise die. Illustrated by a man waiting for a portopotty, and a man killing another man to get into the portopotty" title="Wait Die"/>
            <p:cNvPicPr>
              <a:picLocks noChangeAspect="1"/>
            </p:cNvPicPr>
            <p:nvPr/>
          </p:nvPicPr>
          <p:blipFill rotWithShape="1">
            <a:blip r:embed="rId4"/>
            <a:srcRect r="52177"/>
            <a:stretch/>
          </p:blipFill>
          <p:spPr>
            <a:xfrm rot="16354514">
              <a:off x="4385988" y="3046656"/>
              <a:ext cx="333962" cy="698336"/>
            </a:xfrm>
            <a:prstGeom prst="rect">
              <a:avLst/>
            </a:prstGeom>
          </p:spPr>
        </p:pic>
        <p:pic>
          <p:nvPicPr>
            <p:cNvPr id="10" name="Picture 57" descr="If Ti &gt; Tj then wait, otherwise die. Illustrated by a man waiting for a portopotty, and a man killing another man to get into the portopotty" title="Wait Die"/>
            <p:cNvPicPr>
              <a:picLocks noChangeAspect="1"/>
            </p:cNvPicPr>
            <p:nvPr/>
          </p:nvPicPr>
          <p:blipFill rotWithShape="1">
            <a:blip r:embed="rId4"/>
            <a:srcRect l="47001"/>
            <a:stretch/>
          </p:blipFill>
          <p:spPr>
            <a:xfrm>
              <a:off x="4833877" y="2918693"/>
              <a:ext cx="370112" cy="698336"/>
            </a:xfrm>
            <a:prstGeom prst="rect">
              <a:avLst/>
            </a:prstGeom>
          </p:spPr>
        </p:pic>
        <p:pic>
          <p:nvPicPr>
            <p:cNvPr id="5" name="Picture 58" descr="If Ti &gt; Tj then wait, otherwise die. Illustrated by a man waiting for a portopotty, and a man killing another man to get into the portopotty" title="Wait Die"/>
            <p:cNvPicPr>
              <a:picLocks noChangeAspect="1"/>
            </p:cNvPicPr>
            <p:nvPr/>
          </p:nvPicPr>
          <p:blipFill>
            <a:blip r:embed="rId5"/>
            <a:stretch>
              <a:fillRect/>
            </a:stretch>
          </p:blipFill>
          <p:spPr>
            <a:xfrm rot="8959029">
              <a:off x="4366386" y="3044307"/>
              <a:ext cx="399176" cy="299382"/>
            </a:xfrm>
            <a:prstGeom prst="rect">
              <a:avLst/>
            </a:prstGeom>
          </p:spPr>
        </p:pic>
        <p:sp>
          <p:nvSpPr>
            <p:cNvPr id="6" name="TextBox 59"/>
            <p:cNvSpPr txBox="1"/>
            <p:nvPr/>
          </p:nvSpPr>
          <p:spPr>
            <a:xfrm>
              <a:off x="3814809" y="3043251"/>
              <a:ext cx="248786" cy="369332"/>
            </a:xfrm>
            <a:prstGeom prst="rect">
              <a:avLst/>
            </a:prstGeom>
            <a:noFill/>
          </p:spPr>
          <p:txBody>
            <a:bodyPr wrap="none" rtlCol="0">
              <a:spAutoFit/>
            </a:bodyPr>
            <a:lstStyle/>
            <a:p>
              <a:r>
                <a:rPr lang="en-US">
                  <a:solidFill>
                    <a:schemeClr val="tx2"/>
                  </a:solidFill>
                  <a:latin typeface="Helvetica Neue" charset="0"/>
                  <a:ea typeface="Helvetica Neue" charset="0"/>
                  <a:cs typeface="Helvetica Neue" charset="0"/>
                </a:rPr>
                <a:t>:</a:t>
              </a:r>
              <a:endParaRPr lang="en-US" dirty="0">
                <a:solidFill>
                  <a:schemeClr val="tx2"/>
                </a:solidFill>
                <a:latin typeface="Helvetica Neue" charset="0"/>
                <a:ea typeface="Helvetica Neue" charset="0"/>
                <a:cs typeface="Helvetica Neue" charset="0"/>
              </a:endParaRPr>
            </a:p>
          </p:txBody>
        </p:sp>
        <p:sp>
          <p:nvSpPr>
            <p:cNvPr id="11" name="TextBox 60"/>
            <p:cNvSpPr txBox="1"/>
            <p:nvPr/>
          </p:nvSpPr>
          <p:spPr>
            <a:xfrm>
              <a:off x="2406705" y="3491169"/>
              <a:ext cx="562270" cy="323165"/>
            </a:xfrm>
            <a:prstGeom prst="rect">
              <a:avLst/>
            </a:prstGeom>
            <a:noFill/>
          </p:spPr>
          <p:txBody>
            <a:bodyPr wrap="none" rtlCol="0">
              <a:spAutoFit/>
            </a:bodyPr>
            <a:lstStyle/>
            <a:p>
              <a:r>
                <a:rPr lang="en-US" sz="1500" dirty="0">
                  <a:solidFill>
                    <a:schemeClr val="tx2"/>
                  </a:solidFill>
                  <a:latin typeface="Helvetica Neue" charset="0"/>
                  <a:ea typeface="Helvetica Neue" charset="0"/>
                  <a:cs typeface="Helvetica Neue" charset="0"/>
                </a:rPr>
                <a:t>Wait</a:t>
              </a:r>
            </a:p>
          </p:txBody>
        </p:sp>
        <p:sp>
          <p:nvSpPr>
            <p:cNvPr id="14" name="TextBox 61"/>
            <p:cNvSpPr txBox="1"/>
            <p:nvPr/>
          </p:nvSpPr>
          <p:spPr>
            <a:xfrm>
              <a:off x="4453676" y="3484106"/>
              <a:ext cx="465192" cy="323165"/>
            </a:xfrm>
            <a:prstGeom prst="rect">
              <a:avLst/>
            </a:prstGeom>
            <a:noFill/>
          </p:spPr>
          <p:txBody>
            <a:bodyPr wrap="none" rtlCol="0">
              <a:spAutoFit/>
            </a:bodyPr>
            <a:lstStyle/>
            <a:p>
              <a:r>
                <a:rPr lang="en-US" sz="1500" dirty="0">
                  <a:solidFill>
                    <a:schemeClr val="tx2"/>
                  </a:solidFill>
                  <a:latin typeface="Helvetica Neue" charset="0"/>
                  <a:ea typeface="Helvetica Neue" charset="0"/>
                  <a:cs typeface="Helvetica Neue" charset="0"/>
                </a:rPr>
                <a:t>Die</a:t>
              </a:r>
            </a:p>
          </p:txBody>
        </p:sp>
        <p:cxnSp>
          <p:nvCxnSpPr>
            <p:cNvPr id="34" name="Straight Connector 62"/>
            <p:cNvCxnSpPr/>
            <p:nvPr/>
          </p:nvCxnSpPr>
          <p:spPr bwMode="auto">
            <a:xfrm>
              <a:off x="698810" y="3785038"/>
              <a:ext cx="4939990" cy="0"/>
            </a:xfrm>
            <a:prstGeom prst="line">
              <a:avLst/>
            </a:prstGeom>
            <a:solidFill>
              <a:srgbClr val="3366FF"/>
            </a:solidFill>
            <a:ln w="12700" cap="flat" cmpd="sng" algn="ctr">
              <a:solidFill>
                <a:srgbClr val="000000"/>
              </a:solidFill>
              <a:prstDash val="solid"/>
              <a:round/>
              <a:headEnd type="none" w="med" len="med"/>
              <a:tailEnd type="none" w="med" len="med"/>
            </a:ln>
            <a:effectLst/>
          </p:spPr>
        </p:cxnSp>
      </p:grpSp>
    </p:spTree>
    <p:extLst>
      <p:ext uri="{BB962C8B-B14F-4D97-AF65-F5344CB8AC3E}">
        <p14:creationId xmlns:p14="http://schemas.microsoft.com/office/powerpoint/2010/main" val="2025264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Deadlock Avoidance: Analysis</a:t>
            </a:r>
            <a:endParaRPr lang="en-US" dirty="0"/>
          </a:p>
        </p:txBody>
      </p:sp>
      <p:sp>
        <p:nvSpPr>
          <p:cNvPr id="3" name="Content Placeholder 2"/>
          <p:cNvSpPr>
            <a:spLocks noGrp="1"/>
          </p:cNvSpPr>
          <p:nvPr>
            <p:ph idx="1"/>
          </p:nvPr>
        </p:nvSpPr>
        <p:spPr/>
        <p:txBody>
          <a:bodyPr>
            <a:normAutofit/>
          </a:bodyPr>
          <a:lstStyle/>
          <a:p>
            <a:r>
              <a:rPr lang="en-US" sz="1600" dirty="0"/>
              <a:t>Q: Why do these schemes guarantee no deadlocks?</a:t>
            </a:r>
          </a:p>
          <a:p>
            <a:pPr lvl="1"/>
            <a:r>
              <a:rPr lang="en-US" sz="1600" dirty="0"/>
              <a:t>Q: What do the previous images have in common?</a:t>
            </a:r>
          </a:p>
          <a:p>
            <a:r>
              <a:rPr lang="en-US" sz="1600" dirty="0"/>
              <a:t>Important Detail: If a transaction re-starts, make sure it gets its original timestamp. Why?</a:t>
            </a:r>
          </a:p>
          <a:p>
            <a:r>
              <a:rPr lang="en-US" sz="1600" dirty="0"/>
              <a:t>Note: other priority schemes make sense</a:t>
            </a:r>
          </a:p>
          <a:p>
            <a:pPr lvl="1"/>
            <a:r>
              <a:rPr lang="en-US" sz="1600" dirty="0"/>
              <a:t>E.g. measures of resource consumption, like #locks acquired</a:t>
            </a:r>
          </a:p>
          <a:p>
            <a:endParaRPr lang="en-US" sz="1600" dirty="0"/>
          </a:p>
        </p:txBody>
      </p:sp>
      <p:grpSp>
        <p:nvGrpSpPr>
          <p:cNvPr id="8" name="Group 3" descr="A baby, a child, an adult, and an old man all walking to a portopotty" title="Aging">
            <a:extLst>
              <a:ext uri="{FF2B5EF4-FFF2-40B4-BE49-F238E27FC236}">
                <a16:creationId xmlns:a16="http://schemas.microsoft.com/office/drawing/2014/main" id="{2600AEA8-1777-AB4F-B08A-C4E2136FCD59}"/>
              </a:ext>
            </a:extLst>
          </p:cNvPr>
          <p:cNvGrpSpPr/>
          <p:nvPr/>
        </p:nvGrpSpPr>
        <p:grpSpPr>
          <a:xfrm>
            <a:off x="766923" y="3844478"/>
            <a:ext cx="4438931" cy="1080667"/>
            <a:chOff x="766923" y="3844478"/>
            <a:chExt cx="4438931" cy="1080667"/>
          </a:xfrm>
        </p:grpSpPr>
        <p:pic>
          <p:nvPicPr>
            <p:cNvPr id="5" name="Picture 6" title="Aging"/>
            <p:cNvPicPr>
              <a:picLocks noChangeAspect="1"/>
            </p:cNvPicPr>
            <p:nvPr/>
          </p:nvPicPr>
          <p:blipFill rotWithShape="1">
            <a:blip r:embed="rId2">
              <a:grayscl/>
            </a:blip>
            <a:srcRect r="18156"/>
            <a:stretch/>
          </p:blipFill>
          <p:spPr>
            <a:xfrm>
              <a:off x="766923" y="3844478"/>
              <a:ext cx="2472957" cy="1080667"/>
            </a:xfrm>
            <a:prstGeom prst="rect">
              <a:avLst/>
            </a:prstGeom>
          </p:spPr>
        </p:pic>
        <p:pic>
          <p:nvPicPr>
            <p:cNvPr id="6" name="Picture 8" descr="A baby, a child, an adult, and an old man all walking to a portopotty" title="Aging"/>
            <p:cNvPicPr>
              <a:picLocks noChangeAspect="1"/>
            </p:cNvPicPr>
            <p:nvPr/>
          </p:nvPicPr>
          <p:blipFill>
            <a:blip r:embed="rId3">
              <a:duotone>
                <a:schemeClr val="accent1">
                  <a:shade val="45000"/>
                  <a:satMod val="135000"/>
                </a:schemeClr>
                <a:prstClr val="white"/>
              </a:duotone>
            </a:blip>
            <a:stretch>
              <a:fillRect/>
            </a:stretch>
          </p:blipFill>
          <p:spPr>
            <a:xfrm flipH="1">
              <a:off x="4267200" y="3943350"/>
              <a:ext cx="938654" cy="882921"/>
            </a:xfrm>
            <a:prstGeom prst="rect">
              <a:avLst/>
            </a:prstGeom>
          </p:spPr>
        </p:pic>
      </p:grpSp>
    </p:spTree>
    <p:extLst>
      <p:ext uri="{BB962C8B-B14F-4D97-AF65-F5344CB8AC3E}">
        <p14:creationId xmlns:p14="http://schemas.microsoft.com/office/powerpoint/2010/main" val="684689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Deadlock Detection</a:t>
            </a:r>
            <a:endParaRPr lang="en-US" dirty="0"/>
          </a:p>
        </p:txBody>
      </p:sp>
      <p:sp>
        <p:nvSpPr>
          <p:cNvPr id="3" name="Content Placeholder 2">
            <a:extLst>
              <a:ext uri="{FF2B5EF4-FFF2-40B4-BE49-F238E27FC236}">
                <a16:creationId xmlns:a16="http://schemas.microsoft.com/office/drawing/2014/main" id="{454ECC14-8F95-3949-AB9A-D4B83FC68607}"/>
              </a:ext>
            </a:extLst>
          </p:cNvPr>
          <p:cNvSpPr>
            <a:spLocks noGrp="1"/>
          </p:cNvSpPr>
          <p:nvPr>
            <p:ph idx="1"/>
          </p:nvPr>
        </p:nvSpPr>
        <p:spPr/>
        <p:txBody>
          <a:bodyPr/>
          <a:lstStyle/>
          <a:p>
            <a:r>
              <a:rPr lang="en-US" dirty="0">
                <a:ea typeface="Lucida Console" charset="0"/>
                <a:cs typeface="Lucida Console" charset="0"/>
              </a:rPr>
              <a:t>Create and maintain a </a:t>
            </a:r>
            <a:r>
              <a:rPr lang="en-US" b="1" dirty="0">
                <a:ea typeface="Lucida Console" charset="0"/>
                <a:cs typeface="Lucida Console" charset="0"/>
              </a:rPr>
              <a:t>“waits-for” graph</a:t>
            </a:r>
          </a:p>
          <a:p>
            <a:r>
              <a:rPr lang="en-US" dirty="0">
                <a:ea typeface="Lucida Console" charset="0"/>
                <a:cs typeface="Lucida Console" charset="0"/>
              </a:rPr>
              <a:t>Periodically check for cycles in a graph</a:t>
            </a:r>
          </a:p>
        </p:txBody>
      </p:sp>
    </p:spTree>
    <p:extLst>
      <p:ext uri="{BB962C8B-B14F-4D97-AF65-F5344CB8AC3E}">
        <p14:creationId xmlns:p14="http://schemas.microsoft.com/office/powerpoint/2010/main" val="279206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2</a:t>
            </a:r>
          </a:p>
        </p:txBody>
      </p:sp>
      <p:sp>
        <p:nvSpPr>
          <p:cNvPr id="5" name="Content Placeholder 4" descr="T1: _ T2: _ T3: _ T4: _ " title="Example">
            <a:extLst>
              <a:ext uri="{FF2B5EF4-FFF2-40B4-BE49-F238E27FC236}">
                <a16:creationId xmlns:a16="http://schemas.microsoft.com/office/drawing/2014/main" id="{7CD55961-9C82-264D-9957-85F562836AFD}"/>
              </a:ext>
            </a:extLst>
          </p:cNvPr>
          <p:cNvSpPr>
            <a:spLocks noGrp="1"/>
          </p:cNvSpPr>
          <p:nvPr>
            <p:ph idx="1"/>
          </p:nvPr>
        </p:nvSpPr>
        <p:spPr>
          <a:xfrm>
            <a:off x="457200" y="1200151"/>
            <a:ext cx="2667000" cy="3394472"/>
          </a:xfrm>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a:t>
            </a:r>
          </a:p>
          <a:p>
            <a:pPr>
              <a:spcBef>
                <a:spcPct val="0"/>
              </a:spcBef>
              <a:buFontTx/>
              <a:buNone/>
            </a:pPr>
            <a:r>
              <a:rPr lang="en-US" b="1" dirty="0">
                <a:latin typeface="Tahoma" charset="0"/>
                <a:ea typeface="ＭＳ Ｐゴシック" charset="0"/>
                <a:cs typeface="ＭＳ Ｐゴシック" charset="0"/>
              </a:rPr>
              <a:t>T2:	   	 		</a:t>
            </a:r>
          </a:p>
          <a:p>
            <a:pPr>
              <a:spcBef>
                <a:spcPct val="0"/>
              </a:spcBef>
              <a:buFontTx/>
              <a:buNone/>
            </a:pPr>
            <a:r>
              <a:rPr lang="en-US" b="1" dirty="0">
                <a:latin typeface="Tahoma" charset="0"/>
                <a:ea typeface="ＭＳ Ｐゴシック" charset="0"/>
                <a:cs typeface="ＭＳ Ｐゴシック" charset="0"/>
              </a:rPr>
              <a:t>T3:				    		</a:t>
            </a:r>
          </a:p>
          <a:p>
            <a:pPr>
              <a:spcBef>
                <a:spcPct val="0"/>
              </a:spcBef>
              <a:buFontTx/>
              <a:buNone/>
            </a:pPr>
            <a:r>
              <a:rPr lang="en-US" b="1" dirty="0">
                <a:latin typeface="Tahoma" charset="0"/>
                <a:ea typeface="ＭＳ Ｐゴシック" charset="0"/>
                <a:cs typeface="ＭＳ Ｐゴシック" charset="0"/>
              </a:rPr>
              <a:t>T4:</a:t>
            </a:r>
          </a:p>
        </p:txBody>
      </p:sp>
      <p:sp>
        <p:nvSpPr>
          <p:cNvPr id="50" name="Oval 15" descr="No edges" title="T1"/>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51" name="Oval 16" descr="No edges" title="T2"/>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52" name="Oval 17" descr="No edges" title="T4"/>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dirty="0"/>
          </a:p>
        </p:txBody>
      </p:sp>
      <p:sp>
        <p:nvSpPr>
          <p:cNvPr id="53" name="Oval 18" descr="No edges" title="T3"/>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54" name="Rectangle 19" descr="No edges" title="T1"/>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55" name="Rectangle 20" descr="No edges" title="T2"/>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56" name="Rectangle 21" title="T4"/>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57" name="Rectangle 22"/>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Tree>
    <p:extLst>
      <p:ext uri="{BB962C8B-B14F-4D97-AF65-F5344CB8AC3E}">
        <p14:creationId xmlns:p14="http://schemas.microsoft.com/office/powerpoint/2010/main" val="141220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3</a:t>
            </a:r>
          </a:p>
        </p:txBody>
      </p:sp>
      <p:sp>
        <p:nvSpPr>
          <p:cNvPr id="3" name="Content Placeholder 2" descr="T1: S(A)" title="Schedule">
            <a:extLst>
              <a:ext uri="{FF2B5EF4-FFF2-40B4-BE49-F238E27FC236}">
                <a16:creationId xmlns:a16="http://schemas.microsoft.com/office/drawing/2014/main" id="{32B4E0F6-E5B1-544A-8316-3CD8B4CFF36D}"/>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a:t>
            </a:r>
          </a:p>
          <a:p>
            <a:pPr>
              <a:spcBef>
                <a:spcPct val="0"/>
              </a:spcBef>
              <a:buFontTx/>
              <a:buNone/>
            </a:pPr>
            <a:r>
              <a:rPr lang="en-US" b="1" dirty="0">
                <a:latin typeface="Tahoma" charset="0"/>
                <a:ea typeface="ＭＳ Ｐゴシック" charset="0"/>
                <a:cs typeface="ＭＳ Ｐゴシック" charset="0"/>
              </a:rPr>
              <a:t>T2:	   	 		</a:t>
            </a:r>
          </a:p>
          <a:p>
            <a:pPr>
              <a:spcBef>
                <a:spcPct val="0"/>
              </a:spcBef>
              <a:buFontTx/>
              <a:buNone/>
            </a:pPr>
            <a:r>
              <a:rPr lang="en-US" b="1" dirty="0">
                <a:latin typeface="Tahoma" charset="0"/>
                <a:ea typeface="ＭＳ Ｐゴシック" charset="0"/>
                <a:cs typeface="ＭＳ Ｐゴシック" charset="0"/>
              </a:rPr>
              <a:t>T3:				    		</a:t>
            </a:r>
          </a:p>
          <a:p>
            <a:pPr>
              <a:spcBef>
                <a:spcPct val="0"/>
              </a:spcBef>
              <a:buFontTx/>
              <a:buNone/>
            </a:pPr>
            <a:r>
              <a:rPr lang="en-US" b="1" dirty="0">
                <a:latin typeface="Tahoma" charset="0"/>
                <a:ea typeface="ＭＳ Ｐゴシック" charset="0"/>
                <a:cs typeface="ＭＳ Ｐゴシック" charset="0"/>
              </a:rPr>
              <a:t>T4:						</a:t>
            </a:r>
          </a:p>
        </p:txBody>
      </p:sp>
      <p:sp>
        <p:nvSpPr>
          <p:cNvPr id="23" name="Oval 15" descr="No edges" title="T1">
            <a:extLst>
              <a:ext uri="{FF2B5EF4-FFF2-40B4-BE49-F238E27FC236}">
                <a16:creationId xmlns:a16="http://schemas.microsoft.com/office/drawing/2014/main" id="{3EAC4978-E16F-5346-8968-AD4516D6D5A9}"/>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4" name="Oval 16" descr="No edges" title="T2">
            <a:extLst>
              <a:ext uri="{FF2B5EF4-FFF2-40B4-BE49-F238E27FC236}">
                <a16:creationId xmlns:a16="http://schemas.microsoft.com/office/drawing/2014/main" id="{4190D211-7F90-1F44-AD26-7A5146309362}"/>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5" name="Oval 17" descr="No edges" title="T4">
            <a:extLst>
              <a:ext uri="{FF2B5EF4-FFF2-40B4-BE49-F238E27FC236}">
                <a16:creationId xmlns:a16="http://schemas.microsoft.com/office/drawing/2014/main" id="{FF16B7E0-48F7-2E45-9CC4-F719777976B8}"/>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6" name="Oval 18" descr="No edges" title="T3">
            <a:extLst>
              <a:ext uri="{FF2B5EF4-FFF2-40B4-BE49-F238E27FC236}">
                <a16:creationId xmlns:a16="http://schemas.microsoft.com/office/drawing/2014/main" id="{8B1D88B1-450D-6240-A4BB-15D16AE89C6E}"/>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7" name="Rectangle 19" descr="No edges" title="T1">
            <a:extLst>
              <a:ext uri="{FF2B5EF4-FFF2-40B4-BE49-F238E27FC236}">
                <a16:creationId xmlns:a16="http://schemas.microsoft.com/office/drawing/2014/main" id="{2117871E-A805-1743-8628-4DB1FD619B8D}"/>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8" name="Rectangle 20" descr="No edges" title="T2">
            <a:extLst>
              <a:ext uri="{FF2B5EF4-FFF2-40B4-BE49-F238E27FC236}">
                <a16:creationId xmlns:a16="http://schemas.microsoft.com/office/drawing/2014/main" id="{657D1561-7D5A-4F4F-9D76-918D17361B47}"/>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29" name="Rectangle 21" descr="No edges" title="T4">
            <a:extLst>
              <a:ext uri="{FF2B5EF4-FFF2-40B4-BE49-F238E27FC236}">
                <a16:creationId xmlns:a16="http://schemas.microsoft.com/office/drawing/2014/main" id="{FE152DF6-AD2A-BC48-92D5-EEED93CE60BD}"/>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30" name="Rectangle 22" descr="No edges" title="T3">
            <a:extLst>
              <a:ext uri="{FF2B5EF4-FFF2-40B4-BE49-F238E27FC236}">
                <a16:creationId xmlns:a16="http://schemas.microsoft.com/office/drawing/2014/main" id="{0320A782-2CB3-D146-AFDD-A95BBD4E11B0}"/>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Tree>
    <p:extLst>
      <p:ext uri="{BB962C8B-B14F-4D97-AF65-F5344CB8AC3E}">
        <p14:creationId xmlns:p14="http://schemas.microsoft.com/office/powerpoint/2010/main" val="181209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4</a:t>
            </a:r>
          </a:p>
        </p:txBody>
      </p:sp>
      <p:sp>
        <p:nvSpPr>
          <p:cNvPr id="3" name="Content Placeholder 2" descr="T1: S(A)&#10;T1: S(D)" title="Schedule">
            <a:extLst>
              <a:ext uri="{FF2B5EF4-FFF2-40B4-BE49-F238E27FC236}">
                <a16:creationId xmlns:a16="http://schemas.microsoft.com/office/drawing/2014/main" id="{322FE9AB-3293-D34F-82B9-74BFCF8D371E}"/>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a:t>
            </a:r>
          </a:p>
          <a:p>
            <a:pPr>
              <a:spcBef>
                <a:spcPct val="0"/>
              </a:spcBef>
              <a:buFontTx/>
              <a:buNone/>
            </a:pPr>
            <a:r>
              <a:rPr lang="en-US" b="1" dirty="0">
                <a:latin typeface="Tahoma" charset="0"/>
                <a:ea typeface="ＭＳ Ｐゴシック" charset="0"/>
                <a:cs typeface="ＭＳ Ｐゴシック" charset="0"/>
              </a:rPr>
              <a:t>T2:	   	 		</a:t>
            </a:r>
          </a:p>
          <a:p>
            <a:pPr>
              <a:spcBef>
                <a:spcPct val="0"/>
              </a:spcBef>
              <a:buFontTx/>
              <a:buNone/>
            </a:pPr>
            <a:r>
              <a:rPr lang="en-US" b="1" dirty="0">
                <a:latin typeface="Tahoma" charset="0"/>
                <a:ea typeface="ＭＳ Ｐゴシック" charset="0"/>
                <a:cs typeface="ＭＳ Ｐゴシック" charset="0"/>
              </a:rPr>
              <a:t>T3:				    		</a:t>
            </a:r>
          </a:p>
          <a:p>
            <a:pPr>
              <a:spcBef>
                <a:spcPct val="0"/>
              </a:spcBef>
              <a:buFontTx/>
              <a:buNone/>
            </a:pPr>
            <a:r>
              <a:rPr lang="en-US" b="1" dirty="0">
                <a:latin typeface="Tahoma" charset="0"/>
                <a:ea typeface="ＭＳ Ｐゴシック" charset="0"/>
                <a:cs typeface="ＭＳ Ｐゴシック" charset="0"/>
              </a:rPr>
              <a:t>T4:						</a:t>
            </a:r>
          </a:p>
        </p:txBody>
      </p:sp>
      <p:sp>
        <p:nvSpPr>
          <p:cNvPr id="12" name="Oval 15" descr="No edges" title="T1">
            <a:extLst>
              <a:ext uri="{FF2B5EF4-FFF2-40B4-BE49-F238E27FC236}">
                <a16:creationId xmlns:a16="http://schemas.microsoft.com/office/drawing/2014/main" id="{A4B0F958-24AB-4D47-85D2-D8D97BD91D3E}"/>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3" name="Oval 16" descr="No edges" title="T2">
            <a:extLst>
              <a:ext uri="{FF2B5EF4-FFF2-40B4-BE49-F238E27FC236}">
                <a16:creationId xmlns:a16="http://schemas.microsoft.com/office/drawing/2014/main" id="{EBA9889E-2E3D-BA48-973A-616EBB1E6350}"/>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4" name="Oval 17" descr="No edges" title="T4">
            <a:extLst>
              <a:ext uri="{FF2B5EF4-FFF2-40B4-BE49-F238E27FC236}">
                <a16:creationId xmlns:a16="http://schemas.microsoft.com/office/drawing/2014/main" id="{08A7EEB5-190E-E74A-8A7F-E8AAC6A2974B}"/>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5" name="Oval 18" descr="No edges" title="T3">
            <a:extLst>
              <a:ext uri="{FF2B5EF4-FFF2-40B4-BE49-F238E27FC236}">
                <a16:creationId xmlns:a16="http://schemas.microsoft.com/office/drawing/2014/main" id="{49A9DF57-D08F-2A46-96DA-2D50DC632D0F}"/>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6" name="Rectangle 19" descr="No edges" title="T1">
            <a:extLst>
              <a:ext uri="{FF2B5EF4-FFF2-40B4-BE49-F238E27FC236}">
                <a16:creationId xmlns:a16="http://schemas.microsoft.com/office/drawing/2014/main" id="{5E561563-99BF-F24A-B03D-6D9930FBC5B2}"/>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17" name="Rectangle 20" descr="No edges" title="T2">
            <a:extLst>
              <a:ext uri="{FF2B5EF4-FFF2-40B4-BE49-F238E27FC236}">
                <a16:creationId xmlns:a16="http://schemas.microsoft.com/office/drawing/2014/main" id="{87F5A2B8-B52E-1C46-A316-9D0EDAADCC98}"/>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18" name="Rectangle 21" descr="No edges" title="T4">
            <a:extLst>
              <a:ext uri="{FF2B5EF4-FFF2-40B4-BE49-F238E27FC236}">
                <a16:creationId xmlns:a16="http://schemas.microsoft.com/office/drawing/2014/main" id="{22600C56-FF1E-6643-8270-7CC84A63DC26}"/>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19" name="Rectangle 22" descr="No edges" title="T3">
            <a:extLst>
              <a:ext uri="{FF2B5EF4-FFF2-40B4-BE49-F238E27FC236}">
                <a16:creationId xmlns:a16="http://schemas.microsoft.com/office/drawing/2014/main" id="{5355DA4D-EAB7-3C4E-9581-87F4031967EC}"/>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Tree>
    <p:extLst>
      <p:ext uri="{BB962C8B-B14F-4D97-AF65-F5344CB8AC3E}">
        <p14:creationId xmlns:p14="http://schemas.microsoft.com/office/powerpoint/2010/main" val="1081745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5</a:t>
            </a:r>
          </a:p>
        </p:txBody>
      </p:sp>
      <p:sp>
        <p:nvSpPr>
          <p:cNvPr id="3" name="Content Placeholder 2" descr="T1: S(A)&#10;T1: S(D)&#10;T2: X(B)" title="Schedule">
            <a:extLst>
              <a:ext uri="{FF2B5EF4-FFF2-40B4-BE49-F238E27FC236}">
                <a16:creationId xmlns:a16="http://schemas.microsoft.com/office/drawing/2014/main" id="{595A1CFD-6F73-AC4A-B324-C518593C1F8B}"/>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a:t>
            </a:r>
          </a:p>
          <a:p>
            <a:pPr>
              <a:spcBef>
                <a:spcPct val="0"/>
              </a:spcBef>
              <a:buFontTx/>
              <a:buNone/>
            </a:pPr>
            <a:r>
              <a:rPr lang="en-US" b="1" dirty="0">
                <a:latin typeface="Tahoma" charset="0"/>
                <a:ea typeface="ＭＳ Ｐゴシック" charset="0"/>
                <a:cs typeface="ＭＳ Ｐゴシック" charset="0"/>
              </a:rPr>
              <a:t>T2:	   	   X(B)   		</a:t>
            </a:r>
          </a:p>
          <a:p>
            <a:pPr>
              <a:spcBef>
                <a:spcPct val="0"/>
              </a:spcBef>
              <a:buFontTx/>
              <a:buNone/>
            </a:pPr>
            <a:r>
              <a:rPr lang="en-US" b="1" dirty="0">
                <a:latin typeface="Tahoma" charset="0"/>
                <a:ea typeface="ＭＳ Ｐゴシック" charset="0"/>
                <a:cs typeface="ＭＳ Ｐゴシック" charset="0"/>
              </a:rPr>
              <a:t>T3:				    		</a:t>
            </a:r>
          </a:p>
          <a:p>
            <a:pPr>
              <a:spcBef>
                <a:spcPct val="0"/>
              </a:spcBef>
              <a:buFontTx/>
              <a:buNone/>
            </a:pPr>
            <a:r>
              <a:rPr lang="en-US" b="1" dirty="0">
                <a:latin typeface="Tahoma" charset="0"/>
                <a:ea typeface="ＭＳ Ｐゴシック" charset="0"/>
                <a:cs typeface="ＭＳ Ｐゴシック" charset="0"/>
              </a:rPr>
              <a:t>T4:						</a:t>
            </a:r>
          </a:p>
        </p:txBody>
      </p:sp>
      <p:sp>
        <p:nvSpPr>
          <p:cNvPr id="12" name="Oval 15" descr="No edges" title="T1">
            <a:extLst>
              <a:ext uri="{FF2B5EF4-FFF2-40B4-BE49-F238E27FC236}">
                <a16:creationId xmlns:a16="http://schemas.microsoft.com/office/drawing/2014/main" id="{D34363A7-1BDD-3745-A2CC-EF02EC280456}"/>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3" name="Oval 16" descr="No edges" title="T2">
            <a:extLst>
              <a:ext uri="{FF2B5EF4-FFF2-40B4-BE49-F238E27FC236}">
                <a16:creationId xmlns:a16="http://schemas.microsoft.com/office/drawing/2014/main" id="{2BD917A0-7861-7D4A-85D2-B3995349AC3C}"/>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4" name="Oval 17" descr="No edges" title="T4">
            <a:extLst>
              <a:ext uri="{FF2B5EF4-FFF2-40B4-BE49-F238E27FC236}">
                <a16:creationId xmlns:a16="http://schemas.microsoft.com/office/drawing/2014/main" id="{E87100B3-F373-0746-99B4-F3053AE6F504}"/>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5" name="Oval 18" descr="No edges" title="T3">
            <a:extLst>
              <a:ext uri="{FF2B5EF4-FFF2-40B4-BE49-F238E27FC236}">
                <a16:creationId xmlns:a16="http://schemas.microsoft.com/office/drawing/2014/main" id="{63A48A53-C9E1-5548-A9A1-95BC07080188}"/>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6" name="Rectangle 19" descr="No edges" title="T1">
            <a:extLst>
              <a:ext uri="{FF2B5EF4-FFF2-40B4-BE49-F238E27FC236}">
                <a16:creationId xmlns:a16="http://schemas.microsoft.com/office/drawing/2014/main" id="{187C6B31-FB8E-A946-BF77-895346C110B7}"/>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17" name="Rectangle 20" descr="No edges" title="T2">
            <a:extLst>
              <a:ext uri="{FF2B5EF4-FFF2-40B4-BE49-F238E27FC236}">
                <a16:creationId xmlns:a16="http://schemas.microsoft.com/office/drawing/2014/main" id="{081CDB1A-E335-8E4A-9557-B8D93FDADAA9}"/>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18" name="Rectangle 21" descr="No edges" title="T4">
            <a:extLst>
              <a:ext uri="{FF2B5EF4-FFF2-40B4-BE49-F238E27FC236}">
                <a16:creationId xmlns:a16="http://schemas.microsoft.com/office/drawing/2014/main" id="{24E56918-B277-5042-BA11-32A079269268}"/>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19" name="Rectangle 22" descr="No edges" title="T3">
            <a:extLst>
              <a:ext uri="{FF2B5EF4-FFF2-40B4-BE49-F238E27FC236}">
                <a16:creationId xmlns:a16="http://schemas.microsoft.com/office/drawing/2014/main" id="{0BF8DEF8-34F8-FF49-B1FD-0247872D13FC}"/>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Tree>
    <p:extLst>
      <p:ext uri="{BB962C8B-B14F-4D97-AF65-F5344CB8AC3E}">
        <p14:creationId xmlns:p14="http://schemas.microsoft.com/office/powerpoint/2010/main" val="400613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6</a:t>
            </a:r>
          </a:p>
        </p:txBody>
      </p:sp>
      <p:sp>
        <p:nvSpPr>
          <p:cNvPr id="3" name="Content Placeholder 2" descr="T1: S(A)&#10;T1: S(D)&#10;T2: X(B)&#10;T1: S(B)&#10;" title="Schedule">
            <a:extLst>
              <a:ext uri="{FF2B5EF4-FFF2-40B4-BE49-F238E27FC236}">
                <a16:creationId xmlns:a16="http://schemas.microsoft.com/office/drawing/2014/main" id="{00B60EC9-5772-5E45-9FA9-31B6C76E4751}"/>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S(B)</a:t>
            </a:r>
          </a:p>
          <a:p>
            <a:pPr>
              <a:spcBef>
                <a:spcPct val="0"/>
              </a:spcBef>
              <a:buFontTx/>
              <a:buNone/>
            </a:pPr>
            <a:r>
              <a:rPr lang="en-US" b="1" dirty="0">
                <a:latin typeface="Tahoma" charset="0"/>
                <a:ea typeface="ＭＳ Ｐゴシック" charset="0"/>
                <a:cs typeface="ＭＳ Ｐゴシック" charset="0"/>
              </a:rPr>
              <a:t>T2:	   	   X(B)   		</a:t>
            </a:r>
          </a:p>
          <a:p>
            <a:pPr>
              <a:spcBef>
                <a:spcPct val="0"/>
              </a:spcBef>
              <a:buFontTx/>
              <a:buNone/>
            </a:pPr>
            <a:r>
              <a:rPr lang="en-US" b="1" dirty="0">
                <a:latin typeface="Tahoma" charset="0"/>
                <a:ea typeface="ＭＳ Ｐゴシック" charset="0"/>
                <a:cs typeface="ＭＳ Ｐゴシック" charset="0"/>
              </a:rPr>
              <a:t>T3:				    		</a:t>
            </a:r>
          </a:p>
          <a:p>
            <a:pPr>
              <a:spcBef>
                <a:spcPct val="0"/>
              </a:spcBef>
              <a:buFontTx/>
              <a:buNone/>
            </a:pPr>
            <a:r>
              <a:rPr lang="en-US" b="1" dirty="0">
                <a:latin typeface="Tahoma" charset="0"/>
                <a:ea typeface="ＭＳ Ｐゴシック" charset="0"/>
                <a:cs typeface="ＭＳ Ｐゴシック" charset="0"/>
              </a:rPr>
              <a:t>T4:						</a:t>
            </a:r>
          </a:p>
        </p:txBody>
      </p:sp>
      <p:sp>
        <p:nvSpPr>
          <p:cNvPr id="24" name="Oval 15" descr="Edge to T2" title="T1">
            <a:extLst>
              <a:ext uri="{FF2B5EF4-FFF2-40B4-BE49-F238E27FC236}">
                <a16:creationId xmlns:a16="http://schemas.microsoft.com/office/drawing/2014/main" id="{4F0F5812-6E5E-EB45-9B6C-2606E8150A35}"/>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5" name="Oval 16" descr="No Edges" title="T2">
            <a:extLst>
              <a:ext uri="{FF2B5EF4-FFF2-40B4-BE49-F238E27FC236}">
                <a16:creationId xmlns:a16="http://schemas.microsoft.com/office/drawing/2014/main" id="{DDCB9DA1-5099-4D45-B8E7-EBE82ABBCA77}"/>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6" name="Oval 17" descr="No Edges" title="T4">
            <a:extLst>
              <a:ext uri="{FF2B5EF4-FFF2-40B4-BE49-F238E27FC236}">
                <a16:creationId xmlns:a16="http://schemas.microsoft.com/office/drawing/2014/main" id="{15EDD271-723F-5547-B179-671DDD07C930}"/>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7" name="Oval 18" descr="No Edges" title="T3">
            <a:extLst>
              <a:ext uri="{FF2B5EF4-FFF2-40B4-BE49-F238E27FC236}">
                <a16:creationId xmlns:a16="http://schemas.microsoft.com/office/drawing/2014/main" id="{C2D75447-1874-644B-A219-19988DEDF0D7}"/>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8" name="Rectangle 19" title="T1">
            <a:extLst>
              <a:ext uri="{FF2B5EF4-FFF2-40B4-BE49-F238E27FC236}">
                <a16:creationId xmlns:a16="http://schemas.microsoft.com/office/drawing/2014/main" id="{44D11645-DDC4-E441-AFDA-1A58AE2D1147}"/>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9" name="Rectangle 20" title="T2">
            <a:extLst>
              <a:ext uri="{FF2B5EF4-FFF2-40B4-BE49-F238E27FC236}">
                <a16:creationId xmlns:a16="http://schemas.microsoft.com/office/drawing/2014/main" id="{0441CA29-970A-F84A-A3C3-96C924CF0199}"/>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30" name="Rectangle 21" title="T4">
            <a:extLst>
              <a:ext uri="{FF2B5EF4-FFF2-40B4-BE49-F238E27FC236}">
                <a16:creationId xmlns:a16="http://schemas.microsoft.com/office/drawing/2014/main" id="{E0E53DEA-1F6A-B540-A61D-F5DD484B1823}"/>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31" name="Rectangle 22">
            <a:extLst>
              <a:ext uri="{FF2B5EF4-FFF2-40B4-BE49-F238E27FC236}">
                <a16:creationId xmlns:a16="http://schemas.microsoft.com/office/drawing/2014/main" id="{6C0E3EE7-A2E6-7A49-B627-83AA71D4B9FC}"/>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
        <p:nvSpPr>
          <p:cNvPr id="32" name="Line 23" descr="A skinny directed edge from T1 to T2" title="T1 to T2 Edge">
            <a:extLst>
              <a:ext uri="{FF2B5EF4-FFF2-40B4-BE49-F238E27FC236}">
                <a16:creationId xmlns:a16="http://schemas.microsoft.com/office/drawing/2014/main" id="{DB213052-F3BA-D546-90F8-67BE9C7F9CF8}"/>
              </a:ext>
            </a:extLst>
          </p:cNvPr>
          <p:cNvSpPr>
            <a:spLocks noChangeShapeType="1"/>
          </p:cNvSpPr>
          <p:nvPr/>
        </p:nvSpPr>
        <p:spPr bwMode="auto">
          <a:xfrm>
            <a:off x="4295775" y="3486150"/>
            <a:ext cx="1085850" cy="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Tree>
    <p:extLst>
      <p:ext uri="{BB962C8B-B14F-4D97-AF65-F5344CB8AC3E}">
        <p14:creationId xmlns:p14="http://schemas.microsoft.com/office/powerpoint/2010/main" val="1297027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7</a:t>
            </a:r>
          </a:p>
        </p:txBody>
      </p:sp>
      <p:sp>
        <p:nvSpPr>
          <p:cNvPr id="3" name="Content Placeholder 2" descr="T1: S(A)&#10;T1: S(D)&#10;T2: X(B)&#10;T1: S(B)&#10;T3: S(D)" title="Schedule">
            <a:extLst>
              <a:ext uri="{FF2B5EF4-FFF2-40B4-BE49-F238E27FC236}">
                <a16:creationId xmlns:a16="http://schemas.microsoft.com/office/drawing/2014/main" id="{CFFF9C35-2046-3B49-BD72-4291395C250E}"/>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S(B)</a:t>
            </a:r>
          </a:p>
          <a:p>
            <a:pPr>
              <a:spcBef>
                <a:spcPct val="0"/>
              </a:spcBef>
              <a:buFontTx/>
              <a:buNone/>
            </a:pPr>
            <a:r>
              <a:rPr lang="en-US" b="1" dirty="0">
                <a:latin typeface="Tahoma" charset="0"/>
                <a:ea typeface="ＭＳ Ｐゴシック" charset="0"/>
                <a:cs typeface="ＭＳ Ｐゴシック" charset="0"/>
              </a:rPr>
              <a:t>T2:	   	   X(B)   		</a:t>
            </a:r>
          </a:p>
          <a:p>
            <a:pPr>
              <a:spcBef>
                <a:spcPct val="0"/>
              </a:spcBef>
              <a:buFontTx/>
              <a:buNone/>
            </a:pPr>
            <a:r>
              <a:rPr lang="en-US" b="1" dirty="0">
                <a:latin typeface="Tahoma" charset="0"/>
                <a:ea typeface="ＭＳ Ｐゴシック" charset="0"/>
                <a:cs typeface="ＭＳ Ｐゴシック" charset="0"/>
              </a:rPr>
              <a:t>T3:				    S(D)		</a:t>
            </a:r>
          </a:p>
          <a:p>
            <a:pPr>
              <a:spcBef>
                <a:spcPct val="0"/>
              </a:spcBef>
              <a:buFontTx/>
              <a:buNone/>
            </a:pPr>
            <a:r>
              <a:rPr lang="en-US" b="1" dirty="0">
                <a:latin typeface="Tahoma" charset="0"/>
                <a:ea typeface="ＭＳ Ｐゴシック" charset="0"/>
                <a:cs typeface="ＭＳ Ｐゴシック" charset="0"/>
              </a:rPr>
              <a:t>T4:						</a:t>
            </a:r>
          </a:p>
        </p:txBody>
      </p:sp>
      <p:sp>
        <p:nvSpPr>
          <p:cNvPr id="13" name="Oval 15" descr="Edge to T2" title="T1">
            <a:extLst>
              <a:ext uri="{FF2B5EF4-FFF2-40B4-BE49-F238E27FC236}">
                <a16:creationId xmlns:a16="http://schemas.microsoft.com/office/drawing/2014/main" id="{964A455C-808B-8E45-A3B8-1204B8E8AD45}"/>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4" name="Oval 16" descr="No Edges" title="T2">
            <a:extLst>
              <a:ext uri="{FF2B5EF4-FFF2-40B4-BE49-F238E27FC236}">
                <a16:creationId xmlns:a16="http://schemas.microsoft.com/office/drawing/2014/main" id="{6E5ED8D3-1BC3-F04D-8F02-56ECA4FEB999}"/>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5" name="Oval 17" descr="No Edges" title="T4">
            <a:extLst>
              <a:ext uri="{FF2B5EF4-FFF2-40B4-BE49-F238E27FC236}">
                <a16:creationId xmlns:a16="http://schemas.microsoft.com/office/drawing/2014/main" id="{F25A81ED-2E0C-6541-B992-C812A78CA5FF}"/>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6" name="Oval 18" descr="No Edges" title="T3">
            <a:extLst>
              <a:ext uri="{FF2B5EF4-FFF2-40B4-BE49-F238E27FC236}">
                <a16:creationId xmlns:a16="http://schemas.microsoft.com/office/drawing/2014/main" id="{2D651BF5-940E-B540-B851-5814386C17D2}"/>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7" name="Rectangle 19" title="T1">
            <a:extLst>
              <a:ext uri="{FF2B5EF4-FFF2-40B4-BE49-F238E27FC236}">
                <a16:creationId xmlns:a16="http://schemas.microsoft.com/office/drawing/2014/main" id="{80AAE20B-21C9-094A-AE29-BE1F975A5C8E}"/>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8" name="Rectangle 20" title="T2">
            <a:extLst>
              <a:ext uri="{FF2B5EF4-FFF2-40B4-BE49-F238E27FC236}">
                <a16:creationId xmlns:a16="http://schemas.microsoft.com/office/drawing/2014/main" id="{DC237FC4-697E-5048-8DE4-2CDD26AC76CF}"/>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29" name="Rectangle 21" title="T4">
            <a:extLst>
              <a:ext uri="{FF2B5EF4-FFF2-40B4-BE49-F238E27FC236}">
                <a16:creationId xmlns:a16="http://schemas.microsoft.com/office/drawing/2014/main" id="{3A96C836-D2F4-2E45-95BE-C8605DEC1446}"/>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30" name="Rectangle 22">
            <a:extLst>
              <a:ext uri="{FF2B5EF4-FFF2-40B4-BE49-F238E27FC236}">
                <a16:creationId xmlns:a16="http://schemas.microsoft.com/office/drawing/2014/main" id="{3356FA46-1780-0544-B8F6-D211E17EE4E8}"/>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
        <p:nvSpPr>
          <p:cNvPr id="31" name="Line 23" descr="A skinny directed edge from T1 to T2" title="T1 to T2 Edge">
            <a:extLst>
              <a:ext uri="{FF2B5EF4-FFF2-40B4-BE49-F238E27FC236}">
                <a16:creationId xmlns:a16="http://schemas.microsoft.com/office/drawing/2014/main" id="{ACF7C7F3-97E8-C344-8E74-91B74080524B}"/>
              </a:ext>
            </a:extLst>
          </p:cNvPr>
          <p:cNvSpPr>
            <a:spLocks noChangeShapeType="1"/>
          </p:cNvSpPr>
          <p:nvPr/>
        </p:nvSpPr>
        <p:spPr bwMode="auto">
          <a:xfrm>
            <a:off x="4295775" y="3486150"/>
            <a:ext cx="1085850" cy="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Tree>
    <p:extLst>
      <p:ext uri="{BB962C8B-B14F-4D97-AF65-F5344CB8AC3E}">
        <p14:creationId xmlns:p14="http://schemas.microsoft.com/office/powerpoint/2010/main" val="30742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8</a:t>
            </a:r>
          </a:p>
        </p:txBody>
      </p:sp>
      <p:sp>
        <p:nvSpPr>
          <p:cNvPr id="3" name="Content Placeholder 2" descr="T1: S(A)&#10;T1: S(D)&#10;T2: X(B)&#10;T1: S(B)&#10;T3: S(D)&#10;T3: S(C)" title="Schedule">
            <a:extLst>
              <a:ext uri="{FF2B5EF4-FFF2-40B4-BE49-F238E27FC236}">
                <a16:creationId xmlns:a16="http://schemas.microsoft.com/office/drawing/2014/main" id="{001EAA0D-CD7C-E548-B64E-C00413F6ACFC}"/>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S(B)</a:t>
            </a:r>
          </a:p>
          <a:p>
            <a:pPr>
              <a:spcBef>
                <a:spcPct val="0"/>
              </a:spcBef>
              <a:buFontTx/>
              <a:buNone/>
            </a:pPr>
            <a:r>
              <a:rPr lang="en-US" b="1" dirty="0">
                <a:latin typeface="Tahoma" charset="0"/>
                <a:ea typeface="ＭＳ Ｐゴシック" charset="0"/>
                <a:cs typeface="ＭＳ Ｐゴシック" charset="0"/>
              </a:rPr>
              <a:t>T2:	   	   X(B)   		</a:t>
            </a:r>
          </a:p>
          <a:p>
            <a:pPr>
              <a:spcBef>
                <a:spcPct val="0"/>
              </a:spcBef>
              <a:buFontTx/>
              <a:buNone/>
            </a:pPr>
            <a:r>
              <a:rPr lang="en-US" b="1" dirty="0">
                <a:latin typeface="Tahoma" charset="0"/>
                <a:ea typeface="ＭＳ Ｐゴシック" charset="0"/>
                <a:cs typeface="ＭＳ Ｐゴシック" charset="0"/>
              </a:rPr>
              <a:t>T3:				    S(D), S(C) 		</a:t>
            </a:r>
          </a:p>
          <a:p>
            <a:pPr>
              <a:spcBef>
                <a:spcPct val="0"/>
              </a:spcBef>
              <a:buFontTx/>
              <a:buNone/>
            </a:pPr>
            <a:r>
              <a:rPr lang="en-US" b="1" dirty="0">
                <a:latin typeface="Tahoma" charset="0"/>
                <a:ea typeface="ＭＳ Ｐゴシック" charset="0"/>
                <a:cs typeface="ＭＳ Ｐゴシック" charset="0"/>
              </a:rPr>
              <a:t>T4:						</a:t>
            </a:r>
          </a:p>
        </p:txBody>
      </p:sp>
      <p:sp>
        <p:nvSpPr>
          <p:cNvPr id="13" name="Oval 15" descr="Edge to T2" title="T1">
            <a:extLst>
              <a:ext uri="{FF2B5EF4-FFF2-40B4-BE49-F238E27FC236}">
                <a16:creationId xmlns:a16="http://schemas.microsoft.com/office/drawing/2014/main" id="{D12CD272-432F-AB40-B796-7854E8132E50}"/>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4" name="Oval 16" descr="No Edges" title="T2">
            <a:extLst>
              <a:ext uri="{FF2B5EF4-FFF2-40B4-BE49-F238E27FC236}">
                <a16:creationId xmlns:a16="http://schemas.microsoft.com/office/drawing/2014/main" id="{A54ABD61-0789-D04E-A7DB-0C9D53666EC3}"/>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5" name="Oval 17" descr="No Edges" title="T4">
            <a:extLst>
              <a:ext uri="{FF2B5EF4-FFF2-40B4-BE49-F238E27FC236}">
                <a16:creationId xmlns:a16="http://schemas.microsoft.com/office/drawing/2014/main" id="{F6722308-5325-284D-8626-88B91F167742}"/>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6" name="Oval 18" descr="No Edges" title="T3">
            <a:extLst>
              <a:ext uri="{FF2B5EF4-FFF2-40B4-BE49-F238E27FC236}">
                <a16:creationId xmlns:a16="http://schemas.microsoft.com/office/drawing/2014/main" id="{978F2BC3-EFE8-9546-BEE7-2B09010E5207}"/>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7" name="Rectangle 19" title="T1">
            <a:extLst>
              <a:ext uri="{FF2B5EF4-FFF2-40B4-BE49-F238E27FC236}">
                <a16:creationId xmlns:a16="http://schemas.microsoft.com/office/drawing/2014/main" id="{D73BD4C6-1589-C449-BD05-42CC1EF69166}"/>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8" name="Rectangle 20" title="T2">
            <a:extLst>
              <a:ext uri="{FF2B5EF4-FFF2-40B4-BE49-F238E27FC236}">
                <a16:creationId xmlns:a16="http://schemas.microsoft.com/office/drawing/2014/main" id="{768D53A6-4468-E746-957A-A22E8948A68B}"/>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29" name="Rectangle 21" title="T4">
            <a:extLst>
              <a:ext uri="{FF2B5EF4-FFF2-40B4-BE49-F238E27FC236}">
                <a16:creationId xmlns:a16="http://schemas.microsoft.com/office/drawing/2014/main" id="{5865ADC3-BD82-1645-8AEF-6196404E7E2C}"/>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30" name="Rectangle 22">
            <a:extLst>
              <a:ext uri="{FF2B5EF4-FFF2-40B4-BE49-F238E27FC236}">
                <a16:creationId xmlns:a16="http://schemas.microsoft.com/office/drawing/2014/main" id="{D4BAD9CB-9080-3244-AC63-73EBD68BB596}"/>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
        <p:nvSpPr>
          <p:cNvPr id="31" name="Line 23" descr="A skinny directed edge from T1 to T2" title="T1 to T2 Edge">
            <a:extLst>
              <a:ext uri="{FF2B5EF4-FFF2-40B4-BE49-F238E27FC236}">
                <a16:creationId xmlns:a16="http://schemas.microsoft.com/office/drawing/2014/main" id="{F79ABDF5-A773-F242-9443-6564763D7203}"/>
              </a:ext>
            </a:extLst>
          </p:cNvPr>
          <p:cNvSpPr>
            <a:spLocks noChangeShapeType="1"/>
          </p:cNvSpPr>
          <p:nvPr/>
        </p:nvSpPr>
        <p:spPr bwMode="auto">
          <a:xfrm>
            <a:off x="4295775" y="3486150"/>
            <a:ext cx="1085850" cy="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Tree>
    <p:extLst>
      <p:ext uri="{BB962C8B-B14F-4D97-AF65-F5344CB8AC3E}">
        <p14:creationId xmlns:p14="http://schemas.microsoft.com/office/powerpoint/2010/main" val="10909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9</a:t>
            </a:r>
          </a:p>
        </p:txBody>
      </p:sp>
      <p:sp>
        <p:nvSpPr>
          <p:cNvPr id="3" name="Content Placeholder 2" descr="T1: S(A)&#10;T1: S(D)&#10;T2: X(B)&#10;T1: S(B)&#10;T3: S(D)&#10;T3: S(C)&#10;T2: X(C)&#10;" title="Schedule">
            <a:extLst>
              <a:ext uri="{FF2B5EF4-FFF2-40B4-BE49-F238E27FC236}">
                <a16:creationId xmlns:a16="http://schemas.microsoft.com/office/drawing/2014/main" id="{F05CDF0D-DCF9-6E4D-B33D-EC278538379E}"/>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S(B)</a:t>
            </a:r>
          </a:p>
          <a:p>
            <a:pPr>
              <a:spcBef>
                <a:spcPct val="0"/>
              </a:spcBef>
              <a:buFontTx/>
              <a:buNone/>
            </a:pPr>
            <a:r>
              <a:rPr lang="en-US" b="1" dirty="0">
                <a:latin typeface="Tahoma" charset="0"/>
                <a:ea typeface="ＭＳ Ｐゴシック" charset="0"/>
                <a:cs typeface="ＭＳ Ｐゴシック" charset="0"/>
              </a:rPr>
              <a:t>T2:	   	   X(B)   		          X(C)</a:t>
            </a:r>
          </a:p>
          <a:p>
            <a:pPr>
              <a:spcBef>
                <a:spcPct val="0"/>
              </a:spcBef>
              <a:buFontTx/>
              <a:buNone/>
            </a:pPr>
            <a:r>
              <a:rPr lang="en-US" b="1" dirty="0">
                <a:latin typeface="Tahoma" charset="0"/>
                <a:ea typeface="ＭＳ Ｐゴシック" charset="0"/>
                <a:cs typeface="ＭＳ Ｐゴシック" charset="0"/>
              </a:rPr>
              <a:t>T3:				    S(D)  S(C) 		</a:t>
            </a:r>
          </a:p>
          <a:p>
            <a:pPr>
              <a:spcBef>
                <a:spcPct val="0"/>
              </a:spcBef>
              <a:buFontTx/>
              <a:buNone/>
            </a:pPr>
            <a:r>
              <a:rPr lang="en-US" b="1" dirty="0">
                <a:latin typeface="Tahoma" charset="0"/>
                <a:ea typeface="ＭＳ Ｐゴシック" charset="0"/>
                <a:cs typeface="ＭＳ Ｐゴシック" charset="0"/>
              </a:rPr>
              <a:t>T4:						</a:t>
            </a:r>
          </a:p>
        </p:txBody>
      </p:sp>
      <p:sp>
        <p:nvSpPr>
          <p:cNvPr id="59" name="Line 24" descr="A skinny directed edge from T2 to T3" title="T2 to T3"/>
          <p:cNvSpPr>
            <a:spLocks noChangeShapeType="1"/>
          </p:cNvSpPr>
          <p:nvPr/>
        </p:nvSpPr>
        <p:spPr bwMode="auto">
          <a:xfrm>
            <a:off x="5610225" y="3771900"/>
            <a:ext cx="0" cy="51435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17" name="Oval 15" descr="Edge to T2" title="T1">
            <a:extLst>
              <a:ext uri="{FF2B5EF4-FFF2-40B4-BE49-F238E27FC236}">
                <a16:creationId xmlns:a16="http://schemas.microsoft.com/office/drawing/2014/main" id="{D59B0F7F-41A1-4B43-8A8A-70CF02F9E96F}"/>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8" name="Oval 16" descr="Edge to T3" title="T2">
            <a:extLst>
              <a:ext uri="{FF2B5EF4-FFF2-40B4-BE49-F238E27FC236}">
                <a16:creationId xmlns:a16="http://schemas.microsoft.com/office/drawing/2014/main" id="{8E611FA2-F4E4-1A46-82DF-10C1F9B729A2}"/>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9" name="Oval 17" descr="No Edges" title="T4">
            <a:extLst>
              <a:ext uri="{FF2B5EF4-FFF2-40B4-BE49-F238E27FC236}">
                <a16:creationId xmlns:a16="http://schemas.microsoft.com/office/drawing/2014/main" id="{5DAB3C91-C20B-D142-A6FC-825365A82B2E}"/>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1" name="Oval 18" descr="No Edges" title="T3">
            <a:extLst>
              <a:ext uri="{FF2B5EF4-FFF2-40B4-BE49-F238E27FC236}">
                <a16:creationId xmlns:a16="http://schemas.microsoft.com/office/drawing/2014/main" id="{DA9C27AC-4964-DC41-A80E-5516A76C4152}"/>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2" name="Rectangle 19" title="T1">
            <a:extLst>
              <a:ext uri="{FF2B5EF4-FFF2-40B4-BE49-F238E27FC236}">
                <a16:creationId xmlns:a16="http://schemas.microsoft.com/office/drawing/2014/main" id="{5C085034-274B-674D-B275-9CC5EE2AAB07}"/>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3" name="Rectangle 22" title="T2">
            <a:extLst>
              <a:ext uri="{FF2B5EF4-FFF2-40B4-BE49-F238E27FC236}">
                <a16:creationId xmlns:a16="http://schemas.microsoft.com/office/drawing/2014/main" id="{B06212F9-31D0-B645-8050-CB26D60C0E2A}"/>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24" name="Rectangle 23" title="T4">
            <a:extLst>
              <a:ext uri="{FF2B5EF4-FFF2-40B4-BE49-F238E27FC236}">
                <a16:creationId xmlns:a16="http://schemas.microsoft.com/office/drawing/2014/main" id="{482E19DD-EFBE-E54A-BB19-65AF9012068B}"/>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25" name="Rectangle 24">
            <a:extLst>
              <a:ext uri="{FF2B5EF4-FFF2-40B4-BE49-F238E27FC236}">
                <a16:creationId xmlns:a16="http://schemas.microsoft.com/office/drawing/2014/main" id="{6A0B0779-7C29-2140-AE1B-A5ECABD651F9}"/>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
        <p:nvSpPr>
          <p:cNvPr id="26" name="Line 23" descr="A skinny directed edge from T1 to T2" title="T1 to T2 Edge">
            <a:extLst>
              <a:ext uri="{FF2B5EF4-FFF2-40B4-BE49-F238E27FC236}">
                <a16:creationId xmlns:a16="http://schemas.microsoft.com/office/drawing/2014/main" id="{C99589C5-B67A-4F40-8443-3FDF54CF7B2B}"/>
              </a:ext>
            </a:extLst>
          </p:cNvPr>
          <p:cNvSpPr>
            <a:spLocks noChangeShapeType="1"/>
          </p:cNvSpPr>
          <p:nvPr/>
        </p:nvSpPr>
        <p:spPr bwMode="auto">
          <a:xfrm>
            <a:off x="4295775" y="3486150"/>
            <a:ext cx="1085850" cy="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Tree>
    <p:extLst>
      <p:ext uri="{BB962C8B-B14F-4D97-AF65-F5344CB8AC3E}">
        <p14:creationId xmlns:p14="http://schemas.microsoft.com/office/powerpoint/2010/main" val="2019175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up)">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10</a:t>
            </a:r>
          </a:p>
        </p:txBody>
      </p:sp>
      <p:sp>
        <p:nvSpPr>
          <p:cNvPr id="3" name="Content Placeholder 2" descr="T1: S(A)&#10;T1: S(D)&#10;T2: X(B)&#10;T1: S(B)&#10;T3: S(D)&#10;T3: S(C)&#10;T2: X(C)&#10;T4: X(B)" title="Schedule">
            <a:extLst>
              <a:ext uri="{FF2B5EF4-FFF2-40B4-BE49-F238E27FC236}">
                <a16:creationId xmlns:a16="http://schemas.microsoft.com/office/drawing/2014/main" id="{58D38A5F-6851-1246-962D-3A1DEFD8925A}"/>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S(B)</a:t>
            </a:r>
          </a:p>
          <a:p>
            <a:pPr>
              <a:spcBef>
                <a:spcPct val="0"/>
              </a:spcBef>
              <a:buFontTx/>
              <a:buNone/>
            </a:pPr>
            <a:r>
              <a:rPr lang="en-US" b="1" dirty="0">
                <a:latin typeface="Tahoma" charset="0"/>
                <a:ea typeface="ＭＳ Ｐゴシック" charset="0"/>
                <a:cs typeface="ＭＳ Ｐゴシック" charset="0"/>
              </a:rPr>
              <a:t>T2:	   	   X(B)   		          X(C)</a:t>
            </a:r>
          </a:p>
          <a:p>
            <a:pPr>
              <a:spcBef>
                <a:spcPct val="0"/>
              </a:spcBef>
              <a:buFontTx/>
              <a:buNone/>
            </a:pPr>
            <a:r>
              <a:rPr lang="en-US" b="1" dirty="0">
                <a:latin typeface="Tahoma" charset="0"/>
                <a:ea typeface="ＭＳ Ｐゴシック" charset="0"/>
                <a:cs typeface="ＭＳ Ｐゴシック" charset="0"/>
              </a:rPr>
              <a:t>T3:				    S(D)  S(C) 		</a:t>
            </a:r>
          </a:p>
          <a:p>
            <a:pPr>
              <a:spcBef>
                <a:spcPct val="0"/>
              </a:spcBef>
              <a:buFontTx/>
              <a:buNone/>
            </a:pPr>
            <a:r>
              <a:rPr lang="en-US" b="1" dirty="0">
                <a:latin typeface="Tahoma" charset="0"/>
                <a:ea typeface="ＭＳ Ｐゴシック" charset="0"/>
                <a:cs typeface="ＭＳ Ｐゴシック" charset="0"/>
              </a:rPr>
              <a:t>T4:						       X(B)</a:t>
            </a:r>
          </a:p>
        </p:txBody>
      </p:sp>
      <p:sp>
        <p:nvSpPr>
          <p:cNvPr id="61" name="Line 26" descr="A skinny directed edge from T4 to T2" title="T4 To T2"/>
          <p:cNvSpPr>
            <a:spLocks noChangeShapeType="1"/>
          </p:cNvSpPr>
          <p:nvPr/>
        </p:nvSpPr>
        <p:spPr bwMode="auto">
          <a:xfrm flipV="1">
            <a:off x="4238625" y="3617610"/>
            <a:ext cx="1162051" cy="72579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17" name="Line 24" descr="A skinny directed edge from T2 to T3" title="T2 to T3">
            <a:extLst>
              <a:ext uri="{FF2B5EF4-FFF2-40B4-BE49-F238E27FC236}">
                <a16:creationId xmlns:a16="http://schemas.microsoft.com/office/drawing/2014/main" id="{CD987EFD-1081-BC47-A8D6-300E63672CEE}"/>
              </a:ext>
            </a:extLst>
          </p:cNvPr>
          <p:cNvSpPr>
            <a:spLocks noChangeShapeType="1"/>
          </p:cNvSpPr>
          <p:nvPr/>
        </p:nvSpPr>
        <p:spPr bwMode="auto">
          <a:xfrm>
            <a:off x="5610225" y="3771900"/>
            <a:ext cx="0" cy="51435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18" name="Oval 15" descr="Edge to T2" title="T1">
            <a:extLst>
              <a:ext uri="{FF2B5EF4-FFF2-40B4-BE49-F238E27FC236}">
                <a16:creationId xmlns:a16="http://schemas.microsoft.com/office/drawing/2014/main" id="{BB8EE02A-63F6-5441-8E3F-37D5E435E42B}"/>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19" name="Oval 16" descr="Edge to T3" title="T2">
            <a:extLst>
              <a:ext uri="{FF2B5EF4-FFF2-40B4-BE49-F238E27FC236}">
                <a16:creationId xmlns:a16="http://schemas.microsoft.com/office/drawing/2014/main" id="{3D8EC79C-78DA-8A44-A37B-A734E2A110C8}"/>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1" name="Oval 17" descr="Edge to T2" title="T4">
            <a:extLst>
              <a:ext uri="{FF2B5EF4-FFF2-40B4-BE49-F238E27FC236}">
                <a16:creationId xmlns:a16="http://schemas.microsoft.com/office/drawing/2014/main" id="{8EAC2E72-DEBC-5247-9EF3-FC6A95299C14}"/>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2" name="Oval 18" descr="No Edges" title="T3">
            <a:extLst>
              <a:ext uri="{FF2B5EF4-FFF2-40B4-BE49-F238E27FC236}">
                <a16:creationId xmlns:a16="http://schemas.microsoft.com/office/drawing/2014/main" id="{71E6432C-D33A-E04A-A005-1E56520FC392}"/>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3" name="Rectangle 19" title="T1">
            <a:extLst>
              <a:ext uri="{FF2B5EF4-FFF2-40B4-BE49-F238E27FC236}">
                <a16:creationId xmlns:a16="http://schemas.microsoft.com/office/drawing/2014/main" id="{DF95F97C-CF32-4A45-8877-358088C31B85}"/>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4" name="Rectangle 23" title="T2">
            <a:extLst>
              <a:ext uri="{FF2B5EF4-FFF2-40B4-BE49-F238E27FC236}">
                <a16:creationId xmlns:a16="http://schemas.microsoft.com/office/drawing/2014/main" id="{D7B813B6-26F9-D949-8A38-CE6588FE700A}"/>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25" name="Rectangle 24" title="T4">
            <a:extLst>
              <a:ext uri="{FF2B5EF4-FFF2-40B4-BE49-F238E27FC236}">
                <a16:creationId xmlns:a16="http://schemas.microsoft.com/office/drawing/2014/main" id="{532FCD4B-0DDC-FA4E-83E0-CB6B9870C96A}"/>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26" name="Rectangle 25">
            <a:extLst>
              <a:ext uri="{FF2B5EF4-FFF2-40B4-BE49-F238E27FC236}">
                <a16:creationId xmlns:a16="http://schemas.microsoft.com/office/drawing/2014/main" id="{0A04E19E-2376-4045-9B2B-EE645ADD4831}"/>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
        <p:nvSpPr>
          <p:cNvPr id="27" name="Line 23" descr="A skinny directed edge from T1 to T2" title="T1 to T2 Edge">
            <a:extLst>
              <a:ext uri="{FF2B5EF4-FFF2-40B4-BE49-F238E27FC236}">
                <a16:creationId xmlns:a16="http://schemas.microsoft.com/office/drawing/2014/main" id="{DD2A0B55-BC9B-2B49-A530-BD5AA7D225E6}"/>
              </a:ext>
            </a:extLst>
          </p:cNvPr>
          <p:cNvSpPr>
            <a:spLocks noChangeShapeType="1"/>
          </p:cNvSpPr>
          <p:nvPr/>
        </p:nvSpPr>
        <p:spPr bwMode="auto">
          <a:xfrm>
            <a:off x="4295775" y="3486150"/>
            <a:ext cx="1085850" cy="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Tree>
    <p:extLst>
      <p:ext uri="{BB962C8B-B14F-4D97-AF65-F5344CB8AC3E}">
        <p14:creationId xmlns:p14="http://schemas.microsoft.com/office/powerpoint/2010/main" val="203263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down)">
                                      <p:cBhvr>
                                        <p:cTn id="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Deadlock Detection, Part 11</a:t>
            </a:r>
          </a:p>
        </p:txBody>
      </p:sp>
      <p:sp>
        <p:nvSpPr>
          <p:cNvPr id="3" name="Content Placeholder 2" descr="T1: S(A)&#10;T1: S(D)&#10;T2: X(B)&#10;T1: S(B)&#10;T3: S(D)&#10;T3: S(C)&#10;T2: X(C)&#10;T4: X(B)&#10;T3: X(A)" title="Schedule">
            <a:extLst>
              <a:ext uri="{FF2B5EF4-FFF2-40B4-BE49-F238E27FC236}">
                <a16:creationId xmlns:a16="http://schemas.microsoft.com/office/drawing/2014/main" id="{D8E729CC-042B-CB4B-B56F-3A4956D4CFC1}"/>
              </a:ext>
            </a:extLst>
          </p:cNvPr>
          <p:cNvSpPr>
            <a:spLocks noGrp="1"/>
          </p:cNvSpPr>
          <p:nvPr>
            <p:ph idx="1"/>
          </p:nvPr>
        </p:nvSpPr>
        <p:spPr/>
        <p:txBody>
          <a:bodyPr/>
          <a:lstStyle/>
          <a:p>
            <a:pPr>
              <a:spcBef>
                <a:spcPct val="0"/>
              </a:spcBef>
              <a:spcAft>
                <a:spcPts val="2000"/>
              </a:spcAft>
              <a:buFontTx/>
              <a:buNone/>
            </a:pPr>
            <a:r>
              <a:rPr lang="en-US" b="1" dirty="0">
                <a:latin typeface="Tahoma" charset="0"/>
                <a:ea typeface="ＭＳ Ｐゴシック" charset="0"/>
                <a:cs typeface="ＭＳ Ｐゴシック" charset="0"/>
              </a:rPr>
              <a:t>Example:</a:t>
            </a:r>
          </a:p>
          <a:p>
            <a:pPr>
              <a:spcBef>
                <a:spcPct val="0"/>
              </a:spcBef>
              <a:buFontTx/>
              <a:buNone/>
            </a:pPr>
            <a:r>
              <a:rPr lang="en-US" b="1" dirty="0">
                <a:latin typeface="Tahoma" charset="0"/>
                <a:ea typeface="ＭＳ Ｐゴシック" charset="0"/>
                <a:cs typeface="ＭＳ Ｐゴシック" charset="0"/>
              </a:rPr>
              <a:t>T1:  S(A)  S(D)	       S(B)</a:t>
            </a:r>
          </a:p>
          <a:p>
            <a:pPr>
              <a:spcBef>
                <a:spcPct val="0"/>
              </a:spcBef>
              <a:buFontTx/>
              <a:buNone/>
            </a:pPr>
            <a:r>
              <a:rPr lang="en-US" b="1" dirty="0">
                <a:latin typeface="Tahoma" charset="0"/>
                <a:ea typeface="ＭＳ Ｐゴシック" charset="0"/>
                <a:cs typeface="ＭＳ Ｐゴシック" charset="0"/>
              </a:rPr>
              <a:t>T2:	   	   X(B)   		          X(C)</a:t>
            </a:r>
          </a:p>
          <a:p>
            <a:pPr>
              <a:spcBef>
                <a:spcPct val="0"/>
              </a:spcBef>
              <a:buFontTx/>
              <a:buNone/>
            </a:pPr>
            <a:r>
              <a:rPr lang="en-US" b="1" dirty="0">
                <a:latin typeface="Tahoma" charset="0"/>
                <a:ea typeface="ＭＳ Ｐゴシック" charset="0"/>
                <a:cs typeface="ＭＳ Ｐゴシック" charset="0"/>
              </a:rPr>
              <a:t>T3:				    S(D)  S(C) 		    X(A)</a:t>
            </a:r>
          </a:p>
          <a:p>
            <a:pPr>
              <a:spcBef>
                <a:spcPct val="0"/>
              </a:spcBef>
              <a:buFontTx/>
              <a:buNone/>
            </a:pPr>
            <a:r>
              <a:rPr lang="en-US" b="1" dirty="0">
                <a:latin typeface="Tahoma" charset="0"/>
                <a:ea typeface="ＭＳ Ｐゴシック" charset="0"/>
                <a:cs typeface="ＭＳ Ｐゴシック" charset="0"/>
              </a:rPr>
              <a:t>T4:						       X(B)</a:t>
            </a:r>
          </a:p>
        </p:txBody>
      </p:sp>
      <p:sp>
        <p:nvSpPr>
          <p:cNvPr id="18" name="Line 26" descr="A skinny directed edge from T4 to T2" title="T4 To T2">
            <a:extLst>
              <a:ext uri="{FF2B5EF4-FFF2-40B4-BE49-F238E27FC236}">
                <a16:creationId xmlns:a16="http://schemas.microsoft.com/office/drawing/2014/main" id="{909F2C36-2647-284C-971E-FE19412C6BFE}"/>
              </a:ext>
            </a:extLst>
          </p:cNvPr>
          <p:cNvSpPr>
            <a:spLocks noChangeShapeType="1"/>
          </p:cNvSpPr>
          <p:nvPr/>
        </p:nvSpPr>
        <p:spPr bwMode="auto">
          <a:xfrm flipV="1">
            <a:off x="4238625" y="3617610"/>
            <a:ext cx="1162051" cy="72579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19" name="Line 24" descr="A skinny directed edge from T2 to T3" title="T2 to T3">
            <a:extLst>
              <a:ext uri="{FF2B5EF4-FFF2-40B4-BE49-F238E27FC236}">
                <a16:creationId xmlns:a16="http://schemas.microsoft.com/office/drawing/2014/main" id="{9E5B4286-60EA-0746-8C68-F4CDC44A2324}"/>
              </a:ext>
            </a:extLst>
          </p:cNvPr>
          <p:cNvSpPr>
            <a:spLocks noChangeShapeType="1"/>
          </p:cNvSpPr>
          <p:nvPr/>
        </p:nvSpPr>
        <p:spPr bwMode="auto">
          <a:xfrm>
            <a:off x="5610225" y="3771900"/>
            <a:ext cx="0" cy="51435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21" name="Oval 15" descr="Edge to T2" title="T1">
            <a:extLst>
              <a:ext uri="{FF2B5EF4-FFF2-40B4-BE49-F238E27FC236}">
                <a16:creationId xmlns:a16="http://schemas.microsoft.com/office/drawing/2014/main" id="{15B02747-ED7C-A742-8077-418A4930FA30}"/>
              </a:ext>
            </a:extLst>
          </p:cNvPr>
          <p:cNvSpPr>
            <a:spLocks noChangeArrowheads="1"/>
          </p:cNvSpPr>
          <p:nvPr/>
        </p:nvSpPr>
        <p:spPr bwMode="auto">
          <a:xfrm>
            <a:off x="37814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2" name="Oval 16" descr="Edge to T3" title="T2">
            <a:extLst>
              <a:ext uri="{FF2B5EF4-FFF2-40B4-BE49-F238E27FC236}">
                <a16:creationId xmlns:a16="http://schemas.microsoft.com/office/drawing/2014/main" id="{86055379-13B0-B442-AFA9-1D107E05F9BB}"/>
              </a:ext>
            </a:extLst>
          </p:cNvPr>
          <p:cNvSpPr>
            <a:spLocks noChangeArrowheads="1"/>
          </p:cNvSpPr>
          <p:nvPr/>
        </p:nvSpPr>
        <p:spPr bwMode="auto">
          <a:xfrm>
            <a:off x="5381625" y="32575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3" name="Oval 17" descr="Edge to T2" title="T4">
            <a:extLst>
              <a:ext uri="{FF2B5EF4-FFF2-40B4-BE49-F238E27FC236}">
                <a16:creationId xmlns:a16="http://schemas.microsoft.com/office/drawing/2014/main" id="{D70B8985-686B-5748-B465-0998F37A5F2B}"/>
              </a:ext>
            </a:extLst>
          </p:cNvPr>
          <p:cNvSpPr>
            <a:spLocks noChangeArrowheads="1"/>
          </p:cNvSpPr>
          <p:nvPr/>
        </p:nvSpPr>
        <p:spPr bwMode="auto">
          <a:xfrm>
            <a:off x="377190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4" name="Oval 18" descr="Edge to T1" title="T3">
            <a:extLst>
              <a:ext uri="{FF2B5EF4-FFF2-40B4-BE49-F238E27FC236}">
                <a16:creationId xmlns:a16="http://schemas.microsoft.com/office/drawing/2014/main" id="{4F069139-D78B-624D-B3A0-622BAA4E4D42}"/>
              </a:ext>
            </a:extLst>
          </p:cNvPr>
          <p:cNvSpPr>
            <a:spLocks noChangeArrowheads="1"/>
          </p:cNvSpPr>
          <p:nvPr/>
        </p:nvSpPr>
        <p:spPr bwMode="auto">
          <a:xfrm>
            <a:off x="5314950" y="4286250"/>
            <a:ext cx="504825" cy="504825"/>
          </a:xfrm>
          <a:prstGeom prst="ellipse">
            <a:avLst/>
          </a:prstGeom>
          <a:noFill/>
          <a:ln w="12700">
            <a:solidFill>
              <a:schemeClr val="tx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1350"/>
          </a:p>
        </p:txBody>
      </p:sp>
      <p:sp>
        <p:nvSpPr>
          <p:cNvPr id="25" name="Rectangle 19" title="T1">
            <a:extLst>
              <a:ext uri="{FF2B5EF4-FFF2-40B4-BE49-F238E27FC236}">
                <a16:creationId xmlns:a16="http://schemas.microsoft.com/office/drawing/2014/main" id="{8ED30A53-3E21-8E40-BE1A-1CD9336FF6D9}"/>
              </a:ext>
            </a:extLst>
          </p:cNvPr>
          <p:cNvSpPr>
            <a:spLocks noChangeArrowheads="1"/>
          </p:cNvSpPr>
          <p:nvPr/>
        </p:nvSpPr>
        <p:spPr bwMode="auto">
          <a:xfrm>
            <a:off x="38385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T1</a:t>
            </a:r>
          </a:p>
        </p:txBody>
      </p:sp>
      <p:sp>
        <p:nvSpPr>
          <p:cNvPr id="26" name="Rectangle 25" title="T2">
            <a:extLst>
              <a:ext uri="{FF2B5EF4-FFF2-40B4-BE49-F238E27FC236}">
                <a16:creationId xmlns:a16="http://schemas.microsoft.com/office/drawing/2014/main" id="{825FDACB-93FF-4A44-B4D1-A02546EEBF7A}"/>
              </a:ext>
            </a:extLst>
          </p:cNvPr>
          <p:cNvSpPr>
            <a:spLocks noChangeArrowheads="1"/>
          </p:cNvSpPr>
          <p:nvPr/>
        </p:nvSpPr>
        <p:spPr bwMode="auto">
          <a:xfrm>
            <a:off x="5438775" y="33718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T2</a:t>
            </a:r>
          </a:p>
        </p:txBody>
      </p:sp>
      <p:sp>
        <p:nvSpPr>
          <p:cNvPr id="27" name="Rectangle 26" title="T4">
            <a:extLst>
              <a:ext uri="{FF2B5EF4-FFF2-40B4-BE49-F238E27FC236}">
                <a16:creationId xmlns:a16="http://schemas.microsoft.com/office/drawing/2014/main" id="{DACA9C04-FAF2-5747-8C39-504989FFF721}"/>
              </a:ext>
            </a:extLst>
          </p:cNvPr>
          <p:cNvSpPr>
            <a:spLocks noChangeArrowheads="1"/>
          </p:cNvSpPr>
          <p:nvPr/>
        </p:nvSpPr>
        <p:spPr bwMode="auto">
          <a:xfrm>
            <a:off x="383857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T4</a:t>
            </a:r>
          </a:p>
        </p:txBody>
      </p:sp>
      <p:sp>
        <p:nvSpPr>
          <p:cNvPr id="28" name="Rectangle 27" title="T">
            <a:extLst>
              <a:ext uri="{FF2B5EF4-FFF2-40B4-BE49-F238E27FC236}">
                <a16:creationId xmlns:a16="http://schemas.microsoft.com/office/drawing/2014/main" id="{FCF9D9C2-5372-EB40-8747-48BD08567EB5}"/>
              </a:ext>
            </a:extLst>
          </p:cNvPr>
          <p:cNvSpPr>
            <a:spLocks noChangeArrowheads="1"/>
          </p:cNvSpPr>
          <p:nvPr/>
        </p:nvSpPr>
        <p:spPr bwMode="auto">
          <a:xfrm>
            <a:off x="5381625" y="4400551"/>
            <a:ext cx="366287"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7866" tIns="33338" rIns="67866" bIns="33338">
            <a:spAutoFit/>
          </a:bodyPr>
          <a:lstStyle/>
          <a:p>
            <a:r>
              <a:rPr lang="en-US" dirty="0">
                <a:solidFill>
                  <a:schemeClr val="tx2"/>
                </a:solidFill>
              </a:rPr>
              <a:t>T3</a:t>
            </a:r>
          </a:p>
        </p:txBody>
      </p:sp>
      <p:sp>
        <p:nvSpPr>
          <p:cNvPr id="29" name="Line 23" descr="A skinny directed edge from T1 to T2" title="T1 to T2 Edge">
            <a:extLst>
              <a:ext uri="{FF2B5EF4-FFF2-40B4-BE49-F238E27FC236}">
                <a16:creationId xmlns:a16="http://schemas.microsoft.com/office/drawing/2014/main" id="{AC36765C-6131-6347-8F03-9782E02B63FE}"/>
              </a:ext>
            </a:extLst>
          </p:cNvPr>
          <p:cNvSpPr>
            <a:spLocks noChangeShapeType="1"/>
          </p:cNvSpPr>
          <p:nvPr/>
        </p:nvSpPr>
        <p:spPr bwMode="auto">
          <a:xfrm>
            <a:off x="4295775" y="3486150"/>
            <a:ext cx="1085850" cy="0"/>
          </a:xfrm>
          <a:prstGeom prst="line">
            <a:avLst/>
          </a:prstGeom>
          <a:noFill/>
          <a:ln w="12700">
            <a:solidFill>
              <a:schemeClr val="tx2"/>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30" name="Line 25" descr="A bold directed edge from T3 to T1" title="T3 to T1">
            <a:extLst>
              <a:ext uri="{FF2B5EF4-FFF2-40B4-BE49-F238E27FC236}">
                <a16:creationId xmlns:a16="http://schemas.microsoft.com/office/drawing/2014/main" id="{BE8615D2-F186-3F4B-B6C6-C3DBE6D3877D}"/>
              </a:ext>
            </a:extLst>
          </p:cNvPr>
          <p:cNvSpPr>
            <a:spLocks noChangeShapeType="1"/>
          </p:cNvSpPr>
          <p:nvPr/>
        </p:nvSpPr>
        <p:spPr bwMode="auto">
          <a:xfrm flipH="1" flipV="1">
            <a:off x="4238625" y="3668751"/>
            <a:ext cx="1143000" cy="731799"/>
          </a:xfrm>
          <a:prstGeom prst="line">
            <a:avLst/>
          </a:prstGeom>
          <a:noFill/>
          <a:ln w="50800">
            <a:solidFill>
              <a:srgbClr val="FF0000"/>
            </a:solidFill>
            <a:round/>
            <a:headEnd type="none" w="sm" len="sm"/>
            <a:tailEnd type="stealth" w="med" len="med"/>
          </a:ln>
          <a:extLst>
            <a:ext uri="{909E8E84-426E-40dd-AFC4-6F175D3DCCD1}">
              <a14:hiddenFill xmlns:a14="http://schemas.microsoft.com/office/drawing/2010/main" xmlns="">
                <a:noFill/>
              </a14:hiddenFill>
            </a:ext>
          </a:extLst>
        </p:spPr>
        <p:txBody>
          <a:bodyPr wrap="none" anchor="ctr"/>
          <a:lstStyle/>
          <a:p>
            <a:endParaRPr lang="en-US" sz="1350"/>
          </a:p>
        </p:txBody>
      </p:sp>
    </p:spTree>
    <p:extLst>
      <p:ext uri="{BB962C8B-B14F-4D97-AF65-F5344CB8AC3E}">
        <p14:creationId xmlns:p14="http://schemas.microsoft.com/office/powerpoint/2010/main" val="1617883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Deadlock!</a:t>
            </a:r>
            <a:endParaRPr lang="en-US" dirty="0"/>
          </a:p>
        </p:txBody>
      </p:sp>
      <p:sp>
        <p:nvSpPr>
          <p:cNvPr id="3" name="Content Placeholder 2">
            <a:extLst>
              <a:ext uri="{FF2B5EF4-FFF2-40B4-BE49-F238E27FC236}">
                <a16:creationId xmlns:a16="http://schemas.microsoft.com/office/drawing/2014/main" id="{C7851D32-6711-754A-9DAB-93FEAE4132E7}"/>
              </a:ext>
            </a:extLst>
          </p:cNvPr>
          <p:cNvSpPr>
            <a:spLocks noGrp="1"/>
          </p:cNvSpPr>
          <p:nvPr>
            <p:ph idx="1"/>
          </p:nvPr>
        </p:nvSpPr>
        <p:spPr/>
        <p:txBody>
          <a:bodyPr>
            <a:normAutofit/>
          </a:bodyPr>
          <a:lstStyle/>
          <a:p>
            <a:r>
              <a:rPr lang="en-US" sz="1500" b="1" dirty="0">
                <a:ea typeface="Lucida Console" charset="0"/>
                <a:cs typeface="Lucida Console" charset="0"/>
              </a:rPr>
              <a:t>T1, T2, T3 are deadlocked</a:t>
            </a:r>
          </a:p>
          <a:p>
            <a:pPr lvl="1"/>
            <a:r>
              <a:rPr lang="en-US" sz="1500" dirty="0">
                <a:ea typeface="Lucida Console" charset="0"/>
                <a:cs typeface="Lucida Console" charset="0"/>
              </a:rPr>
              <a:t>Doing no good, and holding locks</a:t>
            </a:r>
          </a:p>
          <a:p>
            <a:r>
              <a:rPr lang="en-US" sz="1500" b="1" dirty="0">
                <a:ea typeface="Lucida Console" charset="0"/>
                <a:cs typeface="Lucida Console" charset="0"/>
              </a:rPr>
              <a:t>T4 still cruising</a:t>
            </a:r>
          </a:p>
          <a:p>
            <a:r>
              <a:rPr lang="en-US" sz="1500" b="1" dirty="0">
                <a:ea typeface="Lucida Console" charset="0"/>
                <a:cs typeface="Lucida Console" charset="0"/>
              </a:rPr>
              <a:t>In the background, run a deadlock detection algorithm</a:t>
            </a:r>
          </a:p>
          <a:p>
            <a:pPr lvl="1"/>
            <a:r>
              <a:rPr lang="en-US" sz="1500" dirty="0">
                <a:ea typeface="Lucida Console" charset="0"/>
                <a:cs typeface="Lucida Console" charset="0"/>
              </a:rPr>
              <a:t>Periodically extract the waits-for graph</a:t>
            </a:r>
          </a:p>
          <a:p>
            <a:pPr lvl="1"/>
            <a:r>
              <a:rPr lang="en-US" sz="1500" dirty="0">
                <a:ea typeface="Lucida Console" charset="0"/>
                <a:cs typeface="Lucida Console" charset="0"/>
              </a:rPr>
              <a:t>Find cycles</a:t>
            </a:r>
          </a:p>
          <a:p>
            <a:pPr lvl="1"/>
            <a:r>
              <a:rPr lang="en-US" sz="1500" dirty="0">
                <a:ea typeface="Lucida Console" charset="0"/>
                <a:cs typeface="Lucida Console" charset="0"/>
              </a:rPr>
              <a:t>“Shoot” a transaction on the cycle</a:t>
            </a:r>
            <a:endParaRPr lang="en-US" sz="1500" b="1" dirty="0">
              <a:ea typeface="Lucida Console" charset="0"/>
              <a:cs typeface="Lucida Console" charset="0"/>
            </a:endParaRPr>
          </a:p>
          <a:p>
            <a:r>
              <a:rPr lang="en-US" sz="1500" b="1" dirty="0">
                <a:ea typeface="Lucida Console" charset="0"/>
                <a:cs typeface="Lucida Console" charset="0"/>
              </a:rPr>
              <a:t>Empirical fact</a:t>
            </a:r>
          </a:p>
          <a:p>
            <a:pPr lvl="1"/>
            <a:r>
              <a:rPr lang="en-US" sz="1500" dirty="0">
                <a:ea typeface="Lucida Console" charset="0"/>
                <a:cs typeface="Lucida Console" charset="0"/>
              </a:rPr>
              <a:t>Most deadlock cycles are small (2-3 transactions)</a:t>
            </a:r>
          </a:p>
        </p:txBody>
      </p:sp>
    </p:spTree>
    <p:extLst>
      <p:ext uri="{BB962C8B-B14F-4D97-AF65-F5344CB8AC3E}">
        <p14:creationId xmlns:p14="http://schemas.microsoft.com/office/powerpoint/2010/main" val="165304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 Granularity</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00107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Lock Granularity, </a:t>
            </a:r>
            <a:r>
              <a:rPr lang="en-US" dirty="0" err="1"/>
              <a:t>cont</a:t>
            </a:r>
            <a:endParaRPr lang="en-US" dirty="0"/>
          </a:p>
        </p:txBody>
      </p:sp>
      <p:sp>
        <p:nvSpPr>
          <p:cNvPr id="3" name="Content Placeholder 2">
            <a:extLst>
              <a:ext uri="{FF2B5EF4-FFF2-40B4-BE49-F238E27FC236}">
                <a16:creationId xmlns:a16="http://schemas.microsoft.com/office/drawing/2014/main" id="{85AFAC32-4265-0C42-B2E2-B97C65CA03DA}"/>
              </a:ext>
            </a:extLst>
          </p:cNvPr>
          <p:cNvSpPr>
            <a:spLocks noGrp="1"/>
          </p:cNvSpPr>
          <p:nvPr>
            <p:ph idx="1"/>
          </p:nvPr>
        </p:nvSpPr>
        <p:spPr/>
        <p:txBody>
          <a:bodyPr/>
          <a:lstStyle/>
          <a:p>
            <a:r>
              <a:rPr lang="en-US" sz="1800" dirty="0">
                <a:ea typeface="Lucida Console" charset="0"/>
                <a:cs typeface="Lucida Console" charset="0"/>
              </a:rPr>
              <a:t>Hard to decide what granularity to lock </a:t>
            </a:r>
          </a:p>
          <a:p>
            <a:pPr lvl="1"/>
            <a:r>
              <a:rPr lang="en-US" sz="1650" dirty="0">
                <a:ea typeface="Lucida Console" charset="0"/>
                <a:cs typeface="Lucida Console" charset="0"/>
              </a:rPr>
              <a:t>Tuples vs Pages vs Tables?</a:t>
            </a:r>
          </a:p>
          <a:p>
            <a:r>
              <a:rPr lang="en-US" sz="1800" dirty="0">
                <a:ea typeface="Lucida Console" charset="0"/>
                <a:cs typeface="Lucida Console" charset="0"/>
              </a:rPr>
              <a:t>What is the tradeoff?</a:t>
            </a:r>
          </a:p>
          <a:p>
            <a:pPr lvl="1"/>
            <a:r>
              <a:rPr lang="en-US" sz="1600" dirty="0">
                <a:ea typeface="Lucida Console" charset="0"/>
                <a:cs typeface="Lucida Console" charset="0"/>
              </a:rPr>
              <a:t>Fine-grained availability of resources would be nice (e.g. lock per tuple)</a:t>
            </a:r>
          </a:p>
          <a:p>
            <a:pPr lvl="1"/>
            <a:r>
              <a:rPr lang="en-US" sz="1600" dirty="0">
                <a:ea typeface="Lucida Console" charset="0"/>
                <a:cs typeface="Lucida Console" charset="0"/>
              </a:rPr>
              <a:t>Small # of locks to manage would also be nice (e.g. lock per table)</a:t>
            </a:r>
          </a:p>
          <a:p>
            <a:pPr lvl="1"/>
            <a:r>
              <a:rPr lang="en-US" sz="1600" dirty="0">
                <a:ea typeface="Lucida Console" charset="0"/>
                <a:cs typeface="Lucida Console" charset="0"/>
              </a:rPr>
              <a:t>Can’t have both!</a:t>
            </a:r>
          </a:p>
          <a:p>
            <a:pPr lvl="2"/>
            <a:r>
              <a:rPr lang="en-US" sz="1400" dirty="0">
                <a:ea typeface="Lucida Console" charset="0"/>
                <a:cs typeface="Lucida Console" charset="0"/>
              </a:rPr>
              <a:t>Or can we???</a:t>
            </a:r>
          </a:p>
        </p:txBody>
      </p:sp>
    </p:spTree>
    <p:extLst>
      <p:ext uri="{BB962C8B-B14F-4D97-AF65-F5344CB8AC3E}">
        <p14:creationId xmlns:p14="http://schemas.microsoft.com/office/powerpoint/2010/main" val="174295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Multiple Locking Granularity</a:t>
            </a:r>
            <a:endParaRPr lang="en-US" dirty="0"/>
          </a:p>
        </p:txBody>
      </p:sp>
      <p:sp>
        <p:nvSpPr>
          <p:cNvPr id="3" name="Content Placeholder 2">
            <a:extLst>
              <a:ext uri="{FF2B5EF4-FFF2-40B4-BE49-F238E27FC236}">
                <a16:creationId xmlns:a16="http://schemas.microsoft.com/office/drawing/2014/main" id="{0566B7E2-4571-3D44-95DD-F6427F394DE1}"/>
              </a:ext>
            </a:extLst>
          </p:cNvPr>
          <p:cNvSpPr>
            <a:spLocks noGrp="1"/>
          </p:cNvSpPr>
          <p:nvPr>
            <p:ph idx="1"/>
          </p:nvPr>
        </p:nvSpPr>
        <p:spPr/>
        <p:txBody>
          <a:bodyPr>
            <a:normAutofit/>
          </a:bodyPr>
          <a:lstStyle/>
          <a:p>
            <a:r>
              <a:rPr lang="en-US" sz="1500" b="1" dirty="0">
                <a:ea typeface="Lucida Console" charset="0"/>
                <a:cs typeface="Lucida Console" charset="0"/>
              </a:rPr>
              <a:t>Shouldn’t have to make same decision for all transactions!</a:t>
            </a:r>
            <a:endParaRPr lang="en-US" sz="1500" dirty="0">
              <a:ea typeface="Lucida Console" charset="0"/>
              <a:cs typeface="Lucida Console" charset="0"/>
            </a:endParaRPr>
          </a:p>
          <a:p>
            <a:r>
              <a:rPr lang="en-US" sz="1500" dirty="0">
                <a:ea typeface="Lucida Console" charset="0"/>
                <a:cs typeface="Lucida Console" charset="0"/>
              </a:rPr>
              <a:t>Allow data items to be of various sizes </a:t>
            </a:r>
          </a:p>
          <a:p>
            <a:r>
              <a:rPr lang="en-US" sz="1500" dirty="0">
                <a:ea typeface="Lucida Console" charset="0"/>
                <a:cs typeface="Lucida Console" charset="0"/>
              </a:rPr>
              <a:t>Define a hierarchy of data granularities, small nested within large</a:t>
            </a:r>
          </a:p>
          <a:p>
            <a:pPr lvl="1"/>
            <a:r>
              <a:rPr lang="en-US" sz="1350" dirty="0">
                <a:ea typeface="Lucida Console" charset="0"/>
                <a:cs typeface="Lucida Console" charset="0"/>
              </a:rPr>
              <a:t>Can be represented graphically as a tree.</a:t>
            </a:r>
            <a:endParaRPr lang="en-US" sz="1500" dirty="0">
              <a:ea typeface="Lucida Console" charset="0"/>
              <a:cs typeface="Lucida Console" charset="0"/>
            </a:endParaRPr>
          </a:p>
          <a:p>
            <a:endParaRPr lang="en-US" dirty="0"/>
          </a:p>
        </p:txBody>
      </p:sp>
    </p:spTree>
    <p:extLst>
      <p:ext uri="{BB962C8B-B14F-4D97-AF65-F5344CB8AC3E}">
        <p14:creationId xmlns:p14="http://schemas.microsoft.com/office/powerpoint/2010/main" val="377738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Example of Granularity Hierarchy (RDBMS)</a:t>
            </a:r>
          </a:p>
        </p:txBody>
      </p:sp>
      <p:sp>
        <p:nvSpPr>
          <p:cNvPr id="5" name="Content Placeholder 4">
            <a:extLst>
              <a:ext uri="{FF2B5EF4-FFF2-40B4-BE49-F238E27FC236}">
                <a16:creationId xmlns:a16="http://schemas.microsoft.com/office/drawing/2014/main" id="{BDE3251D-ECEE-FF4C-9B93-8A25DE399A5B}"/>
              </a:ext>
            </a:extLst>
          </p:cNvPr>
          <p:cNvSpPr>
            <a:spLocks noGrp="1"/>
          </p:cNvSpPr>
          <p:nvPr>
            <p:ph idx="1"/>
          </p:nvPr>
        </p:nvSpPr>
        <p:spPr>
          <a:xfrm>
            <a:off x="457200" y="1200151"/>
            <a:ext cx="8229600" cy="3394472"/>
          </a:xfrm>
        </p:spPr>
        <p:txBody>
          <a:bodyPr/>
          <a:lstStyle/>
          <a:p>
            <a:r>
              <a:rPr lang="en-US" sz="1500" dirty="0">
                <a:ea typeface="Lucida Console" charset="0"/>
                <a:cs typeface="Lucida Console" charset="0"/>
              </a:rPr>
              <a:t>Data “containers” can be viewed as nested. </a:t>
            </a:r>
          </a:p>
          <a:p>
            <a:r>
              <a:rPr lang="en-US" sz="1500" dirty="0">
                <a:ea typeface="Lucida Console" charset="0"/>
                <a:cs typeface="Lucida Console" charset="0"/>
              </a:rPr>
              <a:t>The levels, starting from the coarsest (top) level are</a:t>
            </a:r>
          </a:p>
          <a:p>
            <a:pPr lvl="1"/>
            <a:r>
              <a:rPr lang="en-US" sz="1500" dirty="0">
                <a:ea typeface="Lucida Console" charset="0"/>
                <a:cs typeface="Lucida Console" charset="0"/>
              </a:rPr>
              <a:t>Database, Tables, Pages, Records</a:t>
            </a:r>
          </a:p>
          <a:p>
            <a:r>
              <a:rPr lang="en-US" sz="1400" dirty="0">
                <a:ea typeface="Lucida Console" charset="0"/>
                <a:cs typeface="Lucida Console" charset="0"/>
              </a:rPr>
              <a:t>When a transaction locks a node in the tree </a:t>
            </a:r>
            <a:r>
              <a:rPr lang="en-US" sz="1400" b="1" i="1" dirty="0">
                <a:ea typeface="Lucida Console" charset="0"/>
                <a:cs typeface="Lucida Console" charset="0"/>
              </a:rPr>
              <a:t>explicitly</a:t>
            </a:r>
            <a:r>
              <a:rPr lang="en-US" sz="1400" dirty="0">
                <a:ea typeface="Lucida Console" charset="0"/>
                <a:cs typeface="Lucida Console" charset="0"/>
              </a:rPr>
              <a:t>, it </a:t>
            </a:r>
            <a:r>
              <a:rPr lang="en-US" sz="1400" b="1" i="1" dirty="0">
                <a:ea typeface="Lucida Console" charset="0"/>
                <a:cs typeface="Lucida Console" charset="0"/>
              </a:rPr>
              <a:t>implicitly</a:t>
            </a:r>
            <a:r>
              <a:rPr lang="en-US" sz="1400" dirty="0">
                <a:ea typeface="Lucida Console" charset="0"/>
                <a:cs typeface="Lucida Console" charset="0"/>
              </a:rPr>
              <a:t> locks all the node’s descendants in the same mode. </a:t>
            </a:r>
          </a:p>
          <a:p>
            <a:endParaRPr lang="en-US" sz="1700" dirty="0">
              <a:ea typeface="Lucida Console" charset="0"/>
              <a:cs typeface="Lucida Console" charset="0"/>
            </a:endParaRPr>
          </a:p>
        </p:txBody>
      </p:sp>
      <p:sp>
        <p:nvSpPr>
          <p:cNvPr id="14" name="Line 14" descr="Each item moving down the levels contains the ones below it" title="Contains"/>
          <p:cNvSpPr>
            <a:spLocks noChangeShapeType="1"/>
          </p:cNvSpPr>
          <p:nvPr/>
        </p:nvSpPr>
        <p:spPr bwMode="auto">
          <a:xfrm>
            <a:off x="5562600" y="2571750"/>
            <a:ext cx="0" cy="953503"/>
          </a:xfrm>
          <a:prstGeom prst="line">
            <a:avLst/>
          </a:prstGeom>
          <a:noFill/>
          <a:ln w="47625">
            <a:solidFill>
              <a:schemeClr val="tx2"/>
            </a:solidFill>
            <a:round/>
            <a:headEnd type="none" w="sm" len="sm"/>
            <a:tailEnd type="triangle" w="lg" len="med"/>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15" name="Rectangle 15" descr="Each item moving down the levels contains the ones below it" title="Contains"/>
          <p:cNvSpPr>
            <a:spLocks noChangeArrowheads="1"/>
          </p:cNvSpPr>
          <p:nvPr/>
        </p:nvSpPr>
        <p:spPr bwMode="auto">
          <a:xfrm>
            <a:off x="5722871" y="2727292"/>
            <a:ext cx="926086" cy="3467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dirty="0">
                <a:solidFill>
                  <a:schemeClr val="accent2"/>
                </a:solidFill>
              </a:rPr>
              <a:t>contains</a:t>
            </a:r>
          </a:p>
        </p:txBody>
      </p:sp>
      <p:sp>
        <p:nvSpPr>
          <p:cNvPr id="2" name="Oval 1" descr="DB has two children T1 and T2. T1 has two children: Pa and Pb. Pa has n children: Ra1, Ra2,... Ran. Pb has k children: Rb1...Rbk. T2 and one child: Pc. Pc has m children: Rc1,...rcm" title="Tree"/>
          <p:cNvSpPr/>
          <p:nvPr/>
        </p:nvSpPr>
        <p:spPr bwMode="auto">
          <a:xfrm>
            <a:off x="3710842" y="2571750"/>
            <a:ext cx="47979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latin typeface="Helvetica Neue" charset="0"/>
              </a:rPr>
              <a:t>DB</a:t>
            </a:r>
            <a:endParaRPr lang="en-US" sz="1050" dirty="0">
              <a:solidFill>
                <a:srgbClr val="000000"/>
              </a:solidFill>
              <a:latin typeface="Helvetica Neue" charset="0"/>
            </a:endParaRPr>
          </a:p>
        </p:txBody>
      </p:sp>
      <p:sp>
        <p:nvSpPr>
          <p:cNvPr id="16" name="Oval 15" descr="DB has two children T1 and T2. T1 has two children: Pa and Pb. Pa has n children: Ra1, Ra2,... Ran. Pb has k children: Rb1...Rbk. T2 and one child: Pc. Pc has m children: Rc1,...rcm" title="Tree"/>
          <p:cNvSpPr/>
          <p:nvPr/>
        </p:nvSpPr>
        <p:spPr bwMode="auto">
          <a:xfrm>
            <a:off x="3046215" y="312929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latin typeface="Helvetica Neue" charset="0"/>
              </a:rPr>
              <a:t>T</a:t>
            </a:r>
            <a:r>
              <a:rPr lang="en-US" sz="1050" baseline="-25000" dirty="0">
                <a:solidFill>
                  <a:srgbClr val="000000"/>
                </a:solidFill>
                <a:latin typeface="Helvetica Neue" charset="0"/>
              </a:rPr>
              <a:t>1</a:t>
            </a:r>
          </a:p>
        </p:txBody>
      </p:sp>
      <p:sp>
        <p:nvSpPr>
          <p:cNvPr id="17" name="Oval 16" descr="DB has two children T1 and T2. T1 has two children: Pa and Pb. Pa has n children: Ra1, Ra2,... Ran. Pb has k children: Rb1...Rbk. T2 and one child: Pc. Pc has m children: Rc1,...rcm" title="Tree"/>
          <p:cNvSpPr/>
          <p:nvPr/>
        </p:nvSpPr>
        <p:spPr bwMode="auto">
          <a:xfrm>
            <a:off x="4514724" y="312929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latin typeface="Helvetica Neue" charset="0"/>
              </a:rPr>
              <a:t>T</a:t>
            </a:r>
            <a:r>
              <a:rPr lang="en-US" sz="1050" baseline="-25000" dirty="0">
                <a:solidFill>
                  <a:srgbClr val="000000"/>
                </a:solidFill>
                <a:latin typeface="Helvetica Neue" charset="0"/>
              </a:rPr>
              <a:t>2</a:t>
            </a:r>
          </a:p>
        </p:txBody>
      </p:sp>
      <p:sp>
        <p:nvSpPr>
          <p:cNvPr id="18" name="Oval 17" descr="DB has two children T1 and T2. T1 has two children: Pa and Pb. Pa has n children: Ra1, Ra2,... Ran. Pb has k children: Rb1...Rbk. T2 and one child: Pc. Pc has m children: Rc1,...rcm" title="Tree"/>
          <p:cNvSpPr/>
          <p:nvPr/>
        </p:nvSpPr>
        <p:spPr bwMode="auto">
          <a:xfrm>
            <a:off x="1454548" y="377385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P</a:t>
            </a:r>
            <a:r>
              <a:rPr lang="en-US" sz="1050" baseline="-25000" dirty="0">
                <a:solidFill>
                  <a:srgbClr val="000000"/>
                </a:solidFill>
                <a:latin typeface="Helvetica Neue" charset="0"/>
              </a:rPr>
              <a:t>a</a:t>
            </a:r>
          </a:p>
        </p:txBody>
      </p:sp>
      <p:sp>
        <p:nvSpPr>
          <p:cNvPr id="19" name="Oval 18" descr="DB has two children T1 and T2. T1 has two children: Pa and Pb. Pa has n children: Ra1, Ra2,... Ran. Pb has k children: Rb1...Rbk. T2 and one child: Pc. Pc has m children: Rc1,...rcm" title="Tree"/>
          <p:cNvSpPr/>
          <p:nvPr/>
        </p:nvSpPr>
        <p:spPr bwMode="auto">
          <a:xfrm>
            <a:off x="3047341" y="3770848"/>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P</a:t>
            </a:r>
            <a:r>
              <a:rPr lang="en-US" sz="1050" baseline="-25000" dirty="0" err="1">
                <a:solidFill>
                  <a:srgbClr val="000000"/>
                </a:solidFill>
                <a:latin typeface="Helvetica Neue" charset="0"/>
              </a:rPr>
              <a:t>b</a:t>
            </a:r>
            <a:endParaRPr lang="en-US" sz="1050" baseline="-25000" dirty="0">
              <a:solidFill>
                <a:srgbClr val="000000"/>
              </a:solidFill>
              <a:latin typeface="Helvetica Neue" charset="0"/>
            </a:endParaRPr>
          </a:p>
        </p:txBody>
      </p:sp>
      <p:sp>
        <p:nvSpPr>
          <p:cNvPr id="21" name="Oval 20" descr="DB has two children T1 and T2. T1 has two children: Pa and Pb. Pa has n children: Ra1, Ra2,... Ran. Pb has k children: Rb1...Rbk. T2 and one child: Pc. Pc has m children: Rc1,...rcm" title="Tree"/>
          <p:cNvSpPr/>
          <p:nvPr/>
        </p:nvSpPr>
        <p:spPr bwMode="auto">
          <a:xfrm>
            <a:off x="4514724" y="376494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P</a:t>
            </a:r>
            <a:r>
              <a:rPr lang="en-US" sz="1050" baseline="-25000" dirty="0">
                <a:solidFill>
                  <a:srgbClr val="000000"/>
                </a:solidFill>
              </a:rPr>
              <a:t>c</a:t>
            </a:r>
            <a:endParaRPr lang="en-US" sz="1050" baseline="-25000" dirty="0">
              <a:solidFill>
                <a:srgbClr val="000000"/>
              </a:solidFill>
              <a:latin typeface="Helvetica Neue" charset="0"/>
            </a:endParaRPr>
          </a:p>
        </p:txBody>
      </p:sp>
      <p:sp>
        <p:nvSpPr>
          <p:cNvPr id="23" name="Oval 22" descr="DB has two children T1 and T2. T1 has two children: Pa and Pb. Pa has n children: Ra1, Ra2,... Ran. Pb has k children: Rb1...Rbk. T2 and one child: Pc. Pc has m children: Rc1,...rcm" title="Tree"/>
          <p:cNvSpPr/>
          <p:nvPr/>
        </p:nvSpPr>
        <p:spPr bwMode="auto">
          <a:xfrm>
            <a:off x="768748" y="4354236"/>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a1</a:t>
            </a:r>
          </a:p>
        </p:txBody>
      </p:sp>
      <p:sp>
        <p:nvSpPr>
          <p:cNvPr id="24" name="Oval 23" descr="DB has two children T1 and T2. T1 has two children: Pa and Pb. Pa has n children: Ra1, Ra2,... Ran. Pb has k children: Rb1...Rbk. T2 and one child: Pc. Pc has m children: Rc1,...rcm" title="Tree"/>
          <p:cNvSpPr/>
          <p:nvPr/>
        </p:nvSpPr>
        <p:spPr bwMode="auto">
          <a:xfrm>
            <a:off x="1211701" y="4347534"/>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rPr>
              <a:t>r</a:t>
            </a:r>
            <a:r>
              <a:rPr lang="en-US" sz="1050" baseline="-25000">
                <a:solidFill>
                  <a:srgbClr val="000000"/>
                </a:solidFill>
              </a:rPr>
              <a:t>a2</a:t>
            </a:r>
            <a:endParaRPr lang="en-US" sz="1050" baseline="-25000" dirty="0">
              <a:solidFill>
                <a:srgbClr val="000000"/>
              </a:solidFill>
            </a:endParaRPr>
          </a:p>
        </p:txBody>
      </p:sp>
      <p:sp>
        <p:nvSpPr>
          <p:cNvPr id="25" name="Oval 24" descr="DB has two children T1 and T2. T1 has two children: Pa and Pb. Pa has n children: Ra1, Ra2,... Ran. Pb has k children: Rb1...Rbk. T2 and one child: Pc. Pc has m children: Rc1,...rcm" title="Tree"/>
          <p:cNvSpPr/>
          <p:nvPr/>
        </p:nvSpPr>
        <p:spPr bwMode="auto">
          <a:xfrm>
            <a:off x="1986444" y="434436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an</a:t>
            </a:r>
          </a:p>
        </p:txBody>
      </p:sp>
      <p:sp>
        <p:nvSpPr>
          <p:cNvPr id="26" name="Oval 25" descr="DB has two children T1 and T2. T1 has two children: Pa and Pb. Pa has n children: Ra1, Ra2,... Ran. Pb has k children: Rb1...Rbk. T2 and one child: Pc. Pc has m children: Rc1,...rcm" title="Tree"/>
          <p:cNvSpPr/>
          <p:nvPr/>
        </p:nvSpPr>
        <p:spPr bwMode="auto">
          <a:xfrm>
            <a:off x="2633766" y="434436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rPr>
              <a:t>r</a:t>
            </a:r>
            <a:r>
              <a:rPr lang="en-US" sz="1050" baseline="-25000">
                <a:solidFill>
                  <a:srgbClr val="000000"/>
                </a:solidFill>
              </a:rPr>
              <a:t>b1</a:t>
            </a:r>
            <a:endParaRPr lang="en-US" sz="1050" baseline="-25000" dirty="0">
              <a:solidFill>
                <a:srgbClr val="000000"/>
              </a:solidFill>
            </a:endParaRPr>
          </a:p>
        </p:txBody>
      </p:sp>
      <p:sp>
        <p:nvSpPr>
          <p:cNvPr id="27" name="Oval 26" descr="DB has two children T1 and T2. T1 has two children: Pa and Pb. Pa has n children: Ra1, Ra2,... Ran. Pb has k children: Rb1...Rbk. T2 and one child: Pc. Pc has m children: Rc1,...rcm" title="Tree"/>
          <p:cNvSpPr/>
          <p:nvPr/>
        </p:nvSpPr>
        <p:spPr bwMode="auto">
          <a:xfrm>
            <a:off x="3449452" y="4339287"/>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r</a:t>
            </a:r>
            <a:r>
              <a:rPr lang="en-US" sz="1050" baseline="-25000" dirty="0" err="1">
                <a:solidFill>
                  <a:srgbClr val="000000"/>
                </a:solidFill>
              </a:rPr>
              <a:t>bk</a:t>
            </a:r>
            <a:endParaRPr lang="en-US" sz="1050" baseline="-25000" dirty="0">
              <a:solidFill>
                <a:srgbClr val="000000"/>
              </a:solidFill>
            </a:endParaRPr>
          </a:p>
        </p:txBody>
      </p:sp>
      <p:sp>
        <p:nvSpPr>
          <p:cNvPr id="28" name="Oval 27" descr="DB has two children T1 and T2. T1 has two children: Pa and Pb. Pa has n children: Ra1, Ra2,... Ran. Pb has k children: Rb1...Rbk. T2 and one child: Pc. Pc has m children: Rc1,...rcm" title="Tree"/>
          <p:cNvSpPr/>
          <p:nvPr/>
        </p:nvSpPr>
        <p:spPr bwMode="auto">
          <a:xfrm>
            <a:off x="4190640" y="4353366"/>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c1</a:t>
            </a:r>
          </a:p>
        </p:txBody>
      </p:sp>
      <p:sp>
        <p:nvSpPr>
          <p:cNvPr id="29" name="Oval 28" descr="DB has two children T1 and T2. T1 has two children: Pa and Pb. Pa has n children: Ra1, Ra2,... Ran. Pb has k children: Rb1...Rbk. T2 and one child: Pc. Pc has m children: Rc1,...rcm" title="Tree"/>
          <p:cNvSpPr/>
          <p:nvPr/>
        </p:nvSpPr>
        <p:spPr bwMode="auto">
          <a:xfrm>
            <a:off x="4961196" y="4340948"/>
            <a:ext cx="447140"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r</a:t>
            </a:r>
            <a:r>
              <a:rPr lang="en-US" sz="1050" baseline="-25000" dirty="0" err="1">
                <a:solidFill>
                  <a:srgbClr val="000000"/>
                </a:solidFill>
              </a:rPr>
              <a:t>cm</a:t>
            </a:r>
            <a:endParaRPr lang="en-US" sz="1050" baseline="-25000" dirty="0">
              <a:solidFill>
                <a:srgbClr val="000000"/>
              </a:solidFill>
            </a:endParaRPr>
          </a:p>
        </p:txBody>
      </p:sp>
      <p:cxnSp>
        <p:nvCxnSpPr>
          <p:cNvPr id="4" name="Straight Arrow Connector 3" descr="DB has two children T1 and T2. T1 has two children: Pa and Pb. Pa has n children: Ra1, Ra2,... Ran. Pb has k children: Rb1...Rbk. T2 and one child: Pc. Pc has m children: Rc1,...rcm" title="Tree"/>
          <p:cNvCxnSpPr>
            <a:cxnSpLocks/>
            <a:stCxn id="2" idx="3"/>
            <a:endCxn id="16" idx="0"/>
          </p:cNvCxnSpPr>
          <p:nvPr/>
        </p:nvCxnSpPr>
        <p:spPr bwMode="auto">
          <a:xfrm flipH="1">
            <a:off x="3247834" y="2837278"/>
            <a:ext cx="533273" cy="29201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30" name="Straight Arrow Connector 29" descr="DB has two children T1 and T2. T1 has two children: Pa and Pb. Pa has n children: Ra1, Ra2,... Ran. Pb has k children: Rb1...Rbk. T2 and one child: Pc. Pc has m children: Rc1,...rcm" title="Tree"/>
          <p:cNvCxnSpPr>
            <a:cxnSpLocks/>
            <a:stCxn id="2" idx="5"/>
            <a:endCxn id="17" idx="0"/>
          </p:cNvCxnSpPr>
          <p:nvPr/>
        </p:nvCxnSpPr>
        <p:spPr bwMode="auto">
          <a:xfrm>
            <a:off x="4120375" y="2837278"/>
            <a:ext cx="595968" cy="29201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31" name="Straight Arrow Connector 30" descr="DB has two children T1 and T2. T1 has two children: Pa and Pb. Pa has n children: Ra1, Ra2,... Ran. Pb has k children: Rb1...Rbk. T2 and one child: Pc. Pc has m children: Rc1,...rcm" title="Tree"/>
          <p:cNvCxnSpPr>
            <a:stCxn id="16" idx="3"/>
            <a:endCxn id="18" idx="0"/>
          </p:cNvCxnSpPr>
          <p:nvPr/>
        </p:nvCxnSpPr>
        <p:spPr bwMode="auto">
          <a:xfrm flipH="1">
            <a:off x="1656167" y="3394820"/>
            <a:ext cx="1449101" cy="37903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35" name="Straight Arrow Connector 34" descr="DB has two children T1 and T2. T1 has two children: Pa and Pb. Pa has n children: Ra1, Ra2,... Ran. Pb has k children: Rb1...Rbk. T2 and one child: Pc. Pc has m children: Rc1,...rcm" title="Tree"/>
          <p:cNvCxnSpPr>
            <a:stCxn id="16" idx="4"/>
            <a:endCxn id="19" idx="0"/>
          </p:cNvCxnSpPr>
          <p:nvPr/>
        </p:nvCxnSpPr>
        <p:spPr bwMode="auto">
          <a:xfrm>
            <a:off x="3247834" y="3440377"/>
            <a:ext cx="1126" cy="33047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38" name="Straight Arrow Connector 37" descr="DB has two children T1 and T2. T1 has two children: Pa and Pb. Pa has n children: Ra1, Ra2,... Ran. Pb has k children: Rb1...Rbk. T2 and one child: Pc. Pc has m children: Rc1,...rcm" title="Tree"/>
          <p:cNvCxnSpPr>
            <a:stCxn id="17" idx="4"/>
            <a:endCxn id="21" idx="0"/>
          </p:cNvCxnSpPr>
          <p:nvPr/>
        </p:nvCxnSpPr>
        <p:spPr bwMode="auto">
          <a:xfrm>
            <a:off x="4716343" y="3440377"/>
            <a:ext cx="0" cy="324565"/>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1" name="Straight Arrow Connector 40" descr="DB has two children T1 and T2. T1 has two children: Pa and Pb. Pa has n children: Ra1, Ra2,... Ran. Pb has k children: Rb1...Rbk. T2 and one child: Pc. Pc has m children: Rc1,...rcm" title="Tree"/>
          <p:cNvCxnSpPr>
            <a:cxnSpLocks/>
            <a:stCxn id="21" idx="4"/>
            <a:endCxn id="29" idx="0"/>
          </p:cNvCxnSpPr>
          <p:nvPr/>
        </p:nvCxnSpPr>
        <p:spPr bwMode="auto">
          <a:xfrm>
            <a:off x="4716343" y="4076027"/>
            <a:ext cx="468423" cy="26492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4" name="Straight Arrow Connector 43" descr="DB has two children T1 and T2. T1 has two children: Pa and Pb. Pa has n children: Ra1, Ra2,... Ran. Pb has k children: Rb1...Rbk. T2 and one child: Pc. Pc has m children: Rc1,...rcm" title="Tree"/>
          <p:cNvCxnSpPr>
            <a:stCxn id="21" idx="4"/>
            <a:endCxn id="28" idx="0"/>
          </p:cNvCxnSpPr>
          <p:nvPr/>
        </p:nvCxnSpPr>
        <p:spPr bwMode="auto">
          <a:xfrm flipH="1">
            <a:off x="4392259" y="4076027"/>
            <a:ext cx="324084" cy="277339"/>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8" name="Straight Arrow Connector 47" descr="DB has two children T1 and T2. T1 has two children: Pa and Pb. Pa has n children: Ra1, Ra2,... Ran. Pb has k children: Rb1...Rbk. T2 and one child: Pc. Pc has m children: Rc1,...rcm" title="Tree"/>
          <p:cNvCxnSpPr>
            <a:stCxn id="18" idx="3"/>
            <a:endCxn id="23" idx="0"/>
          </p:cNvCxnSpPr>
          <p:nvPr/>
        </p:nvCxnSpPr>
        <p:spPr bwMode="auto">
          <a:xfrm flipH="1">
            <a:off x="970367" y="4039379"/>
            <a:ext cx="543234" cy="314858"/>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51" name="Straight Arrow Connector 50" descr="DB has two children T1 and T2. T1 has two children: Pa and Pb. Pa has n children: Ra1, Ra2,... Ran. Pb has k children: Rb1...Rbk. T2 and one child: Pc. Pc has m children: Rc1,...rcm" title="Tree"/>
          <p:cNvCxnSpPr>
            <a:stCxn id="18" idx="4"/>
            <a:endCxn id="24" idx="0"/>
          </p:cNvCxnSpPr>
          <p:nvPr/>
        </p:nvCxnSpPr>
        <p:spPr bwMode="auto">
          <a:xfrm flipH="1">
            <a:off x="1413321" y="4084935"/>
            <a:ext cx="242846" cy="262599"/>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54" name="Straight Arrow Connector 53" descr="DB has two children T1 and T2. T1 has two children: Pa and Pb. Pa has n children: Ra1, Ra2,... Ran. Pb has k children: Rb1...Rbk. T2 and one child: Pc. Pc has m children: Rc1,...rcm" title="Tree"/>
          <p:cNvCxnSpPr>
            <a:stCxn id="18" idx="5"/>
            <a:endCxn id="25" idx="0"/>
          </p:cNvCxnSpPr>
          <p:nvPr/>
        </p:nvCxnSpPr>
        <p:spPr bwMode="auto">
          <a:xfrm>
            <a:off x="1798733" y="4039378"/>
            <a:ext cx="389330" cy="304982"/>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57" name="Straight Arrow Connector 56" descr="DB has two children T1 and T2. T1 has two children: Pa and Pb. Pa has n children: Ra1, Ra2,... Ran. Pb has k children: Rb1...Rbk. T2 and one child: Pc. Pc has m children: Rc1,...rcm" title="Tree"/>
          <p:cNvCxnSpPr>
            <a:stCxn id="19" idx="3"/>
            <a:endCxn id="26" idx="0"/>
          </p:cNvCxnSpPr>
          <p:nvPr/>
        </p:nvCxnSpPr>
        <p:spPr bwMode="auto">
          <a:xfrm flipH="1">
            <a:off x="2835385" y="4036376"/>
            <a:ext cx="271009" cy="30798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60" name="Straight Arrow Connector 59" descr="DB has two children T1 and T2. T1 has two children: Pa and Pb. Pa has n children: Ra1, Ra2,... Ran. Pb has k children: Rb1...Rbk. T2 and one child: Pc. Pc has m children: Rc1,...rcm" title="Tree"/>
          <p:cNvCxnSpPr>
            <a:stCxn id="19" idx="5"/>
            <a:endCxn id="27" idx="0"/>
          </p:cNvCxnSpPr>
          <p:nvPr/>
        </p:nvCxnSpPr>
        <p:spPr bwMode="auto">
          <a:xfrm>
            <a:off x="3391526" y="4036376"/>
            <a:ext cx="259546" cy="30291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spTree>
    <p:extLst>
      <p:ext uri="{BB962C8B-B14F-4D97-AF65-F5344CB8AC3E}">
        <p14:creationId xmlns:p14="http://schemas.microsoft.com/office/powerpoint/2010/main" val="20980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Multiple Locking Granularity</a:t>
            </a:r>
            <a:endParaRPr lang="en-US" dirty="0"/>
          </a:p>
        </p:txBody>
      </p:sp>
      <p:sp>
        <p:nvSpPr>
          <p:cNvPr id="3" name="Content Placeholder 2">
            <a:extLst>
              <a:ext uri="{FF2B5EF4-FFF2-40B4-BE49-F238E27FC236}">
                <a16:creationId xmlns:a16="http://schemas.microsoft.com/office/drawing/2014/main" id="{0566B7E2-4571-3D44-95DD-F6427F394DE1}"/>
              </a:ext>
            </a:extLst>
          </p:cNvPr>
          <p:cNvSpPr>
            <a:spLocks noGrp="1"/>
          </p:cNvSpPr>
          <p:nvPr>
            <p:ph idx="1"/>
          </p:nvPr>
        </p:nvSpPr>
        <p:spPr/>
        <p:txBody>
          <a:bodyPr>
            <a:normAutofit/>
          </a:bodyPr>
          <a:lstStyle/>
          <a:p>
            <a:pPr>
              <a:spcBef>
                <a:spcPts val="2000"/>
              </a:spcBef>
            </a:pPr>
            <a:r>
              <a:rPr lang="en-US" sz="1500" dirty="0">
                <a:ea typeface="Lucida Console" charset="0"/>
                <a:cs typeface="Lucida Console" charset="0"/>
              </a:rPr>
              <a:t>Granularity of locking (level in tree where locking is done):</a:t>
            </a:r>
          </a:p>
          <a:p>
            <a:pPr lvl="1"/>
            <a:r>
              <a:rPr lang="en-US" sz="1500" b="1" dirty="0">
                <a:ea typeface="Lucida Console" charset="0"/>
                <a:cs typeface="Lucida Console" charset="0"/>
              </a:rPr>
              <a:t>Fine granularity </a:t>
            </a:r>
            <a:r>
              <a:rPr lang="en-US" sz="1500" dirty="0">
                <a:ea typeface="Lucida Console" charset="0"/>
                <a:cs typeface="Lucida Console" charset="0"/>
              </a:rPr>
              <a:t>(lower in tree):  High concurrency, lots of locks (overhead)</a:t>
            </a:r>
          </a:p>
          <a:p>
            <a:pPr lvl="1"/>
            <a:r>
              <a:rPr lang="en-US" sz="1500" b="1" dirty="0">
                <a:ea typeface="Lucida Console" charset="0"/>
                <a:cs typeface="Lucida Console" charset="0"/>
              </a:rPr>
              <a:t>Coarse granularity </a:t>
            </a:r>
            <a:r>
              <a:rPr lang="en-US" sz="1500" dirty="0">
                <a:ea typeface="Lucida Console" charset="0"/>
                <a:cs typeface="Lucida Console" charset="0"/>
              </a:rPr>
              <a:t>(higher in tree): Few locks (low overhead), lost concurrency</a:t>
            </a:r>
          </a:p>
          <a:p>
            <a:pPr lvl="2"/>
            <a:r>
              <a:rPr lang="en-US" sz="1350">
                <a:ea typeface="Lucida Console" charset="0"/>
                <a:cs typeface="Lucida Console" charset="0"/>
              </a:rPr>
              <a:t>Lost potential concurrency </a:t>
            </a:r>
            <a:r>
              <a:rPr lang="en-US" sz="1350" dirty="0">
                <a:ea typeface="Lucida Console" charset="0"/>
                <a:cs typeface="Lucida Console" charset="0"/>
              </a:rPr>
              <a:t>if you don’t need everything inside the coarse grain</a:t>
            </a:r>
          </a:p>
          <a:p>
            <a:endParaRPr lang="en-US" dirty="0"/>
          </a:p>
        </p:txBody>
      </p:sp>
      <p:sp>
        <p:nvSpPr>
          <p:cNvPr id="4" name="Oval 3" descr="DB has two children T1 and T2. T1 has two children: Pa and Pb. Pa has n children: Ra1, Ra2,... Ran. Pb has k children: Rb1...Rbk. T2 and one child: Pc. Pc has m children: Rc1,...rcm" title="Tree"/>
          <p:cNvSpPr/>
          <p:nvPr/>
        </p:nvSpPr>
        <p:spPr bwMode="auto">
          <a:xfrm>
            <a:off x="3710842" y="2571750"/>
            <a:ext cx="47979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latin typeface="Helvetica Neue" charset="0"/>
              </a:rPr>
              <a:t>DB</a:t>
            </a:r>
            <a:endParaRPr lang="en-US" sz="1050" dirty="0">
              <a:solidFill>
                <a:srgbClr val="000000"/>
              </a:solidFill>
              <a:latin typeface="Helvetica Neue" charset="0"/>
            </a:endParaRPr>
          </a:p>
        </p:txBody>
      </p:sp>
      <p:sp>
        <p:nvSpPr>
          <p:cNvPr id="5" name="Oval 4" descr="DB has two children T1 and T2. T1 has two children: Pa and Pb. Pa has n children: Ra1, Ra2,... Ran. Pb has k children: Rb1...Rbk. T2 and one child: Pc. Pc has m children: Rc1,...rcm" title="Tree"/>
          <p:cNvSpPr/>
          <p:nvPr/>
        </p:nvSpPr>
        <p:spPr bwMode="auto">
          <a:xfrm>
            <a:off x="3046215" y="312929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latin typeface="Helvetica Neue" charset="0"/>
              </a:rPr>
              <a:t>T</a:t>
            </a:r>
            <a:r>
              <a:rPr lang="en-US" sz="1050" baseline="-25000" dirty="0">
                <a:solidFill>
                  <a:srgbClr val="000000"/>
                </a:solidFill>
                <a:latin typeface="Helvetica Neue" charset="0"/>
              </a:rPr>
              <a:t>1</a:t>
            </a:r>
          </a:p>
        </p:txBody>
      </p:sp>
      <p:sp>
        <p:nvSpPr>
          <p:cNvPr id="6" name="Oval 5" descr="DB has two children T1 and T2. T1 has two children: Pa and Pb. Pa has n children: Ra1, Ra2,... Ran. Pb has k children: Rb1...Rbk. T2 and one child: Pc. Pc has m children: Rc1,...rcm" title="Tree"/>
          <p:cNvSpPr/>
          <p:nvPr/>
        </p:nvSpPr>
        <p:spPr bwMode="auto">
          <a:xfrm>
            <a:off x="4514724" y="312929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latin typeface="Helvetica Neue" charset="0"/>
              </a:rPr>
              <a:t>T</a:t>
            </a:r>
            <a:r>
              <a:rPr lang="en-US" sz="1050" baseline="-25000" dirty="0">
                <a:solidFill>
                  <a:srgbClr val="000000"/>
                </a:solidFill>
                <a:latin typeface="Helvetica Neue" charset="0"/>
              </a:rPr>
              <a:t>2</a:t>
            </a:r>
          </a:p>
        </p:txBody>
      </p:sp>
      <p:sp>
        <p:nvSpPr>
          <p:cNvPr id="7" name="Oval 6" descr="DB has two children T1 and T2. T1 has two children: Pa and Pb. Pa has n children: Ra1, Ra2,... Ran. Pb has k children: Rb1...Rbk. T2 and one child: Pc. Pc has m children: Rc1,...rcm" title="Tree"/>
          <p:cNvSpPr/>
          <p:nvPr/>
        </p:nvSpPr>
        <p:spPr bwMode="auto">
          <a:xfrm>
            <a:off x="1454548" y="377385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P</a:t>
            </a:r>
            <a:r>
              <a:rPr lang="en-US" sz="1050" baseline="-25000" dirty="0">
                <a:solidFill>
                  <a:srgbClr val="000000"/>
                </a:solidFill>
                <a:latin typeface="Helvetica Neue" charset="0"/>
              </a:rPr>
              <a:t>a</a:t>
            </a:r>
          </a:p>
        </p:txBody>
      </p:sp>
      <p:sp>
        <p:nvSpPr>
          <p:cNvPr id="8" name="Oval 7" descr="DB has two children T1 and T2. T1 has two children: Pa and Pb. Pa has n children: Ra1, Ra2,... Ran. Pb has k children: Rb1...Rbk. T2 and one child: Pc. Pc has m children: Rc1,...rcm" title="Tree"/>
          <p:cNvSpPr/>
          <p:nvPr/>
        </p:nvSpPr>
        <p:spPr bwMode="auto">
          <a:xfrm>
            <a:off x="3047341" y="3770848"/>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P</a:t>
            </a:r>
            <a:r>
              <a:rPr lang="en-US" sz="1050" baseline="-25000" dirty="0" err="1">
                <a:solidFill>
                  <a:srgbClr val="000000"/>
                </a:solidFill>
                <a:latin typeface="Helvetica Neue" charset="0"/>
              </a:rPr>
              <a:t>b</a:t>
            </a:r>
            <a:endParaRPr lang="en-US" sz="1050" baseline="-25000" dirty="0">
              <a:solidFill>
                <a:srgbClr val="000000"/>
              </a:solidFill>
              <a:latin typeface="Helvetica Neue" charset="0"/>
            </a:endParaRPr>
          </a:p>
        </p:txBody>
      </p:sp>
      <p:sp>
        <p:nvSpPr>
          <p:cNvPr id="9" name="Oval 8" descr="DB has two children T1 and T2. T1 has two children: Pa and Pb. Pa has n children: Ra1, Ra2,... Ran. Pb has k children: Rb1...Rbk. T2 and one child: Pc. Pc has m children: Rc1,...rcm" title="Tree"/>
          <p:cNvSpPr/>
          <p:nvPr/>
        </p:nvSpPr>
        <p:spPr bwMode="auto">
          <a:xfrm>
            <a:off x="4514724" y="376494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P</a:t>
            </a:r>
            <a:r>
              <a:rPr lang="en-US" sz="1050" baseline="-25000" dirty="0">
                <a:solidFill>
                  <a:srgbClr val="000000"/>
                </a:solidFill>
              </a:rPr>
              <a:t>c</a:t>
            </a:r>
            <a:endParaRPr lang="en-US" sz="1050" baseline="-25000" dirty="0">
              <a:solidFill>
                <a:srgbClr val="000000"/>
              </a:solidFill>
              <a:latin typeface="Helvetica Neue" charset="0"/>
            </a:endParaRPr>
          </a:p>
        </p:txBody>
      </p:sp>
      <p:sp>
        <p:nvSpPr>
          <p:cNvPr id="10" name="Oval 9" descr="DB has two children T1 and T2. T1 has two children: Pa and Pb. Pa has n children: Ra1, Ra2,... Ran. Pb has k children: Rb1...Rbk. T2 and one child: Pc. Pc has m children: Rc1,...rcm" title="Tree"/>
          <p:cNvSpPr/>
          <p:nvPr/>
        </p:nvSpPr>
        <p:spPr bwMode="auto">
          <a:xfrm>
            <a:off x="768748" y="4354236"/>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a1</a:t>
            </a:r>
          </a:p>
        </p:txBody>
      </p:sp>
      <p:sp>
        <p:nvSpPr>
          <p:cNvPr id="11" name="Oval 10" descr="DB has two children T1 and T2. T1 has two children: Pa and Pb. Pa has n children: Ra1, Ra2,... Ran. Pb has k children: Rb1...Rbk. T2 and one child: Pc. Pc has m children: Rc1,...rcm" title="Tree"/>
          <p:cNvSpPr/>
          <p:nvPr/>
        </p:nvSpPr>
        <p:spPr bwMode="auto">
          <a:xfrm>
            <a:off x="1211701" y="4347534"/>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rPr>
              <a:t>r</a:t>
            </a:r>
            <a:r>
              <a:rPr lang="en-US" sz="1050" baseline="-25000">
                <a:solidFill>
                  <a:srgbClr val="000000"/>
                </a:solidFill>
              </a:rPr>
              <a:t>a2</a:t>
            </a:r>
            <a:endParaRPr lang="en-US" sz="1050" baseline="-25000" dirty="0">
              <a:solidFill>
                <a:srgbClr val="000000"/>
              </a:solidFill>
            </a:endParaRPr>
          </a:p>
        </p:txBody>
      </p:sp>
      <p:sp>
        <p:nvSpPr>
          <p:cNvPr id="12" name="Oval 11" descr="DB has two children T1 and T2. T1 has two children: Pa and Pb. Pa has n children: Ra1, Ra2,... Ran. Pb has k children: Rb1...Rbk. T2 and one child: Pc. Pc has m children: Rc1,...rcm" title="Tree"/>
          <p:cNvSpPr/>
          <p:nvPr/>
        </p:nvSpPr>
        <p:spPr bwMode="auto">
          <a:xfrm>
            <a:off x="1986444" y="434436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an</a:t>
            </a:r>
          </a:p>
        </p:txBody>
      </p:sp>
      <p:sp>
        <p:nvSpPr>
          <p:cNvPr id="13" name="Oval 12" descr="DB has two children T1 and T2. T1 has two children: Pa and Pb. Pa has n children: Ra1, Ra2,... Ran. Pb has k children: Rb1...Rbk. T2 and one child: Pc. Pc has m children: Rc1,...rcm" title="Tree"/>
          <p:cNvSpPr/>
          <p:nvPr/>
        </p:nvSpPr>
        <p:spPr bwMode="auto">
          <a:xfrm>
            <a:off x="2633766" y="434436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rPr>
              <a:t>r</a:t>
            </a:r>
            <a:r>
              <a:rPr lang="en-US" sz="1050" baseline="-25000">
                <a:solidFill>
                  <a:srgbClr val="000000"/>
                </a:solidFill>
              </a:rPr>
              <a:t>b1</a:t>
            </a:r>
            <a:endParaRPr lang="en-US" sz="1050" baseline="-25000" dirty="0">
              <a:solidFill>
                <a:srgbClr val="000000"/>
              </a:solidFill>
            </a:endParaRPr>
          </a:p>
        </p:txBody>
      </p:sp>
      <p:sp>
        <p:nvSpPr>
          <p:cNvPr id="14" name="Oval 13" descr="DB has two children T1 and T2. T1 has two children: Pa and Pb. Pa has n children: Ra1, Ra2,... Ran. Pb has k children: Rb1...Rbk. T2 and one child: Pc. Pc has m children: Rc1,...rcm" title="Tree"/>
          <p:cNvSpPr/>
          <p:nvPr/>
        </p:nvSpPr>
        <p:spPr bwMode="auto">
          <a:xfrm>
            <a:off x="3449452" y="4339287"/>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r</a:t>
            </a:r>
            <a:r>
              <a:rPr lang="en-US" sz="1050" baseline="-25000" dirty="0" err="1">
                <a:solidFill>
                  <a:srgbClr val="000000"/>
                </a:solidFill>
              </a:rPr>
              <a:t>bk</a:t>
            </a:r>
            <a:endParaRPr lang="en-US" sz="1050" baseline="-25000" dirty="0">
              <a:solidFill>
                <a:srgbClr val="000000"/>
              </a:solidFill>
            </a:endParaRPr>
          </a:p>
        </p:txBody>
      </p:sp>
      <p:sp>
        <p:nvSpPr>
          <p:cNvPr id="15" name="Oval 14" descr="DB has two children T1 and T2. T1 has two children: Pa and Pb. Pa has n children: Ra1, Ra2,... Ran. Pb has k children: Rb1...Rbk. T2 and one child: Pc. Pc has m children: Rc1,...rcm" title="Tree"/>
          <p:cNvSpPr/>
          <p:nvPr/>
        </p:nvSpPr>
        <p:spPr bwMode="auto">
          <a:xfrm>
            <a:off x="4190640" y="4353366"/>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c1</a:t>
            </a:r>
          </a:p>
        </p:txBody>
      </p:sp>
      <p:sp>
        <p:nvSpPr>
          <p:cNvPr id="16" name="Oval 15" descr="DB has two children T1 and T2. T1 has two children: Pa and Pb. Pa has n children: Ra1, Ra2,... Ran. Pb has k children: Rb1...Rbk. T2 and one child: Pc. Pc has m children: Rc1,...rcm" title="Tree"/>
          <p:cNvSpPr/>
          <p:nvPr/>
        </p:nvSpPr>
        <p:spPr bwMode="auto">
          <a:xfrm>
            <a:off x="4961196" y="4340948"/>
            <a:ext cx="447140"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r</a:t>
            </a:r>
            <a:r>
              <a:rPr lang="en-US" sz="1050" baseline="-25000" dirty="0" err="1">
                <a:solidFill>
                  <a:srgbClr val="000000"/>
                </a:solidFill>
              </a:rPr>
              <a:t>cm</a:t>
            </a:r>
            <a:endParaRPr lang="en-US" sz="1050" baseline="-25000" dirty="0">
              <a:solidFill>
                <a:srgbClr val="000000"/>
              </a:solidFill>
            </a:endParaRPr>
          </a:p>
        </p:txBody>
      </p:sp>
      <p:cxnSp>
        <p:nvCxnSpPr>
          <p:cNvPr id="17" name="Straight Arrow Connector 16" descr="DB has two children T1 and T2. T1 has two children: Pa and Pb. Pa has n children: Ra1, Ra2,... Ran. Pb has k children: Rb1...Rbk. T2 and one child: Pc. Pc has m children: Rc1,...rcm" title="Tree"/>
          <p:cNvCxnSpPr>
            <a:cxnSpLocks/>
            <a:stCxn id="4" idx="3"/>
            <a:endCxn id="18" idx="0"/>
          </p:cNvCxnSpPr>
          <p:nvPr/>
        </p:nvCxnSpPr>
        <p:spPr bwMode="auto">
          <a:xfrm flipH="1">
            <a:off x="3247834" y="2837278"/>
            <a:ext cx="533273" cy="29201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18" name="Straight Arrow Connector 17" descr="DB has two children T1 and T2. T1 has two children: Pa and Pb. Pa has n children: Ra1, Ra2,... Ran. Pb has k children: Rb1...Rbk. T2 and one child: Pc. Pc has m children: Rc1,...rcm" title="Tree"/>
          <p:cNvCxnSpPr>
            <a:cxnSpLocks/>
            <a:stCxn id="4" idx="5"/>
            <a:endCxn id="19" idx="0"/>
          </p:cNvCxnSpPr>
          <p:nvPr/>
        </p:nvCxnSpPr>
        <p:spPr bwMode="auto">
          <a:xfrm>
            <a:off x="4120375" y="2837278"/>
            <a:ext cx="595968" cy="29201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19" name="Straight Arrow Connector 18" descr="DB has two children T1 and T2. T1 has two children: Pa and Pb. Pa has n children: Ra1, Ra2,... Ran. Pb has k children: Rb1...Rbk. T2 and one child: Pc. Pc has m children: Rc1,...rcm" title="Tree"/>
          <p:cNvCxnSpPr>
            <a:stCxn id="18" idx="3"/>
            <a:endCxn id="21" idx="0"/>
          </p:cNvCxnSpPr>
          <p:nvPr/>
        </p:nvCxnSpPr>
        <p:spPr bwMode="auto">
          <a:xfrm flipH="1">
            <a:off x="1656167" y="3394820"/>
            <a:ext cx="1449101" cy="37903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1" name="Straight Arrow Connector 20" descr="DB has two children T1 and T2. T1 has two children: Pa and Pb. Pa has n children: Ra1, Ra2,... Ran. Pb has k children: Rb1...Rbk. T2 and one child: Pc. Pc has m children: Rc1,...rcm" title="Tree"/>
          <p:cNvCxnSpPr>
            <a:stCxn id="18" idx="4"/>
            <a:endCxn id="22" idx="0"/>
          </p:cNvCxnSpPr>
          <p:nvPr/>
        </p:nvCxnSpPr>
        <p:spPr bwMode="auto">
          <a:xfrm>
            <a:off x="3247834" y="3440377"/>
            <a:ext cx="1126" cy="33047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2" name="Straight Arrow Connector 21" descr="DB has two children T1 and T2. T1 has two children: Pa and Pb. Pa has n children: Ra1, Ra2,... Ran. Pb has k children: Rb1...Rbk. T2 and one child: Pc. Pc has m children: Rc1,...rcm" title="Tree"/>
          <p:cNvCxnSpPr>
            <a:stCxn id="19" idx="4"/>
            <a:endCxn id="24" idx="0"/>
          </p:cNvCxnSpPr>
          <p:nvPr/>
        </p:nvCxnSpPr>
        <p:spPr bwMode="auto">
          <a:xfrm>
            <a:off x="4716343" y="3440377"/>
            <a:ext cx="0" cy="324565"/>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3" name="Straight Arrow Connector 22" descr="DB has two children T1 and T2. T1 has two children: Pa and Pb. Pa has n children: Ra1, Ra2,... Ran. Pb has k children: Rb1...Rbk. T2 and one child: Pc. Pc has m children: Rc1,...rcm" title="Tree"/>
          <p:cNvCxnSpPr>
            <a:cxnSpLocks/>
            <a:stCxn id="24" idx="4"/>
          </p:cNvCxnSpPr>
          <p:nvPr/>
        </p:nvCxnSpPr>
        <p:spPr bwMode="auto">
          <a:xfrm>
            <a:off x="4716343" y="4076027"/>
            <a:ext cx="468423" cy="26492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4" name="Straight Arrow Connector 23" descr="DB has two children T1 and T2. T1 has two children: Pa and Pb. Pa has n children: Ra1, Ra2,... Ran. Pb has k children: Rb1...Rbk. T2 and one child: Pc. Pc has m children: Rc1,...rcm" title="Tree"/>
          <p:cNvCxnSpPr>
            <a:stCxn id="24" idx="4"/>
          </p:cNvCxnSpPr>
          <p:nvPr/>
        </p:nvCxnSpPr>
        <p:spPr bwMode="auto">
          <a:xfrm flipH="1">
            <a:off x="4392259" y="4076027"/>
            <a:ext cx="324084" cy="277339"/>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5" name="Straight Arrow Connector 24" descr="DB has two children T1 and T2. T1 has two children: Pa and Pb. Pa has n children: Ra1, Ra2,... Ran. Pb has k children: Rb1...Rbk. T2 and one child: Pc. Pc has m children: Rc1,...rcm" title="Tree"/>
          <p:cNvCxnSpPr>
            <a:stCxn id="21" idx="3"/>
            <a:endCxn id="26" idx="0"/>
          </p:cNvCxnSpPr>
          <p:nvPr/>
        </p:nvCxnSpPr>
        <p:spPr bwMode="auto">
          <a:xfrm flipH="1">
            <a:off x="970367" y="4039379"/>
            <a:ext cx="543234" cy="314858"/>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6" name="Straight Arrow Connector 25" descr="DB has two children T1 and T2. T1 has two children: Pa and Pb. Pa has n children: Ra1, Ra2,... Ran. Pb has k children: Rb1...Rbk. T2 and one child: Pc. Pc has m children: Rc1,...rcm" title="Tree"/>
          <p:cNvCxnSpPr>
            <a:stCxn id="21" idx="4"/>
            <a:endCxn id="27" idx="0"/>
          </p:cNvCxnSpPr>
          <p:nvPr/>
        </p:nvCxnSpPr>
        <p:spPr bwMode="auto">
          <a:xfrm flipH="1">
            <a:off x="1413321" y="4084935"/>
            <a:ext cx="242846" cy="262599"/>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7" name="Straight Arrow Connector 26" descr="DB has two children T1 and T2. T1 has two children: Pa and Pb. Pa has n children: Ra1, Ra2,... Ran. Pb has k children: Rb1...Rbk. T2 and one child: Pc. Pc has m children: Rc1,...rcm" title="Tree"/>
          <p:cNvCxnSpPr>
            <a:stCxn id="21" idx="5"/>
            <a:endCxn id="28" idx="0"/>
          </p:cNvCxnSpPr>
          <p:nvPr/>
        </p:nvCxnSpPr>
        <p:spPr bwMode="auto">
          <a:xfrm>
            <a:off x="1798733" y="4039378"/>
            <a:ext cx="389330" cy="304982"/>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8" name="Straight Arrow Connector 27" descr="DB has two children T1 and T2. T1 has two children: Pa and Pb. Pa has n children: Ra1, Ra2,... Ran. Pb has k children: Rb1...Rbk. T2 and one child: Pc. Pc has m children: Rc1,...rcm" title="Tree"/>
          <p:cNvCxnSpPr>
            <a:stCxn id="22" idx="3"/>
            <a:endCxn id="29" idx="0"/>
          </p:cNvCxnSpPr>
          <p:nvPr/>
        </p:nvCxnSpPr>
        <p:spPr bwMode="auto">
          <a:xfrm flipH="1">
            <a:off x="2835385" y="4036376"/>
            <a:ext cx="271009" cy="30798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29" name="Straight Arrow Connector 28" descr="DB has two children T1 and T2. T1 has two children: Pa and Pb. Pa has n children: Ra1, Ra2,... Ran. Pb has k children: Rb1...Rbk. T2 and one child: Pc. Pc has m children: Rc1,...rcm" title="Tree"/>
          <p:cNvCxnSpPr>
            <a:stCxn id="22" idx="5"/>
          </p:cNvCxnSpPr>
          <p:nvPr/>
        </p:nvCxnSpPr>
        <p:spPr bwMode="auto">
          <a:xfrm>
            <a:off x="3391526" y="4036376"/>
            <a:ext cx="259546" cy="30291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spTree>
    <p:extLst>
      <p:ext uri="{BB962C8B-B14F-4D97-AF65-F5344CB8AC3E}">
        <p14:creationId xmlns:p14="http://schemas.microsoft.com/office/powerpoint/2010/main" val="2146357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Real-World Locking Granularities</a:t>
            </a:r>
            <a:endParaRPr lang="en-US" dirty="0"/>
          </a:p>
        </p:txBody>
      </p:sp>
      <p:graphicFrame>
        <p:nvGraphicFramePr>
          <p:cNvPr id="4" name="Content Placeholder 3" descr="Real world granularities" title="Granularity Table"/>
          <p:cNvGraphicFramePr>
            <a:graphicFrameLocks noGrp="1"/>
          </p:cNvGraphicFramePr>
          <p:nvPr>
            <p:ph idx="1"/>
            <p:extLst>
              <p:ext uri="{D42A27DB-BD31-4B8C-83A1-F6EECF244321}">
                <p14:modId xmlns:p14="http://schemas.microsoft.com/office/powerpoint/2010/main" val="4141763590"/>
              </p:ext>
            </p:extLst>
          </p:nvPr>
        </p:nvGraphicFramePr>
        <p:xfrm>
          <a:off x="457200" y="1200150"/>
          <a:ext cx="3276536" cy="3967152"/>
        </p:xfrm>
        <a:graphic>
          <a:graphicData uri="http://schemas.openxmlformats.org/drawingml/2006/table">
            <a:tbl>
              <a:tblPr firstRow="1"/>
              <a:tblGrid>
                <a:gridCol w="1638268">
                  <a:extLst>
                    <a:ext uri="{9D8B030D-6E8A-4147-A177-3AD203B41FA5}">
                      <a16:colId xmlns:a16="http://schemas.microsoft.com/office/drawing/2014/main" val="20000"/>
                    </a:ext>
                  </a:extLst>
                </a:gridCol>
                <a:gridCol w="1638268">
                  <a:extLst>
                    <a:ext uri="{9D8B030D-6E8A-4147-A177-3AD203B41FA5}">
                      <a16:colId xmlns:a16="http://schemas.microsoft.com/office/drawing/2014/main" val="20001"/>
                    </a:ext>
                  </a:extLst>
                </a:gridCol>
              </a:tblGrid>
              <a:tr h="222719">
                <a:tc>
                  <a:txBody>
                    <a:bodyPr/>
                    <a:lstStyle/>
                    <a:p>
                      <a:pPr algn="l"/>
                      <a:r>
                        <a:rPr lang="en-US" sz="800">
                          <a:solidFill>
                            <a:srgbClr val="2A2A2A"/>
                          </a:solidFill>
                          <a:effectLst/>
                        </a:rPr>
                        <a:t>Resource</a:t>
                      </a:r>
                    </a:p>
                  </a:txBody>
                  <a:tcPr marL="42830" marR="42830" marT="53538" marB="53538"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EDEDED"/>
                    </a:solidFill>
                  </a:tcPr>
                </a:tc>
                <a:tc>
                  <a:txBody>
                    <a:bodyPr/>
                    <a:lstStyle/>
                    <a:p>
                      <a:pPr algn="l"/>
                      <a:r>
                        <a:rPr lang="en-US" sz="800" dirty="0">
                          <a:solidFill>
                            <a:srgbClr val="2A2A2A"/>
                          </a:solidFill>
                          <a:effectLst/>
                        </a:rPr>
                        <a:t>Description</a:t>
                      </a:r>
                    </a:p>
                  </a:txBody>
                  <a:tcPr marL="42830" marR="42830" marT="53538" marB="53538"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EDEDED"/>
                    </a:solidFill>
                  </a:tcPr>
                </a:tc>
                <a:extLst>
                  <a:ext uri="{0D108BD9-81ED-4DB2-BD59-A6C34878D82A}">
                    <a16:rowId xmlns:a16="http://schemas.microsoft.com/office/drawing/2014/main" val="10000"/>
                  </a:ext>
                </a:extLst>
              </a:tr>
              <a:tr h="338361">
                <a:tc>
                  <a:txBody>
                    <a:bodyPr/>
                    <a:lstStyle/>
                    <a:p>
                      <a:pPr fontAlgn="t"/>
                      <a:r>
                        <a:rPr lang="en-US" sz="800">
                          <a:solidFill>
                            <a:srgbClr val="2A2A2A"/>
                          </a:solidFill>
                          <a:effectLst/>
                        </a:rPr>
                        <a:t>RID</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 row identifier used to lock a single row within a heap.</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1"/>
                  </a:ext>
                </a:extLst>
              </a:tr>
              <a:tr h="454004">
                <a:tc>
                  <a:txBody>
                    <a:bodyPr/>
                    <a:lstStyle/>
                    <a:p>
                      <a:pPr fontAlgn="t"/>
                      <a:r>
                        <a:rPr lang="en-US" sz="800" dirty="0">
                          <a:solidFill>
                            <a:srgbClr val="2A2A2A"/>
                          </a:solidFill>
                          <a:effectLst/>
                        </a:rPr>
                        <a:t>KEY</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 row lock within an index used to protect key ranges in serializable transactions.</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2"/>
                  </a:ext>
                </a:extLst>
              </a:tr>
              <a:tr h="454004">
                <a:tc>
                  <a:txBody>
                    <a:bodyPr/>
                    <a:lstStyle/>
                    <a:p>
                      <a:pPr fontAlgn="t"/>
                      <a:r>
                        <a:rPr lang="en-US" sz="800">
                          <a:solidFill>
                            <a:srgbClr val="2A2A2A"/>
                          </a:solidFill>
                          <a:effectLst/>
                        </a:rPr>
                        <a:t>PAGE</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An 8-kilobyte (KB) page in a database, such as data or index pages.</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3"/>
                  </a:ext>
                </a:extLst>
              </a:tr>
              <a:tr h="338361">
                <a:tc>
                  <a:txBody>
                    <a:bodyPr/>
                    <a:lstStyle/>
                    <a:p>
                      <a:pPr fontAlgn="t"/>
                      <a:r>
                        <a:rPr lang="en-US" sz="800">
                          <a:solidFill>
                            <a:srgbClr val="2A2A2A"/>
                          </a:solidFill>
                          <a:effectLst/>
                        </a:rPr>
                        <a:t>EXTENT</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 contiguous group of eight pages, such as data or index pages.</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4"/>
                  </a:ext>
                </a:extLst>
              </a:tr>
              <a:tr h="569646">
                <a:tc>
                  <a:txBody>
                    <a:bodyPr/>
                    <a:lstStyle/>
                    <a:p>
                      <a:pPr fontAlgn="t"/>
                      <a:r>
                        <a:rPr lang="en-US" sz="800">
                          <a:solidFill>
                            <a:srgbClr val="2A2A2A"/>
                          </a:solidFill>
                          <a:effectLst/>
                        </a:rPr>
                        <a:t>HoBT</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 heap or B-tree. A lock protecting a B-tree (index) or the heap data pages in a table that does not have a clustered index.</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5"/>
                  </a:ext>
                </a:extLst>
              </a:tr>
              <a:tr h="338361">
                <a:tc>
                  <a:txBody>
                    <a:bodyPr/>
                    <a:lstStyle/>
                    <a:p>
                      <a:pPr fontAlgn="t"/>
                      <a:r>
                        <a:rPr lang="en-US" sz="800">
                          <a:solidFill>
                            <a:srgbClr val="2A2A2A"/>
                          </a:solidFill>
                          <a:effectLst/>
                        </a:rPr>
                        <a:t>TABLE</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The entire table, including all data and indexes.</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6"/>
                  </a:ext>
                </a:extLst>
              </a:tr>
              <a:tr h="222719">
                <a:tc>
                  <a:txBody>
                    <a:bodyPr/>
                    <a:lstStyle/>
                    <a:p>
                      <a:pPr fontAlgn="t"/>
                      <a:r>
                        <a:rPr lang="en-US" sz="800">
                          <a:solidFill>
                            <a:srgbClr val="2A2A2A"/>
                          </a:solidFill>
                          <a:effectLst/>
                        </a:rPr>
                        <a:t>FILE</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 database file.</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7"/>
                  </a:ext>
                </a:extLst>
              </a:tr>
              <a:tr h="222719">
                <a:tc>
                  <a:txBody>
                    <a:bodyPr/>
                    <a:lstStyle/>
                    <a:p>
                      <a:pPr fontAlgn="t"/>
                      <a:r>
                        <a:rPr lang="en-US" sz="800">
                          <a:solidFill>
                            <a:srgbClr val="2A2A2A"/>
                          </a:solidFill>
                          <a:effectLst/>
                        </a:rPr>
                        <a:t>APPLICATION</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An application-specified resource.</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8"/>
                  </a:ext>
                </a:extLst>
              </a:tr>
              <a:tr h="222719">
                <a:tc>
                  <a:txBody>
                    <a:bodyPr/>
                    <a:lstStyle/>
                    <a:p>
                      <a:pPr fontAlgn="t"/>
                      <a:r>
                        <a:rPr lang="en-US" sz="800">
                          <a:solidFill>
                            <a:srgbClr val="2A2A2A"/>
                          </a:solidFill>
                          <a:effectLst/>
                        </a:rPr>
                        <a:t>METADATA</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Metadata locks.</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09"/>
                  </a:ext>
                </a:extLst>
              </a:tr>
              <a:tr h="222719">
                <a:tc>
                  <a:txBody>
                    <a:bodyPr/>
                    <a:lstStyle/>
                    <a:p>
                      <a:pPr fontAlgn="t"/>
                      <a:r>
                        <a:rPr lang="en-US" sz="800">
                          <a:solidFill>
                            <a:srgbClr val="2A2A2A"/>
                          </a:solidFill>
                          <a:effectLst/>
                        </a:rPr>
                        <a:t>ALLOCATION_UNIT</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a:solidFill>
                            <a:srgbClr val="2A2A2A"/>
                          </a:solidFill>
                          <a:effectLst/>
                        </a:rPr>
                        <a:t>An allocation unit.</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10"/>
                  </a:ext>
                </a:extLst>
              </a:tr>
              <a:tr h="222719">
                <a:tc>
                  <a:txBody>
                    <a:bodyPr/>
                    <a:lstStyle/>
                    <a:p>
                      <a:pPr fontAlgn="t"/>
                      <a:r>
                        <a:rPr lang="en-US" sz="800">
                          <a:solidFill>
                            <a:srgbClr val="2A2A2A"/>
                          </a:solidFill>
                          <a:effectLst/>
                        </a:rPr>
                        <a:t>DATABASE</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tc>
                  <a:txBody>
                    <a:bodyPr/>
                    <a:lstStyle/>
                    <a:p>
                      <a:pPr fontAlgn="t"/>
                      <a:r>
                        <a:rPr lang="en-US" sz="800" dirty="0">
                          <a:solidFill>
                            <a:srgbClr val="2A2A2A"/>
                          </a:solidFill>
                          <a:effectLst/>
                        </a:rPr>
                        <a:t>The entire database.</a:t>
                      </a:r>
                    </a:p>
                  </a:txBody>
                  <a:tcPr marL="42830" marR="42830" marT="53538" marB="53538">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Rectangle 4" descr="From MS SQL Server &#10;https://technet.microsoft.com/en-us/library/jj856598(v=sql.110).aspx&#10;" title="Citation"/>
          <p:cNvSpPr/>
          <p:nvPr/>
        </p:nvSpPr>
        <p:spPr>
          <a:xfrm>
            <a:off x="4191000" y="4476750"/>
            <a:ext cx="2280108" cy="553998"/>
          </a:xfrm>
          <a:prstGeom prst="rect">
            <a:avLst/>
          </a:prstGeom>
        </p:spPr>
        <p:txBody>
          <a:bodyPr wrap="square">
            <a:spAutoFit/>
          </a:bodyPr>
          <a:lstStyle/>
          <a:p>
            <a:r>
              <a:rPr lang="en-US" sz="1200" dirty="0">
                <a:solidFill>
                  <a:srgbClr val="14405C"/>
                </a:solidFill>
              </a:rPr>
              <a:t>From MS SQL Server </a:t>
            </a:r>
          </a:p>
          <a:p>
            <a:r>
              <a:rPr lang="en-US" sz="900" dirty="0">
                <a:solidFill>
                  <a:srgbClr val="14405C"/>
                </a:solidFill>
              </a:rPr>
              <a:t>https://</a:t>
            </a:r>
            <a:r>
              <a:rPr lang="en-US" sz="900" dirty="0" err="1">
                <a:solidFill>
                  <a:srgbClr val="14405C"/>
                </a:solidFill>
              </a:rPr>
              <a:t>technet.microsoft.com</a:t>
            </a:r>
            <a:r>
              <a:rPr lang="en-US" sz="900" dirty="0">
                <a:solidFill>
                  <a:srgbClr val="14405C"/>
                </a:solidFill>
              </a:rPr>
              <a:t>/</a:t>
            </a:r>
            <a:r>
              <a:rPr lang="en-US" sz="900" dirty="0" err="1">
                <a:solidFill>
                  <a:srgbClr val="14405C"/>
                </a:solidFill>
              </a:rPr>
              <a:t>en</a:t>
            </a:r>
            <a:r>
              <a:rPr lang="en-US" sz="900" dirty="0">
                <a:solidFill>
                  <a:srgbClr val="14405C"/>
                </a:solidFill>
              </a:rPr>
              <a:t>-us/library/jj856598(v=sql.110).</a:t>
            </a:r>
            <a:r>
              <a:rPr lang="en-US" sz="900" dirty="0" err="1">
                <a:solidFill>
                  <a:srgbClr val="14405C"/>
                </a:solidFill>
              </a:rPr>
              <a:t>aspx</a:t>
            </a:r>
            <a:endParaRPr lang="en-US" sz="900" dirty="0">
              <a:solidFill>
                <a:srgbClr val="14405C"/>
              </a:solidFill>
            </a:endParaRPr>
          </a:p>
        </p:txBody>
      </p:sp>
    </p:spTree>
    <p:extLst>
      <p:ext uri="{BB962C8B-B14F-4D97-AF65-F5344CB8AC3E}">
        <p14:creationId xmlns:p14="http://schemas.microsoft.com/office/powerpoint/2010/main" val="4449735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Solution: New Lock Modes, Protocol</a:t>
            </a:r>
            <a:endParaRPr lang="en-US" dirty="0"/>
          </a:p>
        </p:txBody>
      </p:sp>
      <p:sp>
        <p:nvSpPr>
          <p:cNvPr id="3" name="Content Placeholder 2">
            <a:extLst>
              <a:ext uri="{FF2B5EF4-FFF2-40B4-BE49-F238E27FC236}">
                <a16:creationId xmlns:a16="http://schemas.microsoft.com/office/drawing/2014/main" id="{570A27AF-8ABC-0443-906F-EFECA04D88F0}"/>
              </a:ext>
            </a:extLst>
          </p:cNvPr>
          <p:cNvSpPr>
            <a:spLocks noGrp="1"/>
          </p:cNvSpPr>
          <p:nvPr>
            <p:ph idx="1"/>
          </p:nvPr>
        </p:nvSpPr>
        <p:spPr>
          <a:xfrm>
            <a:off x="457200" y="1200151"/>
            <a:ext cx="8686800" cy="3394472"/>
          </a:xfrm>
        </p:spPr>
        <p:txBody>
          <a:bodyPr>
            <a:normAutofit/>
          </a:bodyPr>
          <a:lstStyle/>
          <a:p>
            <a:r>
              <a:rPr lang="en-US" sz="1600" dirty="0"/>
              <a:t>Allow </a:t>
            </a:r>
            <a:r>
              <a:rPr lang="en-US" sz="1600" dirty="0" err="1"/>
              <a:t>xacts</a:t>
            </a:r>
            <a:r>
              <a:rPr lang="en-US" sz="1600" dirty="0"/>
              <a:t> to lock at each level, but with a special protocol using new “intent” locks:</a:t>
            </a:r>
          </a:p>
          <a:p>
            <a:r>
              <a:rPr lang="en-US" sz="1600" dirty="0"/>
              <a:t>Before getting S or X lock, Xact must have proper intent locks on all its ancestors in the granularity hierarchy.</a:t>
            </a:r>
          </a:p>
        </p:txBody>
      </p:sp>
      <p:sp>
        <p:nvSpPr>
          <p:cNvPr id="19" name="Oval 18" descr="The intent to share locks are given to the top two levels in the locking hierarchy tree. Then the third layer is given share (S) locks. " title="Lock Hierarchy"/>
          <p:cNvSpPr/>
          <p:nvPr/>
        </p:nvSpPr>
        <p:spPr bwMode="auto">
          <a:xfrm>
            <a:off x="3710842" y="2571750"/>
            <a:ext cx="47979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latin typeface="Helvetica Neue" charset="0"/>
              </a:rPr>
              <a:t>DB</a:t>
            </a:r>
            <a:endParaRPr lang="en-US" sz="1050" dirty="0">
              <a:solidFill>
                <a:srgbClr val="000000"/>
              </a:solidFill>
              <a:latin typeface="Helvetica Neue" charset="0"/>
            </a:endParaRPr>
          </a:p>
        </p:txBody>
      </p:sp>
      <p:sp>
        <p:nvSpPr>
          <p:cNvPr id="21" name="Oval 20" descr="The intent to share locks are given to the top two levels in the locking hierarchy tree. Then the third layer is given share (S) locks. " title="Lock Hierarchy"/>
          <p:cNvSpPr/>
          <p:nvPr/>
        </p:nvSpPr>
        <p:spPr bwMode="auto">
          <a:xfrm>
            <a:off x="3046215" y="312929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latin typeface="Helvetica Neue" charset="0"/>
              </a:rPr>
              <a:t>T</a:t>
            </a:r>
            <a:r>
              <a:rPr lang="en-US" sz="1050" baseline="-25000" dirty="0">
                <a:solidFill>
                  <a:srgbClr val="000000"/>
                </a:solidFill>
                <a:latin typeface="Helvetica Neue" charset="0"/>
              </a:rPr>
              <a:t>1</a:t>
            </a:r>
          </a:p>
        </p:txBody>
      </p:sp>
      <p:sp>
        <p:nvSpPr>
          <p:cNvPr id="22" name="Oval 21" descr="The intent to share locks are given to the top two levels in the locking hierarchy tree. Then the third layer is given share (S) locks. " title="Lock Hierarchy"/>
          <p:cNvSpPr/>
          <p:nvPr/>
        </p:nvSpPr>
        <p:spPr bwMode="auto">
          <a:xfrm>
            <a:off x="4514724" y="312929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latin typeface="Helvetica Neue" charset="0"/>
              </a:rPr>
              <a:t>T</a:t>
            </a:r>
            <a:r>
              <a:rPr lang="en-US" sz="1050" baseline="-25000" dirty="0">
                <a:solidFill>
                  <a:srgbClr val="000000"/>
                </a:solidFill>
                <a:latin typeface="Helvetica Neue" charset="0"/>
              </a:rPr>
              <a:t>2</a:t>
            </a:r>
          </a:p>
        </p:txBody>
      </p:sp>
      <p:sp>
        <p:nvSpPr>
          <p:cNvPr id="27" name="Oval 26" descr="The intent to share locks are given to the top two levels in the locking hierarchy tree. Then the third layer is given share (S) locks. " title="Lock Hierarchy"/>
          <p:cNvSpPr/>
          <p:nvPr/>
        </p:nvSpPr>
        <p:spPr bwMode="auto">
          <a:xfrm>
            <a:off x="1454548" y="377385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P</a:t>
            </a:r>
            <a:r>
              <a:rPr lang="en-US" sz="1050" baseline="-25000" dirty="0">
                <a:solidFill>
                  <a:srgbClr val="000000"/>
                </a:solidFill>
                <a:latin typeface="Helvetica Neue" charset="0"/>
              </a:rPr>
              <a:t>a</a:t>
            </a:r>
          </a:p>
        </p:txBody>
      </p:sp>
      <p:sp>
        <p:nvSpPr>
          <p:cNvPr id="28" name="Oval 27" descr="The intent to share locks are given to the top two levels in the locking hierarchy tree. Then the third layer is given share (S) locks. " title="Lock Hierarchy"/>
          <p:cNvSpPr/>
          <p:nvPr/>
        </p:nvSpPr>
        <p:spPr bwMode="auto">
          <a:xfrm>
            <a:off x="3047341" y="3770848"/>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P</a:t>
            </a:r>
            <a:r>
              <a:rPr lang="en-US" sz="1050" baseline="-25000" dirty="0" err="1">
                <a:solidFill>
                  <a:srgbClr val="000000"/>
                </a:solidFill>
                <a:latin typeface="Helvetica Neue" charset="0"/>
              </a:rPr>
              <a:t>b</a:t>
            </a:r>
            <a:endParaRPr lang="en-US" sz="1050" baseline="-25000" dirty="0">
              <a:solidFill>
                <a:srgbClr val="000000"/>
              </a:solidFill>
              <a:latin typeface="Helvetica Neue" charset="0"/>
            </a:endParaRPr>
          </a:p>
        </p:txBody>
      </p:sp>
      <p:sp>
        <p:nvSpPr>
          <p:cNvPr id="29" name="Oval 28" descr="The intent to share locks are given to the top two levels in the locking hierarchy tree. Then the third layer is given share (S) locks. " title="Lock Hierarchy"/>
          <p:cNvSpPr/>
          <p:nvPr/>
        </p:nvSpPr>
        <p:spPr bwMode="auto">
          <a:xfrm>
            <a:off x="4514724" y="3764942"/>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P</a:t>
            </a:r>
            <a:r>
              <a:rPr lang="en-US" sz="1050" baseline="-25000" dirty="0">
                <a:solidFill>
                  <a:srgbClr val="000000"/>
                </a:solidFill>
              </a:rPr>
              <a:t>c</a:t>
            </a:r>
            <a:endParaRPr lang="en-US" sz="1050" baseline="-25000" dirty="0">
              <a:solidFill>
                <a:srgbClr val="000000"/>
              </a:solidFill>
              <a:latin typeface="Helvetica Neue" charset="0"/>
            </a:endParaRPr>
          </a:p>
        </p:txBody>
      </p:sp>
      <p:sp>
        <p:nvSpPr>
          <p:cNvPr id="30" name="Oval 29" descr="The intent to share locks are given to the top two levels in the locking hierarchy tree. Then the third layer is given share (S) locks. " title="Lock Hierarchy"/>
          <p:cNvSpPr/>
          <p:nvPr/>
        </p:nvSpPr>
        <p:spPr bwMode="auto">
          <a:xfrm>
            <a:off x="768748" y="4354236"/>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a1</a:t>
            </a:r>
          </a:p>
        </p:txBody>
      </p:sp>
      <p:sp>
        <p:nvSpPr>
          <p:cNvPr id="31" name="Oval 30" descr="The intent to share locks are given to the top two levels in the locking hierarchy tree. Then the third layer is given share (S) locks. " title="Lock Hierarchy"/>
          <p:cNvSpPr/>
          <p:nvPr/>
        </p:nvSpPr>
        <p:spPr bwMode="auto">
          <a:xfrm>
            <a:off x="1211701" y="4347534"/>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rPr>
              <a:t>r</a:t>
            </a:r>
            <a:r>
              <a:rPr lang="en-US" sz="1050" baseline="-25000">
                <a:solidFill>
                  <a:srgbClr val="000000"/>
                </a:solidFill>
              </a:rPr>
              <a:t>a2</a:t>
            </a:r>
            <a:endParaRPr lang="en-US" sz="1050" baseline="-25000" dirty="0">
              <a:solidFill>
                <a:srgbClr val="000000"/>
              </a:solidFill>
            </a:endParaRPr>
          </a:p>
        </p:txBody>
      </p:sp>
      <p:sp>
        <p:nvSpPr>
          <p:cNvPr id="32" name="Oval 31" descr="The intent to share locks are given to the top two levels in the locking hierarchy tree. Then the third layer is given share (S) locks. " title="Lock Hierarchy"/>
          <p:cNvSpPr/>
          <p:nvPr/>
        </p:nvSpPr>
        <p:spPr bwMode="auto">
          <a:xfrm>
            <a:off x="1986444" y="434436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an</a:t>
            </a:r>
          </a:p>
        </p:txBody>
      </p:sp>
      <p:sp>
        <p:nvSpPr>
          <p:cNvPr id="33" name="Oval 32" descr="The intent to share locks are given to the top two levels in the locking hierarchy tree. Then the third layer is given share (S) locks. " title="Lock Hierarchy"/>
          <p:cNvSpPr/>
          <p:nvPr/>
        </p:nvSpPr>
        <p:spPr bwMode="auto">
          <a:xfrm>
            <a:off x="2633766" y="4344360"/>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a:solidFill>
                  <a:srgbClr val="000000"/>
                </a:solidFill>
              </a:rPr>
              <a:t>r</a:t>
            </a:r>
            <a:r>
              <a:rPr lang="en-US" sz="1050" baseline="-25000">
                <a:solidFill>
                  <a:srgbClr val="000000"/>
                </a:solidFill>
              </a:rPr>
              <a:t>b1</a:t>
            </a:r>
            <a:endParaRPr lang="en-US" sz="1050" baseline="-25000" dirty="0">
              <a:solidFill>
                <a:srgbClr val="000000"/>
              </a:solidFill>
            </a:endParaRPr>
          </a:p>
        </p:txBody>
      </p:sp>
      <p:sp>
        <p:nvSpPr>
          <p:cNvPr id="34" name="Oval 33" descr="The intent to share locks are given to the top two levels in the locking hierarchy tree. Then the third layer is given share (S) locks. " title="Lock Hierarchy"/>
          <p:cNvSpPr/>
          <p:nvPr/>
        </p:nvSpPr>
        <p:spPr bwMode="auto">
          <a:xfrm>
            <a:off x="3449452" y="4339287"/>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r</a:t>
            </a:r>
            <a:r>
              <a:rPr lang="en-US" sz="1050" baseline="-25000" dirty="0" err="1">
                <a:solidFill>
                  <a:srgbClr val="000000"/>
                </a:solidFill>
              </a:rPr>
              <a:t>bk</a:t>
            </a:r>
            <a:endParaRPr lang="en-US" sz="1050" baseline="-25000" dirty="0">
              <a:solidFill>
                <a:srgbClr val="000000"/>
              </a:solidFill>
            </a:endParaRPr>
          </a:p>
        </p:txBody>
      </p:sp>
      <p:sp>
        <p:nvSpPr>
          <p:cNvPr id="35" name="Oval 34" descr="The intent to share locks are given to the top two levels in the locking hierarchy tree. Then the third layer is given share (S) locks. " title="Lock Hierarchy"/>
          <p:cNvSpPr/>
          <p:nvPr/>
        </p:nvSpPr>
        <p:spPr bwMode="auto">
          <a:xfrm>
            <a:off x="4190640" y="4353366"/>
            <a:ext cx="403238"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a:solidFill>
                  <a:srgbClr val="000000"/>
                </a:solidFill>
              </a:rPr>
              <a:t>r</a:t>
            </a:r>
            <a:r>
              <a:rPr lang="en-US" sz="1050" baseline="-25000" dirty="0">
                <a:solidFill>
                  <a:srgbClr val="000000"/>
                </a:solidFill>
              </a:rPr>
              <a:t>c1</a:t>
            </a:r>
          </a:p>
        </p:txBody>
      </p:sp>
      <p:sp>
        <p:nvSpPr>
          <p:cNvPr id="36" name="Oval 35" descr="The intent to share locks are given to the top two levels in the locking hierarchy tree. Then the third layer is given share (S) locks. " title="Lock Hierarchy"/>
          <p:cNvSpPr/>
          <p:nvPr/>
        </p:nvSpPr>
        <p:spPr bwMode="auto">
          <a:xfrm>
            <a:off x="4961196" y="4340948"/>
            <a:ext cx="447140" cy="311085"/>
          </a:xfrm>
          <a:prstGeom prst="ellipse">
            <a:avLst/>
          </a:prstGeom>
          <a:solidFill>
            <a:schemeClr val="accent5"/>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5954"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1050" dirty="0" err="1">
                <a:solidFill>
                  <a:srgbClr val="000000"/>
                </a:solidFill>
              </a:rPr>
              <a:t>r</a:t>
            </a:r>
            <a:r>
              <a:rPr lang="en-US" sz="1050" baseline="-25000" dirty="0" err="1">
                <a:solidFill>
                  <a:srgbClr val="000000"/>
                </a:solidFill>
              </a:rPr>
              <a:t>cm</a:t>
            </a:r>
            <a:endParaRPr lang="en-US" sz="1050" baseline="-25000" dirty="0">
              <a:solidFill>
                <a:srgbClr val="000000"/>
              </a:solidFill>
            </a:endParaRPr>
          </a:p>
        </p:txBody>
      </p:sp>
      <p:cxnSp>
        <p:nvCxnSpPr>
          <p:cNvPr id="37" name="Straight Arrow Connector 36" descr="The intent to share locks are given to the top two levels in the locking hierarchy tree. Then the third layer is given share (S) locks. " title="Lock Hierarchy"/>
          <p:cNvCxnSpPr>
            <a:cxnSpLocks/>
            <a:stCxn id="19" idx="3"/>
            <a:endCxn id="38" idx="0"/>
          </p:cNvCxnSpPr>
          <p:nvPr/>
        </p:nvCxnSpPr>
        <p:spPr bwMode="auto">
          <a:xfrm flipH="1">
            <a:off x="3247834" y="2837278"/>
            <a:ext cx="533273" cy="29201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38" name="Straight Arrow Connector 37" descr="The intent to share locks are given to the top two levels in the locking hierarchy tree. Then the third layer is given share (S) locks. " title="Lock Hierarchy"/>
          <p:cNvCxnSpPr>
            <a:cxnSpLocks/>
            <a:stCxn id="19" idx="5"/>
            <a:endCxn id="39" idx="0"/>
          </p:cNvCxnSpPr>
          <p:nvPr/>
        </p:nvCxnSpPr>
        <p:spPr bwMode="auto">
          <a:xfrm>
            <a:off x="4120375" y="2837278"/>
            <a:ext cx="595968" cy="29201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39" name="Straight Arrow Connector 38" descr="The intent to share locks are given to the top two levels in the locking hierarchy tree. Then the third layer is given share (S) locks. " title="Lock Hierarchy"/>
          <p:cNvCxnSpPr>
            <a:stCxn id="38" idx="3"/>
            <a:endCxn id="40" idx="0"/>
          </p:cNvCxnSpPr>
          <p:nvPr/>
        </p:nvCxnSpPr>
        <p:spPr bwMode="auto">
          <a:xfrm flipH="1">
            <a:off x="1656167" y="3394820"/>
            <a:ext cx="1449101" cy="37903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0" name="Straight Arrow Connector 39" descr="The intent to share locks are given to the top two levels in the locking hierarchy tree. Then the third layer is given share (S) locks. " title="Lock Hierarchy"/>
          <p:cNvCxnSpPr>
            <a:stCxn id="38" idx="4"/>
            <a:endCxn id="41" idx="0"/>
          </p:cNvCxnSpPr>
          <p:nvPr/>
        </p:nvCxnSpPr>
        <p:spPr bwMode="auto">
          <a:xfrm>
            <a:off x="3247834" y="3440377"/>
            <a:ext cx="1126" cy="33047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1" name="Straight Arrow Connector 40" descr="The intent to share locks are given to the top two levels in the locking hierarchy tree. Then the third layer is given share (S) locks. " title="Lock Hierarchy"/>
          <p:cNvCxnSpPr>
            <a:stCxn id="39" idx="4"/>
            <a:endCxn id="43" idx="0"/>
          </p:cNvCxnSpPr>
          <p:nvPr/>
        </p:nvCxnSpPr>
        <p:spPr bwMode="auto">
          <a:xfrm>
            <a:off x="4716343" y="3440377"/>
            <a:ext cx="0" cy="324565"/>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2" name="Straight Arrow Connector 41" descr="The intent to share locks are given to the top two levels in the locking hierarchy tree. Then the third layer is given share (S) locks. " title="Lock Hierarchy"/>
          <p:cNvCxnSpPr>
            <a:cxnSpLocks/>
            <a:stCxn id="43" idx="4"/>
          </p:cNvCxnSpPr>
          <p:nvPr/>
        </p:nvCxnSpPr>
        <p:spPr bwMode="auto">
          <a:xfrm>
            <a:off x="4716343" y="4076027"/>
            <a:ext cx="468423" cy="26492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3" name="Straight Arrow Connector 42" descr="The intent to share locks are given to the top two levels in the locking hierarchy tree. Then the third layer is given share (S) locks. " title="Lock Hierarchy"/>
          <p:cNvCxnSpPr>
            <a:stCxn id="43" idx="4"/>
          </p:cNvCxnSpPr>
          <p:nvPr/>
        </p:nvCxnSpPr>
        <p:spPr bwMode="auto">
          <a:xfrm flipH="1">
            <a:off x="4392259" y="4076027"/>
            <a:ext cx="324084" cy="277339"/>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4" name="Straight Arrow Connector 43" descr="The intent to share locks are given to the top two levels in the locking hierarchy tree. Then the third layer is given share (S) locks. " title="Lock Hierarchy"/>
          <p:cNvCxnSpPr>
            <a:stCxn id="40" idx="3"/>
            <a:endCxn id="45" idx="0"/>
          </p:cNvCxnSpPr>
          <p:nvPr/>
        </p:nvCxnSpPr>
        <p:spPr bwMode="auto">
          <a:xfrm flipH="1">
            <a:off x="970367" y="4039379"/>
            <a:ext cx="543234" cy="314858"/>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5" name="Straight Arrow Connector 44" descr="The intent to share locks are given to the top two levels in the locking hierarchy tree. Then the third layer is given share (S) locks. " title="Lock Hierarchy"/>
          <p:cNvCxnSpPr>
            <a:stCxn id="40" idx="4"/>
            <a:endCxn id="46" idx="0"/>
          </p:cNvCxnSpPr>
          <p:nvPr/>
        </p:nvCxnSpPr>
        <p:spPr bwMode="auto">
          <a:xfrm flipH="1">
            <a:off x="1413321" y="4084935"/>
            <a:ext cx="242846" cy="262599"/>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6" name="Straight Arrow Connector 45" descr="The intent to share locks are given to the top two levels in the locking hierarchy tree. Then the third layer is given share (S) locks. " title="Lock Hierarchy"/>
          <p:cNvCxnSpPr>
            <a:stCxn id="40" idx="5"/>
            <a:endCxn id="47" idx="0"/>
          </p:cNvCxnSpPr>
          <p:nvPr/>
        </p:nvCxnSpPr>
        <p:spPr bwMode="auto">
          <a:xfrm>
            <a:off x="1798733" y="4039378"/>
            <a:ext cx="389330" cy="304982"/>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7" name="Straight Arrow Connector 46" descr="The intent to share locks are given to the top two levels in the locking hierarchy tree. Then the third layer is given share (S) locks. " title="Lock Hierarchy"/>
          <p:cNvCxnSpPr>
            <a:stCxn id="41" idx="3"/>
            <a:endCxn id="48" idx="0"/>
          </p:cNvCxnSpPr>
          <p:nvPr/>
        </p:nvCxnSpPr>
        <p:spPr bwMode="auto">
          <a:xfrm flipH="1">
            <a:off x="2835385" y="4036376"/>
            <a:ext cx="271009" cy="307984"/>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cxnSp>
        <p:nvCxnSpPr>
          <p:cNvPr id="48" name="Straight Arrow Connector 47" descr="The intent to share locks are given to the top two levels in the locking hierarchy tree. Then the third layer is given share (S) locks. " title="Lock Hierarchy"/>
          <p:cNvCxnSpPr>
            <a:stCxn id="41" idx="5"/>
          </p:cNvCxnSpPr>
          <p:nvPr/>
        </p:nvCxnSpPr>
        <p:spPr bwMode="auto">
          <a:xfrm>
            <a:off x="3391526" y="4036376"/>
            <a:ext cx="259546" cy="302911"/>
          </a:xfrm>
          <a:prstGeom prst="straightConnector1">
            <a:avLst/>
          </a:prstGeom>
          <a:solidFill>
            <a:srgbClr val="3366FF"/>
          </a:solidFill>
          <a:ln w="12700" cap="flat" cmpd="sng" algn="ctr">
            <a:solidFill>
              <a:srgbClr val="000000"/>
            </a:solidFill>
            <a:prstDash val="solid"/>
            <a:round/>
            <a:headEnd type="none" w="med" len="med"/>
            <a:tailEnd type="triangle"/>
          </a:ln>
          <a:effectLst/>
        </p:spPr>
      </p:cxnSp>
      <p:grpSp>
        <p:nvGrpSpPr>
          <p:cNvPr id="5" name="Group 5" descr="The intent to share locks are given to the top two levels in the locking hierarchy tree. Then the third layer is given share (S) locks. " title="Lock Hierarchy"/>
          <p:cNvGrpSpPr/>
          <p:nvPr/>
        </p:nvGrpSpPr>
        <p:grpSpPr>
          <a:xfrm>
            <a:off x="1857787" y="2486313"/>
            <a:ext cx="1793284" cy="299905"/>
            <a:chOff x="-222981" y="2384013"/>
            <a:chExt cx="1793284" cy="299905"/>
          </a:xfrm>
        </p:grpSpPr>
        <p:pic>
          <p:nvPicPr>
            <p:cNvPr id="2" name="Picture 6" title="IS Lock on Root"/>
            <p:cNvPicPr>
              <a:picLocks noChangeAspect="1"/>
            </p:cNvPicPr>
            <p:nvPr/>
          </p:nvPicPr>
          <p:blipFill>
            <a:blip r:embed="rId3"/>
            <a:stretch>
              <a:fillRect/>
            </a:stretch>
          </p:blipFill>
          <p:spPr>
            <a:xfrm>
              <a:off x="1270398" y="2384013"/>
              <a:ext cx="299905" cy="299905"/>
            </a:xfrm>
            <a:prstGeom prst="rect">
              <a:avLst/>
            </a:prstGeom>
          </p:spPr>
        </p:pic>
        <p:sp>
          <p:nvSpPr>
            <p:cNvPr id="4" name="TextBox 7"/>
            <p:cNvSpPr txBox="1"/>
            <p:nvPr/>
          </p:nvSpPr>
          <p:spPr>
            <a:xfrm>
              <a:off x="-222981" y="2395466"/>
              <a:ext cx="1594356" cy="276999"/>
            </a:xfrm>
            <a:prstGeom prst="rect">
              <a:avLst/>
            </a:prstGeom>
            <a:noFill/>
          </p:spPr>
          <p:txBody>
            <a:bodyPr wrap="square" rtlCol="0">
              <a:spAutoFit/>
            </a:bodyPr>
            <a:lstStyle/>
            <a:p>
              <a:pPr algn="r"/>
              <a:r>
                <a:rPr lang="en-US" sz="1200" i="1"/>
                <a:t>Intent-to-share (IS)</a:t>
              </a:r>
              <a:endParaRPr lang="en-US" sz="1200" i="1" dirty="0"/>
            </a:p>
          </p:txBody>
        </p:sp>
      </p:grpSp>
      <p:grpSp>
        <p:nvGrpSpPr>
          <p:cNvPr id="49" name="Group 11" descr="The intent to share locks are given to the top two levels in the locking hierarchy tree. Then the third layer is given share (S) locks. " title="Lock Hierarchy"/>
          <p:cNvGrpSpPr/>
          <p:nvPr/>
        </p:nvGrpSpPr>
        <p:grpSpPr>
          <a:xfrm>
            <a:off x="1454548" y="3018394"/>
            <a:ext cx="1620888" cy="473118"/>
            <a:chOff x="258271" y="2384013"/>
            <a:chExt cx="1312032" cy="473118"/>
          </a:xfrm>
        </p:grpSpPr>
        <p:pic>
          <p:nvPicPr>
            <p:cNvPr id="50" name="Picture 12" title="IS Lock on 2nd level"/>
            <p:cNvPicPr>
              <a:picLocks noChangeAspect="1"/>
            </p:cNvPicPr>
            <p:nvPr/>
          </p:nvPicPr>
          <p:blipFill>
            <a:blip r:embed="rId3"/>
            <a:stretch>
              <a:fillRect/>
            </a:stretch>
          </p:blipFill>
          <p:spPr>
            <a:xfrm>
              <a:off x="1270398" y="2384013"/>
              <a:ext cx="299905" cy="299905"/>
            </a:xfrm>
            <a:prstGeom prst="rect">
              <a:avLst/>
            </a:prstGeom>
          </p:spPr>
        </p:pic>
        <p:sp>
          <p:nvSpPr>
            <p:cNvPr id="51" name="TextBox 13"/>
            <p:cNvSpPr txBox="1"/>
            <p:nvPr/>
          </p:nvSpPr>
          <p:spPr>
            <a:xfrm>
              <a:off x="258271" y="2395466"/>
              <a:ext cx="1113103" cy="461665"/>
            </a:xfrm>
            <a:prstGeom prst="rect">
              <a:avLst/>
            </a:prstGeom>
            <a:noFill/>
          </p:spPr>
          <p:txBody>
            <a:bodyPr wrap="square" rtlCol="0">
              <a:spAutoFit/>
            </a:bodyPr>
            <a:lstStyle/>
            <a:p>
              <a:pPr algn="r"/>
              <a:r>
                <a:rPr lang="en-US" sz="1200" i="1"/>
                <a:t>Intent-to-share (IS)</a:t>
              </a:r>
              <a:endParaRPr lang="en-US" sz="1200" i="1" dirty="0"/>
            </a:p>
          </p:txBody>
        </p:sp>
      </p:grpSp>
      <p:grpSp>
        <p:nvGrpSpPr>
          <p:cNvPr id="52" name="Group 17" descr="The intent to share locks are given to the top two levels in the locking hierarchy tree. Then the third layer is given share (S) locks. " title="Lock Hierarchy"/>
          <p:cNvGrpSpPr/>
          <p:nvPr/>
        </p:nvGrpSpPr>
        <p:grpSpPr>
          <a:xfrm>
            <a:off x="1725557" y="3792041"/>
            <a:ext cx="1312032" cy="299905"/>
            <a:chOff x="258271" y="2384013"/>
            <a:chExt cx="1312032" cy="299905"/>
          </a:xfrm>
        </p:grpSpPr>
        <p:pic>
          <p:nvPicPr>
            <p:cNvPr id="53" name="Picture 22" title="S lock on 3rd level"/>
            <p:cNvPicPr>
              <a:picLocks noChangeAspect="1"/>
            </p:cNvPicPr>
            <p:nvPr/>
          </p:nvPicPr>
          <p:blipFill>
            <a:blip r:embed="rId3"/>
            <a:stretch>
              <a:fillRect/>
            </a:stretch>
          </p:blipFill>
          <p:spPr>
            <a:xfrm>
              <a:off x="1270398" y="2384013"/>
              <a:ext cx="299905" cy="299905"/>
            </a:xfrm>
            <a:prstGeom prst="rect">
              <a:avLst/>
            </a:prstGeom>
          </p:spPr>
        </p:pic>
        <p:sp>
          <p:nvSpPr>
            <p:cNvPr id="54" name="TextBox 23" title="S lock on 3rd level"/>
            <p:cNvSpPr txBox="1"/>
            <p:nvPr/>
          </p:nvSpPr>
          <p:spPr>
            <a:xfrm>
              <a:off x="258271" y="2395466"/>
              <a:ext cx="1113103" cy="276999"/>
            </a:xfrm>
            <a:prstGeom prst="rect">
              <a:avLst/>
            </a:prstGeom>
            <a:noFill/>
          </p:spPr>
          <p:txBody>
            <a:bodyPr wrap="square" rtlCol="0">
              <a:spAutoFit/>
            </a:bodyPr>
            <a:lstStyle/>
            <a:p>
              <a:pPr algn="r"/>
              <a:r>
                <a:rPr lang="en-US" sz="1200" i="1" dirty="0"/>
                <a:t>Share (S)</a:t>
              </a:r>
            </a:p>
          </p:txBody>
        </p:sp>
      </p:grpSp>
    </p:spTree>
    <p:extLst>
      <p:ext uri="{BB962C8B-B14F-4D97-AF65-F5344CB8AC3E}">
        <p14:creationId xmlns:p14="http://schemas.microsoft.com/office/powerpoint/2010/main" val="145777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fade">
                                      <p:cBhvr>
                                        <p:cTn id="11" dur="500"/>
                                        <p:tgtEl>
                                          <p:spTgt spid="4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New Lock Modes – Intention Lock Modes</a:t>
            </a:r>
            <a:endParaRPr lang="en-US" dirty="0"/>
          </a:p>
        </p:txBody>
      </p:sp>
      <p:sp>
        <p:nvSpPr>
          <p:cNvPr id="5" name="Content Placeholder 4">
            <a:extLst>
              <a:ext uri="{FF2B5EF4-FFF2-40B4-BE49-F238E27FC236}">
                <a16:creationId xmlns:a16="http://schemas.microsoft.com/office/drawing/2014/main" id="{AC87747E-2058-9E48-B5A1-4AE7EAD43B5B}"/>
              </a:ext>
            </a:extLst>
          </p:cNvPr>
          <p:cNvSpPr>
            <a:spLocks noGrp="1"/>
          </p:cNvSpPr>
          <p:nvPr>
            <p:ph idx="1"/>
          </p:nvPr>
        </p:nvSpPr>
        <p:spPr/>
        <p:txBody>
          <a:bodyPr/>
          <a:lstStyle/>
          <a:p>
            <a:r>
              <a:rPr lang="en-US" sz="1800" dirty="0">
                <a:ea typeface="Lucida Console" charset="0"/>
                <a:cs typeface="Lucida Console" charset="0"/>
              </a:rPr>
              <a:t>3 additional lock modes:</a:t>
            </a:r>
          </a:p>
          <a:p>
            <a:pPr lvl="1"/>
            <a:r>
              <a:rPr lang="en-US" sz="1650" b="1" i="1" dirty="0">
                <a:ea typeface="Lucida Console" charset="0"/>
                <a:cs typeface="Lucida Console" charset="0"/>
              </a:rPr>
              <a:t>IS:</a:t>
            </a:r>
            <a:r>
              <a:rPr lang="en-US" sz="1650" i="1" dirty="0">
                <a:ea typeface="Lucida Console" charset="0"/>
                <a:cs typeface="Lucida Console" charset="0"/>
              </a:rPr>
              <a:t> Intent to get S lock(s) at finer granularity.</a:t>
            </a:r>
          </a:p>
          <a:p>
            <a:pPr lvl="1"/>
            <a:r>
              <a:rPr lang="en-US" sz="1650" b="1" i="1" dirty="0">
                <a:ea typeface="Lucida Console" charset="0"/>
                <a:cs typeface="Lucida Console" charset="0"/>
              </a:rPr>
              <a:t>IX:</a:t>
            </a:r>
            <a:r>
              <a:rPr lang="en-US" sz="1650" i="1" dirty="0">
                <a:ea typeface="Lucida Console" charset="0"/>
                <a:cs typeface="Lucida Console" charset="0"/>
              </a:rPr>
              <a:t> Intent to get X lock(s) at finer granularity.</a:t>
            </a:r>
          </a:p>
          <a:p>
            <a:pPr lvl="1">
              <a:spcAft>
                <a:spcPts val="2000"/>
              </a:spcAft>
            </a:pPr>
            <a:r>
              <a:rPr lang="en-US" sz="1650" b="1" i="1" dirty="0">
                <a:ea typeface="Lucida Console" charset="0"/>
                <a:cs typeface="Lucida Console" charset="0"/>
              </a:rPr>
              <a:t>SIX:</a:t>
            </a:r>
            <a:r>
              <a:rPr lang="en-US" sz="1650" i="1" dirty="0">
                <a:ea typeface="Lucida Console" charset="0"/>
                <a:cs typeface="Lucida Console" charset="0"/>
              </a:rPr>
              <a:t> Like S &amp; IX at the same time. Why useful?</a:t>
            </a:r>
            <a:endParaRPr lang="en-US" sz="1800" dirty="0">
              <a:ea typeface="Lucida Console" charset="0"/>
              <a:cs typeface="Lucida Console" charset="0"/>
            </a:endParaRPr>
          </a:p>
          <a:p>
            <a:r>
              <a:rPr lang="en-US" sz="1800" dirty="0">
                <a:ea typeface="Lucida Console" charset="0"/>
                <a:cs typeface="Lucida Console" charset="0"/>
              </a:rPr>
              <a:t>Intention locks allow a higher level node to be locked in S or X mode without having to check all descendent nodes</a:t>
            </a:r>
          </a:p>
        </p:txBody>
      </p:sp>
      <p:grpSp>
        <p:nvGrpSpPr>
          <p:cNvPr id="7" name="Group 6" descr="Contains tuple t1 and tuple t2" title="Page P">
            <a:extLst>
              <a:ext uri="{FF2B5EF4-FFF2-40B4-BE49-F238E27FC236}">
                <a16:creationId xmlns:a16="http://schemas.microsoft.com/office/drawing/2014/main" id="{861972E8-FDF5-BE41-A86E-B39B75D88F44}"/>
              </a:ext>
            </a:extLst>
          </p:cNvPr>
          <p:cNvGrpSpPr/>
          <p:nvPr/>
        </p:nvGrpSpPr>
        <p:grpSpPr>
          <a:xfrm>
            <a:off x="2209800" y="3999963"/>
            <a:ext cx="2263698" cy="446049"/>
            <a:chOff x="2209800" y="3999963"/>
            <a:chExt cx="2263698" cy="446049"/>
          </a:xfrm>
        </p:grpSpPr>
        <p:sp>
          <p:nvSpPr>
            <p:cNvPr id="2" name="Rectangle 1"/>
            <p:cNvSpPr/>
            <p:nvPr/>
          </p:nvSpPr>
          <p:spPr bwMode="auto">
            <a:xfrm>
              <a:off x="2209800" y="3999963"/>
              <a:ext cx="2263698" cy="446049"/>
            </a:xfrm>
            <a:prstGeom prst="rect">
              <a:avLst/>
            </a:prstGeom>
            <a:solidFill>
              <a:srgbClr val="3366FF"/>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chemeClr val="bg1"/>
                  </a:solidFill>
                  <a:latin typeface="Helvetica Neue" charset="0"/>
                </a:rPr>
                <a:t>Page P</a:t>
              </a:r>
            </a:p>
          </p:txBody>
        </p:sp>
        <p:sp>
          <p:nvSpPr>
            <p:cNvPr id="3" name="Rectangle 2"/>
            <p:cNvSpPr/>
            <p:nvPr/>
          </p:nvSpPr>
          <p:spPr bwMode="auto">
            <a:xfrm>
              <a:off x="2951356" y="4022266"/>
              <a:ext cx="780586" cy="200722"/>
            </a:xfrm>
            <a:prstGeom prst="rect">
              <a:avLst/>
            </a:prstGeom>
            <a:solidFill>
              <a:schemeClr val="tx1">
                <a:lumMod val="20000"/>
                <a:lumOff val="80000"/>
              </a:schemeClr>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rgbClr val="000000"/>
                  </a:solidFill>
                  <a:latin typeface="Helvetica Neue" charset="0"/>
                </a:rPr>
                <a:t>Tuple t1</a:t>
              </a:r>
            </a:p>
          </p:txBody>
        </p:sp>
        <p:sp>
          <p:nvSpPr>
            <p:cNvPr id="6" name="Rectangle 5"/>
            <p:cNvSpPr/>
            <p:nvPr/>
          </p:nvSpPr>
          <p:spPr bwMode="auto">
            <a:xfrm>
              <a:off x="2951356" y="4234139"/>
              <a:ext cx="780586" cy="200722"/>
            </a:xfrm>
            <a:prstGeom prst="rect">
              <a:avLst/>
            </a:prstGeom>
            <a:solidFill>
              <a:schemeClr val="tx1">
                <a:lumMod val="20000"/>
                <a:lumOff val="80000"/>
              </a:schemeClr>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rgbClr val="000000"/>
                  </a:solidFill>
                  <a:latin typeface="Helvetica Neue" charset="0"/>
                </a:rPr>
                <a:t>Tuple t2</a:t>
              </a:r>
            </a:p>
          </p:txBody>
        </p:sp>
      </p:grpSp>
    </p:spTree>
    <p:extLst>
      <p:ext uri="{BB962C8B-B14F-4D97-AF65-F5344CB8AC3E}">
        <p14:creationId xmlns:p14="http://schemas.microsoft.com/office/powerpoint/2010/main" val="981134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Multiple Granularity Locking Protocol</a:t>
            </a:r>
            <a:endParaRPr lang="en-US" dirty="0"/>
          </a:p>
        </p:txBody>
      </p:sp>
      <p:sp>
        <p:nvSpPr>
          <p:cNvPr id="3" name="Content Placeholder 2">
            <a:extLst>
              <a:ext uri="{FF2B5EF4-FFF2-40B4-BE49-F238E27FC236}">
                <a16:creationId xmlns:a16="http://schemas.microsoft.com/office/drawing/2014/main" id="{2E6D5ACD-65E0-7341-BFF5-1056CE82C014}"/>
              </a:ext>
            </a:extLst>
          </p:cNvPr>
          <p:cNvSpPr>
            <a:spLocks noGrp="1"/>
          </p:cNvSpPr>
          <p:nvPr>
            <p:ph idx="1"/>
          </p:nvPr>
        </p:nvSpPr>
        <p:spPr>
          <a:xfrm>
            <a:off x="457200" y="1200151"/>
            <a:ext cx="9144000" cy="3394472"/>
          </a:xfrm>
        </p:spPr>
        <p:txBody>
          <a:bodyPr>
            <a:normAutofit/>
          </a:bodyPr>
          <a:lstStyle/>
          <a:p>
            <a:r>
              <a:rPr lang="en-US" sz="1600" dirty="0"/>
              <a:t>Each Xact starts from the root of the hierarchy.</a:t>
            </a:r>
          </a:p>
          <a:p>
            <a:r>
              <a:rPr lang="en-US" sz="1600" dirty="0"/>
              <a:t>To get S or IS lock on a node, must hold IS or IX on parent node.</a:t>
            </a:r>
          </a:p>
          <a:p>
            <a:pPr lvl="1"/>
            <a:r>
              <a:rPr lang="en-US" sz="1600" dirty="0"/>
              <a:t>What if Xact holds S on parent? SIX on parent?</a:t>
            </a:r>
          </a:p>
          <a:p>
            <a:r>
              <a:rPr lang="en-US" sz="1600" dirty="0"/>
              <a:t>To get X or IX or SIX on a node, must hold IX or SIX on parent node.</a:t>
            </a:r>
          </a:p>
          <a:p>
            <a:pPr>
              <a:spcAft>
                <a:spcPts val="2000"/>
              </a:spcAft>
            </a:pPr>
            <a:r>
              <a:rPr lang="en-US" sz="1600" dirty="0"/>
              <a:t>Must release locks in bottom-up order.</a:t>
            </a:r>
          </a:p>
          <a:p>
            <a:r>
              <a:rPr lang="en-US" sz="1600" dirty="0"/>
              <a:t>2-phase and lock compatibility matrix rules enforced as well</a:t>
            </a:r>
          </a:p>
          <a:p>
            <a:r>
              <a:rPr lang="en-US" sz="1500" dirty="0"/>
              <a:t>Protocol is correct in that it is </a:t>
            </a:r>
            <a:r>
              <a:rPr lang="en-US" sz="1500" i="1" dirty="0"/>
              <a:t>equivalent to directly setting locks at leaf levels of the hierarchy</a:t>
            </a:r>
            <a:r>
              <a:rPr lang="en-US" sz="1500" dirty="0"/>
              <a:t>.</a:t>
            </a:r>
          </a:p>
          <a:p>
            <a:endParaRPr lang="en-US" sz="1600" dirty="0"/>
          </a:p>
        </p:txBody>
      </p:sp>
      <p:grpSp>
        <p:nvGrpSpPr>
          <p:cNvPr id="29" name="Group 13" descr="Database -&gt; Tables -&gt; Pages -&gt; Tuples" title="Lienar Hierarchy">
            <a:extLst>
              <a:ext uri="{FF2B5EF4-FFF2-40B4-BE49-F238E27FC236}">
                <a16:creationId xmlns:a16="http://schemas.microsoft.com/office/drawing/2014/main" id="{40B99687-2D8D-6647-AD14-CA57CCCF40CC}"/>
              </a:ext>
            </a:extLst>
          </p:cNvPr>
          <p:cNvGrpSpPr>
            <a:grpSpLocks/>
          </p:cNvGrpSpPr>
          <p:nvPr/>
        </p:nvGrpSpPr>
        <p:grpSpPr bwMode="auto">
          <a:xfrm>
            <a:off x="7467600" y="1078244"/>
            <a:ext cx="1013222" cy="1846660"/>
            <a:chOff x="2582" y="2519"/>
            <a:chExt cx="851" cy="1551"/>
          </a:xfrm>
        </p:grpSpPr>
        <p:sp>
          <p:nvSpPr>
            <p:cNvPr id="30" name="Rectangle 6">
              <a:extLst>
                <a:ext uri="{FF2B5EF4-FFF2-40B4-BE49-F238E27FC236}">
                  <a16:creationId xmlns:a16="http://schemas.microsoft.com/office/drawing/2014/main" id="{16F42CB8-12CF-474A-BDBB-36C627E74383}"/>
                </a:ext>
              </a:extLst>
            </p:cNvPr>
            <p:cNvSpPr>
              <a:spLocks noChangeArrowheads="1"/>
            </p:cNvSpPr>
            <p:nvPr/>
          </p:nvSpPr>
          <p:spPr bwMode="auto">
            <a:xfrm>
              <a:off x="2633" y="3779"/>
              <a:ext cx="621"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Tuples</a:t>
              </a:r>
            </a:p>
          </p:txBody>
        </p:sp>
        <p:sp>
          <p:nvSpPr>
            <p:cNvPr id="31" name="Rectangle 7">
              <a:extLst>
                <a:ext uri="{FF2B5EF4-FFF2-40B4-BE49-F238E27FC236}">
                  <a16:creationId xmlns:a16="http://schemas.microsoft.com/office/drawing/2014/main" id="{22F20941-C8E5-CD43-9C7A-4E9FE59E7281}"/>
                </a:ext>
              </a:extLst>
            </p:cNvPr>
            <p:cNvSpPr>
              <a:spLocks noChangeArrowheads="1"/>
            </p:cNvSpPr>
            <p:nvPr/>
          </p:nvSpPr>
          <p:spPr bwMode="auto">
            <a:xfrm>
              <a:off x="2678" y="2951"/>
              <a:ext cx="60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Tables</a:t>
              </a:r>
            </a:p>
          </p:txBody>
        </p:sp>
        <p:sp>
          <p:nvSpPr>
            <p:cNvPr id="32" name="Rectangle 8">
              <a:extLst>
                <a:ext uri="{FF2B5EF4-FFF2-40B4-BE49-F238E27FC236}">
                  <a16:creationId xmlns:a16="http://schemas.microsoft.com/office/drawing/2014/main" id="{F957C6E3-6882-4448-8BD2-14D7FC32E482}"/>
                </a:ext>
              </a:extLst>
            </p:cNvPr>
            <p:cNvSpPr>
              <a:spLocks noChangeArrowheads="1"/>
            </p:cNvSpPr>
            <p:nvPr/>
          </p:nvSpPr>
          <p:spPr bwMode="auto">
            <a:xfrm>
              <a:off x="2696" y="3311"/>
              <a:ext cx="56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dirty="0">
                  <a:solidFill>
                    <a:schemeClr val="accent1"/>
                  </a:solidFill>
                </a:rPr>
                <a:t>Pages</a:t>
              </a:r>
            </a:p>
          </p:txBody>
        </p:sp>
        <p:sp>
          <p:nvSpPr>
            <p:cNvPr id="33" name="Line 9">
              <a:extLst>
                <a:ext uri="{FF2B5EF4-FFF2-40B4-BE49-F238E27FC236}">
                  <a16:creationId xmlns:a16="http://schemas.microsoft.com/office/drawing/2014/main" id="{B6A8768F-1DE5-0241-973C-4B5EDB890532}"/>
                </a:ext>
              </a:extLst>
            </p:cNvPr>
            <p:cNvSpPr>
              <a:spLocks noChangeShapeType="1"/>
            </p:cNvSpPr>
            <p:nvPr/>
          </p:nvSpPr>
          <p:spPr bwMode="auto">
            <a:xfrm>
              <a:off x="2979" y="3183"/>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34" name="Line 10">
              <a:extLst>
                <a:ext uri="{FF2B5EF4-FFF2-40B4-BE49-F238E27FC236}">
                  <a16:creationId xmlns:a16="http://schemas.microsoft.com/office/drawing/2014/main" id="{33B9C75F-8A41-5A42-921F-BB330347D986}"/>
                </a:ext>
              </a:extLst>
            </p:cNvPr>
            <p:cNvSpPr>
              <a:spLocks noChangeShapeType="1"/>
            </p:cNvSpPr>
            <p:nvPr/>
          </p:nvSpPr>
          <p:spPr bwMode="auto">
            <a:xfrm>
              <a:off x="2985" y="3579"/>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35" name="Rectangle 11">
              <a:extLst>
                <a:ext uri="{FF2B5EF4-FFF2-40B4-BE49-F238E27FC236}">
                  <a16:creationId xmlns:a16="http://schemas.microsoft.com/office/drawing/2014/main" id="{6F393192-13D7-F543-A2BB-4E57595C1CA8}"/>
                </a:ext>
              </a:extLst>
            </p:cNvPr>
            <p:cNvSpPr>
              <a:spLocks noChangeArrowheads="1"/>
            </p:cNvSpPr>
            <p:nvPr/>
          </p:nvSpPr>
          <p:spPr bwMode="auto">
            <a:xfrm>
              <a:off x="2582" y="2519"/>
              <a:ext cx="851"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Database</a:t>
              </a:r>
            </a:p>
          </p:txBody>
        </p:sp>
        <p:sp>
          <p:nvSpPr>
            <p:cNvPr id="36" name="Line 12">
              <a:extLst>
                <a:ext uri="{FF2B5EF4-FFF2-40B4-BE49-F238E27FC236}">
                  <a16:creationId xmlns:a16="http://schemas.microsoft.com/office/drawing/2014/main" id="{C422DB27-91C3-3C49-9D7A-953269508EC2}"/>
                </a:ext>
              </a:extLst>
            </p:cNvPr>
            <p:cNvSpPr>
              <a:spLocks noChangeShapeType="1"/>
            </p:cNvSpPr>
            <p:nvPr/>
          </p:nvSpPr>
          <p:spPr bwMode="auto">
            <a:xfrm>
              <a:off x="2979" y="2751"/>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grpSp>
    </p:spTree>
    <p:extLst>
      <p:ext uri="{BB962C8B-B14F-4D97-AF65-F5344CB8AC3E}">
        <p14:creationId xmlns:p14="http://schemas.microsoft.com/office/powerpoint/2010/main" val="1940368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a:t>Lock Compatibility Matrix</a:t>
            </a:r>
            <a:endParaRPr lang="en-US" dirty="0"/>
          </a:p>
        </p:txBody>
      </p:sp>
      <p:sp>
        <p:nvSpPr>
          <p:cNvPr id="5" name="Content Placeholder 4">
            <a:extLst>
              <a:ext uri="{FF2B5EF4-FFF2-40B4-BE49-F238E27FC236}">
                <a16:creationId xmlns:a16="http://schemas.microsoft.com/office/drawing/2014/main" id="{7C552B91-7546-3F46-A08C-F186636862B3}"/>
              </a:ext>
            </a:extLst>
          </p:cNvPr>
          <p:cNvSpPr>
            <a:spLocks noGrp="1"/>
          </p:cNvSpPr>
          <p:nvPr>
            <p:ph idx="1"/>
          </p:nvPr>
        </p:nvSpPr>
        <p:spPr/>
        <p:txBody>
          <a:bodyPr/>
          <a:lstStyle/>
          <a:p>
            <a:pPr>
              <a:buClr>
                <a:schemeClr val="tx1"/>
              </a:buClr>
              <a:buSzPct val="75000"/>
              <a:buFont typeface="Arial" charset="0"/>
              <a:buChar char="•"/>
            </a:pPr>
            <a:r>
              <a:rPr lang="en-US" dirty="0"/>
              <a:t>IS – Intent to get S lock(s) at finer granularity.</a:t>
            </a:r>
          </a:p>
          <a:p>
            <a:pPr>
              <a:buClr>
                <a:schemeClr val="tx1"/>
              </a:buClr>
              <a:buSzPct val="75000"/>
              <a:buFont typeface="Arial" charset="0"/>
              <a:buChar char="•"/>
            </a:pPr>
            <a:r>
              <a:rPr lang="en-US" dirty="0"/>
              <a:t>IX – Intent to get X lock(s) at finer granularity.</a:t>
            </a:r>
          </a:p>
          <a:p>
            <a:pPr>
              <a:buClr>
                <a:schemeClr val="tx1"/>
              </a:buClr>
              <a:buSzPct val="75000"/>
              <a:buFont typeface="Arial" charset="0"/>
              <a:buChar char="•"/>
            </a:pPr>
            <a:r>
              <a:rPr lang="en-US" dirty="0"/>
              <a:t>SIX mode: Like S &amp; IX at the same time.</a:t>
            </a:r>
          </a:p>
        </p:txBody>
      </p:sp>
      <p:graphicFrame>
        <p:nvGraphicFramePr>
          <p:cNvPr id="2" name="Table 1" title="Lock Table"/>
          <p:cNvGraphicFramePr>
            <a:graphicFrameLocks noGrp="1"/>
          </p:cNvGraphicFramePr>
          <p:nvPr>
            <p:extLst>
              <p:ext uri="{D42A27DB-BD31-4B8C-83A1-F6EECF244321}">
                <p14:modId xmlns:p14="http://schemas.microsoft.com/office/powerpoint/2010/main" val="3092275116"/>
              </p:ext>
            </p:extLst>
          </p:nvPr>
        </p:nvGraphicFramePr>
        <p:xfrm>
          <a:off x="442783" y="2507675"/>
          <a:ext cx="3759528" cy="2395935"/>
        </p:xfrm>
        <a:graphic>
          <a:graphicData uri="http://schemas.openxmlformats.org/drawingml/2006/table">
            <a:tbl>
              <a:tblPr firstRow="1" firstCol="1" bandRow="1">
                <a:tableStyleId>{5C22544A-7EE6-4342-B048-85BDC9FD1C3A}</a:tableStyleId>
              </a:tblPr>
              <a:tblGrid>
                <a:gridCol w="626588">
                  <a:extLst>
                    <a:ext uri="{9D8B030D-6E8A-4147-A177-3AD203B41FA5}">
                      <a16:colId xmlns:a16="http://schemas.microsoft.com/office/drawing/2014/main" val="20000"/>
                    </a:ext>
                  </a:extLst>
                </a:gridCol>
                <a:gridCol w="626588">
                  <a:extLst>
                    <a:ext uri="{9D8B030D-6E8A-4147-A177-3AD203B41FA5}">
                      <a16:colId xmlns:a16="http://schemas.microsoft.com/office/drawing/2014/main" val="20001"/>
                    </a:ext>
                  </a:extLst>
                </a:gridCol>
                <a:gridCol w="626588">
                  <a:extLst>
                    <a:ext uri="{9D8B030D-6E8A-4147-A177-3AD203B41FA5}">
                      <a16:colId xmlns:a16="http://schemas.microsoft.com/office/drawing/2014/main" val="20002"/>
                    </a:ext>
                  </a:extLst>
                </a:gridCol>
                <a:gridCol w="626588">
                  <a:extLst>
                    <a:ext uri="{9D8B030D-6E8A-4147-A177-3AD203B41FA5}">
                      <a16:colId xmlns:a16="http://schemas.microsoft.com/office/drawing/2014/main" val="20003"/>
                    </a:ext>
                  </a:extLst>
                </a:gridCol>
                <a:gridCol w="626588">
                  <a:extLst>
                    <a:ext uri="{9D8B030D-6E8A-4147-A177-3AD203B41FA5}">
                      <a16:colId xmlns:a16="http://schemas.microsoft.com/office/drawing/2014/main" val="20004"/>
                    </a:ext>
                  </a:extLst>
                </a:gridCol>
                <a:gridCol w="626588">
                  <a:extLst>
                    <a:ext uri="{9D8B030D-6E8A-4147-A177-3AD203B41FA5}">
                      <a16:colId xmlns:a16="http://schemas.microsoft.com/office/drawing/2014/main" val="20005"/>
                    </a:ext>
                  </a:extLst>
                </a:gridCol>
              </a:tblGrid>
              <a:tr h="117999">
                <a:tc>
                  <a:txBody>
                    <a:bodyPr/>
                    <a:lstStyle/>
                    <a:p>
                      <a:endParaRPr lang="en-US" sz="1400" dirty="0"/>
                    </a:p>
                  </a:txBody>
                  <a:tcPr marL="68580" marR="68580" marT="34290" marB="34290" anchor="ctr" anchorCtr="1"/>
                </a:tc>
                <a:tc>
                  <a:txBody>
                    <a:bodyPr/>
                    <a:lstStyle/>
                    <a:p>
                      <a:r>
                        <a:rPr lang="en-US" sz="1400" dirty="0"/>
                        <a:t>IS</a:t>
                      </a:r>
                    </a:p>
                  </a:txBody>
                  <a:tcPr marL="68580" marR="68580" marT="34290" marB="34290" anchor="ctr" anchorCtr="1"/>
                </a:tc>
                <a:tc>
                  <a:txBody>
                    <a:bodyPr/>
                    <a:lstStyle/>
                    <a:p>
                      <a:r>
                        <a:rPr lang="en-US" sz="1400" dirty="0"/>
                        <a:t>IX</a:t>
                      </a:r>
                    </a:p>
                  </a:txBody>
                  <a:tcPr marL="68580" marR="68580" marT="34290" marB="34290" anchor="ctr" anchorCtr="1"/>
                </a:tc>
                <a:tc>
                  <a:txBody>
                    <a:bodyPr/>
                    <a:lstStyle/>
                    <a:p>
                      <a:r>
                        <a:rPr lang="en-US" sz="1400" dirty="0"/>
                        <a:t>S</a:t>
                      </a:r>
                    </a:p>
                  </a:txBody>
                  <a:tcPr marL="68580" marR="68580" marT="34290" marB="34290" anchor="ctr" anchorCtr="1"/>
                </a:tc>
                <a:tc>
                  <a:txBody>
                    <a:bodyPr/>
                    <a:lstStyle/>
                    <a:p>
                      <a:r>
                        <a:rPr lang="en-US" sz="1400" dirty="0"/>
                        <a:t>SIX</a:t>
                      </a:r>
                    </a:p>
                  </a:txBody>
                  <a:tcPr marL="68580" marR="68580" marT="34290" marB="34290" anchor="ctr" anchorCtr="1"/>
                </a:tc>
                <a:tc>
                  <a:txBody>
                    <a:bodyPr/>
                    <a:lstStyle/>
                    <a:p>
                      <a:r>
                        <a:rPr lang="en-US" sz="1400" dirty="0"/>
                        <a:t>X</a:t>
                      </a:r>
                    </a:p>
                  </a:txBody>
                  <a:tcPr marL="68580" marR="68580" marT="34290" marB="34290" anchor="ctr" anchorCtr="1"/>
                </a:tc>
                <a:extLst>
                  <a:ext uri="{0D108BD9-81ED-4DB2-BD59-A6C34878D82A}">
                    <a16:rowId xmlns:a16="http://schemas.microsoft.com/office/drawing/2014/main" val="10000"/>
                  </a:ext>
                </a:extLst>
              </a:tr>
              <a:tr h="422799">
                <a:tc>
                  <a:txBody>
                    <a:bodyPr/>
                    <a:lstStyle/>
                    <a:p>
                      <a:r>
                        <a:rPr lang="en-US" sz="1400" dirty="0"/>
                        <a:t>IS</a:t>
                      </a: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extLst>
                  <a:ext uri="{0D108BD9-81ED-4DB2-BD59-A6C34878D82A}">
                    <a16:rowId xmlns:a16="http://schemas.microsoft.com/office/drawing/2014/main" val="10001"/>
                  </a:ext>
                </a:extLst>
              </a:tr>
              <a:tr h="422799">
                <a:tc>
                  <a:txBody>
                    <a:bodyPr/>
                    <a:lstStyle/>
                    <a:p>
                      <a:r>
                        <a:rPr lang="en-US" sz="1400" dirty="0"/>
                        <a:t>IX</a:t>
                      </a: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extLst>
                  <a:ext uri="{0D108BD9-81ED-4DB2-BD59-A6C34878D82A}">
                    <a16:rowId xmlns:a16="http://schemas.microsoft.com/office/drawing/2014/main" val="10002"/>
                  </a:ext>
                </a:extLst>
              </a:tr>
              <a:tr h="422799">
                <a:tc>
                  <a:txBody>
                    <a:bodyPr/>
                    <a:lstStyle/>
                    <a:p>
                      <a:r>
                        <a:rPr lang="en-US" sz="1400" dirty="0"/>
                        <a:t>S</a:t>
                      </a: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r>
                        <a:rPr lang="en-US" sz="1400" dirty="0">
                          <a:solidFill>
                            <a:schemeClr val="tx2"/>
                          </a:solidFill>
                        </a:rPr>
                        <a:t>true</a:t>
                      </a: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extLst>
                  <a:ext uri="{0D108BD9-81ED-4DB2-BD59-A6C34878D82A}">
                    <a16:rowId xmlns:a16="http://schemas.microsoft.com/office/drawing/2014/main" val="10003"/>
                  </a:ext>
                </a:extLst>
              </a:tr>
              <a:tr h="422799">
                <a:tc>
                  <a:txBody>
                    <a:bodyPr/>
                    <a:lstStyle/>
                    <a:p>
                      <a:r>
                        <a:rPr lang="en-US" sz="1400" dirty="0"/>
                        <a:t>SIX</a:t>
                      </a: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extLst>
                  <a:ext uri="{0D108BD9-81ED-4DB2-BD59-A6C34878D82A}">
                    <a16:rowId xmlns:a16="http://schemas.microsoft.com/office/drawing/2014/main" val="10004"/>
                  </a:ext>
                </a:extLst>
              </a:tr>
              <a:tr h="422799">
                <a:tc>
                  <a:txBody>
                    <a:bodyPr/>
                    <a:lstStyle/>
                    <a:p>
                      <a:r>
                        <a:rPr lang="en-US" sz="1400" dirty="0"/>
                        <a:t>X</a:t>
                      </a: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tc>
                  <a:txBody>
                    <a:bodyPr/>
                    <a:lstStyle/>
                    <a:p>
                      <a:endParaRPr lang="en-US" sz="1400" dirty="0">
                        <a:solidFill>
                          <a:schemeClr val="tx2"/>
                        </a:solidFill>
                      </a:endParaRP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extLst>
                  <a:ext uri="{0D108BD9-81ED-4DB2-BD59-A6C34878D82A}">
                    <a16:rowId xmlns:a16="http://schemas.microsoft.com/office/drawing/2014/main" val="10005"/>
                  </a:ext>
                </a:extLst>
              </a:tr>
            </a:tbl>
          </a:graphicData>
        </a:graphic>
      </p:graphicFrame>
      <p:sp>
        <p:nvSpPr>
          <p:cNvPr id="22" name="Rectangle 21" descr="Could 2 intent locks be compatable:?&#10;Page P contains t1 with an S (IS) lock and tuple t2 with an X (IX) lock" title="Handy case to remember"/>
          <p:cNvSpPr/>
          <p:nvPr/>
        </p:nvSpPr>
        <p:spPr bwMode="auto">
          <a:xfrm>
            <a:off x="6423102" y="2373746"/>
            <a:ext cx="2263698" cy="446049"/>
          </a:xfrm>
          <a:prstGeom prst="rect">
            <a:avLst/>
          </a:prstGeom>
          <a:solidFill>
            <a:srgbClr val="3366FF"/>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chemeClr val="bg1"/>
                </a:solidFill>
                <a:latin typeface="Helvetica Neue" charset="0"/>
              </a:rPr>
              <a:t>Page P</a:t>
            </a:r>
          </a:p>
        </p:txBody>
      </p:sp>
      <p:sp>
        <p:nvSpPr>
          <p:cNvPr id="24" name="Rectangle 23"/>
          <p:cNvSpPr/>
          <p:nvPr/>
        </p:nvSpPr>
        <p:spPr bwMode="auto">
          <a:xfrm>
            <a:off x="7164658" y="2396049"/>
            <a:ext cx="780586" cy="200722"/>
          </a:xfrm>
          <a:prstGeom prst="rect">
            <a:avLst/>
          </a:prstGeom>
          <a:solidFill>
            <a:schemeClr val="tx1">
              <a:lumMod val="20000"/>
              <a:lumOff val="80000"/>
            </a:schemeClr>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rgbClr val="000000"/>
                </a:solidFill>
                <a:latin typeface="Helvetica Neue" charset="0"/>
              </a:rPr>
              <a:t>Tuple t1</a:t>
            </a:r>
          </a:p>
        </p:txBody>
      </p:sp>
      <p:sp>
        <p:nvSpPr>
          <p:cNvPr id="25" name="Rectangle 24"/>
          <p:cNvSpPr/>
          <p:nvPr/>
        </p:nvSpPr>
        <p:spPr bwMode="auto">
          <a:xfrm>
            <a:off x="7164658" y="2607922"/>
            <a:ext cx="780586" cy="200722"/>
          </a:xfrm>
          <a:prstGeom prst="rect">
            <a:avLst/>
          </a:prstGeom>
          <a:solidFill>
            <a:schemeClr val="tx1">
              <a:lumMod val="20000"/>
              <a:lumOff val="80000"/>
            </a:schemeClr>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rgbClr val="000000"/>
                </a:solidFill>
                <a:latin typeface="Helvetica Neue" charset="0"/>
              </a:rPr>
              <a:t>Tuple t2</a:t>
            </a:r>
          </a:p>
        </p:txBody>
      </p:sp>
      <p:sp>
        <p:nvSpPr>
          <p:cNvPr id="26" name="TextBox 25"/>
          <p:cNvSpPr txBox="1"/>
          <p:nvPr/>
        </p:nvSpPr>
        <p:spPr>
          <a:xfrm>
            <a:off x="8399778" y="2368703"/>
            <a:ext cx="324128" cy="276999"/>
          </a:xfrm>
          <a:prstGeom prst="rect">
            <a:avLst/>
          </a:prstGeom>
          <a:noFill/>
        </p:spPr>
        <p:txBody>
          <a:bodyPr wrap="none" rtlCol="0">
            <a:spAutoFit/>
          </a:bodyPr>
          <a:lstStyle/>
          <a:p>
            <a:r>
              <a:rPr lang="en-US" sz="1200" dirty="0">
                <a:solidFill>
                  <a:srgbClr val="FF0000"/>
                </a:solidFill>
                <a:latin typeface="Helvetica Neue" charset="0"/>
                <a:ea typeface="Helvetica Neue" charset="0"/>
                <a:cs typeface="Helvetica Neue" charset="0"/>
              </a:rPr>
              <a:t>IS</a:t>
            </a:r>
            <a:endParaRPr lang="en-US" dirty="0">
              <a:solidFill>
                <a:srgbClr val="FF0000"/>
              </a:solidFill>
              <a:latin typeface="Helvetica Neue" charset="0"/>
              <a:ea typeface="Helvetica Neue" charset="0"/>
              <a:cs typeface="Helvetica Neue" charset="0"/>
            </a:endParaRPr>
          </a:p>
        </p:txBody>
      </p:sp>
      <p:sp>
        <p:nvSpPr>
          <p:cNvPr id="27" name="TextBox 26"/>
          <p:cNvSpPr txBox="1"/>
          <p:nvPr/>
        </p:nvSpPr>
        <p:spPr>
          <a:xfrm>
            <a:off x="7705902" y="2368703"/>
            <a:ext cx="284052" cy="276999"/>
          </a:xfrm>
          <a:prstGeom prst="rect">
            <a:avLst/>
          </a:prstGeom>
          <a:noFill/>
        </p:spPr>
        <p:txBody>
          <a:bodyPr wrap="none" rtlCol="0">
            <a:spAutoFit/>
          </a:bodyPr>
          <a:lstStyle/>
          <a:p>
            <a:r>
              <a:rPr lang="en-US" sz="1200" dirty="0">
                <a:solidFill>
                  <a:srgbClr val="FF0000"/>
                </a:solidFill>
                <a:latin typeface="Helvetica Neue" charset="0"/>
                <a:ea typeface="Helvetica Neue" charset="0"/>
                <a:cs typeface="Helvetica Neue" charset="0"/>
              </a:rPr>
              <a:t>S</a:t>
            </a:r>
            <a:endParaRPr lang="en-US" dirty="0">
              <a:solidFill>
                <a:srgbClr val="FF0000"/>
              </a:solidFill>
              <a:latin typeface="Helvetica Neue" charset="0"/>
              <a:ea typeface="Helvetica Neue" charset="0"/>
              <a:cs typeface="Helvetica Neue" charset="0"/>
            </a:endParaRPr>
          </a:p>
        </p:txBody>
      </p:sp>
      <p:sp>
        <p:nvSpPr>
          <p:cNvPr id="28" name="TextBox 27"/>
          <p:cNvSpPr txBox="1"/>
          <p:nvPr/>
        </p:nvSpPr>
        <p:spPr>
          <a:xfrm>
            <a:off x="8398208" y="2554728"/>
            <a:ext cx="319318" cy="276999"/>
          </a:xfrm>
          <a:prstGeom prst="rect">
            <a:avLst/>
          </a:prstGeom>
          <a:noFill/>
        </p:spPr>
        <p:txBody>
          <a:bodyPr wrap="none" rtlCol="0">
            <a:spAutoFit/>
          </a:bodyPr>
          <a:lstStyle/>
          <a:p>
            <a:r>
              <a:rPr lang="en-US" sz="1200" dirty="0">
                <a:solidFill>
                  <a:schemeClr val="bg1"/>
                </a:solidFill>
                <a:latin typeface="Helvetica Neue" charset="0"/>
                <a:ea typeface="Helvetica Neue" charset="0"/>
                <a:cs typeface="Helvetica Neue" charset="0"/>
              </a:rPr>
              <a:t>IX</a:t>
            </a:r>
          </a:p>
        </p:txBody>
      </p:sp>
      <p:sp>
        <p:nvSpPr>
          <p:cNvPr id="29" name="TextBox 28"/>
          <p:cNvSpPr txBox="1"/>
          <p:nvPr/>
        </p:nvSpPr>
        <p:spPr>
          <a:xfrm>
            <a:off x="7711914" y="2575985"/>
            <a:ext cx="279244" cy="276999"/>
          </a:xfrm>
          <a:prstGeom prst="rect">
            <a:avLst/>
          </a:prstGeom>
          <a:noFill/>
        </p:spPr>
        <p:txBody>
          <a:bodyPr wrap="none" rtlCol="0">
            <a:spAutoFit/>
          </a:bodyPr>
          <a:lstStyle/>
          <a:p>
            <a:r>
              <a:rPr lang="en-US" sz="1200">
                <a:solidFill>
                  <a:schemeClr val="bg1"/>
                </a:solidFill>
                <a:latin typeface="Helvetica Neue" charset="0"/>
                <a:ea typeface="Helvetica Neue" charset="0"/>
                <a:cs typeface="Helvetica Neue" charset="0"/>
              </a:rPr>
              <a:t>X</a:t>
            </a:r>
            <a:endParaRPr lang="en-US" sz="1200" dirty="0">
              <a:solidFill>
                <a:schemeClr val="bg1"/>
              </a:solidFill>
              <a:latin typeface="Helvetica Neue" charset="0"/>
              <a:ea typeface="Helvetica Neue" charset="0"/>
              <a:cs typeface="Helvetica Neue" charset="0"/>
            </a:endParaRPr>
          </a:p>
        </p:txBody>
      </p:sp>
      <p:sp>
        <p:nvSpPr>
          <p:cNvPr id="3" name="TextBox 2" descr="Could 2 intent locks be compatable:?&#10;Page P contains t1 with an S (IS) lock and tuple t2 with an X (IX) lock" title="Handy case to remember"/>
          <p:cNvSpPr txBox="1"/>
          <p:nvPr/>
        </p:nvSpPr>
        <p:spPr>
          <a:xfrm>
            <a:off x="6392407" y="1918970"/>
            <a:ext cx="2667718" cy="461665"/>
          </a:xfrm>
          <a:prstGeom prst="rect">
            <a:avLst/>
          </a:prstGeom>
          <a:noFill/>
        </p:spPr>
        <p:txBody>
          <a:bodyPr wrap="none" rtlCol="0">
            <a:spAutoFit/>
          </a:bodyPr>
          <a:lstStyle/>
          <a:p>
            <a:r>
              <a:rPr lang="en-US" sz="1200" dirty="0">
                <a:latin typeface="Helvetica Neue" charset="0"/>
                <a:ea typeface="Helvetica Neue" charset="0"/>
                <a:cs typeface="Helvetica Neue" charset="0"/>
              </a:rPr>
              <a:t>Handy simple case to remember:</a:t>
            </a:r>
            <a:br>
              <a:rPr lang="en-US" sz="1200" dirty="0">
                <a:latin typeface="Helvetica Neue" charset="0"/>
                <a:ea typeface="Helvetica Neue" charset="0"/>
                <a:cs typeface="Helvetica Neue" charset="0"/>
              </a:rPr>
            </a:br>
            <a:r>
              <a:rPr lang="en-US" sz="1200" dirty="0">
                <a:latin typeface="Helvetica Neue" charset="0"/>
                <a:ea typeface="Helvetica Neue" charset="0"/>
                <a:cs typeface="Helvetica Neue" charset="0"/>
              </a:rPr>
              <a:t>Could 2 intent locks be compatible?</a:t>
            </a:r>
          </a:p>
        </p:txBody>
      </p:sp>
      <p:grpSp>
        <p:nvGrpSpPr>
          <p:cNvPr id="30" name="Group 13" descr="Database -&gt; Tables -&gt; Pages -&gt; Tuples" title="Lienar Hierarchy">
            <a:extLst>
              <a:ext uri="{FF2B5EF4-FFF2-40B4-BE49-F238E27FC236}">
                <a16:creationId xmlns:a16="http://schemas.microsoft.com/office/drawing/2014/main" id="{E94C517B-B368-E84A-97C7-2C7577774F61}"/>
              </a:ext>
            </a:extLst>
          </p:cNvPr>
          <p:cNvGrpSpPr>
            <a:grpSpLocks/>
          </p:cNvGrpSpPr>
          <p:nvPr/>
        </p:nvGrpSpPr>
        <p:grpSpPr bwMode="auto">
          <a:xfrm>
            <a:off x="4870951" y="2855705"/>
            <a:ext cx="1013222" cy="1846660"/>
            <a:chOff x="2582" y="2519"/>
            <a:chExt cx="851" cy="1551"/>
          </a:xfrm>
        </p:grpSpPr>
        <p:sp>
          <p:nvSpPr>
            <p:cNvPr id="31" name="Rectangle 6">
              <a:extLst>
                <a:ext uri="{FF2B5EF4-FFF2-40B4-BE49-F238E27FC236}">
                  <a16:creationId xmlns:a16="http://schemas.microsoft.com/office/drawing/2014/main" id="{A5847177-4F55-704D-9391-4D2F4AF0BFF1}"/>
                </a:ext>
              </a:extLst>
            </p:cNvPr>
            <p:cNvSpPr>
              <a:spLocks noChangeArrowheads="1"/>
            </p:cNvSpPr>
            <p:nvPr/>
          </p:nvSpPr>
          <p:spPr bwMode="auto">
            <a:xfrm>
              <a:off x="2633" y="3779"/>
              <a:ext cx="621"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Tuples</a:t>
              </a:r>
            </a:p>
          </p:txBody>
        </p:sp>
        <p:sp>
          <p:nvSpPr>
            <p:cNvPr id="32" name="Rectangle 7">
              <a:extLst>
                <a:ext uri="{FF2B5EF4-FFF2-40B4-BE49-F238E27FC236}">
                  <a16:creationId xmlns:a16="http://schemas.microsoft.com/office/drawing/2014/main" id="{9A9B67C9-D296-B64C-819F-8A0CC19672A5}"/>
                </a:ext>
              </a:extLst>
            </p:cNvPr>
            <p:cNvSpPr>
              <a:spLocks noChangeArrowheads="1"/>
            </p:cNvSpPr>
            <p:nvPr/>
          </p:nvSpPr>
          <p:spPr bwMode="auto">
            <a:xfrm>
              <a:off x="2678" y="2951"/>
              <a:ext cx="60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Tables</a:t>
              </a:r>
            </a:p>
          </p:txBody>
        </p:sp>
        <p:sp>
          <p:nvSpPr>
            <p:cNvPr id="33" name="Rectangle 8">
              <a:extLst>
                <a:ext uri="{FF2B5EF4-FFF2-40B4-BE49-F238E27FC236}">
                  <a16:creationId xmlns:a16="http://schemas.microsoft.com/office/drawing/2014/main" id="{523DE126-1564-BB47-916F-2A7BAEB1C944}"/>
                </a:ext>
              </a:extLst>
            </p:cNvPr>
            <p:cNvSpPr>
              <a:spLocks noChangeArrowheads="1"/>
            </p:cNvSpPr>
            <p:nvPr/>
          </p:nvSpPr>
          <p:spPr bwMode="auto">
            <a:xfrm>
              <a:off x="2696" y="3311"/>
              <a:ext cx="56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dirty="0">
                  <a:solidFill>
                    <a:schemeClr val="accent1"/>
                  </a:solidFill>
                </a:rPr>
                <a:t>Pages</a:t>
              </a:r>
            </a:p>
          </p:txBody>
        </p:sp>
        <p:sp>
          <p:nvSpPr>
            <p:cNvPr id="34" name="Line 9">
              <a:extLst>
                <a:ext uri="{FF2B5EF4-FFF2-40B4-BE49-F238E27FC236}">
                  <a16:creationId xmlns:a16="http://schemas.microsoft.com/office/drawing/2014/main" id="{8CA2FC9A-0DE3-6140-BC74-EABF63E3A826}"/>
                </a:ext>
              </a:extLst>
            </p:cNvPr>
            <p:cNvSpPr>
              <a:spLocks noChangeShapeType="1"/>
            </p:cNvSpPr>
            <p:nvPr/>
          </p:nvSpPr>
          <p:spPr bwMode="auto">
            <a:xfrm>
              <a:off x="2979" y="3183"/>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35" name="Line 10">
              <a:extLst>
                <a:ext uri="{FF2B5EF4-FFF2-40B4-BE49-F238E27FC236}">
                  <a16:creationId xmlns:a16="http://schemas.microsoft.com/office/drawing/2014/main" id="{82E9EF27-B7A5-EF4F-B7EF-4506291FF3DB}"/>
                </a:ext>
              </a:extLst>
            </p:cNvPr>
            <p:cNvSpPr>
              <a:spLocks noChangeShapeType="1"/>
            </p:cNvSpPr>
            <p:nvPr/>
          </p:nvSpPr>
          <p:spPr bwMode="auto">
            <a:xfrm>
              <a:off x="2985" y="3579"/>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36" name="Rectangle 11">
              <a:extLst>
                <a:ext uri="{FF2B5EF4-FFF2-40B4-BE49-F238E27FC236}">
                  <a16:creationId xmlns:a16="http://schemas.microsoft.com/office/drawing/2014/main" id="{C987BCF7-503F-E14E-AC1E-1768A580F3CC}"/>
                </a:ext>
              </a:extLst>
            </p:cNvPr>
            <p:cNvSpPr>
              <a:spLocks noChangeArrowheads="1"/>
            </p:cNvSpPr>
            <p:nvPr/>
          </p:nvSpPr>
          <p:spPr bwMode="auto">
            <a:xfrm>
              <a:off x="2582" y="2519"/>
              <a:ext cx="851"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Database</a:t>
              </a:r>
            </a:p>
          </p:txBody>
        </p:sp>
        <p:sp>
          <p:nvSpPr>
            <p:cNvPr id="37" name="Line 12">
              <a:extLst>
                <a:ext uri="{FF2B5EF4-FFF2-40B4-BE49-F238E27FC236}">
                  <a16:creationId xmlns:a16="http://schemas.microsoft.com/office/drawing/2014/main" id="{B8286C30-AEB9-AE4B-86BE-612D14E765D0}"/>
                </a:ext>
              </a:extLst>
            </p:cNvPr>
            <p:cNvSpPr>
              <a:spLocks noChangeShapeType="1"/>
            </p:cNvSpPr>
            <p:nvPr/>
          </p:nvSpPr>
          <p:spPr bwMode="auto">
            <a:xfrm>
              <a:off x="2979" y="2751"/>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grpSp>
    </p:spTree>
    <p:extLst>
      <p:ext uri="{BB962C8B-B14F-4D97-AF65-F5344CB8AC3E}">
        <p14:creationId xmlns:p14="http://schemas.microsoft.com/office/powerpoint/2010/main" val="29795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6" grpId="0"/>
      <p:bldP spid="27" grpId="0"/>
      <p:bldP spid="28" grpId="0"/>
      <p:bldP spid="29"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Lock Compatibility Matrix, </a:t>
            </a:r>
            <a:r>
              <a:rPr lang="en-US" dirty="0" err="1"/>
              <a:t>Cont</a:t>
            </a:r>
            <a:endParaRPr lang="en-US" dirty="0"/>
          </a:p>
        </p:txBody>
      </p:sp>
      <p:sp>
        <p:nvSpPr>
          <p:cNvPr id="5" name="Content Placeholder 4">
            <a:extLst>
              <a:ext uri="{FF2B5EF4-FFF2-40B4-BE49-F238E27FC236}">
                <a16:creationId xmlns:a16="http://schemas.microsoft.com/office/drawing/2014/main" id="{7C552B91-7546-3F46-A08C-F186636862B3}"/>
              </a:ext>
            </a:extLst>
          </p:cNvPr>
          <p:cNvSpPr>
            <a:spLocks noGrp="1"/>
          </p:cNvSpPr>
          <p:nvPr>
            <p:ph idx="1"/>
          </p:nvPr>
        </p:nvSpPr>
        <p:spPr/>
        <p:txBody>
          <a:bodyPr/>
          <a:lstStyle/>
          <a:p>
            <a:pPr>
              <a:buClr>
                <a:schemeClr val="tx1"/>
              </a:buClr>
              <a:buSzPct val="75000"/>
              <a:buFont typeface="Arial" charset="0"/>
              <a:buChar char="•"/>
            </a:pPr>
            <a:r>
              <a:rPr lang="en-US" dirty="0"/>
              <a:t>IS – Intent to get S lock(s) at finer granularity.</a:t>
            </a:r>
          </a:p>
          <a:p>
            <a:pPr>
              <a:buClr>
                <a:schemeClr val="tx1"/>
              </a:buClr>
              <a:buSzPct val="75000"/>
              <a:buFont typeface="Arial" charset="0"/>
              <a:buChar char="•"/>
            </a:pPr>
            <a:r>
              <a:rPr lang="en-US" dirty="0"/>
              <a:t>IX – Intent to get X lock(s) at finer granularity.</a:t>
            </a:r>
          </a:p>
          <a:p>
            <a:pPr>
              <a:buClr>
                <a:schemeClr val="tx1"/>
              </a:buClr>
              <a:buSzPct val="75000"/>
              <a:buFont typeface="Arial" charset="0"/>
              <a:buChar char="•"/>
            </a:pPr>
            <a:r>
              <a:rPr lang="en-US" dirty="0"/>
              <a:t>SIX mode: Like S &amp; IX at the same time.</a:t>
            </a:r>
          </a:p>
        </p:txBody>
      </p:sp>
      <p:graphicFrame>
        <p:nvGraphicFramePr>
          <p:cNvPr id="2" name="Table 1" title="Lock Table"/>
          <p:cNvGraphicFramePr>
            <a:graphicFrameLocks noGrp="1"/>
          </p:cNvGraphicFramePr>
          <p:nvPr>
            <p:extLst>
              <p:ext uri="{D42A27DB-BD31-4B8C-83A1-F6EECF244321}">
                <p14:modId xmlns:p14="http://schemas.microsoft.com/office/powerpoint/2010/main" val="3215468858"/>
              </p:ext>
            </p:extLst>
          </p:nvPr>
        </p:nvGraphicFramePr>
        <p:xfrm>
          <a:off x="442783" y="2507675"/>
          <a:ext cx="3759528" cy="2395935"/>
        </p:xfrm>
        <a:graphic>
          <a:graphicData uri="http://schemas.openxmlformats.org/drawingml/2006/table">
            <a:tbl>
              <a:tblPr firstRow="1" firstCol="1" bandRow="1">
                <a:tableStyleId>{5C22544A-7EE6-4342-B048-85BDC9FD1C3A}</a:tableStyleId>
              </a:tblPr>
              <a:tblGrid>
                <a:gridCol w="626588">
                  <a:extLst>
                    <a:ext uri="{9D8B030D-6E8A-4147-A177-3AD203B41FA5}">
                      <a16:colId xmlns:a16="http://schemas.microsoft.com/office/drawing/2014/main" val="20000"/>
                    </a:ext>
                  </a:extLst>
                </a:gridCol>
                <a:gridCol w="626588">
                  <a:extLst>
                    <a:ext uri="{9D8B030D-6E8A-4147-A177-3AD203B41FA5}">
                      <a16:colId xmlns:a16="http://schemas.microsoft.com/office/drawing/2014/main" val="20001"/>
                    </a:ext>
                  </a:extLst>
                </a:gridCol>
                <a:gridCol w="626588">
                  <a:extLst>
                    <a:ext uri="{9D8B030D-6E8A-4147-A177-3AD203B41FA5}">
                      <a16:colId xmlns:a16="http://schemas.microsoft.com/office/drawing/2014/main" val="20002"/>
                    </a:ext>
                  </a:extLst>
                </a:gridCol>
                <a:gridCol w="626588">
                  <a:extLst>
                    <a:ext uri="{9D8B030D-6E8A-4147-A177-3AD203B41FA5}">
                      <a16:colId xmlns:a16="http://schemas.microsoft.com/office/drawing/2014/main" val="20003"/>
                    </a:ext>
                  </a:extLst>
                </a:gridCol>
                <a:gridCol w="626588">
                  <a:extLst>
                    <a:ext uri="{9D8B030D-6E8A-4147-A177-3AD203B41FA5}">
                      <a16:colId xmlns:a16="http://schemas.microsoft.com/office/drawing/2014/main" val="20004"/>
                    </a:ext>
                  </a:extLst>
                </a:gridCol>
                <a:gridCol w="626588">
                  <a:extLst>
                    <a:ext uri="{9D8B030D-6E8A-4147-A177-3AD203B41FA5}">
                      <a16:colId xmlns:a16="http://schemas.microsoft.com/office/drawing/2014/main" val="20005"/>
                    </a:ext>
                  </a:extLst>
                </a:gridCol>
              </a:tblGrid>
              <a:tr h="117999">
                <a:tc>
                  <a:txBody>
                    <a:bodyPr/>
                    <a:lstStyle/>
                    <a:p>
                      <a:endParaRPr lang="en-US" sz="1400" dirty="0"/>
                    </a:p>
                  </a:txBody>
                  <a:tcPr marL="68580" marR="68580" marT="34290" marB="34290" anchor="ctr" anchorCtr="1"/>
                </a:tc>
                <a:tc>
                  <a:txBody>
                    <a:bodyPr/>
                    <a:lstStyle/>
                    <a:p>
                      <a:r>
                        <a:rPr lang="en-US" sz="1400" dirty="0"/>
                        <a:t>IS</a:t>
                      </a:r>
                    </a:p>
                  </a:txBody>
                  <a:tcPr marL="68580" marR="68580" marT="34290" marB="34290" anchor="ctr" anchorCtr="1"/>
                </a:tc>
                <a:tc>
                  <a:txBody>
                    <a:bodyPr/>
                    <a:lstStyle/>
                    <a:p>
                      <a:r>
                        <a:rPr lang="en-US" sz="1400" dirty="0"/>
                        <a:t>IX</a:t>
                      </a:r>
                    </a:p>
                  </a:txBody>
                  <a:tcPr marL="68580" marR="68580" marT="34290" marB="34290" anchor="ctr" anchorCtr="1"/>
                </a:tc>
                <a:tc>
                  <a:txBody>
                    <a:bodyPr/>
                    <a:lstStyle/>
                    <a:p>
                      <a:r>
                        <a:rPr lang="en-US" sz="1400" dirty="0"/>
                        <a:t>S</a:t>
                      </a:r>
                    </a:p>
                  </a:txBody>
                  <a:tcPr marL="68580" marR="68580" marT="34290" marB="34290" anchor="ctr" anchorCtr="1"/>
                </a:tc>
                <a:tc>
                  <a:txBody>
                    <a:bodyPr/>
                    <a:lstStyle/>
                    <a:p>
                      <a:r>
                        <a:rPr lang="en-US" sz="1400" dirty="0"/>
                        <a:t>SIX</a:t>
                      </a:r>
                    </a:p>
                  </a:txBody>
                  <a:tcPr marL="68580" marR="68580" marT="34290" marB="34290" anchor="ctr" anchorCtr="1"/>
                </a:tc>
                <a:tc>
                  <a:txBody>
                    <a:bodyPr/>
                    <a:lstStyle/>
                    <a:p>
                      <a:r>
                        <a:rPr lang="en-US" sz="1400" dirty="0"/>
                        <a:t>X</a:t>
                      </a:r>
                    </a:p>
                  </a:txBody>
                  <a:tcPr marL="68580" marR="68580" marT="34290" marB="34290" anchor="ctr" anchorCtr="1"/>
                </a:tc>
                <a:extLst>
                  <a:ext uri="{0D108BD9-81ED-4DB2-BD59-A6C34878D82A}">
                    <a16:rowId xmlns:a16="http://schemas.microsoft.com/office/drawing/2014/main" val="10000"/>
                  </a:ext>
                </a:extLst>
              </a:tr>
              <a:tr h="422799">
                <a:tc>
                  <a:txBody>
                    <a:bodyPr/>
                    <a:lstStyle/>
                    <a:p>
                      <a:r>
                        <a:rPr lang="en-US" sz="1400" dirty="0"/>
                        <a:t>IS</a:t>
                      </a:r>
                    </a:p>
                  </a:txBody>
                  <a:tcPr marL="68580" marR="68580" marT="34290" marB="34290" anchor="ctr" anchorCtr="1"/>
                </a:tc>
                <a:tc>
                  <a:txBody>
                    <a:bodyPr/>
                    <a:lstStyle/>
                    <a:p>
                      <a:r>
                        <a:rPr lang="en-US" sz="1400" dirty="0">
                          <a:solidFill>
                            <a:schemeClr val="tx2"/>
                          </a:solidFill>
                        </a:rPr>
                        <a:t>true</a:t>
                      </a:r>
                    </a:p>
                  </a:txBody>
                  <a:tcPr marL="68580" marR="68580" marT="34290" marB="34290" anchor="ctr" anchorCtr="1"/>
                </a:tc>
                <a:tc>
                  <a:txBody>
                    <a:bodyPr/>
                    <a:lstStyle/>
                    <a:p>
                      <a:r>
                        <a:rPr lang="en-US" sz="1400" dirty="0">
                          <a:solidFill>
                            <a:schemeClr val="tx2"/>
                          </a:solidFill>
                        </a:rPr>
                        <a:t>true</a:t>
                      </a:r>
                    </a:p>
                  </a:txBody>
                  <a:tcPr marL="68580" marR="68580" marT="34290" marB="34290" anchor="ctr" anchorCtr="1"/>
                </a:tc>
                <a:tc>
                  <a:txBody>
                    <a:bodyPr/>
                    <a:lstStyle/>
                    <a:p>
                      <a:r>
                        <a:rPr lang="en-US" sz="1400" dirty="0">
                          <a:solidFill>
                            <a:schemeClr val="tx2"/>
                          </a:solidFill>
                        </a:rPr>
                        <a:t>true</a:t>
                      </a:r>
                    </a:p>
                  </a:txBody>
                  <a:tcPr marL="68580" marR="68580" marT="34290" marB="34290" anchor="ctr" anchorCtr="1"/>
                </a:tc>
                <a:tc>
                  <a:txBody>
                    <a:bodyPr/>
                    <a:lstStyle/>
                    <a:p>
                      <a:r>
                        <a:rPr lang="en-US" sz="1400" dirty="0">
                          <a:solidFill>
                            <a:schemeClr val="tx2"/>
                          </a:solidFill>
                        </a:rPr>
                        <a:t>true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extLst>
                  <a:ext uri="{0D108BD9-81ED-4DB2-BD59-A6C34878D82A}">
                    <a16:rowId xmlns:a16="http://schemas.microsoft.com/office/drawing/2014/main" val="10001"/>
                  </a:ext>
                </a:extLst>
              </a:tr>
              <a:tr h="422799">
                <a:tc>
                  <a:txBody>
                    <a:bodyPr/>
                    <a:lstStyle/>
                    <a:p>
                      <a:r>
                        <a:rPr lang="en-US" sz="1400" dirty="0"/>
                        <a:t>IX</a:t>
                      </a:r>
                    </a:p>
                  </a:txBody>
                  <a:tcPr marL="68580" marR="68580" marT="34290" marB="34290" anchor="ctr" anchorCtr="1"/>
                </a:tc>
                <a:tc>
                  <a:txBody>
                    <a:bodyPr/>
                    <a:lstStyle/>
                    <a:p>
                      <a:r>
                        <a:rPr lang="en-US" sz="1400" dirty="0">
                          <a:solidFill>
                            <a:schemeClr val="tx1"/>
                          </a:solidFill>
                        </a:rPr>
                        <a:t>true</a:t>
                      </a:r>
                    </a:p>
                  </a:txBody>
                  <a:tcPr marL="68580" marR="68580" marT="34290" marB="34290" anchor="ctr" anchorCtr="1"/>
                </a:tc>
                <a:tc>
                  <a:txBody>
                    <a:bodyPr/>
                    <a:lstStyle/>
                    <a:p>
                      <a:r>
                        <a:rPr lang="en-US" sz="1400" dirty="0">
                          <a:solidFill>
                            <a:schemeClr val="tx2"/>
                          </a:solidFill>
                        </a:rPr>
                        <a:t>true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extLst>
                  <a:ext uri="{0D108BD9-81ED-4DB2-BD59-A6C34878D82A}">
                    <a16:rowId xmlns:a16="http://schemas.microsoft.com/office/drawing/2014/main" val="10002"/>
                  </a:ext>
                </a:extLst>
              </a:tr>
              <a:tr h="422799">
                <a:tc>
                  <a:txBody>
                    <a:bodyPr/>
                    <a:lstStyle/>
                    <a:p>
                      <a:r>
                        <a:rPr lang="en-US" sz="1400" dirty="0"/>
                        <a:t>S</a:t>
                      </a:r>
                    </a:p>
                  </a:txBody>
                  <a:tcPr marL="68580" marR="68580" marT="34290" marB="34290" anchor="ctr" anchorCtr="1"/>
                </a:tc>
                <a:tc>
                  <a:txBody>
                    <a:bodyPr/>
                    <a:lstStyle/>
                    <a:p>
                      <a:r>
                        <a:rPr lang="en-US" sz="1400" dirty="0">
                          <a:solidFill>
                            <a:schemeClr val="tx1"/>
                          </a:solidFill>
                        </a:rPr>
                        <a:t>true</a:t>
                      </a:r>
                    </a:p>
                  </a:txBody>
                  <a:tcPr marL="68580" marR="68580" marT="34290" marB="34290" anchor="ctr" anchorCtr="1"/>
                </a:tc>
                <a:tc>
                  <a:txBody>
                    <a:bodyPr/>
                    <a:lstStyle/>
                    <a:p>
                      <a:r>
                        <a:rPr lang="en-US" sz="1400" dirty="0">
                          <a:solidFill>
                            <a:schemeClr val="tx1"/>
                          </a:solidFill>
                        </a:rPr>
                        <a:t>false</a:t>
                      </a:r>
                    </a:p>
                  </a:txBody>
                  <a:tcPr marL="68580" marR="68580" marT="34290" marB="34290" anchor="ctr" anchorCtr="1"/>
                </a:tc>
                <a:tc>
                  <a:txBody>
                    <a:bodyPr/>
                    <a:lstStyle/>
                    <a:p>
                      <a:r>
                        <a:rPr lang="en-US" sz="1400" dirty="0">
                          <a:solidFill>
                            <a:schemeClr val="tx2"/>
                          </a:solidFill>
                        </a:rPr>
                        <a:t>true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extLst>
                  <a:ext uri="{0D108BD9-81ED-4DB2-BD59-A6C34878D82A}">
                    <a16:rowId xmlns:a16="http://schemas.microsoft.com/office/drawing/2014/main" val="10003"/>
                  </a:ext>
                </a:extLst>
              </a:tr>
              <a:tr h="422799">
                <a:tc>
                  <a:txBody>
                    <a:bodyPr/>
                    <a:lstStyle/>
                    <a:p>
                      <a:r>
                        <a:rPr lang="en-US" sz="1400" dirty="0"/>
                        <a:t>SIX</a:t>
                      </a:r>
                    </a:p>
                  </a:txBody>
                  <a:tcPr marL="68580" marR="68580" marT="34290" marB="34290" anchor="ctr" anchorCtr="1"/>
                </a:tc>
                <a:tc>
                  <a:txBody>
                    <a:bodyPr/>
                    <a:lstStyle/>
                    <a:p>
                      <a:r>
                        <a:rPr lang="en-US" sz="1400" dirty="0">
                          <a:solidFill>
                            <a:schemeClr val="tx1"/>
                          </a:solidFill>
                        </a:rPr>
                        <a:t>true</a:t>
                      </a:r>
                    </a:p>
                  </a:txBody>
                  <a:tcPr marL="68580" marR="68580" marT="34290" marB="34290" anchor="ctr" anchorCtr="1"/>
                </a:tc>
                <a:tc>
                  <a:txBody>
                    <a:bodyPr/>
                    <a:lstStyle/>
                    <a:p>
                      <a:r>
                        <a:rPr lang="en-US" sz="1400" dirty="0">
                          <a:solidFill>
                            <a:schemeClr val="tx1"/>
                          </a:solidFill>
                        </a:rPr>
                        <a:t>false</a:t>
                      </a:r>
                    </a:p>
                  </a:txBody>
                  <a:tcPr marL="68580" marR="68580" marT="34290" marB="34290" anchor="ctr" anchorCtr="1"/>
                </a:tc>
                <a:tc>
                  <a:txBody>
                    <a:bodyPr/>
                    <a:lstStyle/>
                    <a:p>
                      <a:r>
                        <a:rPr lang="en-US" sz="1400" dirty="0">
                          <a:solidFill>
                            <a:schemeClr val="tx1"/>
                          </a:solidFill>
                        </a:rPr>
                        <a:t>false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extLst>
                  <a:ext uri="{0D108BD9-81ED-4DB2-BD59-A6C34878D82A}">
                    <a16:rowId xmlns:a16="http://schemas.microsoft.com/office/drawing/2014/main" val="10004"/>
                  </a:ext>
                </a:extLst>
              </a:tr>
              <a:tr h="422799">
                <a:tc>
                  <a:txBody>
                    <a:bodyPr/>
                    <a:lstStyle/>
                    <a:p>
                      <a:r>
                        <a:rPr lang="en-US" sz="1400" dirty="0"/>
                        <a:t>X</a:t>
                      </a:r>
                    </a:p>
                  </a:txBody>
                  <a:tcPr marL="68580" marR="68580" marT="34290" marB="34290" anchor="ctr" anchorCtr="1"/>
                </a:tc>
                <a:tc>
                  <a:txBody>
                    <a:bodyPr/>
                    <a:lstStyle/>
                    <a:p>
                      <a:r>
                        <a:rPr lang="en-US" sz="1400" dirty="0">
                          <a:solidFill>
                            <a:schemeClr val="tx1"/>
                          </a:solidFill>
                        </a:rPr>
                        <a:t>false</a:t>
                      </a:r>
                    </a:p>
                  </a:txBody>
                  <a:tcPr marL="68580" marR="68580" marT="34290" marB="34290" anchor="ctr" anchorCtr="1"/>
                </a:tc>
                <a:tc>
                  <a:txBody>
                    <a:bodyPr/>
                    <a:lstStyle/>
                    <a:p>
                      <a:r>
                        <a:rPr lang="en-US" sz="1400" dirty="0">
                          <a:solidFill>
                            <a:schemeClr val="tx1"/>
                          </a:solidFill>
                        </a:rPr>
                        <a:t>false</a:t>
                      </a:r>
                    </a:p>
                  </a:txBody>
                  <a:tcPr marL="68580" marR="68580" marT="34290" marB="34290" anchor="ctr" anchorCtr="1"/>
                </a:tc>
                <a:tc>
                  <a:txBody>
                    <a:bodyPr/>
                    <a:lstStyle/>
                    <a:p>
                      <a:r>
                        <a:rPr lang="en-US" sz="1400" dirty="0">
                          <a:solidFill>
                            <a:schemeClr val="tx1"/>
                          </a:solidFill>
                        </a:rPr>
                        <a:t>false</a:t>
                      </a:r>
                    </a:p>
                  </a:txBody>
                  <a:tcPr marL="68580" marR="68580" marT="34290" marB="34290" anchor="ctr" anchorCtr="1"/>
                </a:tc>
                <a:tc>
                  <a:txBody>
                    <a:bodyPr/>
                    <a:lstStyle/>
                    <a:p>
                      <a:r>
                        <a:rPr lang="en-US" sz="1400" dirty="0">
                          <a:solidFill>
                            <a:schemeClr val="tx1"/>
                          </a:solidFill>
                        </a:rPr>
                        <a:t>false</a:t>
                      </a:r>
                    </a:p>
                  </a:txBody>
                  <a:tcPr marL="68580" marR="68580" marT="34290" marB="34290" anchor="ctr" anchorCtr="1"/>
                </a:tc>
                <a:tc>
                  <a:txBody>
                    <a:bodyPr/>
                    <a:lstStyle/>
                    <a:p>
                      <a:r>
                        <a:rPr lang="en-US" sz="1400" dirty="0">
                          <a:solidFill>
                            <a:schemeClr val="tx2"/>
                          </a:solidFill>
                        </a:rPr>
                        <a:t>false</a:t>
                      </a:r>
                    </a:p>
                  </a:txBody>
                  <a:tcPr marL="68580" marR="68580" marT="34290" marB="34290" anchor="ctr" anchorCtr="1"/>
                </a:tc>
                <a:extLst>
                  <a:ext uri="{0D108BD9-81ED-4DB2-BD59-A6C34878D82A}">
                    <a16:rowId xmlns:a16="http://schemas.microsoft.com/office/drawing/2014/main" val="10005"/>
                  </a:ext>
                </a:extLst>
              </a:tr>
            </a:tbl>
          </a:graphicData>
        </a:graphic>
      </p:graphicFrame>
      <p:sp>
        <p:nvSpPr>
          <p:cNvPr id="22" name="Rectangle 21" descr="Could 2 intent locks be compatable:?&#10;Page P contains t1 with an S (IS) lock and tuple t2 with an X (IX) lock" title="Handy case to remember"/>
          <p:cNvSpPr/>
          <p:nvPr/>
        </p:nvSpPr>
        <p:spPr bwMode="auto">
          <a:xfrm>
            <a:off x="6423102" y="2373746"/>
            <a:ext cx="2263698" cy="446049"/>
          </a:xfrm>
          <a:prstGeom prst="rect">
            <a:avLst/>
          </a:prstGeom>
          <a:solidFill>
            <a:srgbClr val="3366FF"/>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chemeClr val="bg1"/>
                </a:solidFill>
                <a:latin typeface="Helvetica Neue" charset="0"/>
              </a:rPr>
              <a:t>Page P</a:t>
            </a:r>
          </a:p>
        </p:txBody>
      </p:sp>
      <p:sp>
        <p:nvSpPr>
          <p:cNvPr id="24" name="Rectangle 23"/>
          <p:cNvSpPr/>
          <p:nvPr/>
        </p:nvSpPr>
        <p:spPr bwMode="auto">
          <a:xfrm>
            <a:off x="7164658" y="2396049"/>
            <a:ext cx="780586" cy="200722"/>
          </a:xfrm>
          <a:prstGeom prst="rect">
            <a:avLst/>
          </a:prstGeom>
          <a:solidFill>
            <a:schemeClr val="tx1">
              <a:lumMod val="20000"/>
              <a:lumOff val="80000"/>
            </a:schemeClr>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rgbClr val="000000"/>
                </a:solidFill>
                <a:latin typeface="Helvetica Neue" charset="0"/>
              </a:rPr>
              <a:t>Tuple t1</a:t>
            </a:r>
          </a:p>
        </p:txBody>
      </p:sp>
      <p:sp>
        <p:nvSpPr>
          <p:cNvPr id="25" name="Rectangle 24"/>
          <p:cNvSpPr/>
          <p:nvPr/>
        </p:nvSpPr>
        <p:spPr bwMode="auto">
          <a:xfrm>
            <a:off x="7164658" y="2607922"/>
            <a:ext cx="780586" cy="200722"/>
          </a:xfrm>
          <a:prstGeom prst="rect">
            <a:avLst/>
          </a:prstGeom>
          <a:solidFill>
            <a:schemeClr val="tx1">
              <a:lumMod val="20000"/>
              <a:lumOff val="80000"/>
            </a:schemeClr>
          </a:solidFill>
          <a:ln w="1270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tabLst>
                <a:tab pos="266700" algn="l"/>
                <a:tab pos="533400" algn="l"/>
                <a:tab pos="800100" algn="l"/>
                <a:tab pos="1066800" algn="l"/>
                <a:tab pos="1333500" algn="l"/>
                <a:tab pos="1600200" algn="l"/>
                <a:tab pos="1866900" algn="l"/>
                <a:tab pos="2133600" algn="l"/>
                <a:tab pos="2400300" algn="l"/>
                <a:tab pos="2667000" algn="l"/>
                <a:tab pos="2933700" algn="l"/>
                <a:tab pos="3200400" algn="l"/>
              </a:tabLst>
            </a:pPr>
            <a:r>
              <a:rPr lang="en-US" sz="900" dirty="0">
                <a:solidFill>
                  <a:srgbClr val="000000"/>
                </a:solidFill>
                <a:latin typeface="Helvetica Neue" charset="0"/>
              </a:rPr>
              <a:t>Tuple t2</a:t>
            </a:r>
          </a:p>
        </p:txBody>
      </p:sp>
      <p:sp>
        <p:nvSpPr>
          <p:cNvPr id="26" name="TextBox 25"/>
          <p:cNvSpPr txBox="1"/>
          <p:nvPr/>
        </p:nvSpPr>
        <p:spPr>
          <a:xfrm>
            <a:off x="8399778" y="2368703"/>
            <a:ext cx="324128" cy="276999"/>
          </a:xfrm>
          <a:prstGeom prst="rect">
            <a:avLst/>
          </a:prstGeom>
          <a:noFill/>
        </p:spPr>
        <p:txBody>
          <a:bodyPr wrap="none" rtlCol="0">
            <a:spAutoFit/>
          </a:bodyPr>
          <a:lstStyle/>
          <a:p>
            <a:r>
              <a:rPr lang="en-US" sz="1200" dirty="0">
                <a:solidFill>
                  <a:srgbClr val="FF0000"/>
                </a:solidFill>
                <a:latin typeface="Helvetica Neue" charset="0"/>
                <a:ea typeface="Helvetica Neue" charset="0"/>
                <a:cs typeface="Helvetica Neue" charset="0"/>
              </a:rPr>
              <a:t>IS</a:t>
            </a:r>
            <a:endParaRPr lang="en-US" dirty="0">
              <a:solidFill>
                <a:srgbClr val="FF0000"/>
              </a:solidFill>
              <a:latin typeface="Helvetica Neue" charset="0"/>
              <a:ea typeface="Helvetica Neue" charset="0"/>
              <a:cs typeface="Helvetica Neue" charset="0"/>
            </a:endParaRPr>
          </a:p>
        </p:txBody>
      </p:sp>
      <p:sp>
        <p:nvSpPr>
          <p:cNvPr id="27" name="TextBox 26"/>
          <p:cNvSpPr txBox="1"/>
          <p:nvPr/>
        </p:nvSpPr>
        <p:spPr>
          <a:xfrm>
            <a:off x="7705902" y="2368703"/>
            <a:ext cx="284052" cy="276999"/>
          </a:xfrm>
          <a:prstGeom prst="rect">
            <a:avLst/>
          </a:prstGeom>
          <a:noFill/>
        </p:spPr>
        <p:txBody>
          <a:bodyPr wrap="none" rtlCol="0">
            <a:spAutoFit/>
          </a:bodyPr>
          <a:lstStyle/>
          <a:p>
            <a:r>
              <a:rPr lang="en-US" sz="1200" dirty="0">
                <a:solidFill>
                  <a:srgbClr val="FF0000"/>
                </a:solidFill>
                <a:latin typeface="Helvetica Neue" charset="0"/>
                <a:ea typeface="Helvetica Neue" charset="0"/>
                <a:cs typeface="Helvetica Neue" charset="0"/>
              </a:rPr>
              <a:t>S</a:t>
            </a:r>
            <a:endParaRPr lang="en-US" dirty="0">
              <a:solidFill>
                <a:srgbClr val="FF0000"/>
              </a:solidFill>
              <a:latin typeface="Helvetica Neue" charset="0"/>
              <a:ea typeface="Helvetica Neue" charset="0"/>
              <a:cs typeface="Helvetica Neue" charset="0"/>
            </a:endParaRPr>
          </a:p>
        </p:txBody>
      </p:sp>
      <p:sp>
        <p:nvSpPr>
          <p:cNvPr id="28" name="TextBox 27"/>
          <p:cNvSpPr txBox="1"/>
          <p:nvPr/>
        </p:nvSpPr>
        <p:spPr>
          <a:xfrm>
            <a:off x="8398208" y="2554728"/>
            <a:ext cx="319318" cy="276999"/>
          </a:xfrm>
          <a:prstGeom prst="rect">
            <a:avLst/>
          </a:prstGeom>
          <a:noFill/>
        </p:spPr>
        <p:txBody>
          <a:bodyPr wrap="none" rtlCol="0">
            <a:spAutoFit/>
          </a:bodyPr>
          <a:lstStyle/>
          <a:p>
            <a:r>
              <a:rPr lang="en-US" sz="1200" dirty="0">
                <a:solidFill>
                  <a:schemeClr val="bg1"/>
                </a:solidFill>
                <a:latin typeface="Helvetica Neue" charset="0"/>
                <a:ea typeface="Helvetica Neue" charset="0"/>
                <a:cs typeface="Helvetica Neue" charset="0"/>
              </a:rPr>
              <a:t>IX</a:t>
            </a:r>
          </a:p>
        </p:txBody>
      </p:sp>
      <p:sp>
        <p:nvSpPr>
          <p:cNvPr id="29" name="TextBox 28"/>
          <p:cNvSpPr txBox="1"/>
          <p:nvPr/>
        </p:nvSpPr>
        <p:spPr>
          <a:xfrm>
            <a:off x="7711914" y="2575985"/>
            <a:ext cx="279244" cy="276999"/>
          </a:xfrm>
          <a:prstGeom prst="rect">
            <a:avLst/>
          </a:prstGeom>
          <a:noFill/>
        </p:spPr>
        <p:txBody>
          <a:bodyPr wrap="none" rtlCol="0">
            <a:spAutoFit/>
          </a:bodyPr>
          <a:lstStyle/>
          <a:p>
            <a:r>
              <a:rPr lang="en-US" sz="1200">
                <a:solidFill>
                  <a:schemeClr val="bg1"/>
                </a:solidFill>
                <a:latin typeface="Helvetica Neue" charset="0"/>
                <a:ea typeface="Helvetica Neue" charset="0"/>
                <a:cs typeface="Helvetica Neue" charset="0"/>
              </a:rPr>
              <a:t>X</a:t>
            </a:r>
            <a:endParaRPr lang="en-US" sz="1200" dirty="0">
              <a:solidFill>
                <a:schemeClr val="bg1"/>
              </a:solidFill>
              <a:latin typeface="Helvetica Neue" charset="0"/>
              <a:ea typeface="Helvetica Neue" charset="0"/>
              <a:cs typeface="Helvetica Neue" charset="0"/>
            </a:endParaRPr>
          </a:p>
        </p:txBody>
      </p:sp>
      <p:sp>
        <p:nvSpPr>
          <p:cNvPr id="3" name="TextBox 2" descr="Could 2 intent locks be compatable:?&#10;Page P contains t1 with an S (IS) lock and tuple t2 with an X (IX) lock" title="Handy case to remember"/>
          <p:cNvSpPr txBox="1"/>
          <p:nvPr/>
        </p:nvSpPr>
        <p:spPr>
          <a:xfrm>
            <a:off x="6392407" y="1918970"/>
            <a:ext cx="2667718" cy="461665"/>
          </a:xfrm>
          <a:prstGeom prst="rect">
            <a:avLst/>
          </a:prstGeom>
          <a:noFill/>
        </p:spPr>
        <p:txBody>
          <a:bodyPr wrap="none" rtlCol="0">
            <a:spAutoFit/>
          </a:bodyPr>
          <a:lstStyle/>
          <a:p>
            <a:r>
              <a:rPr lang="en-US" sz="1200" dirty="0">
                <a:latin typeface="Helvetica Neue" charset="0"/>
                <a:ea typeface="Helvetica Neue" charset="0"/>
                <a:cs typeface="Helvetica Neue" charset="0"/>
              </a:rPr>
              <a:t>Handy simple case to remember:</a:t>
            </a:r>
            <a:br>
              <a:rPr lang="en-US" sz="1200" dirty="0">
                <a:latin typeface="Helvetica Neue" charset="0"/>
                <a:ea typeface="Helvetica Neue" charset="0"/>
                <a:cs typeface="Helvetica Neue" charset="0"/>
              </a:rPr>
            </a:br>
            <a:r>
              <a:rPr lang="en-US" sz="1200" dirty="0">
                <a:latin typeface="Helvetica Neue" charset="0"/>
                <a:ea typeface="Helvetica Neue" charset="0"/>
                <a:cs typeface="Helvetica Neue" charset="0"/>
              </a:rPr>
              <a:t>Could 2 intent locks be compatible?</a:t>
            </a:r>
          </a:p>
        </p:txBody>
      </p:sp>
      <p:grpSp>
        <p:nvGrpSpPr>
          <p:cNvPr id="30" name="Group 13" descr="Database -&gt; Tables -&gt; Pages -&gt; Tuples" title="Lienar Hierarchy">
            <a:extLst>
              <a:ext uri="{FF2B5EF4-FFF2-40B4-BE49-F238E27FC236}">
                <a16:creationId xmlns:a16="http://schemas.microsoft.com/office/drawing/2014/main" id="{E94C517B-B368-E84A-97C7-2C7577774F61}"/>
              </a:ext>
            </a:extLst>
          </p:cNvPr>
          <p:cNvGrpSpPr>
            <a:grpSpLocks/>
          </p:cNvGrpSpPr>
          <p:nvPr/>
        </p:nvGrpSpPr>
        <p:grpSpPr bwMode="auto">
          <a:xfrm>
            <a:off x="4870951" y="2855705"/>
            <a:ext cx="1013222" cy="1846660"/>
            <a:chOff x="2582" y="2519"/>
            <a:chExt cx="851" cy="1551"/>
          </a:xfrm>
        </p:grpSpPr>
        <p:sp>
          <p:nvSpPr>
            <p:cNvPr id="31" name="Rectangle 6">
              <a:extLst>
                <a:ext uri="{FF2B5EF4-FFF2-40B4-BE49-F238E27FC236}">
                  <a16:creationId xmlns:a16="http://schemas.microsoft.com/office/drawing/2014/main" id="{A5847177-4F55-704D-9391-4D2F4AF0BFF1}"/>
                </a:ext>
              </a:extLst>
            </p:cNvPr>
            <p:cNvSpPr>
              <a:spLocks noChangeArrowheads="1"/>
            </p:cNvSpPr>
            <p:nvPr/>
          </p:nvSpPr>
          <p:spPr bwMode="auto">
            <a:xfrm>
              <a:off x="2633" y="3779"/>
              <a:ext cx="621"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Tuples</a:t>
              </a:r>
            </a:p>
          </p:txBody>
        </p:sp>
        <p:sp>
          <p:nvSpPr>
            <p:cNvPr id="32" name="Rectangle 7">
              <a:extLst>
                <a:ext uri="{FF2B5EF4-FFF2-40B4-BE49-F238E27FC236}">
                  <a16:creationId xmlns:a16="http://schemas.microsoft.com/office/drawing/2014/main" id="{9A9B67C9-D296-B64C-819F-8A0CC19672A5}"/>
                </a:ext>
              </a:extLst>
            </p:cNvPr>
            <p:cNvSpPr>
              <a:spLocks noChangeArrowheads="1"/>
            </p:cNvSpPr>
            <p:nvPr/>
          </p:nvSpPr>
          <p:spPr bwMode="auto">
            <a:xfrm>
              <a:off x="2678" y="2951"/>
              <a:ext cx="60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Tables</a:t>
              </a:r>
            </a:p>
          </p:txBody>
        </p:sp>
        <p:sp>
          <p:nvSpPr>
            <p:cNvPr id="33" name="Rectangle 8">
              <a:extLst>
                <a:ext uri="{FF2B5EF4-FFF2-40B4-BE49-F238E27FC236}">
                  <a16:creationId xmlns:a16="http://schemas.microsoft.com/office/drawing/2014/main" id="{523DE126-1564-BB47-916F-2A7BAEB1C944}"/>
                </a:ext>
              </a:extLst>
            </p:cNvPr>
            <p:cNvSpPr>
              <a:spLocks noChangeArrowheads="1"/>
            </p:cNvSpPr>
            <p:nvPr/>
          </p:nvSpPr>
          <p:spPr bwMode="auto">
            <a:xfrm>
              <a:off x="2696" y="3311"/>
              <a:ext cx="56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dirty="0">
                  <a:solidFill>
                    <a:schemeClr val="accent1"/>
                  </a:solidFill>
                </a:rPr>
                <a:t>Pages</a:t>
              </a:r>
            </a:p>
          </p:txBody>
        </p:sp>
        <p:sp>
          <p:nvSpPr>
            <p:cNvPr id="34" name="Line 9">
              <a:extLst>
                <a:ext uri="{FF2B5EF4-FFF2-40B4-BE49-F238E27FC236}">
                  <a16:creationId xmlns:a16="http://schemas.microsoft.com/office/drawing/2014/main" id="{8CA2FC9A-0DE3-6140-BC74-EABF63E3A826}"/>
                </a:ext>
              </a:extLst>
            </p:cNvPr>
            <p:cNvSpPr>
              <a:spLocks noChangeShapeType="1"/>
            </p:cNvSpPr>
            <p:nvPr/>
          </p:nvSpPr>
          <p:spPr bwMode="auto">
            <a:xfrm>
              <a:off x="2979" y="3183"/>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35" name="Line 10">
              <a:extLst>
                <a:ext uri="{FF2B5EF4-FFF2-40B4-BE49-F238E27FC236}">
                  <a16:creationId xmlns:a16="http://schemas.microsoft.com/office/drawing/2014/main" id="{82E9EF27-B7A5-EF4F-B7EF-4506291FF3DB}"/>
                </a:ext>
              </a:extLst>
            </p:cNvPr>
            <p:cNvSpPr>
              <a:spLocks noChangeShapeType="1"/>
            </p:cNvSpPr>
            <p:nvPr/>
          </p:nvSpPr>
          <p:spPr bwMode="auto">
            <a:xfrm>
              <a:off x="2985" y="3579"/>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sp>
          <p:nvSpPr>
            <p:cNvPr id="36" name="Rectangle 11">
              <a:extLst>
                <a:ext uri="{FF2B5EF4-FFF2-40B4-BE49-F238E27FC236}">
                  <a16:creationId xmlns:a16="http://schemas.microsoft.com/office/drawing/2014/main" id="{C987BCF7-503F-E14E-AC1E-1768A580F3CC}"/>
                </a:ext>
              </a:extLst>
            </p:cNvPr>
            <p:cNvSpPr>
              <a:spLocks noChangeArrowheads="1"/>
            </p:cNvSpPr>
            <p:nvPr/>
          </p:nvSpPr>
          <p:spPr bwMode="auto">
            <a:xfrm>
              <a:off x="2582" y="2519"/>
              <a:ext cx="851"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a:solidFill>
                    <a:schemeClr val="accent1"/>
                  </a:solidFill>
                </a:rPr>
                <a:t>Database</a:t>
              </a:r>
            </a:p>
          </p:txBody>
        </p:sp>
        <p:sp>
          <p:nvSpPr>
            <p:cNvPr id="37" name="Line 12">
              <a:extLst>
                <a:ext uri="{FF2B5EF4-FFF2-40B4-BE49-F238E27FC236}">
                  <a16:creationId xmlns:a16="http://schemas.microsoft.com/office/drawing/2014/main" id="{B8286C30-AEB9-AE4B-86BE-612D14E765D0}"/>
                </a:ext>
              </a:extLst>
            </p:cNvPr>
            <p:cNvSpPr>
              <a:spLocks noChangeShapeType="1"/>
            </p:cNvSpPr>
            <p:nvPr/>
          </p:nvSpPr>
          <p:spPr bwMode="auto">
            <a:xfrm>
              <a:off x="2979" y="2751"/>
              <a:ext cx="0" cy="24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sz="1350"/>
            </a:p>
          </p:txBody>
        </p:sp>
      </p:grpSp>
    </p:spTree>
    <p:extLst>
      <p:ext uri="{BB962C8B-B14F-4D97-AF65-F5344CB8AC3E}">
        <p14:creationId xmlns:p14="http://schemas.microsoft.com/office/powerpoint/2010/main" val="362706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6" grpId="0"/>
      <p:bldP spid="27" grpId="0"/>
      <p:bldP spid="28" grpId="0"/>
      <p:bldP spid="29" grpId="0"/>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Real-World Lock Compatibility Matrix</a:t>
            </a:r>
            <a:endParaRPr lang="en-US" dirty="0"/>
          </a:p>
        </p:txBody>
      </p:sp>
      <p:pic>
        <p:nvPicPr>
          <p:cNvPr id="4" name="Content Placeholder 3" descr="Hundreds of cells in a matrix outlining a real work lock compatability situation" title="Huge Lock Compatability Matrix"/>
          <p:cNvPicPr>
            <a:picLocks noGrp="1" noChangeAspect="1"/>
          </p:cNvPicPr>
          <p:nvPr>
            <p:ph idx="1"/>
          </p:nvPr>
        </p:nvPicPr>
        <p:blipFill>
          <a:blip r:embed="rId2"/>
          <a:stretch>
            <a:fillRect/>
          </a:stretch>
        </p:blipFill>
        <p:spPr>
          <a:xfrm>
            <a:off x="990600" y="1267358"/>
            <a:ext cx="4165600" cy="3327400"/>
          </a:xfrm>
        </p:spPr>
      </p:pic>
      <p:sp>
        <p:nvSpPr>
          <p:cNvPr id="6" name="Rectangle 5" descr="From MS SQL Server &#10;https://technet.microsoft.com/en-us/library/jj856598(v=sql.110).aspx&#10;" title="Citation"/>
          <p:cNvSpPr/>
          <p:nvPr/>
        </p:nvSpPr>
        <p:spPr>
          <a:xfrm>
            <a:off x="3953628" y="4554123"/>
            <a:ext cx="2280108" cy="553998"/>
          </a:xfrm>
          <a:prstGeom prst="rect">
            <a:avLst/>
          </a:prstGeom>
        </p:spPr>
        <p:txBody>
          <a:bodyPr wrap="square">
            <a:spAutoFit/>
          </a:bodyPr>
          <a:lstStyle/>
          <a:p>
            <a:r>
              <a:rPr lang="en-US" sz="1200" dirty="0">
                <a:solidFill>
                  <a:srgbClr val="14405C"/>
                </a:solidFill>
              </a:rPr>
              <a:t>From MS SQL Server </a:t>
            </a:r>
          </a:p>
          <a:p>
            <a:r>
              <a:rPr lang="en-US" sz="900" dirty="0">
                <a:solidFill>
                  <a:srgbClr val="14405C"/>
                </a:solidFill>
              </a:rPr>
              <a:t>https://</a:t>
            </a:r>
            <a:r>
              <a:rPr lang="en-US" sz="900" dirty="0" err="1">
                <a:solidFill>
                  <a:srgbClr val="14405C"/>
                </a:solidFill>
              </a:rPr>
              <a:t>technet.microsoft.com</a:t>
            </a:r>
            <a:r>
              <a:rPr lang="en-US" sz="900" dirty="0">
                <a:solidFill>
                  <a:srgbClr val="14405C"/>
                </a:solidFill>
              </a:rPr>
              <a:t>/</a:t>
            </a:r>
            <a:r>
              <a:rPr lang="en-US" sz="900" dirty="0" err="1">
                <a:solidFill>
                  <a:srgbClr val="14405C"/>
                </a:solidFill>
              </a:rPr>
              <a:t>en</a:t>
            </a:r>
            <a:r>
              <a:rPr lang="en-US" sz="900" dirty="0">
                <a:solidFill>
                  <a:srgbClr val="14405C"/>
                </a:solidFill>
              </a:rPr>
              <a:t>-us/library/jj856598(v=sql.110).</a:t>
            </a:r>
            <a:r>
              <a:rPr lang="en-US" sz="900" dirty="0" err="1">
                <a:solidFill>
                  <a:srgbClr val="14405C"/>
                </a:solidFill>
              </a:rPr>
              <a:t>aspx</a:t>
            </a:r>
            <a:endParaRPr lang="en-US" sz="900" dirty="0">
              <a:solidFill>
                <a:srgbClr val="14405C"/>
              </a:solidFill>
            </a:endParaRPr>
          </a:p>
        </p:txBody>
      </p:sp>
    </p:spTree>
    <p:extLst>
      <p:ext uri="{BB962C8B-B14F-4D97-AF65-F5344CB8AC3E}">
        <p14:creationId xmlns:p14="http://schemas.microsoft.com/office/powerpoint/2010/main" val="15796473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B77F-A5A6-496D-BF5F-488F7A30E3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8A1C19-810D-43C5-A8C0-944F31B8259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902976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For Your Information: Indexes</a:t>
            </a:r>
          </a:p>
        </p:txBody>
      </p:sp>
      <p:sp>
        <p:nvSpPr>
          <p:cNvPr id="3" name="Content Placeholder 2">
            <a:extLst>
              <a:ext uri="{FF2B5EF4-FFF2-40B4-BE49-F238E27FC236}">
                <a16:creationId xmlns:a16="http://schemas.microsoft.com/office/drawing/2014/main" id="{441261EE-1617-7249-B8D4-A6D80C1A09ED}"/>
              </a:ext>
            </a:extLst>
          </p:cNvPr>
          <p:cNvSpPr>
            <a:spLocks noGrp="1"/>
          </p:cNvSpPr>
          <p:nvPr>
            <p:ph idx="1"/>
          </p:nvPr>
        </p:nvSpPr>
        <p:spPr/>
        <p:txBody>
          <a:bodyPr/>
          <a:lstStyle/>
          <a:p>
            <a:r>
              <a:rPr lang="en-US" sz="1800" b="1" dirty="0">
                <a:ea typeface="Lucida Console" charset="0"/>
                <a:cs typeface="Lucida Console" charset="0"/>
              </a:rPr>
              <a:t>2PL on B+ tree pages is a rotten idea.</a:t>
            </a:r>
          </a:p>
          <a:p>
            <a:pPr lvl="1"/>
            <a:r>
              <a:rPr lang="en-US" sz="1650" dirty="0">
                <a:ea typeface="Lucida Console" charset="0"/>
                <a:cs typeface="Lucida Console" charset="0"/>
              </a:rPr>
              <a:t>Think about the first thing you would lock, and how that affects other </a:t>
            </a:r>
            <a:r>
              <a:rPr lang="en-US" sz="1650" dirty="0" err="1">
                <a:ea typeface="Lucida Console" charset="0"/>
                <a:cs typeface="Lucida Console" charset="0"/>
              </a:rPr>
              <a:t>xacts</a:t>
            </a:r>
            <a:r>
              <a:rPr lang="en-US" sz="1650" dirty="0">
                <a:ea typeface="Lucida Console" charset="0"/>
                <a:cs typeface="Lucida Console" charset="0"/>
              </a:rPr>
              <a:t>!</a:t>
            </a:r>
          </a:p>
          <a:p>
            <a:r>
              <a:rPr lang="en-US" sz="1800" b="1" dirty="0">
                <a:ea typeface="Lucida Console" charset="0"/>
                <a:cs typeface="Lucida Console" charset="0"/>
              </a:rPr>
              <a:t>Instead, do short locks (latches) in a clever way</a:t>
            </a:r>
          </a:p>
          <a:p>
            <a:pPr lvl="1"/>
            <a:r>
              <a:rPr lang="en-US" sz="1650" dirty="0">
                <a:ea typeface="Lucida Console" charset="0"/>
                <a:cs typeface="Lucida Console" charset="0"/>
              </a:rPr>
              <a:t>Idea: Upper levels of B+ tree just need to direct traffic correctly. Don’t need serializability or 2PL!</a:t>
            </a:r>
          </a:p>
          <a:p>
            <a:pPr lvl="1"/>
            <a:r>
              <a:rPr lang="en-US" sz="1650" dirty="0">
                <a:ea typeface="Lucida Console" charset="0"/>
                <a:cs typeface="Lucida Console" charset="0"/>
              </a:rPr>
              <a:t>Different tricks to exploit this</a:t>
            </a:r>
          </a:p>
          <a:p>
            <a:pPr lvl="2"/>
            <a:r>
              <a:rPr lang="en-US" sz="1500" dirty="0">
                <a:ea typeface="Lucida Console" charset="0"/>
                <a:cs typeface="Lucida Console" charset="0"/>
              </a:rPr>
              <a:t>The </a:t>
            </a:r>
            <a:r>
              <a:rPr lang="en-US" sz="1500" i="1" dirty="0">
                <a:ea typeface="Lucida Console" charset="0"/>
                <a:cs typeface="Lucida Console" charset="0"/>
              </a:rPr>
              <a:t>B-link</a:t>
            </a:r>
            <a:r>
              <a:rPr lang="en-US" sz="1500" dirty="0">
                <a:ea typeface="Lucida Console" charset="0"/>
                <a:cs typeface="Lucida Console" charset="0"/>
              </a:rPr>
              <a:t> tree is elegant</a:t>
            </a:r>
          </a:p>
          <a:p>
            <a:pPr lvl="2"/>
            <a:r>
              <a:rPr lang="en-US" sz="1500" dirty="0">
                <a:ea typeface="Lucida Console" charset="0"/>
                <a:cs typeface="Lucida Console" charset="0"/>
              </a:rPr>
              <a:t>The </a:t>
            </a:r>
            <a:r>
              <a:rPr lang="en-US" sz="1500" i="1" dirty="0" err="1">
                <a:ea typeface="Lucida Console" charset="0"/>
                <a:cs typeface="Lucida Console" charset="0"/>
              </a:rPr>
              <a:t>Bw</a:t>
            </a:r>
            <a:r>
              <a:rPr lang="en-US" sz="1500" i="1" dirty="0">
                <a:ea typeface="Lucida Console" charset="0"/>
                <a:cs typeface="Lucida Console" charset="0"/>
              </a:rPr>
              <a:t>-tree</a:t>
            </a:r>
            <a:r>
              <a:rPr lang="en-US" sz="1500" dirty="0">
                <a:ea typeface="Lucida Console" charset="0"/>
                <a:cs typeface="Lucida Console" charset="0"/>
              </a:rPr>
              <a:t> is a recent variant for main memory DBs</a:t>
            </a:r>
          </a:p>
          <a:p>
            <a:r>
              <a:rPr lang="en-US" sz="1800" b="1" dirty="0">
                <a:ea typeface="Lucida Console" charset="0"/>
                <a:cs typeface="Lucida Console" charset="0"/>
              </a:rPr>
              <a:t>Note: this is pretty complicated!</a:t>
            </a:r>
          </a:p>
        </p:txBody>
      </p:sp>
    </p:spTree>
    <p:extLst>
      <p:ext uri="{BB962C8B-B14F-4D97-AF65-F5344CB8AC3E}">
        <p14:creationId xmlns:p14="http://schemas.microsoft.com/office/powerpoint/2010/main" val="1972558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For Your Information: Phantoms</a:t>
            </a:r>
          </a:p>
        </p:txBody>
      </p:sp>
      <p:sp>
        <p:nvSpPr>
          <p:cNvPr id="3" name="Content Placeholder 2">
            <a:extLst>
              <a:ext uri="{FF2B5EF4-FFF2-40B4-BE49-F238E27FC236}">
                <a16:creationId xmlns:a16="http://schemas.microsoft.com/office/drawing/2014/main" id="{EE48822F-9C2E-AB4D-A4A9-F0F6A718AC7F}"/>
              </a:ext>
            </a:extLst>
          </p:cNvPr>
          <p:cNvSpPr>
            <a:spLocks noGrp="1"/>
          </p:cNvSpPr>
          <p:nvPr>
            <p:ph idx="1"/>
          </p:nvPr>
        </p:nvSpPr>
        <p:spPr>
          <a:xfrm>
            <a:off x="228600" y="1200151"/>
            <a:ext cx="6324600" cy="3394472"/>
          </a:xfrm>
        </p:spPr>
        <p:txBody>
          <a:bodyPr>
            <a:normAutofit lnSpcReduction="10000"/>
          </a:bodyPr>
          <a:lstStyle/>
          <a:p>
            <a:r>
              <a:rPr lang="en-US" sz="1800" b="1" dirty="0">
                <a:ea typeface="Lucida Console" charset="0"/>
                <a:cs typeface="Lucida Console" charset="0"/>
              </a:rPr>
              <a:t>Suppose you query for sailors with rating between 10 and 20, using an Alternative 2 B+ tree</a:t>
            </a:r>
          </a:p>
          <a:p>
            <a:pPr lvl="1"/>
            <a:r>
              <a:rPr lang="en-US" sz="1650" dirty="0">
                <a:ea typeface="Lucida Console" charset="0"/>
                <a:cs typeface="Lucida Console" charset="0"/>
              </a:rPr>
              <a:t>You set tuple-level locks in the Heap File</a:t>
            </a:r>
          </a:p>
          <a:p>
            <a:r>
              <a:rPr lang="en-US" sz="1800" b="1" dirty="0">
                <a:ea typeface="Lucida Console" charset="0"/>
                <a:cs typeface="Lucida Console" charset="0"/>
              </a:rPr>
              <a:t>I insert “Dread Pirate Roberts”, with rating 12</a:t>
            </a:r>
          </a:p>
          <a:p>
            <a:r>
              <a:rPr lang="en-US" sz="1800" b="1" dirty="0">
                <a:ea typeface="Lucida Console" charset="0"/>
                <a:cs typeface="Lucida Console" charset="0"/>
              </a:rPr>
              <a:t>You do your query again via the index</a:t>
            </a:r>
          </a:p>
          <a:p>
            <a:pPr lvl="1"/>
            <a:r>
              <a:rPr lang="en-US" sz="1650" dirty="0">
                <a:ea typeface="Lucida Console" charset="0"/>
                <a:cs typeface="Lucida Console" charset="0"/>
              </a:rPr>
              <a:t>Yikes! A phantom</a:t>
            </a:r>
          </a:p>
          <a:p>
            <a:r>
              <a:rPr lang="en-US" sz="1850" b="1" dirty="0">
                <a:ea typeface="Lucida Console" charset="0"/>
                <a:cs typeface="Lucida Console" charset="0"/>
              </a:rPr>
              <a:t>Problem: Serializability assumed a static DB</a:t>
            </a:r>
          </a:p>
          <a:p>
            <a:r>
              <a:rPr lang="en-US" sz="1800" b="1" dirty="0">
                <a:ea typeface="Lucida Console" charset="0"/>
                <a:cs typeface="Lucida Console" charset="0"/>
              </a:rPr>
              <a:t>What we want: lock the logical range 10-20</a:t>
            </a:r>
          </a:p>
          <a:p>
            <a:pPr lvl="1"/>
            <a:r>
              <a:rPr lang="en-US" sz="1650" dirty="0">
                <a:ea typeface="Lucida Console" charset="0"/>
                <a:cs typeface="Lucida Console" charset="0"/>
              </a:rPr>
              <a:t>Hard to imagine that lock table! Doesn’t work well.</a:t>
            </a:r>
          </a:p>
          <a:p>
            <a:r>
              <a:rPr lang="en-US" sz="1800" b="1" dirty="0">
                <a:ea typeface="Lucida Console" charset="0"/>
                <a:cs typeface="Lucida Console" charset="0"/>
              </a:rPr>
              <a:t>What is done: set locks in indexes cleverly</a:t>
            </a:r>
          </a:p>
          <a:p>
            <a:pPr lvl="1"/>
            <a:r>
              <a:rPr lang="en-US" sz="1650" dirty="0">
                <a:ea typeface="Lucida Console" charset="0"/>
                <a:cs typeface="Lucida Console" charset="0"/>
              </a:rPr>
              <a:t>So-called “next key locking”</a:t>
            </a:r>
          </a:p>
        </p:txBody>
      </p:sp>
      <p:pic>
        <p:nvPicPr>
          <p:cNvPr id="7" name="Picture 6" title="Comic Book"/>
          <p:cNvPicPr>
            <a:picLocks noChangeAspect="1"/>
          </p:cNvPicPr>
          <p:nvPr/>
        </p:nvPicPr>
        <p:blipFill>
          <a:blip r:embed="rId3"/>
          <a:stretch>
            <a:fillRect/>
          </a:stretch>
        </p:blipFill>
        <p:spPr>
          <a:xfrm>
            <a:off x="7620000" y="5954"/>
            <a:ext cx="1464586" cy="2114550"/>
          </a:xfrm>
          <a:prstGeom prst="rect">
            <a:avLst/>
          </a:prstGeom>
        </p:spPr>
      </p:pic>
    </p:spTree>
    <p:extLst>
      <p:ext uri="{BB962C8B-B14F-4D97-AF65-F5344CB8AC3E}">
        <p14:creationId xmlns:p14="http://schemas.microsoft.com/office/powerpoint/2010/main" val="29669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p:txBody>
          <a:bodyPr/>
          <a:lstStyle/>
          <a:p>
            <a:r>
              <a:rPr lang="en-US" dirty="0"/>
              <a:t>Summary, cont.</a:t>
            </a:r>
          </a:p>
        </p:txBody>
      </p:sp>
      <p:sp>
        <p:nvSpPr>
          <p:cNvPr id="4" name="Content Placeholder 3">
            <a:extLst>
              <a:ext uri="{FF2B5EF4-FFF2-40B4-BE49-F238E27FC236}">
                <a16:creationId xmlns:a16="http://schemas.microsoft.com/office/drawing/2014/main" id="{DB89F68F-DD8C-F745-B4F6-63D4E0533C9A}"/>
              </a:ext>
            </a:extLst>
          </p:cNvPr>
          <p:cNvSpPr>
            <a:spLocks noGrp="1"/>
          </p:cNvSpPr>
          <p:nvPr>
            <p:ph idx="1"/>
          </p:nvPr>
        </p:nvSpPr>
        <p:spPr/>
        <p:txBody>
          <a:bodyPr/>
          <a:lstStyle/>
          <a:p>
            <a:r>
              <a:rPr lang="en-US" sz="1500" b="1" dirty="0">
                <a:ea typeface="Lucida Console" charset="0"/>
                <a:cs typeface="Lucida Console" charset="0"/>
              </a:rPr>
              <a:t>Correctness criterion for isolation is “serializability”.</a:t>
            </a:r>
          </a:p>
          <a:p>
            <a:pPr lvl="1"/>
            <a:r>
              <a:rPr lang="en-US" sz="1500" dirty="0">
                <a:ea typeface="Lucida Console" charset="0"/>
                <a:cs typeface="Lucida Console" charset="0"/>
              </a:rPr>
              <a:t>In practice, we use “conflict serializability” which is conservative but easy to enforce</a:t>
            </a:r>
          </a:p>
          <a:p>
            <a:r>
              <a:rPr lang="en-US" sz="1500" b="1" dirty="0">
                <a:ea typeface="Lucida Console" charset="0"/>
                <a:cs typeface="Lucida Console" charset="0"/>
              </a:rPr>
              <a:t>Two Phase Locking and Strict 2PL: Locks implement the notions of conflict directly</a:t>
            </a:r>
          </a:p>
          <a:p>
            <a:pPr lvl="1"/>
            <a:r>
              <a:rPr lang="en-US" sz="1500" dirty="0">
                <a:ea typeface="Lucida Console" charset="0"/>
                <a:cs typeface="Lucida Console" charset="0"/>
              </a:rPr>
              <a:t>The lock manager keeps track of the locks issued.</a:t>
            </a:r>
          </a:p>
          <a:p>
            <a:pPr lvl="1"/>
            <a:r>
              <a:rPr lang="en-US" sz="1500" b="1" dirty="0">
                <a:ea typeface="Lucida Console" charset="0"/>
                <a:cs typeface="Lucida Console" charset="0"/>
              </a:rPr>
              <a:t>Deadlocks</a:t>
            </a:r>
            <a:r>
              <a:rPr lang="en-US" sz="1500" dirty="0">
                <a:ea typeface="Lucida Console" charset="0"/>
                <a:cs typeface="Lucida Console" charset="0"/>
              </a:rPr>
              <a:t> may arise; can either be prevented or detected.</a:t>
            </a:r>
          </a:p>
          <a:p>
            <a:r>
              <a:rPr lang="en-US" sz="1500" b="1" dirty="0">
                <a:ea typeface="Lucida Console" charset="0"/>
                <a:cs typeface="Lucida Console" charset="0"/>
              </a:rPr>
              <a:t>Multi-Granularity Locking:</a:t>
            </a:r>
          </a:p>
          <a:p>
            <a:pPr lvl="1"/>
            <a:r>
              <a:rPr lang="en-US" sz="1500" dirty="0">
                <a:ea typeface="Lucida Console" charset="0"/>
                <a:cs typeface="Lucida Console" charset="0"/>
              </a:rPr>
              <a:t>Allows flexible tradeoff between lock “scope” in DB, and # of lock entries in lock table</a:t>
            </a:r>
          </a:p>
          <a:p>
            <a:r>
              <a:rPr lang="en-US" sz="1500" b="1" dirty="0">
                <a:ea typeface="Lucida Console" charset="0"/>
                <a:cs typeface="Lucida Console" charset="0"/>
              </a:rPr>
              <a:t>More to the story</a:t>
            </a:r>
          </a:p>
          <a:p>
            <a:pPr lvl="1"/>
            <a:r>
              <a:rPr lang="en-US" sz="1500" dirty="0">
                <a:ea typeface="Lucida Console" charset="0"/>
                <a:cs typeface="Lucida Console" charset="0"/>
              </a:rPr>
              <a:t>Optimistic/Multi-version/Timestamp CC</a:t>
            </a:r>
          </a:p>
          <a:p>
            <a:pPr lvl="1"/>
            <a:r>
              <a:rPr lang="en-US" sz="1500" dirty="0">
                <a:ea typeface="Lucida Console" charset="0"/>
                <a:cs typeface="Lucida Console" charset="0"/>
              </a:rPr>
              <a:t>Index “latching”, phantoms</a:t>
            </a:r>
          </a:p>
          <a:p>
            <a:pPr lvl="1"/>
            <a:r>
              <a:rPr lang="en-US" sz="1500" dirty="0">
                <a:ea typeface="Lucida Console" charset="0"/>
                <a:cs typeface="Lucida Console" charset="0"/>
              </a:rPr>
              <a:t>Actually, there’s much </a:t>
            </a:r>
            <a:r>
              <a:rPr lang="en-US" sz="1500" dirty="0" err="1">
                <a:ea typeface="Lucida Console" charset="0"/>
                <a:cs typeface="Lucida Console" charset="0"/>
              </a:rPr>
              <a:t>much</a:t>
            </a:r>
            <a:r>
              <a:rPr lang="en-US" sz="1500">
                <a:ea typeface="Lucida Console" charset="0"/>
                <a:cs typeface="Lucida Console" charset="0"/>
              </a:rPr>
              <a:t> more :-)</a:t>
            </a:r>
            <a:endParaRPr lang="en-US" sz="1500" dirty="0">
              <a:ea typeface="Lucida Console" charset="0"/>
              <a:cs typeface="Lucida Console" charset="0"/>
            </a:endParaRPr>
          </a:p>
        </p:txBody>
      </p:sp>
    </p:spTree>
    <p:extLst>
      <p:ext uri="{BB962C8B-B14F-4D97-AF65-F5344CB8AC3E}">
        <p14:creationId xmlns:p14="http://schemas.microsoft.com/office/powerpoint/2010/main" val="1931694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541B27"/>
      </a:dk2>
      <a:lt2>
        <a:srgbClr val="AACDCA"/>
      </a:lt2>
      <a:accent1>
        <a:srgbClr val="D72C2F"/>
      </a:accent1>
      <a:accent2>
        <a:srgbClr val="44516F"/>
      </a:accent2>
      <a:accent3>
        <a:srgbClr val="79C6C1"/>
      </a:accent3>
      <a:accent4>
        <a:srgbClr val="FFFFFF"/>
      </a:accent4>
      <a:accent5>
        <a:srgbClr val="FFFFFF"/>
      </a:accent5>
      <a:accent6>
        <a:srgbClr val="FFFFF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RCOE updated template" id="{E7FA4F46-C946-B543-8CAA-6C2DD81F0FF0}" vid="{07066D9F-7382-EB44-B453-DDAD9AB5CA43}"/>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COE updated template" id="{E7FA4F46-C946-B543-8CAA-6C2DD81F0FF0}" vid="{CEBAC97C-41B9-7340-8D0A-3D484B4F570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BRCOE updated template</Template>
  <TotalTime>2407</TotalTime>
  <Words>3099</Words>
  <Application>Microsoft Macintosh PowerPoint</Application>
  <PresentationFormat>On-screen Show (16:9)</PresentationFormat>
  <Paragraphs>734</Paragraphs>
  <Slides>54</Slides>
  <Notes>43</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54</vt:i4>
      </vt:variant>
    </vt:vector>
  </HeadingPairs>
  <TitlesOfParts>
    <vt:vector size="71" baseType="lpstr">
      <vt:lpstr>ＭＳ Ｐゴシック</vt:lpstr>
      <vt:lpstr>Osaka</vt:lpstr>
      <vt:lpstr>Arial</vt:lpstr>
      <vt:lpstr>Book Antiqua</vt:lpstr>
      <vt:lpstr>Calibri</vt:lpstr>
      <vt:lpstr>Calibri Light</vt:lpstr>
      <vt:lpstr>Century Gothic</vt:lpstr>
      <vt:lpstr>Helvetica</vt:lpstr>
      <vt:lpstr>Helvetica Neue</vt:lpstr>
      <vt:lpstr>Helvetica Neue Light</vt:lpstr>
      <vt:lpstr>Lucida Console</vt:lpstr>
      <vt:lpstr>Symbol</vt:lpstr>
      <vt:lpstr>Tahoma</vt:lpstr>
      <vt:lpstr>Times New Roman</vt:lpstr>
      <vt:lpstr>Wingdings</vt:lpstr>
      <vt:lpstr>Office Theme</vt:lpstr>
      <vt:lpstr>Custom Design</vt:lpstr>
      <vt:lpstr>Transactions &amp; Concurrency Control 2</vt:lpstr>
      <vt:lpstr>TWO PHASE Locking</vt:lpstr>
      <vt:lpstr>Two Phase Locking (2PL)</vt:lpstr>
      <vt:lpstr>Two Phase Locking (2PL), Part 2</vt:lpstr>
      <vt:lpstr>Two Phase Locking (2PL), Part 3</vt:lpstr>
      <vt:lpstr>Why 2PL guarantees conflict serializability</vt:lpstr>
      <vt:lpstr>Strict Two Phase Locking (2PL)</vt:lpstr>
      <vt:lpstr>Strict Two Phase Locking</vt:lpstr>
      <vt:lpstr>Next ...</vt:lpstr>
      <vt:lpstr>Non-2PL, A = 1000, B = 2000, Output = ?</vt:lpstr>
      <vt:lpstr>Non-2PL, A = 1000, B = 2000, Output = ? cont</vt:lpstr>
      <vt:lpstr>2PL, A = 1000, B = 2000, Output = ?</vt:lpstr>
      <vt:lpstr>Strict 2PL, A = 1000, B = 2000, Output = ?</vt:lpstr>
      <vt:lpstr>Which schedules does Strict 2PL allow?</vt:lpstr>
      <vt:lpstr>Architecture</vt:lpstr>
      <vt:lpstr>How Do We Lock Data?</vt:lpstr>
      <vt:lpstr>Lock Management</vt:lpstr>
      <vt:lpstr>Lock Management (continued)</vt:lpstr>
      <vt:lpstr>Example</vt:lpstr>
      <vt:lpstr>Deadlock</vt:lpstr>
      <vt:lpstr>Deadlocks, cont</vt:lpstr>
      <vt:lpstr>Deadlock Scenarios</vt:lpstr>
      <vt:lpstr>Deadlock Scenarios</vt:lpstr>
      <vt:lpstr>Deadlock Prevention</vt:lpstr>
      <vt:lpstr>Deadlock Avoidance</vt:lpstr>
      <vt:lpstr>Deadlock Avoidance: Analysis</vt:lpstr>
      <vt:lpstr>Deadlock Detection</vt:lpstr>
      <vt:lpstr>Deadlock Detection, Part 2</vt:lpstr>
      <vt:lpstr>Deadlock Detection, Part 3</vt:lpstr>
      <vt:lpstr>Deadlock Detection, Part 4</vt:lpstr>
      <vt:lpstr>Deadlock Detection, Part 5</vt:lpstr>
      <vt:lpstr>Deadlock Detection, Part 6</vt:lpstr>
      <vt:lpstr>Deadlock Detection, Part 7</vt:lpstr>
      <vt:lpstr>Deadlock Detection, Part 8</vt:lpstr>
      <vt:lpstr>Deadlock Detection, Part 9</vt:lpstr>
      <vt:lpstr>Deadlock Detection, Part 10</vt:lpstr>
      <vt:lpstr>Deadlock Detection, Part 11</vt:lpstr>
      <vt:lpstr>Deadlock!</vt:lpstr>
      <vt:lpstr>Lock Granularity</vt:lpstr>
      <vt:lpstr>Lock Granularity, cont</vt:lpstr>
      <vt:lpstr>Multiple Locking Granularity</vt:lpstr>
      <vt:lpstr>Example of Granularity Hierarchy (RDBMS)</vt:lpstr>
      <vt:lpstr>Multiple Locking Granularity</vt:lpstr>
      <vt:lpstr>Real-World Locking Granularities</vt:lpstr>
      <vt:lpstr>Solution: New Lock Modes, Protocol</vt:lpstr>
      <vt:lpstr>New Lock Modes – Intention Lock Modes</vt:lpstr>
      <vt:lpstr>Multiple Granularity Locking Protocol</vt:lpstr>
      <vt:lpstr>Lock Compatibility Matrix</vt:lpstr>
      <vt:lpstr>Lock Compatibility Matrix, Cont</vt:lpstr>
      <vt:lpstr>Real-World Lock Compatibility Matrix</vt:lpstr>
      <vt:lpstr>PowerPoint Presentation</vt:lpstr>
      <vt:lpstr>For Your Information: Indexes</vt:lpstr>
      <vt:lpstr>For Your Information: Phantoms</vt:lpstr>
      <vt:lpstr>Summary, cont.</vt:lpstr>
    </vt:vector>
  </TitlesOfParts>
  <Manager/>
  <Company/>
  <LinksUpToDate>false</LinksUpToDate>
  <SharedDoc>false</SharedDoc>
  <HyperlinkBase/>
  <HyperlinksChanged>false</HyperlinksChanged>
  <AppVersion>16.0013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Name of Course</dc:subject>
  <dc:creator>Daphne Nhuch</dc:creator>
  <cp:keywords/>
  <dc:description/>
  <cp:lastModifiedBy>Daphne Nhuch</cp:lastModifiedBy>
  <cp:revision>115</cp:revision>
  <cp:lastPrinted>2018-11-07T06:37:20Z</cp:lastPrinted>
  <dcterms:created xsi:type="dcterms:W3CDTF">2018-03-13T04:30:50Z</dcterms:created>
  <dcterms:modified xsi:type="dcterms:W3CDTF">2018-11-07T21:17:37Z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ies>
</file>