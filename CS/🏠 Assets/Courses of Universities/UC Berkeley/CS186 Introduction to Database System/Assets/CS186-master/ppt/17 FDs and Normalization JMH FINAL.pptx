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tiff" ContentType="image/tiff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9" r:id="rId2"/>
  </p:sldMasterIdLst>
  <p:notesMasterIdLst>
    <p:notesMasterId r:id="rId56"/>
  </p:notesMasterIdLst>
  <p:sldIdLst>
    <p:sldId id="257" r:id="rId3"/>
    <p:sldId id="321" r:id="rId4"/>
    <p:sldId id="259" r:id="rId5"/>
    <p:sldId id="322" r:id="rId6"/>
    <p:sldId id="260" r:id="rId7"/>
    <p:sldId id="261" r:id="rId8"/>
    <p:sldId id="298" r:id="rId9"/>
    <p:sldId id="262" r:id="rId10"/>
    <p:sldId id="323" r:id="rId11"/>
    <p:sldId id="295" r:id="rId12"/>
    <p:sldId id="263" r:id="rId13"/>
    <p:sldId id="333" r:id="rId14"/>
    <p:sldId id="334" r:id="rId15"/>
    <p:sldId id="325" r:id="rId16"/>
    <p:sldId id="265" r:id="rId17"/>
    <p:sldId id="266" r:id="rId18"/>
    <p:sldId id="335" r:id="rId19"/>
    <p:sldId id="267" r:id="rId20"/>
    <p:sldId id="268" r:id="rId21"/>
    <p:sldId id="338" r:id="rId22"/>
    <p:sldId id="270" r:id="rId23"/>
    <p:sldId id="326" r:id="rId24"/>
    <p:sldId id="271" r:id="rId25"/>
    <p:sldId id="272" r:id="rId26"/>
    <p:sldId id="273" r:id="rId27"/>
    <p:sldId id="274" r:id="rId28"/>
    <p:sldId id="336" r:id="rId29"/>
    <p:sldId id="327" r:id="rId30"/>
    <p:sldId id="275" r:id="rId31"/>
    <p:sldId id="276" r:id="rId32"/>
    <p:sldId id="277" r:id="rId33"/>
    <p:sldId id="278" r:id="rId34"/>
    <p:sldId id="329" r:id="rId35"/>
    <p:sldId id="279" r:id="rId36"/>
    <p:sldId id="280" r:id="rId37"/>
    <p:sldId id="281" r:id="rId38"/>
    <p:sldId id="282" r:id="rId39"/>
    <p:sldId id="283" r:id="rId40"/>
    <p:sldId id="328" r:id="rId41"/>
    <p:sldId id="284" r:id="rId42"/>
    <p:sldId id="285" r:id="rId43"/>
    <p:sldId id="337" r:id="rId44"/>
    <p:sldId id="286" r:id="rId45"/>
    <p:sldId id="287" r:id="rId46"/>
    <p:sldId id="331" r:id="rId47"/>
    <p:sldId id="288" r:id="rId48"/>
    <p:sldId id="303" r:id="rId49"/>
    <p:sldId id="289" r:id="rId50"/>
    <p:sldId id="290" r:id="rId51"/>
    <p:sldId id="291" r:id="rId52"/>
    <p:sldId id="332" r:id="rId53"/>
    <p:sldId id="293" r:id="rId54"/>
    <p:sldId id="330" r:id="rId5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00">
          <p15:clr>
            <a:srgbClr val="A4A3A4"/>
          </p15:clr>
        </p15:guide>
        <p15:guide id="2" pos="518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804" autoAdjust="0"/>
    <p:restoredTop sz="86359" autoAdjust="0"/>
  </p:normalViewPr>
  <p:slideViewPr>
    <p:cSldViewPr>
      <p:cViewPr varScale="1">
        <p:scale>
          <a:sx n="185" d="100"/>
          <a:sy n="185" d="100"/>
        </p:scale>
        <p:origin x="440" y="176"/>
      </p:cViewPr>
      <p:guideLst>
        <p:guide orient="horz" pos="2700"/>
        <p:guide pos="5184"/>
      </p:guideLst>
    </p:cSldViewPr>
  </p:slideViewPr>
  <p:outlineViewPr>
    <p:cViewPr>
      <p:scale>
        <a:sx n="33" d="100"/>
        <a:sy n="33" d="100"/>
      </p:scale>
      <p:origin x="0" y="-14328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</p:sldLst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viewProps" Target="viewProp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presProps" Target="pres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8.xml"/><Relationship Id="rId13" Type="http://schemas.openxmlformats.org/officeDocument/2006/relationships/slide" Target="slides/slide32.xml"/><Relationship Id="rId18" Type="http://schemas.openxmlformats.org/officeDocument/2006/relationships/slide" Target="slides/slide43.xml"/><Relationship Id="rId3" Type="http://schemas.openxmlformats.org/officeDocument/2006/relationships/slide" Target="slides/slide5.xml"/><Relationship Id="rId21" Type="http://schemas.openxmlformats.org/officeDocument/2006/relationships/slide" Target="slides/slide48.xml"/><Relationship Id="rId7" Type="http://schemas.openxmlformats.org/officeDocument/2006/relationships/slide" Target="slides/slide17.xml"/><Relationship Id="rId12" Type="http://schemas.openxmlformats.org/officeDocument/2006/relationships/slide" Target="slides/slide29.xml"/><Relationship Id="rId17" Type="http://schemas.openxmlformats.org/officeDocument/2006/relationships/slide" Target="slides/slide41.xml"/><Relationship Id="rId25" Type="http://schemas.openxmlformats.org/officeDocument/2006/relationships/slide" Target="slides/slide53.xml"/><Relationship Id="rId2" Type="http://schemas.openxmlformats.org/officeDocument/2006/relationships/slide" Target="slides/slide3.xml"/><Relationship Id="rId16" Type="http://schemas.openxmlformats.org/officeDocument/2006/relationships/slide" Target="slides/slide40.xml"/><Relationship Id="rId20" Type="http://schemas.openxmlformats.org/officeDocument/2006/relationships/slide" Target="slides/slide46.xml"/><Relationship Id="rId1" Type="http://schemas.openxmlformats.org/officeDocument/2006/relationships/slide" Target="slides/slide1.xml"/><Relationship Id="rId6" Type="http://schemas.openxmlformats.org/officeDocument/2006/relationships/slide" Target="slides/slide16.xml"/><Relationship Id="rId11" Type="http://schemas.openxmlformats.org/officeDocument/2006/relationships/slide" Target="slides/slide24.xml"/><Relationship Id="rId24" Type="http://schemas.openxmlformats.org/officeDocument/2006/relationships/slide" Target="slides/slide52.xml"/><Relationship Id="rId5" Type="http://schemas.openxmlformats.org/officeDocument/2006/relationships/slide" Target="slides/slide8.xml"/><Relationship Id="rId15" Type="http://schemas.openxmlformats.org/officeDocument/2006/relationships/slide" Target="slides/slide37.xml"/><Relationship Id="rId23" Type="http://schemas.openxmlformats.org/officeDocument/2006/relationships/slide" Target="slides/slide50.xml"/><Relationship Id="rId10" Type="http://schemas.openxmlformats.org/officeDocument/2006/relationships/slide" Target="slides/slide20.xml"/><Relationship Id="rId19" Type="http://schemas.openxmlformats.org/officeDocument/2006/relationships/slide" Target="slides/slide44.xml"/><Relationship Id="rId4" Type="http://schemas.openxmlformats.org/officeDocument/2006/relationships/slide" Target="slides/slide6.xml"/><Relationship Id="rId9" Type="http://schemas.openxmlformats.org/officeDocument/2006/relationships/slide" Target="slides/slide19.xml"/><Relationship Id="rId14" Type="http://schemas.openxmlformats.org/officeDocument/2006/relationships/slide" Target="slides/slide36.xml"/><Relationship Id="rId22" Type="http://schemas.openxmlformats.org/officeDocument/2006/relationships/slide" Target="slides/slide49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image" Target="../media/image16.emf"/><Relationship Id="rId4" Type="http://schemas.openxmlformats.org/officeDocument/2006/relationships/image" Target="../media/image8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7" Type="http://schemas.openxmlformats.org/officeDocument/2006/relationships/image" Target="../media/image24.emf"/><Relationship Id="rId2" Type="http://schemas.openxmlformats.org/officeDocument/2006/relationships/image" Target="../media/image19.emf"/><Relationship Id="rId1" Type="http://schemas.openxmlformats.org/officeDocument/2006/relationships/image" Target="../media/image18.emf"/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7" Type="http://schemas.openxmlformats.org/officeDocument/2006/relationships/image" Target="../media/image24.emf"/><Relationship Id="rId2" Type="http://schemas.openxmlformats.org/officeDocument/2006/relationships/image" Target="../media/image26.emf"/><Relationship Id="rId1" Type="http://schemas.openxmlformats.org/officeDocument/2006/relationships/image" Target="../media/image25.emf"/><Relationship Id="rId6" Type="http://schemas.openxmlformats.org/officeDocument/2006/relationships/image" Target="../media/image30.emf"/><Relationship Id="rId5" Type="http://schemas.openxmlformats.org/officeDocument/2006/relationships/image" Target="../media/image29.emf"/><Relationship Id="rId4" Type="http://schemas.openxmlformats.org/officeDocument/2006/relationships/image" Target="../media/image2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E7B2F-76B0-4CCC-83FA-00CA85CD8DA2}" type="datetimeFigureOut">
              <a:rPr lang="en-US" smtClean="0"/>
              <a:t>2/21/19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DA6495-08A5-4780-AF01-64577BB69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690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1pPr>
            <a:lvl2pPr marL="742950" indent="-28575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2pPr>
            <a:lvl3pPr marL="11430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3pPr>
            <a:lvl4pPr marL="16002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4pPr>
            <a:lvl5pPr marL="20574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9pPr>
          </a:lstStyle>
          <a:p>
            <a:fld id="{224305B6-CF60-844B-A029-5CD3ABCFE7E0}" type="slidenum">
              <a:rPr lang="en-US" altLang="en-US" sz="1300"/>
              <a:pPr/>
              <a:t>1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622696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x-none" altLang="x-none">
              <a:latin typeface="Book Antiqu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9924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1pPr>
            <a:lvl2pPr marL="742950" indent="-28575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2pPr>
            <a:lvl3pPr marL="11430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3pPr>
            <a:lvl4pPr marL="16002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4pPr>
            <a:lvl5pPr marL="20574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9pPr>
          </a:lstStyle>
          <a:p>
            <a:fld id="{5A133173-A3E1-5C4C-8E9B-68A78496DCF3}" type="slidenum">
              <a:rPr lang="en-US" altLang="en-US" sz="1300"/>
              <a:pPr/>
              <a:t>3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419785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1pPr>
            <a:lvl2pPr marL="742950" indent="-28575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2pPr>
            <a:lvl3pPr marL="11430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3pPr>
            <a:lvl4pPr marL="16002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4pPr>
            <a:lvl5pPr marL="20574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9pPr>
          </a:lstStyle>
          <a:p>
            <a:fld id="{ED00C871-0294-F34C-89A5-5D1C0AB91EB1}" type="slidenum">
              <a:rPr lang="en-US" altLang="en-US" sz="1300"/>
              <a:pPr/>
              <a:t>5</a:t>
            </a:fld>
            <a:endParaRPr lang="en-US" altLang="en-US" sz="1300"/>
          </a:p>
        </p:txBody>
      </p:sp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6798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1pPr>
            <a:lvl2pPr marL="742950" indent="-28575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2pPr>
            <a:lvl3pPr marL="11430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3pPr>
            <a:lvl4pPr marL="16002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4pPr>
            <a:lvl5pPr marL="20574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9pPr>
          </a:lstStyle>
          <a:p>
            <a:fld id="{6F1B3F56-DF22-6740-AF0F-B0D6E0542F2D}" type="slidenum">
              <a:rPr lang="en-US" altLang="en-US" sz="1300"/>
              <a:pPr/>
              <a:t>6</a:t>
            </a:fld>
            <a:endParaRPr lang="en-US" altLang="en-US" sz="1300"/>
          </a:p>
        </p:txBody>
      </p:sp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64342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1pPr>
            <a:lvl2pPr marL="742950" indent="-28575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2pPr>
            <a:lvl3pPr marL="11430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3pPr>
            <a:lvl4pPr marL="16002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4pPr>
            <a:lvl5pPr marL="20574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9pPr>
          </a:lstStyle>
          <a:p>
            <a:fld id="{7E3AB6E3-9395-E948-A6EA-668A64F8F67B}" type="slidenum">
              <a:rPr lang="en-US" altLang="en-US" sz="1300"/>
              <a:pPr/>
              <a:t>8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4458035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1pPr>
            <a:lvl2pPr marL="742950" indent="-28575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2pPr>
            <a:lvl3pPr marL="11430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3pPr>
            <a:lvl4pPr marL="16002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4pPr>
            <a:lvl5pPr marL="20574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9pPr>
          </a:lstStyle>
          <a:p>
            <a:fld id="{3D817651-58BA-F048-8741-8304D55C05D9}" type="slidenum">
              <a:rPr lang="en-US" altLang="en-US" sz="1300"/>
              <a:pPr/>
              <a:t>11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3470110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1pPr>
            <a:lvl2pPr marL="742950" indent="-28575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2pPr>
            <a:lvl3pPr marL="11430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3pPr>
            <a:lvl4pPr marL="16002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4pPr>
            <a:lvl5pPr marL="20574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9pPr>
          </a:lstStyle>
          <a:p>
            <a:fld id="{3D817651-58BA-F048-8741-8304D55C05D9}" type="slidenum">
              <a:rPr lang="en-US" altLang="en-US" sz="1300"/>
              <a:pPr/>
              <a:t>12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4337215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1pPr>
            <a:lvl2pPr marL="742950" indent="-28575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2pPr>
            <a:lvl3pPr marL="11430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3pPr>
            <a:lvl4pPr marL="16002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4pPr>
            <a:lvl5pPr marL="20574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9pPr>
          </a:lstStyle>
          <a:p>
            <a:fld id="{3D817651-58BA-F048-8741-8304D55C05D9}" type="slidenum">
              <a:rPr lang="en-US" altLang="en-US" sz="1300"/>
              <a:pPr/>
              <a:t>13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2159801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1pPr>
            <a:lvl2pPr marL="742950" indent="-28575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2pPr>
            <a:lvl3pPr marL="11430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3pPr>
            <a:lvl4pPr marL="16002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4pPr>
            <a:lvl5pPr marL="20574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9pPr>
          </a:lstStyle>
          <a:p>
            <a:fld id="{A1444E22-EA86-8246-8D0F-66231DAC87CA}" type="slidenum">
              <a:rPr lang="en-US" altLang="en-US" sz="1300"/>
              <a:pPr/>
              <a:t>14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7058905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1pPr>
            <a:lvl2pPr marL="742950" indent="-28575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2pPr>
            <a:lvl3pPr marL="11430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3pPr>
            <a:lvl4pPr marL="16002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4pPr>
            <a:lvl5pPr marL="20574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9pPr>
          </a:lstStyle>
          <a:p>
            <a:fld id="{F3D3C83E-0872-6748-898E-C17B72A39F40}" type="slidenum">
              <a:rPr lang="en-US" altLang="en-US" sz="1300"/>
              <a:pPr/>
              <a:t>15</a:t>
            </a:fld>
            <a:endParaRPr lang="en-US" altLang="en-US" sz="1300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0696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1pPr>
            <a:lvl2pPr marL="742950" indent="-28575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2pPr>
            <a:lvl3pPr marL="11430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3pPr>
            <a:lvl4pPr marL="16002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4pPr>
            <a:lvl5pPr marL="20574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9pPr>
          </a:lstStyle>
          <a:p>
            <a:fld id="{1198BD74-B172-F048-BA0E-BB99BF9B502C}" type="slidenum">
              <a:rPr lang="en-US" altLang="en-US" sz="1300"/>
              <a:pPr/>
              <a:t>16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5678592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1pPr>
            <a:lvl2pPr marL="742950" indent="-28575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2pPr>
            <a:lvl3pPr marL="11430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3pPr>
            <a:lvl4pPr marL="16002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4pPr>
            <a:lvl5pPr marL="20574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9pPr>
          </a:lstStyle>
          <a:p>
            <a:fld id="{1198BD74-B172-F048-BA0E-BB99BF9B502C}" type="slidenum">
              <a:rPr lang="en-US" altLang="en-US" sz="1300"/>
              <a:pPr/>
              <a:t>17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6569484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1pPr>
            <a:lvl2pPr marL="742950" indent="-28575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2pPr>
            <a:lvl3pPr marL="11430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3pPr>
            <a:lvl4pPr marL="16002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4pPr>
            <a:lvl5pPr marL="20574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9pPr>
          </a:lstStyle>
          <a:p>
            <a:fld id="{8A55FD2B-021E-B64A-AB6C-0C6AE6EE8E3C}" type="slidenum">
              <a:rPr lang="en-US" altLang="en-US" sz="1300"/>
              <a:pPr/>
              <a:t>18</a:t>
            </a:fld>
            <a:endParaRPr lang="en-US" altLang="en-US" sz="1300"/>
          </a:p>
        </p:txBody>
      </p:sp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Union: 	X-&gt;Y</a:t>
            </a:r>
          </a:p>
          <a:p>
            <a:r>
              <a:rPr lang="en-US" dirty="0"/>
              <a:t>	XX-&gt;XY (</a:t>
            </a:r>
            <a:r>
              <a:rPr lang="en-US" dirty="0" err="1"/>
              <a:t>aug</a:t>
            </a:r>
            <a:r>
              <a:rPr lang="en-US" dirty="0"/>
              <a:t>) so X-&gt;XY</a:t>
            </a:r>
          </a:p>
          <a:p>
            <a:r>
              <a:rPr lang="en-US" dirty="0"/>
              <a:t>	XY-&gt;YZ</a:t>
            </a:r>
            <a:r>
              <a:rPr lang="en-US" baseline="0" dirty="0"/>
              <a:t> (</a:t>
            </a:r>
            <a:r>
              <a:rPr lang="en-US" baseline="0" dirty="0" err="1"/>
              <a:t>aug</a:t>
            </a:r>
            <a:r>
              <a:rPr lang="en-US" baseline="0" dirty="0"/>
              <a:t>)</a:t>
            </a:r>
          </a:p>
          <a:p>
            <a:r>
              <a:rPr lang="en-US" baseline="0" dirty="0"/>
              <a:t>	X-&gt;YZ (transitivity)</a:t>
            </a:r>
            <a:endParaRPr lang="en-US" dirty="0"/>
          </a:p>
          <a:p>
            <a:r>
              <a:rPr lang="en-US" dirty="0"/>
              <a:t>	</a:t>
            </a:r>
          </a:p>
          <a:p>
            <a:r>
              <a:rPr lang="en-US" dirty="0" err="1"/>
              <a:t>Decomp</a:t>
            </a:r>
            <a:r>
              <a:rPr lang="en-US" dirty="0"/>
              <a:t>:	X-&gt;YZ</a:t>
            </a:r>
          </a:p>
          <a:p>
            <a:r>
              <a:rPr lang="en-US" dirty="0"/>
              <a:t>	YZ-&gt;Y</a:t>
            </a:r>
            <a:r>
              <a:rPr lang="en-US" baseline="0" dirty="0"/>
              <a:t> (reflex)</a:t>
            </a:r>
          </a:p>
          <a:p>
            <a:r>
              <a:rPr lang="en-US" baseline="0" dirty="0"/>
              <a:t>	X-&gt;Y (trans)</a:t>
            </a:r>
            <a:endParaRPr lang="en-US" dirty="0"/>
          </a:p>
          <a:p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4722306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1pPr>
            <a:lvl2pPr marL="742950" indent="-28575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2pPr>
            <a:lvl3pPr marL="11430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3pPr>
            <a:lvl4pPr marL="16002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4pPr>
            <a:lvl5pPr marL="20574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9pPr>
          </a:lstStyle>
          <a:p>
            <a:fld id="{F900DE6D-CF26-5F43-B82F-4F20D3524790}" type="slidenum">
              <a:rPr lang="en-US" altLang="en-US" sz="1300"/>
              <a:pPr/>
              <a:t>19</a:t>
            </a:fld>
            <a:endParaRPr lang="en-US" altLang="en-US" sz="1300"/>
          </a:p>
        </p:txBody>
      </p:sp>
      <p:sp>
        <p:nvSpPr>
          <p:cNvPr id="44034" name="Notes Placeholder 1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en-US" altLang="en-US" dirty="0"/>
              <a:t>Contract</a:t>
            </a:r>
          </a:p>
          <a:p>
            <a:r>
              <a:rPr lang="en-US" altLang="en-US" dirty="0"/>
              <a:t>Supplier</a:t>
            </a:r>
          </a:p>
          <a:p>
            <a:r>
              <a:rPr lang="en-US" altLang="en-US" dirty="0" err="1"/>
              <a:t>proJect</a:t>
            </a:r>
            <a:endParaRPr lang="en-US" altLang="en-US" dirty="0"/>
          </a:p>
          <a:p>
            <a:r>
              <a:rPr lang="en-US" altLang="en-US" dirty="0" err="1"/>
              <a:t>Dept</a:t>
            </a:r>
            <a:endParaRPr lang="en-US" altLang="en-US" dirty="0"/>
          </a:p>
          <a:p>
            <a:r>
              <a:rPr lang="en-US" altLang="en-US" dirty="0"/>
              <a:t>Part</a:t>
            </a:r>
          </a:p>
          <a:p>
            <a:r>
              <a:rPr lang="en-US" altLang="en-US" dirty="0" err="1"/>
              <a:t>Qty</a:t>
            </a:r>
            <a:r>
              <a:rPr lang="en-US" altLang="en-US" dirty="0"/>
              <a:t> </a:t>
            </a:r>
          </a:p>
          <a:p>
            <a:r>
              <a:rPr lang="en-US" altLang="en-US" dirty="0"/>
              <a:t>Value</a:t>
            </a:r>
          </a:p>
        </p:txBody>
      </p:sp>
    </p:spTree>
    <p:extLst>
      <p:ext uri="{BB962C8B-B14F-4D97-AF65-F5344CB8AC3E}">
        <p14:creationId xmlns:p14="http://schemas.microsoft.com/office/powerpoint/2010/main" val="36216081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1pPr>
            <a:lvl2pPr marL="742950" indent="-28575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2pPr>
            <a:lvl3pPr marL="11430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3pPr>
            <a:lvl4pPr marL="16002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4pPr>
            <a:lvl5pPr marL="20574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9pPr>
          </a:lstStyle>
          <a:p>
            <a:fld id="{98A8F17B-C5B9-D34B-BD67-2396E131A006}" type="slidenum">
              <a:rPr lang="en-US" altLang="en-US" sz="1300"/>
              <a:pPr/>
              <a:t>20</a:t>
            </a:fld>
            <a:endParaRPr lang="en-US" altLang="en-US" sz="1300"/>
          </a:p>
        </p:txBody>
      </p:sp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9644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1pPr>
            <a:lvl2pPr marL="742950" indent="-28575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2pPr>
            <a:lvl3pPr marL="11430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3pPr>
            <a:lvl4pPr marL="16002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4pPr>
            <a:lvl5pPr marL="20574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9pPr>
          </a:lstStyle>
          <a:p>
            <a:fld id="{C59798DB-0919-7146-910A-3F4B28373698}" type="slidenum">
              <a:rPr lang="en-US" altLang="en-US" sz="1300"/>
              <a:pPr/>
              <a:t>21</a:t>
            </a:fld>
            <a:endParaRPr lang="en-US" altLang="en-US" sz="1300"/>
          </a:p>
        </p:txBody>
      </p:sp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43227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1pPr>
            <a:lvl2pPr marL="742950" indent="-28575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2pPr>
            <a:lvl3pPr marL="11430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3pPr>
            <a:lvl4pPr marL="16002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4pPr>
            <a:lvl5pPr marL="20574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9pPr>
          </a:lstStyle>
          <a:p>
            <a:fld id="{4A95B202-5ACB-EE4B-A2D2-60D811CFBC55}" type="slidenum">
              <a:rPr lang="en-US" altLang="en-US" sz="1300"/>
              <a:pPr/>
              <a:t>24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3134503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A6495-08A5-4780-AF01-64577BB694E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3326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1pPr>
            <a:lvl2pPr marL="742950" indent="-28575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2pPr>
            <a:lvl3pPr marL="11430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3pPr>
            <a:lvl4pPr marL="16002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4pPr>
            <a:lvl5pPr marL="20574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9pPr>
          </a:lstStyle>
          <a:p>
            <a:fld id="{5BE75A87-04EC-414F-BD33-05BAE3191E13}" type="slidenum">
              <a:rPr lang="en-US" altLang="en-US" sz="1300"/>
              <a:pPr/>
              <a:t>26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4544700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1pPr>
            <a:lvl2pPr marL="742950" indent="-28575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2pPr>
            <a:lvl3pPr marL="11430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3pPr>
            <a:lvl4pPr marL="16002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4pPr>
            <a:lvl5pPr marL="20574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9pPr>
          </a:lstStyle>
          <a:p>
            <a:fld id="{5BE75A87-04EC-414F-BD33-05BAE3191E13}" type="slidenum">
              <a:rPr lang="en-US" altLang="en-US" sz="1300"/>
              <a:pPr/>
              <a:t>27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4344609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A6495-08A5-4780-AF01-64577BB694E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126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1pPr>
            <a:lvl2pPr marL="742950" indent="-28575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2pPr>
            <a:lvl3pPr marL="11430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3pPr>
            <a:lvl4pPr marL="16002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4pPr>
            <a:lvl5pPr marL="20574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9pPr>
          </a:lstStyle>
          <a:p>
            <a:fld id="{B1C15761-3B11-2341-A6FD-C7639FD2788C}" type="slidenum">
              <a:rPr lang="en-US" altLang="en-US" sz="1300"/>
              <a:pPr/>
              <a:t>29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5056430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1pPr>
            <a:lvl2pPr marL="742950" indent="-28575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2pPr>
            <a:lvl3pPr marL="11430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3pPr>
            <a:lvl4pPr marL="16002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4pPr>
            <a:lvl5pPr marL="20574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9pPr>
          </a:lstStyle>
          <a:p>
            <a:fld id="{D255F211-843F-3E48-9C0C-AEF3F7E1936C}" type="slidenum">
              <a:rPr lang="en-US" altLang="en-US" sz="1300"/>
              <a:pPr/>
              <a:t>30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804195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1pPr>
            <a:lvl2pPr marL="742950" indent="-28575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2pPr>
            <a:lvl3pPr marL="11430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3pPr>
            <a:lvl4pPr marL="16002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4pPr>
            <a:lvl5pPr marL="20574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9pPr>
          </a:lstStyle>
          <a:p>
            <a:fld id="{AC97891E-6D9B-6C4A-9BDB-508BD11D6A8C}" type="slidenum">
              <a:rPr lang="en-US" altLang="en-US" sz="1300"/>
              <a:pPr/>
              <a:t>31</a:t>
            </a:fld>
            <a:endParaRPr lang="en-US" altLang="en-US" sz="1300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973313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1pPr>
            <a:lvl2pPr marL="742950" indent="-28575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2pPr>
            <a:lvl3pPr marL="11430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3pPr>
            <a:lvl4pPr marL="16002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4pPr>
            <a:lvl5pPr marL="20574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9pPr>
          </a:lstStyle>
          <a:p>
            <a:fld id="{CB47DC7F-8BCA-9D48-A6A1-9BE3FB4590D2}" type="slidenum">
              <a:rPr lang="en-US" altLang="en-US" sz="1300"/>
              <a:pPr/>
              <a:t>32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14812773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A6495-08A5-4780-AF01-64577BB694E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6537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1pPr>
            <a:lvl2pPr marL="742950" indent="-28575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2pPr>
            <a:lvl3pPr marL="11430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3pPr>
            <a:lvl4pPr marL="16002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4pPr>
            <a:lvl5pPr marL="20574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9pPr>
          </a:lstStyle>
          <a:p>
            <a:fld id="{6081B875-98B0-CB4D-A0E6-6DF1EC756CD8}" type="slidenum">
              <a:rPr lang="en-US" altLang="en-US" sz="1300"/>
              <a:pPr/>
              <a:t>34</a:t>
            </a:fld>
            <a:endParaRPr lang="en-US" altLang="en-US" sz="1300"/>
          </a:p>
        </p:txBody>
      </p:sp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2659290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1pPr>
            <a:lvl2pPr marL="742950" indent="-28575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2pPr>
            <a:lvl3pPr marL="11430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3pPr>
            <a:lvl4pPr marL="16002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4pPr>
            <a:lvl5pPr marL="20574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9pPr>
          </a:lstStyle>
          <a:p>
            <a:fld id="{62B7494D-B5D6-AA42-BA2C-E8A801269211}" type="slidenum">
              <a:rPr lang="en-US" altLang="en-US" sz="1300"/>
              <a:pPr/>
              <a:t>35</a:t>
            </a:fld>
            <a:endParaRPr lang="en-US" altLang="en-US" sz="1300"/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096988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1pPr>
            <a:lvl2pPr marL="742950" indent="-28575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2pPr>
            <a:lvl3pPr marL="11430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3pPr>
            <a:lvl4pPr marL="16002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4pPr>
            <a:lvl5pPr marL="20574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9pPr>
          </a:lstStyle>
          <a:p>
            <a:fld id="{2986C5CB-F946-4342-A4BB-61F39E169012}" type="slidenum">
              <a:rPr lang="en-US" altLang="en-US" sz="1300"/>
              <a:pPr/>
              <a:t>36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81182230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1pPr>
            <a:lvl2pPr marL="742950" indent="-28575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2pPr>
            <a:lvl3pPr marL="11430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3pPr>
            <a:lvl4pPr marL="16002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4pPr>
            <a:lvl5pPr marL="20574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9pPr>
          </a:lstStyle>
          <a:p>
            <a:fld id="{FF4D1AF4-746D-1747-A38C-008F025D4874}" type="slidenum">
              <a:rPr lang="en-US" altLang="en-US" sz="1300"/>
              <a:pPr/>
              <a:t>37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43588627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1pPr>
            <a:lvl2pPr marL="742950" indent="-28575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2pPr>
            <a:lvl3pPr marL="11430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3pPr>
            <a:lvl4pPr marL="16002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4pPr>
            <a:lvl5pPr marL="20574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9pPr>
          </a:lstStyle>
          <a:p>
            <a:fld id="{8CBD1236-D087-A84C-9FF6-5CC158542CE0}" type="slidenum">
              <a:rPr lang="en-US" altLang="en-US" sz="1300"/>
              <a:pPr/>
              <a:t>38</a:t>
            </a:fld>
            <a:endParaRPr lang="en-US" altLang="en-US" sz="1300"/>
          </a:p>
        </p:txBody>
      </p:sp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416012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1pPr>
            <a:lvl2pPr marL="742950" indent="-28575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2pPr>
            <a:lvl3pPr marL="11430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3pPr>
            <a:lvl4pPr marL="16002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4pPr>
            <a:lvl5pPr marL="20574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9pPr>
          </a:lstStyle>
          <a:p>
            <a:fld id="{200E989B-829F-DB4D-93C3-4DA8AC5C308D}" type="slidenum">
              <a:rPr lang="en-US" altLang="en-US" sz="1300"/>
              <a:pPr/>
              <a:t>40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73419367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1pPr>
            <a:lvl2pPr marL="742950" indent="-28575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2pPr>
            <a:lvl3pPr marL="11430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3pPr>
            <a:lvl4pPr marL="16002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4pPr>
            <a:lvl5pPr marL="20574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9pPr>
          </a:lstStyle>
          <a:p>
            <a:fld id="{89B70134-E90C-BD4F-94FC-87B199C3553D}" type="slidenum">
              <a:rPr lang="en-US" altLang="en-US" sz="1300"/>
              <a:pPr/>
              <a:t>41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22567036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1pPr>
            <a:lvl2pPr marL="742950" indent="-28575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2pPr>
            <a:lvl3pPr marL="11430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3pPr>
            <a:lvl4pPr marL="16002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4pPr>
            <a:lvl5pPr marL="20574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9pPr>
          </a:lstStyle>
          <a:p>
            <a:fld id="{8B63F55A-7C38-3944-A1DD-817A3F7B2908}" type="slidenum">
              <a:rPr lang="en-US" altLang="en-US" sz="1300"/>
              <a:pPr/>
              <a:t>43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550844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1pPr>
            <a:lvl2pPr marL="742950" indent="-28575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2pPr>
            <a:lvl3pPr marL="11430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3pPr>
            <a:lvl4pPr marL="16002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4pPr>
            <a:lvl5pPr marL="20574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9pPr>
          </a:lstStyle>
          <a:p>
            <a:fld id="{1CFAB882-29B9-434B-AF69-55632A602B8C}" type="slidenum">
              <a:rPr lang="en-US" altLang="en-US" sz="1300"/>
              <a:pPr/>
              <a:t>44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413277674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1pPr>
            <a:lvl2pPr marL="742950" indent="-28575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2pPr>
            <a:lvl3pPr marL="11430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3pPr>
            <a:lvl4pPr marL="16002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4pPr>
            <a:lvl5pPr marL="20574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9pPr>
          </a:lstStyle>
          <a:p>
            <a:fld id="{3E4FD816-A97F-C34E-854F-D19BE7C88610}" type="slidenum">
              <a:rPr lang="en-US" altLang="en-US" sz="1300"/>
              <a:pPr/>
              <a:t>46</a:t>
            </a:fld>
            <a:endParaRPr lang="en-US" altLang="en-US" sz="1300"/>
          </a:p>
        </p:txBody>
      </p:sp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i="1" kern="1200" dirty="0" err="1">
                <a:solidFill>
                  <a:schemeClr val="accent2"/>
                </a:solidFill>
                <a:latin typeface="Helvetica Neue"/>
                <a:ea typeface="ＭＳ Ｐゴシック" charset="-128"/>
                <a:cs typeface="ＭＳ Ｐゴシック" charset="-128"/>
              </a:rPr>
              <a:t>Minimality</a:t>
            </a:r>
            <a:r>
              <a:rPr lang="en-US" altLang="en-US" sz="1200" kern="1200" dirty="0">
                <a:solidFill>
                  <a:schemeClr val="tx1"/>
                </a:solidFill>
                <a:latin typeface="Helvetica Neue"/>
                <a:ea typeface="ＭＳ Ｐゴシック" charset="-128"/>
                <a:cs typeface="ＭＳ Ｐゴシック" charset="-128"/>
              </a:rPr>
              <a:t> of a candidate key is crucial in third condition above!  </a:t>
            </a:r>
          </a:p>
        </p:txBody>
      </p:sp>
    </p:spTree>
    <p:extLst>
      <p:ext uri="{BB962C8B-B14F-4D97-AF65-F5344CB8AC3E}">
        <p14:creationId xmlns:p14="http://schemas.microsoft.com/office/powerpoint/2010/main" val="250413534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1pPr>
            <a:lvl2pPr marL="742950" indent="-28575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2pPr>
            <a:lvl3pPr marL="11430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3pPr>
            <a:lvl4pPr marL="16002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4pPr>
            <a:lvl5pPr marL="20574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9pPr>
          </a:lstStyle>
          <a:p>
            <a:fld id="{C5070086-F808-8846-B468-3718F184F9E0}" type="slidenum">
              <a:rPr lang="en-US" altLang="en-US" sz="1300"/>
              <a:pPr/>
              <a:t>48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45244093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1pPr>
            <a:lvl2pPr marL="742950" indent="-28575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2pPr>
            <a:lvl3pPr marL="11430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3pPr>
            <a:lvl4pPr marL="16002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4pPr>
            <a:lvl5pPr marL="20574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9pPr>
          </a:lstStyle>
          <a:p>
            <a:fld id="{2B1911A2-38D1-5E47-9425-D1CF41FAD151}" type="slidenum">
              <a:rPr lang="en-US" altLang="en-US" sz="1300"/>
              <a:pPr/>
              <a:t>49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410429453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1pPr>
            <a:lvl2pPr marL="742950" indent="-28575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2pPr>
            <a:lvl3pPr marL="11430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3pPr>
            <a:lvl4pPr marL="16002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4pPr>
            <a:lvl5pPr marL="20574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9pPr>
          </a:lstStyle>
          <a:p>
            <a:fld id="{4FF83761-E5DF-374B-8726-6FB999C25667}" type="slidenum">
              <a:rPr lang="en-US" altLang="en-US" sz="1300"/>
              <a:pPr/>
              <a:t>50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19451544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1pPr>
            <a:lvl2pPr marL="742950" indent="-28575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2pPr>
            <a:lvl3pPr marL="11430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3pPr>
            <a:lvl4pPr marL="16002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4pPr>
            <a:lvl5pPr marL="20574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9pPr>
          </a:lstStyle>
          <a:p>
            <a:fld id="{516944CD-732B-454F-9E80-1A46F307BD2E}" type="slidenum">
              <a:rPr lang="en-US" altLang="en-US" sz="1300"/>
              <a:pPr/>
              <a:t>52</a:t>
            </a:fld>
            <a:endParaRPr lang="en-US" altLang="en-US" sz="1300"/>
          </a:p>
        </p:txBody>
      </p:sp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53923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1pPr>
            <a:lvl2pPr marL="742950" indent="-28575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2pPr>
            <a:lvl3pPr marL="11430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3pPr>
            <a:lvl4pPr marL="16002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4pPr>
            <a:lvl5pPr marL="2057400" indent="-228600" defTabSz="965200"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rgbClr val="CF0E30"/>
                </a:solidFill>
                <a:latin typeface="Book Antiqua" charset="0"/>
                <a:ea typeface="Osaka" charset="-128"/>
              </a:defRPr>
            </a:lvl9pPr>
          </a:lstStyle>
          <a:p>
            <a:fld id="{516944CD-732B-454F-9E80-1A46F307BD2E}" type="slidenum">
              <a:rPr lang="en-US" altLang="en-US" sz="1300"/>
              <a:pPr/>
              <a:t>53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919682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46888" y="971550"/>
            <a:ext cx="6629400" cy="1600200"/>
          </a:xfrm>
        </p:spPr>
        <p:txBody>
          <a:bodyPr anchor="t">
            <a:normAutofit/>
          </a:bodyPr>
          <a:lstStyle>
            <a:lvl1pPr algn="l">
              <a:defRPr sz="4400" b="1" baseline="0">
                <a:solidFill>
                  <a:schemeClr val="tx1"/>
                </a:solidFill>
                <a:latin typeface="Helvetica Neue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246888" y="2771486"/>
            <a:ext cx="5437632" cy="1565401"/>
          </a:xfrm>
        </p:spPr>
        <p:txBody>
          <a:bodyPr>
            <a:noAutofit/>
          </a:bodyPr>
          <a:lstStyle>
            <a:lvl1pPr marL="0" indent="0" algn="r">
              <a:buNone/>
              <a:defRPr sz="2800" baseline="0">
                <a:solidFill>
                  <a:sysClr val="windowText" lastClr="000000"/>
                </a:solidFill>
                <a:latin typeface="Helvetica Neue" charset="0"/>
              </a:defRPr>
            </a:lvl1pPr>
          </a:lstStyle>
          <a:p>
            <a:pPr lvl="0"/>
            <a:r>
              <a:rPr lang="en-US" dirty="0"/>
              <a:t>Lecture Name</a:t>
            </a:r>
          </a:p>
        </p:txBody>
      </p:sp>
      <p:pic>
        <p:nvPicPr>
          <p:cNvPr id="6" name="Shape 15" descr="skitched-3-4.jpg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5791200" y="3257550"/>
            <a:ext cx="3132137" cy="1727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6600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d 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46888" y="285750"/>
            <a:ext cx="6534912" cy="1340358"/>
          </a:xfrm>
        </p:spPr>
        <p:txBody>
          <a:bodyPr anchor="t">
            <a:noAutofit/>
          </a:bodyPr>
          <a:lstStyle>
            <a:lvl1pPr algn="l">
              <a:defRPr sz="4400" b="1" baseline="0">
                <a:solidFill>
                  <a:schemeClr val="tx1"/>
                </a:solidFill>
                <a:latin typeface="Helvetica Neue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1"/>
          <p:cNvSpPr>
            <a:spLocks noGrp="1"/>
          </p:cNvSpPr>
          <p:nvPr>
            <p:ph sz="quarter" idx="10"/>
          </p:nvPr>
        </p:nvSpPr>
        <p:spPr>
          <a:xfrm>
            <a:off x="246888" y="1962150"/>
            <a:ext cx="8741664" cy="2743200"/>
          </a:xfrm>
        </p:spPr>
        <p:txBody>
          <a:bodyPr>
            <a:noAutofit/>
          </a:bodyPr>
          <a:lstStyle>
            <a:lvl1pPr marL="0" indent="0" algn="l">
              <a:buNone/>
              <a:defRPr sz="3200" baseline="0">
                <a:solidFill>
                  <a:schemeClr val="tx1"/>
                </a:solidFill>
                <a:latin typeface="Helvetica Neue" charset="0"/>
                <a:cs typeface="Helvetica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Shape 15" descr="skitched-3-4.jpg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7186942" y="285750"/>
            <a:ext cx="1830918" cy="1009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01740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Imag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888" y="310896"/>
            <a:ext cx="7144512" cy="768096"/>
          </a:xfrm>
        </p:spPr>
        <p:txBody>
          <a:bodyPr anchor="t">
            <a:noAutofit/>
          </a:bodyPr>
          <a:lstStyle>
            <a:lvl1pPr algn="l">
              <a:defRPr sz="3200" baseline="0">
                <a:latin typeface="Helvetica Neue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1"/>
          <p:cNvSpPr>
            <a:spLocks noGrp="1"/>
          </p:cNvSpPr>
          <p:nvPr>
            <p:ph sz="half" idx="1"/>
          </p:nvPr>
        </p:nvSpPr>
        <p:spPr>
          <a:xfrm>
            <a:off x="246888" y="1078992"/>
            <a:ext cx="4343400" cy="3017520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>
          <a:xfrm>
            <a:off x="4663440" y="1078992"/>
            <a:ext cx="4224528" cy="3044952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87293" y="320736"/>
            <a:ext cx="1377815" cy="76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105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 Title and Content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6888" y="310896"/>
            <a:ext cx="7068312" cy="667512"/>
          </a:xfrm>
        </p:spPr>
        <p:txBody>
          <a:bodyPr anchor="t">
            <a:normAutofit/>
          </a:bodyPr>
          <a:lstStyle>
            <a:lvl1pPr algn="l">
              <a:defRPr sz="3200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Click3 to edit Master title style</a:t>
            </a:r>
          </a:p>
        </p:txBody>
      </p:sp>
      <p:sp>
        <p:nvSpPr>
          <p:cNvPr id="7" name="Content Placeholder 1"/>
          <p:cNvSpPr>
            <a:spLocks noGrp="1"/>
          </p:cNvSpPr>
          <p:nvPr>
            <p:ph sz="quarter" idx="13"/>
          </p:nvPr>
        </p:nvSpPr>
        <p:spPr>
          <a:xfrm>
            <a:off x="246888" y="1060704"/>
            <a:ext cx="8668512" cy="3090672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1pPr>
            <a:lvl2pPr marL="742950" indent="-285750">
              <a:buClr>
                <a:schemeClr val="accent2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2pPr>
            <a:lvl3pPr marL="11430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Deck Title text box"/>
          <p:cNvSpPr txBox="1">
            <a:spLocks noChangeArrowheads="1"/>
          </p:cNvSpPr>
          <p:nvPr userDrawn="1"/>
        </p:nvSpPr>
        <p:spPr bwMode="auto">
          <a:xfrm>
            <a:off x="4667250" y="4379976"/>
            <a:ext cx="42243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Rockwel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Rockwel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Rockwel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Rockwel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Rockwel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Rockwel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Rockwel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Rockwel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Rockwell" charset="0"/>
                <a:ea typeface="ＭＳ Ｐゴシック" charset="0"/>
              </a:defRPr>
            </a:lvl9pPr>
          </a:lstStyle>
          <a:p>
            <a:pPr algn="r" eaLnBrk="1" hangingPunct="1">
              <a:defRPr/>
            </a:pPr>
            <a:r>
              <a:rPr lang="en-US" sz="1400" dirty="0">
                <a:solidFill>
                  <a:schemeClr val="bg1"/>
                </a:solidFill>
                <a:latin typeface="Century Gothic" charset="0"/>
                <a:cs typeface="Century Gothic" charset="0"/>
              </a:rPr>
              <a:t>Slide Deck Title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13773" y="310896"/>
            <a:ext cx="1377815" cy="76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850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d Title and Content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6888" y="310896"/>
            <a:ext cx="7525512" cy="1143000"/>
          </a:xfrm>
        </p:spPr>
        <p:txBody>
          <a:bodyPr anchor="t">
            <a:normAutofit/>
          </a:bodyPr>
          <a:lstStyle>
            <a:lvl1pPr algn="l">
              <a:defRPr sz="3200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sp>
        <p:nvSpPr>
          <p:cNvPr id="7" name="Content Placeholder 1"/>
          <p:cNvSpPr>
            <a:spLocks noGrp="1"/>
          </p:cNvSpPr>
          <p:nvPr>
            <p:ph sz="quarter" idx="13"/>
          </p:nvPr>
        </p:nvSpPr>
        <p:spPr>
          <a:xfrm>
            <a:off x="228600" y="1536192"/>
            <a:ext cx="8668512" cy="2615184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 sz="2800"/>
            </a:lvl1pPr>
            <a:lvl2pPr marL="742950" indent="-285750">
              <a:buClr>
                <a:schemeClr val="accent2"/>
              </a:buClr>
              <a:buFont typeface="Arial" panose="020B0604020202020204" pitchFamily="34" charset="0"/>
              <a:buChar char="•"/>
              <a:defRPr sz="2600"/>
            </a:lvl2pPr>
            <a:lvl3pPr marL="11430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13773" y="545526"/>
            <a:ext cx="1377815" cy="76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729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-lined Content and Imag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888" y="310896"/>
            <a:ext cx="7449312" cy="1161288"/>
          </a:xfrm>
          <a:solidFill>
            <a:schemeClr val="bg1"/>
          </a:solidFill>
        </p:spPr>
        <p:txBody>
          <a:bodyPr anchor="t">
            <a:normAutofit/>
          </a:bodyPr>
          <a:lstStyle>
            <a:lvl1pPr algn="l">
              <a:defRPr sz="3200" baseline="0">
                <a:latin typeface="Helvetica Neue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1"/>
          <p:cNvSpPr>
            <a:spLocks noGrp="1"/>
          </p:cNvSpPr>
          <p:nvPr>
            <p:ph sz="half" idx="1"/>
          </p:nvPr>
        </p:nvSpPr>
        <p:spPr>
          <a:xfrm>
            <a:off x="246888" y="1554480"/>
            <a:ext cx="4343400" cy="2633472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>
          <a:xfrm>
            <a:off x="4663440" y="1554480"/>
            <a:ext cx="4224528" cy="2633472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10153" y="444147"/>
            <a:ext cx="1377815" cy="76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137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skitched-3-4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864" y="2933700"/>
            <a:ext cx="3132137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16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436675"/>
            <a:ext cx="7620000" cy="857250"/>
          </a:xfrm>
        </p:spPr>
        <p:txBody>
          <a:bodyPr/>
          <a:lstStyle>
            <a:lvl1pPr algn="l">
              <a:defRPr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048000"/>
            <a:ext cx="4572000" cy="1047750"/>
          </a:xfrm>
        </p:spPr>
        <p:txBody>
          <a:bodyPr anchor="b" anchorCtr="0"/>
          <a:lstStyle>
            <a:lvl1pPr marL="0" indent="0" algn="r">
              <a:buFontTx/>
              <a:buNone/>
              <a:defRPr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050">
                <a:solidFill>
                  <a:schemeClr val="tx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050">
                <a:solidFill>
                  <a:schemeClr val="tx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</p:spPr>
        <p:txBody>
          <a:bodyPr/>
          <a:lstStyle>
            <a:lvl1pPr>
              <a:defRPr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>
              <a:defRPr/>
            </a:pPr>
            <a:fld id="{59B8027A-901F-8D4B-BEEB-5E526ED1FF3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Picture 5" descr="skitched-3-4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864" y="2933700"/>
            <a:ext cx="3132137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404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884267-D271-3C43-A608-FB4A870ECEE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273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0"/>
            <a:ext cx="7162800" cy="857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085850"/>
            <a:ext cx="3810000" cy="3829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085850"/>
            <a:ext cx="3810000" cy="3829050"/>
          </a:xfrm>
        </p:spPr>
        <p:txBody>
          <a:bodyPr/>
          <a:lstStyle/>
          <a:p>
            <a:pPr lvl="0"/>
            <a:r>
              <a:rPr lang="en-US" noProof="0"/>
              <a:t>Click icon to add clip art</a:t>
            </a:r>
            <a:endParaRPr lang="en-US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527B3C-CC12-9E42-A89A-C8F69554E80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358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783B0-C189-9248-9374-C3851D12A000}" type="datetimeFigureOut">
              <a:rPr lang="en-US" smtClean="0"/>
              <a:t>2/21/19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DBE92-7D83-6C40-B90C-DDFD8E85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27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783B0-C189-9248-9374-C3851D12A000}" type="datetimeFigureOut">
              <a:rPr lang="en-US" smtClean="0"/>
              <a:t>2/21/19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DBE92-7D83-6C40-B90C-DDFD8E85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6729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783B0-C189-9248-9374-C3851D12A000}" type="datetimeFigureOut">
              <a:rPr lang="en-US" smtClean="0"/>
              <a:t>2/21/19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DBE92-7D83-6C40-B90C-DDFD8E85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815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783B0-C189-9248-9374-C3851D12A000}" type="datetimeFigureOut">
              <a:rPr lang="en-US" smtClean="0"/>
              <a:t>2/21/19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DBE92-7D83-6C40-B90C-DDFD8E85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1219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783B0-C189-9248-9374-C3851D12A000}" type="datetimeFigureOut">
              <a:rPr lang="en-US" smtClean="0"/>
              <a:t>2/21/19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DBE92-7D83-6C40-B90C-DDFD8E85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726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783B0-C189-9248-9374-C3851D12A000}" type="datetimeFigureOut">
              <a:rPr lang="en-US" smtClean="0"/>
              <a:t>2/21/19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DBE92-7D83-6C40-B90C-DDFD8E85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9365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783B0-C189-9248-9374-C3851D12A000}" type="datetimeFigureOut">
              <a:rPr lang="en-US" smtClean="0"/>
              <a:t>2/21/19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DBE92-7D83-6C40-B90C-DDFD8E85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5038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783B0-C189-9248-9374-C3851D12A000}" type="datetimeFigureOut">
              <a:rPr lang="en-US" smtClean="0"/>
              <a:t>2/21/19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DBE92-7D83-6C40-B90C-DDFD8E85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296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783B0-C189-9248-9374-C3851D12A000}" type="datetimeFigureOut">
              <a:rPr lang="en-US" smtClean="0"/>
              <a:t>2/21/19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DBE92-7D83-6C40-B90C-DDFD8E85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0160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783B0-C189-9248-9374-C3851D12A000}" type="datetimeFigureOut">
              <a:rPr lang="en-US" smtClean="0"/>
              <a:t>2/21/19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DBE92-7D83-6C40-B90C-DDFD8E85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4895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783B0-C189-9248-9374-C3851D12A000}" type="datetimeFigureOut">
              <a:rPr lang="en-US" smtClean="0"/>
              <a:t>2/21/19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DBE92-7D83-6C40-B90C-DDFD8E85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797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8FFD81-3213-4789-B5DF-194594E817CD}" type="datetimeFigureOut">
              <a:rPr lang="en-US" smtClean="0"/>
              <a:t>2/21/19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FCA20-D3C1-4D02-835D-77BA55FE14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6574971" y="3692071"/>
            <a:ext cx="2569029" cy="14514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982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60" r:id="rId2"/>
    <p:sldLayoutId id="2147483668" r:id="rId3"/>
    <p:sldLayoutId id="2147483673" r:id="rId4"/>
    <p:sldLayoutId id="2147483666" r:id="rId5"/>
    <p:sldLayoutId id="2147483667" r:id="rId6"/>
    <p:sldLayoutId id="2147483691" r:id="rId7"/>
    <p:sldLayoutId id="2147483692" r:id="rId8"/>
    <p:sldLayoutId id="2147483693" r:id="rId9"/>
  </p:sldLayoutIdLst>
  <p:txStyles>
    <p:titleStyle>
      <a:lvl1pPr algn="l" defTabSz="914400" rtl="0" eaLnBrk="1" latinLnBrk="0" hangingPunct="1">
        <a:spcBef>
          <a:spcPct val="0"/>
        </a:spcBef>
        <a:buNone/>
        <a:defRPr sz="3200" kern="1200" baseline="0">
          <a:solidFill>
            <a:schemeClr val="tx1"/>
          </a:solidFill>
          <a:latin typeface="Helvetica Neue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2"/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Helvetica Neue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2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Helvetica Neue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Helvetica Neue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783B0-C189-9248-9374-C3851D12A000}" type="datetimeFigureOut">
              <a:rPr lang="en-US" smtClean="0"/>
              <a:t>2/21/19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0DBE92-7D83-6C40-B90C-DDFD8E85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569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image" Target="../media/image6.tif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tiff"/><Relationship Id="rId5" Type="http://schemas.openxmlformats.org/officeDocument/2006/relationships/image" Target="../media/image8.emf"/><Relationship Id="rId4" Type="http://schemas.openxmlformats.org/officeDocument/2006/relationships/oleObject" Target="../embeddings/oleObject1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tiff"/><Relationship Id="rId5" Type="http://schemas.openxmlformats.org/officeDocument/2006/relationships/image" Target="../media/image8.emf"/><Relationship Id="rId4" Type="http://schemas.openxmlformats.org/officeDocument/2006/relationships/oleObject" Target="../embeddings/oleObject2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.tiff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0.emf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9.emf"/><Relationship Id="rId10" Type="http://schemas.openxmlformats.org/officeDocument/2006/relationships/image" Target="../media/image12.tiff"/><Relationship Id="rId4" Type="http://schemas.openxmlformats.org/officeDocument/2006/relationships/oleObject" Target="../embeddings/oleObject5.bin"/><Relationship Id="rId9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6.tiff"/><Relationship Id="rId5" Type="http://schemas.openxmlformats.org/officeDocument/2006/relationships/image" Target="../media/image14.png"/><Relationship Id="rId4" Type="http://schemas.openxmlformats.org/officeDocument/2006/relationships/oleObject" Target="../embeddings/oleObject7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microsoft.com/office/2007/relationships/hdphoto" Target="../media/hdphoto1.wdp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8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10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9.emf"/><Relationship Id="rId4" Type="http://schemas.openxmlformats.org/officeDocument/2006/relationships/oleObject" Target="../embeddings/oleObject9.bin"/><Relationship Id="rId9" Type="http://schemas.microsoft.com/office/2007/relationships/hdphoto" Target="../media/hdphoto1.wdp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if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notesSlide" Target="../notesSlides/notesSlide28.xml"/><Relationship Id="rId7" Type="http://schemas.openxmlformats.org/officeDocument/2006/relationships/image" Target="../media/image9.emf"/><Relationship Id="rId12" Type="http://schemas.openxmlformats.org/officeDocument/2006/relationships/image" Target="../media/image17.tiff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8.emf"/><Relationship Id="rId5" Type="http://schemas.openxmlformats.org/officeDocument/2006/relationships/image" Target="../media/image16.e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0.e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13" Type="http://schemas.openxmlformats.org/officeDocument/2006/relationships/image" Target="../media/image22.emf"/><Relationship Id="rId18" Type="http://schemas.openxmlformats.org/officeDocument/2006/relationships/image" Target="../media/image15.tiff"/><Relationship Id="rId3" Type="http://schemas.openxmlformats.org/officeDocument/2006/relationships/notesSlide" Target="../notesSlides/notesSlide29.xml"/><Relationship Id="rId7" Type="http://schemas.openxmlformats.org/officeDocument/2006/relationships/image" Target="../media/image19.emf"/><Relationship Id="rId12" Type="http://schemas.openxmlformats.org/officeDocument/2006/relationships/oleObject" Target="../embeddings/oleObject19.bin"/><Relationship Id="rId17" Type="http://schemas.openxmlformats.org/officeDocument/2006/relationships/image" Target="../media/image24.emf"/><Relationship Id="rId2" Type="http://schemas.openxmlformats.org/officeDocument/2006/relationships/slideLayout" Target="../slideLayouts/slideLayout8.xml"/><Relationship Id="rId16" Type="http://schemas.openxmlformats.org/officeDocument/2006/relationships/oleObject" Target="../embeddings/oleObject21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21.emf"/><Relationship Id="rId5" Type="http://schemas.openxmlformats.org/officeDocument/2006/relationships/image" Target="../media/image18.emf"/><Relationship Id="rId15" Type="http://schemas.openxmlformats.org/officeDocument/2006/relationships/image" Target="../media/image23.emf"/><Relationship Id="rId10" Type="http://schemas.openxmlformats.org/officeDocument/2006/relationships/oleObject" Target="../embeddings/oleObject18.bin"/><Relationship Id="rId4" Type="http://schemas.openxmlformats.org/officeDocument/2006/relationships/oleObject" Target="../embeddings/oleObject15.bin"/><Relationship Id="rId9" Type="http://schemas.openxmlformats.org/officeDocument/2006/relationships/image" Target="../media/image20.emf"/><Relationship Id="rId14" Type="http://schemas.openxmlformats.org/officeDocument/2006/relationships/oleObject" Target="../embeddings/oleObject20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image" Target="../media/image29.emf"/><Relationship Id="rId18" Type="http://schemas.openxmlformats.org/officeDocument/2006/relationships/image" Target="../media/image31.tiff"/><Relationship Id="rId3" Type="http://schemas.openxmlformats.org/officeDocument/2006/relationships/notesSlide" Target="../notesSlides/notesSlide32.xml"/><Relationship Id="rId7" Type="http://schemas.openxmlformats.org/officeDocument/2006/relationships/image" Target="../media/image26.emf"/><Relationship Id="rId12" Type="http://schemas.openxmlformats.org/officeDocument/2006/relationships/oleObject" Target="../embeddings/oleObject26.bin"/><Relationship Id="rId17" Type="http://schemas.openxmlformats.org/officeDocument/2006/relationships/image" Target="../media/image24.emf"/><Relationship Id="rId2" Type="http://schemas.openxmlformats.org/officeDocument/2006/relationships/slideLayout" Target="../slideLayouts/slideLayout4.xml"/><Relationship Id="rId16" Type="http://schemas.openxmlformats.org/officeDocument/2006/relationships/oleObject" Target="../embeddings/oleObject28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28.emf"/><Relationship Id="rId5" Type="http://schemas.openxmlformats.org/officeDocument/2006/relationships/image" Target="../media/image25.emf"/><Relationship Id="rId15" Type="http://schemas.openxmlformats.org/officeDocument/2006/relationships/image" Target="../media/image30.emf"/><Relationship Id="rId10" Type="http://schemas.openxmlformats.org/officeDocument/2006/relationships/oleObject" Target="../embeddings/oleObject25.bin"/><Relationship Id="rId4" Type="http://schemas.openxmlformats.org/officeDocument/2006/relationships/oleObject" Target="../embeddings/oleObject22.bin"/><Relationship Id="rId9" Type="http://schemas.openxmlformats.org/officeDocument/2006/relationships/image" Target="../media/image27.emf"/><Relationship Id="rId14" Type="http://schemas.openxmlformats.org/officeDocument/2006/relationships/oleObject" Target="../embeddings/oleObject27.bin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tif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tif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tiff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Relationship Id="rId5" Type="http://schemas.microsoft.com/office/2007/relationships/hdphoto" Target="../media/hdphoto2.wdp"/><Relationship Id="rId4" Type="http://schemas.openxmlformats.org/officeDocument/2006/relationships/image" Target="../media/image33.jpe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tiff"/><Relationship Id="rId2" Type="http://schemas.openxmlformats.org/officeDocument/2006/relationships/image" Target="../media/image34.tif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>
                <a:latin typeface="Helvetica Neue Light" charset="0"/>
              </a:rPr>
              <a:t>Functional Dependencies</a:t>
            </a:r>
            <a:br>
              <a:rPr lang="en-US" altLang="en-US" dirty="0">
                <a:latin typeface="Helvetica Neue Light" charset="0"/>
              </a:rPr>
            </a:br>
            <a:r>
              <a:rPr lang="en-US" altLang="en-US" dirty="0">
                <a:latin typeface="Helvetica Neue Light" charset="0"/>
              </a:rPr>
              <a:t>and Schema Refinement</a:t>
            </a:r>
          </a:p>
        </p:txBody>
      </p:sp>
      <p:sp>
        <p:nvSpPr>
          <p:cNvPr id="16388" name="Subtitle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Helvetica Neue" charset="0"/>
              </a:rPr>
              <a:t>R&amp;G 19</a:t>
            </a:r>
          </a:p>
        </p:txBody>
      </p:sp>
    </p:spTree>
    <p:extLst>
      <p:ext uri="{BB962C8B-B14F-4D97-AF65-F5344CB8AC3E}">
        <p14:creationId xmlns:p14="http://schemas.microsoft.com/office/powerpoint/2010/main" val="180928901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Steps in Database Design, </a:t>
            </a:r>
            <a:r>
              <a:rPr lang="en-US" altLang="x-none" dirty="0" err="1"/>
              <a:t>cont</a:t>
            </a:r>
            <a:endParaRPr lang="en-US" altLang="x-none" dirty="0"/>
          </a:p>
        </p:txBody>
      </p:sp>
      <p:sp>
        <p:nvSpPr>
          <p:cNvPr id="32771" name="Rectangle 3" descr="Arrow Pointing to " title="You have completed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x-none" dirty="0"/>
              <a:t>Requirements Analysis</a:t>
            </a:r>
          </a:p>
          <a:p>
            <a:pPr lvl="1"/>
            <a:r>
              <a:rPr lang="en-US" altLang="x-none" dirty="0"/>
              <a:t> user needs; what must database do?</a:t>
            </a:r>
          </a:p>
          <a:p>
            <a:r>
              <a:rPr lang="en-US" altLang="x-none" dirty="0"/>
              <a:t>Conceptual Design</a:t>
            </a:r>
          </a:p>
          <a:p>
            <a:pPr lvl="1"/>
            <a:r>
              <a:rPr lang="en-US" altLang="x-none" i="1" dirty="0"/>
              <a:t> high level description (often done w/ER model)</a:t>
            </a:r>
          </a:p>
          <a:p>
            <a:pPr lvl="1"/>
            <a:r>
              <a:rPr lang="en-US" altLang="x-none" dirty="0"/>
              <a:t> ORM encourages you to program here</a:t>
            </a:r>
          </a:p>
          <a:p>
            <a:r>
              <a:rPr lang="en-US" altLang="x-none" dirty="0"/>
              <a:t>Logical Design</a:t>
            </a:r>
          </a:p>
          <a:p>
            <a:pPr lvl="1"/>
            <a:r>
              <a:rPr lang="en-US" altLang="x-none" dirty="0"/>
              <a:t> translate ER into DBMS data model</a:t>
            </a:r>
          </a:p>
          <a:p>
            <a:pPr lvl="1"/>
            <a:r>
              <a:rPr lang="en-US" altLang="x-none" dirty="0"/>
              <a:t> ORMs often require you to help here too</a:t>
            </a:r>
          </a:p>
          <a:p>
            <a:r>
              <a:rPr lang="en-US" altLang="x-none" b="1" dirty="0"/>
              <a:t>Schema Refinement </a:t>
            </a:r>
          </a:p>
          <a:p>
            <a:pPr lvl="1"/>
            <a:r>
              <a:rPr lang="en-US" altLang="x-none" b="1" dirty="0"/>
              <a:t> consistency, normalization</a:t>
            </a:r>
          </a:p>
          <a:p>
            <a:r>
              <a:rPr lang="en-US" altLang="x-none" dirty="0"/>
              <a:t>Physical Design - indexes, disk layout</a:t>
            </a:r>
          </a:p>
          <a:p>
            <a:r>
              <a:rPr lang="en-US" altLang="x-none" dirty="0"/>
              <a:t>Security Design - who accesses what, and how</a:t>
            </a:r>
          </a:p>
        </p:txBody>
      </p:sp>
      <p:sp>
        <p:nvSpPr>
          <p:cNvPr id="7" name="Left Arrow 6" descr="Arrow pointing to Schema Refinment: consistency, normalization" title="You are here"/>
          <p:cNvSpPr/>
          <p:nvPr/>
        </p:nvSpPr>
        <p:spPr>
          <a:xfrm>
            <a:off x="3891148" y="3393718"/>
            <a:ext cx="299852" cy="29761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8" name="TextBox 7" descr="Arrow pointing to Schema Refinment: consistency, normalization" title="You are here"/>
          <p:cNvSpPr txBox="1"/>
          <p:nvPr/>
        </p:nvSpPr>
        <p:spPr>
          <a:xfrm flipH="1">
            <a:off x="4191000" y="3393718"/>
            <a:ext cx="145485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You are here</a:t>
            </a:r>
          </a:p>
        </p:txBody>
      </p:sp>
      <p:sp>
        <p:nvSpPr>
          <p:cNvPr id="10" name="Left Arrow 9" descr="Arrow Pointing to Concetual Design" title="You have completed">
            <a:extLst>
              <a:ext uri="{FF2B5EF4-FFF2-40B4-BE49-F238E27FC236}">
                <a16:creationId xmlns:a16="http://schemas.microsoft.com/office/drawing/2014/main" id="{517498F6-63BE-4748-9D99-FFD0AD3C0C0C}"/>
              </a:ext>
            </a:extLst>
          </p:cNvPr>
          <p:cNvSpPr/>
          <p:nvPr/>
        </p:nvSpPr>
        <p:spPr>
          <a:xfrm>
            <a:off x="5985321" y="2086500"/>
            <a:ext cx="299852" cy="297614"/>
          </a:xfrm>
          <a:prstGeom prst="left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1" name="TextBox 10" descr="Arrow Pointing to Concetual Design" title="You have completed">
            <a:extLst>
              <a:ext uri="{FF2B5EF4-FFF2-40B4-BE49-F238E27FC236}">
                <a16:creationId xmlns:a16="http://schemas.microsoft.com/office/drawing/2014/main" id="{E4697E5D-1A5A-DF4E-8628-91386AEA5750}"/>
              </a:ext>
            </a:extLst>
          </p:cNvPr>
          <p:cNvSpPr txBox="1"/>
          <p:nvPr/>
        </p:nvSpPr>
        <p:spPr>
          <a:xfrm>
            <a:off x="6286885" y="2086500"/>
            <a:ext cx="12976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 Neue" charset="0"/>
                <a:ea typeface="Helvetica Neue" charset="0"/>
                <a:cs typeface="Helvetica Neue" charset="0"/>
              </a:rPr>
              <a:t>Completed</a:t>
            </a:r>
          </a:p>
        </p:txBody>
      </p:sp>
      <p:sp>
        <p:nvSpPr>
          <p:cNvPr id="12" name="Left Arrow 11" descr="Arrow pointing to Logical Design" title="You have Completed">
            <a:extLst>
              <a:ext uri="{FF2B5EF4-FFF2-40B4-BE49-F238E27FC236}">
                <a16:creationId xmlns:a16="http://schemas.microsoft.com/office/drawing/2014/main" id="{3E698D77-61C2-0B48-9271-573C6D9A465B}"/>
              </a:ext>
            </a:extLst>
          </p:cNvPr>
          <p:cNvSpPr/>
          <p:nvPr/>
        </p:nvSpPr>
        <p:spPr>
          <a:xfrm>
            <a:off x="5034909" y="2803951"/>
            <a:ext cx="299852" cy="297614"/>
          </a:xfrm>
          <a:prstGeom prst="left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3" name="TextBox 12" descr="Arrow pointing to Logical Design" title="You have Completed">
            <a:extLst>
              <a:ext uri="{FF2B5EF4-FFF2-40B4-BE49-F238E27FC236}">
                <a16:creationId xmlns:a16="http://schemas.microsoft.com/office/drawing/2014/main" id="{28A28454-33D1-9D44-AF54-67899025D705}"/>
              </a:ext>
            </a:extLst>
          </p:cNvPr>
          <p:cNvSpPr txBox="1"/>
          <p:nvPr/>
        </p:nvSpPr>
        <p:spPr>
          <a:xfrm>
            <a:off x="5336473" y="2803951"/>
            <a:ext cx="12976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 Neue" charset="0"/>
                <a:ea typeface="Helvetica Neue" charset="0"/>
                <a:cs typeface="Helvetica Neue" charset="0"/>
              </a:rPr>
              <a:t>Completed</a:t>
            </a:r>
          </a:p>
        </p:txBody>
      </p:sp>
    </p:spTree>
    <p:extLst>
      <p:ext uri="{BB962C8B-B14F-4D97-AF65-F5344CB8AC3E}">
        <p14:creationId xmlns:p14="http://schemas.microsoft.com/office/powerpoint/2010/main" val="3851834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 Overview</a:t>
            </a:r>
            <a:endParaRPr lang="en-US" altLang="en-US" dirty="0"/>
          </a:p>
        </p:txBody>
      </p:sp>
      <p:sp>
        <p:nvSpPr>
          <p:cNvPr id="22530" name="Rectangle 5"/>
          <p:cNvSpPr>
            <a:spLocks noGrp="1" noChangeArrowheads="1"/>
          </p:cNvSpPr>
          <p:nvPr>
            <p:ph idx="1"/>
          </p:nvPr>
        </p:nvSpPr>
        <p:spPr>
          <a:xfrm>
            <a:off x="457200" y="1200151"/>
            <a:ext cx="8229600" cy="3941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dirty="0"/>
              <a:t>The Evil to Avoid: Redundancy in your schema</a:t>
            </a:r>
          </a:p>
          <a:p>
            <a:pPr lvl="1"/>
            <a:r>
              <a:rPr lang="en-US" altLang="en-US" sz="2000" dirty="0"/>
              <a:t>i.e. replicated values</a:t>
            </a:r>
          </a:p>
          <a:p>
            <a:pPr lvl="1"/>
            <a:r>
              <a:rPr lang="en-US" altLang="en-US" sz="2000" dirty="0"/>
              <a:t>leads to wasted storage </a:t>
            </a:r>
          </a:p>
          <a:p>
            <a:pPr lvl="1"/>
            <a:r>
              <a:rPr lang="en-US" altLang="en-US" sz="2000" dirty="0"/>
              <a:t>Far more important: insert/delete/update </a:t>
            </a:r>
            <a:r>
              <a:rPr lang="en-US" altLang="en-US" sz="2000" b="1" dirty="0"/>
              <a:t>anomalies</a:t>
            </a:r>
          </a:p>
          <a:p>
            <a:pPr lvl="2"/>
            <a:r>
              <a:rPr lang="en-US" altLang="en-US" sz="2000" dirty="0"/>
              <a:t>Replicated data + change = Trouble.</a:t>
            </a:r>
          </a:p>
          <a:p>
            <a:pPr lvl="2"/>
            <a:r>
              <a:rPr lang="en-US" altLang="en-US" sz="2000" dirty="0"/>
              <a:t>We’ll see examples shortly</a:t>
            </a:r>
          </a:p>
        </p:txBody>
      </p:sp>
      <p:pic>
        <p:nvPicPr>
          <p:cNvPr id="2" name="Picture 1" descr="A picture of Lord Voldemort from harry Potter captioned &quot;redundancy&quot;" title="Redundanc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28576"/>
            <a:ext cx="1757363" cy="2343150"/>
          </a:xfrm>
          <a:prstGeom prst="rect">
            <a:avLst/>
          </a:prstGeom>
        </p:spPr>
      </p:pic>
      <p:pic>
        <p:nvPicPr>
          <p:cNvPr id="4" name="Picture 3" title="Redundancy"/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188443" y="1895476"/>
            <a:ext cx="1952244" cy="653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25448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EC938-7AAF-DE4E-B7E1-1C60B8892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</a:t>
            </a:r>
            <a:r>
              <a:rPr lang="en-US" dirty="0" err="1"/>
              <a:t>cont</a:t>
            </a:r>
            <a:r>
              <a:rPr lang="en-US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A6190-D95D-224D-B356-7351F90E9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Solution: Functional Dependencies</a:t>
            </a:r>
          </a:p>
          <a:p>
            <a:pPr lvl="1"/>
            <a:r>
              <a:rPr lang="en-US" altLang="en-US" dirty="0"/>
              <a:t>a form of integrity constraints</a:t>
            </a:r>
          </a:p>
          <a:p>
            <a:pPr lvl="1"/>
            <a:r>
              <a:rPr lang="en-US" altLang="en-US" dirty="0"/>
              <a:t>help identify redundancy in schemas</a:t>
            </a:r>
          </a:p>
          <a:p>
            <a:pPr lvl="1"/>
            <a:r>
              <a:rPr lang="en-US" altLang="en-US" dirty="0"/>
              <a:t>help suggest refinements</a:t>
            </a:r>
          </a:p>
          <a:p>
            <a:r>
              <a:rPr lang="en-US" altLang="en-US" dirty="0"/>
              <a:t>Main refinement technique:  Decomposition </a:t>
            </a:r>
          </a:p>
          <a:p>
            <a:pPr lvl="1"/>
            <a:r>
              <a:rPr lang="en-US" altLang="en-US" dirty="0"/>
              <a:t>split the columns of one table into two tables</a:t>
            </a:r>
          </a:p>
          <a:p>
            <a:pPr lvl="1"/>
            <a:r>
              <a:rPr lang="en-US" altLang="en-US" dirty="0"/>
              <a:t>often good, but need to do this judiciously</a:t>
            </a:r>
          </a:p>
        </p:txBody>
      </p:sp>
      <p:pic>
        <p:nvPicPr>
          <p:cNvPr id="6" name="Picture 5" descr="Picture of Professor Dumbledore from Harry Potter" title="Functional Dependenci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313929"/>
            <a:ext cx="2694112" cy="1498600"/>
          </a:xfrm>
          <a:prstGeom prst="rect">
            <a:avLst/>
          </a:prstGeom>
        </p:spPr>
      </p:pic>
      <p:grpSp>
        <p:nvGrpSpPr>
          <p:cNvPr id="9" name="Group 8" descr="Picture of Professor Dumbledore from Harry Potter" title="Functional Dependencies"/>
          <p:cNvGrpSpPr/>
          <p:nvPr/>
        </p:nvGrpSpPr>
        <p:grpSpPr>
          <a:xfrm>
            <a:off x="7041722" y="1920479"/>
            <a:ext cx="1645078" cy="838425"/>
            <a:chOff x="6736922" y="1846285"/>
            <a:chExt cx="2223356" cy="1133148"/>
          </a:xfrm>
        </p:grpSpPr>
        <p:pic>
          <p:nvPicPr>
            <p:cNvPr id="7" name="Picture 6" title="Functional Dependencies"/>
            <p:cNvPicPr>
              <a:picLocks noChangeAspect="1"/>
            </p:cNvPicPr>
            <p:nvPr/>
          </p:nvPicPr>
          <p:blipFill rotWithShape="1">
            <a:blip r:embed="rId3"/>
            <a:srcRect r="57013"/>
            <a:stretch/>
          </p:blipFill>
          <p:spPr>
            <a:xfrm>
              <a:off x="7010400" y="1846285"/>
              <a:ext cx="1676400" cy="664151"/>
            </a:xfrm>
            <a:prstGeom prst="rect">
              <a:avLst/>
            </a:prstGeom>
          </p:spPr>
        </p:pic>
        <p:pic>
          <p:nvPicPr>
            <p:cNvPr id="8" name="Picture 7" title="Functional Dependencies"/>
            <p:cNvPicPr>
              <a:picLocks noChangeAspect="1"/>
            </p:cNvPicPr>
            <p:nvPr/>
          </p:nvPicPr>
          <p:blipFill rotWithShape="1">
            <a:blip r:embed="rId3"/>
            <a:srcRect l="42987"/>
            <a:stretch/>
          </p:blipFill>
          <p:spPr>
            <a:xfrm>
              <a:off x="6736922" y="2315282"/>
              <a:ext cx="2223356" cy="6641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1936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Functional Dependencies (FDs)</a:t>
            </a:r>
          </a:p>
        </p:txBody>
      </p:sp>
      <p:sp>
        <p:nvSpPr>
          <p:cNvPr id="8197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Idea: X </a:t>
            </a:r>
            <a:r>
              <a:rPr lang="is-IS" altLang="ja-JP" dirty="0">
                <a:sym typeface="Symbol" charset="2"/>
              </a:rPr>
              <a:t>→</a:t>
            </a:r>
            <a:r>
              <a:rPr lang="en-US" altLang="en-US" dirty="0"/>
              <a:t>Y means</a:t>
            </a:r>
          </a:p>
          <a:p>
            <a:pPr lvl="1"/>
            <a:r>
              <a:rPr lang="en-US" altLang="en-US" dirty="0"/>
              <a:t>(Read “</a:t>
            </a:r>
            <a:r>
              <a:rPr lang="is-IS" altLang="ja-JP" dirty="0">
                <a:sym typeface="Symbol" charset="2"/>
              </a:rPr>
              <a:t>→</a:t>
            </a:r>
            <a:r>
              <a:rPr lang="en-US" altLang="ja-JP" dirty="0">
                <a:sym typeface="Symbol" charset="2"/>
              </a:rPr>
              <a:t>” as “determines”)</a:t>
            </a:r>
            <a:endParaRPr lang="en-US" altLang="ja-JP" dirty="0"/>
          </a:p>
          <a:p>
            <a:pPr lvl="1"/>
            <a:r>
              <a:rPr lang="en-US" altLang="en-US" dirty="0"/>
              <a:t>Given any two tuples in table r, </a:t>
            </a:r>
            <a:br>
              <a:rPr lang="en-US" altLang="en-US" dirty="0"/>
            </a:br>
            <a:r>
              <a:rPr lang="en-US" altLang="en-US" dirty="0"/>
              <a:t>		if their X values are the same, </a:t>
            </a:r>
            <a:br>
              <a:rPr lang="en-US" altLang="en-US" dirty="0"/>
            </a:br>
            <a:r>
              <a:rPr lang="en-US" altLang="en-US" dirty="0"/>
              <a:t>			then their Y values must be the same. </a:t>
            </a:r>
            <a:br>
              <a:rPr lang="en-US" altLang="en-US" dirty="0"/>
            </a:br>
            <a:r>
              <a:rPr lang="en-US" altLang="en-US" dirty="0"/>
              <a:t>			(but not vice versa)</a:t>
            </a:r>
          </a:p>
        </p:txBody>
      </p:sp>
      <p:graphicFrame>
        <p:nvGraphicFramePr>
          <p:cNvPr id="4" name="Table 3" descr="Table with columns (X, Y, and Z)" titl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2982961"/>
              </p:ext>
            </p:extLst>
          </p:nvPr>
        </p:nvGraphicFramePr>
        <p:xfrm>
          <a:off x="2514600" y="3409950"/>
          <a:ext cx="3276600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46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i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2400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val 4" descr="A circle highlighting that the X value in the first 2 rows are both 2s" title="Circle"/>
          <p:cNvSpPr/>
          <p:nvPr/>
        </p:nvSpPr>
        <p:spPr>
          <a:xfrm>
            <a:off x="2209800" y="3714750"/>
            <a:ext cx="990600" cy="87987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657600" y="4158698"/>
            <a:ext cx="304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83062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FD</a:t>
            </a:r>
            <a:r>
              <a:rPr lang="fr-FR" altLang="en-US"/>
              <a:t>’</a:t>
            </a:r>
            <a:r>
              <a:rPr lang="en-US" altLang="en-US"/>
              <a:t>s Continued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Formally: An FD X </a:t>
            </a:r>
            <a:r>
              <a:rPr lang="is-IS" altLang="en-US" dirty="0">
                <a:sym typeface="Symbol" charset="2"/>
              </a:rPr>
              <a:t>→</a:t>
            </a:r>
            <a:r>
              <a:rPr lang="en-US" altLang="en-US" dirty="0"/>
              <a:t> Y holds over relation schema R if, for every allowable instance r of R:</a:t>
            </a:r>
          </a:p>
          <a:p>
            <a:pPr lvl="2"/>
            <a:r>
              <a:rPr lang="en-US" altLang="en-US" dirty="0"/>
              <a:t> </a:t>
            </a:r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t1 </a:t>
            </a:r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  <a:sym typeface="Symbol" charset="2"/>
              </a:rPr>
              <a:t>∈ </a:t>
            </a:r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r,  t2 </a:t>
            </a:r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  <a:sym typeface="Symbol" charset="2"/>
              </a:rPr>
              <a:t>∈</a:t>
            </a:r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 r,  π</a:t>
            </a:r>
            <a:r>
              <a:rPr lang="en-US" altLang="en-US" baseline="-25000" dirty="0">
                <a:latin typeface="Times New Roman" charset="0"/>
                <a:ea typeface="Times New Roman" charset="0"/>
                <a:cs typeface="Times New Roman" charset="0"/>
              </a:rPr>
              <a:t>X</a:t>
            </a:r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 (t1) = π</a:t>
            </a:r>
            <a:r>
              <a:rPr lang="en-US" altLang="en-US" baseline="-25000" dirty="0">
                <a:latin typeface="Times New Roman" charset="0"/>
                <a:ea typeface="Times New Roman" charset="0"/>
                <a:cs typeface="Times New Roman" charset="0"/>
              </a:rPr>
              <a:t>X</a:t>
            </a:r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 (t2)  ⇒ π</a:t>
            </a:r>
            <a:r>
              <a:rPr lang="en-US" altLang="en-US" baseline="-25000" dirty="0">
                <a:latin typeface="Times New Roman" charset="0"/>
                <a:ea typeface="Times New Roman" charset="0"/>
                <a:cs typeface="Times New Roman" charset="0"/>
              </a:rPr>
              <a:t>Y</a:t>
            </a:r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 (t1) = π</a:t>
            </a:r>
            <a:r>
              <a:rPr lang="en-US" altLang="en-US" baseline="-25000" dirty="0">
                <a:latin typeface="Times New Roman" charset="0"/>
                <a:ea typeface="Times New Roman" charset="0"/>
                <a:cs typeface="Times New Roman" charset="0"/>
              </a:rPr>
              <a:t>Y</a:t>
            </a:r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 (t2)</a:t>
            </a:r>
          </a:p>
          <a:p>
            <a:pPr lvl="2"/>
            <a:r>
              <a:rPr lang="en-US" altLang="en-US" dirty="0"/>
              <a:t>(t1, t2 are tuples; X, Y are sets of attributes)</a:t>
            </a:r>
          </a:p>
          <a:p>
            <a:pPr>
              <a:spcBef>
                <a:spcPts val="2000"/>
              </a:spcBef>
            </a:pPr>
            <a:r>
              <a:rPr lang="en-US" altLang="en-US" dirty="0"/>
              <a:t>An FD is </a:t>
            </a:r>
            <a:r>
              <a:rPr lang="en-US" altLang="en-US" dirty="0" err="1"/>
              <a:t>w.r.t</a:t>
            </a:r>
            <a:r>
              <a:rPr lang="en-US" altLang="en-US" dirty="0"/>
              <a:t>. </a:t>
            </a:r>
            <a:r>
              <a:rPr lang="en-US" altLang="en-US" b="1" i="1" dirty="0"/>
              <a:t>all</a:t>
            </a:r>
            <a:r>
              <a:rPr lang="en-US" altLang="en-US" dirty="0"/>
              <a:t> allowable instances.</a:t>
            </a:r>
          </a:p>
          <a:p>
            <a:pPr lvl="1"/>
            <a:r>
              <a:rPr lang="en-US" altLang="en-US" dirty="0"/>
              <a:t>Declared based on app semantics</a:t>
            </a:r>
          </a:p>
          <a:p>
            <a:pPr lvl="1"/>
            <a:r>
              <a:rPr lang="en-US" altLang="en-US" dirty="0"/>
              <a:t>Not learned from data</a:t>
            </a:r>
          </a:p>
          <a:p>
            <a:pPr lvl="2"/>
            <a:r>
              <a:rPr lang="en-US" altLang="en-US" dirty="0"/>
              <a:t>(though you might learn suggestions for FDs)</a:t>
            </a:r>
          </a:p>
        </p:txBody>
      </p:sp>
    </p:spTree>
    <p:extLst>
      <p:ext uri="{BB962C8B-B14F-4D97-AF65-F5344CB8AC3E}">
        <p14:creationId xmlns:p14="http://schemas.microsoft.com/office/powerpoint/2010/main" val="613119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7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Important: key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458200" cy="3394472"/>
          </a:xfrm>
        </p:spPr>
        <p:txBody>
          <a:bodyPr>
            <a:normAutofit fontScale="85000" lnSpcReduction="10000"/>
          </a:bodyPr>
          <a:lstStyle/>
          <a:p>
            <a:r>
              <a:rPr lang="en-US" altLang="en-US" dirty="0"/>
              <a:t>Question: How are FDs related to primary keys?</a:t>
            </a:r>
          </a:p>
          <a:p>
            <a:pPr lvl="1"/>
            <a:r>
              <a:rPr lang="en-US" altLang="en-US" b="1" dirty="0"/>
              <a:t>Primary Keys are special cases of FDs</a:t>
            </a:r>
          </a:p>
          <a:p>
            <a:pPr lvl="1"/>
            <a:r>
              <a:rPr lang="en-US" altLang="ja-JP" dirty="0"/>
              <a:t>K </a:t>
            </a:r>
            <a:r>
              <a:rPr lang="is-IS" altLang="ja-JP" dirty="0">
                <a:sym typeface="Symbol" charset="2"/>
              </a:rPr>
              <a:t>→</a:t>
            </a:r>
            <a:r>
              <a:rPr lang="en-US" altLang="ja-JP" dirty="0"/>
              <a:t> {all attributes}</a:t>
            </a:r>
            <a:endParaRPr lang="en-US" dirty="0"/>
          </a:p>
          <a:p>
            <a:pPr>
              <a:spcBef>
                <a:spcPts val="1824"/>
              </a:spcBef>
            </a:pPr>
            <a:r>
              <a:rPr lang="en-US" dirty="0" err="1"/>
              <a:t>Superkey</a:t>
            </a:r>
            <a:r>
              <a:rPr lang="en-US" dirty="0"/>
              <a:t>: a set of columns that determines all the columns in its table</a:t>
            </a:r>
          </a:p>
          <a:p>
            <a:pPr lvl="1"/>
            <a:r>
              <a:rPr lang="en-US" altLang="ja-JP" dirty="0"/>
              <a:t>K </a:t>
            </a:r>
            <a:r>
              <a:rPr lang="is-IS" altLang="ja-JP" dirty="0">
                <a:sym typeface="Symbol" charset="2"/>
              </a:rPr>
              <a:t>→</a:t>
            </a:r>
            <a:r>
              <a:rPr lang="en-US" altLang="ja-JP" dirty="0"/>
              <a:t> {all attributes}.   (Also sometimes just called a key)</a:t>
            </a:r>
            <a:endParaRPr lang="en-US" dirty="0"/>
          </a:p>
          <a:p>
            <a:r>
              <a:rPr lang="en-US" dirty="0"/>
              <a:t>Candidate Key: a </a:t>
            </a:r>
            <a:r>
              <a:rPr lang="en-US" b="1" dirty="0"/>
              <a:t>minimal</a:t>
            </a:r>
            <a:r>
              <a:rPr lang="en-US" dirty="0"/>
              <a:t> set of columns that determines all columns in its table</a:t>
            </a:r>
          </a:p>
          <a:p>
            <a:pPr lvl="1"/>
            <a:r>
              <a:rPr lang="en-US" altLang="ja-JP" dirty="0"/>
              <a:t>K </a:t>
            </a:r>
            <a:r>
              <a:rPr lang="is-IS" altLang="ja-JP" dirty="0">
                <a:sym typeface="Symbol" charset="2"/>
              </a:rPr>
              <a:t>→</a:t>
            </a:r>
            <a:r>
              <a:rPr lang="en-US" altLang="ja-JP" dirty="0"/>
              <a:t> {all attributes}</a:t>
            </a:r>
            <a:endParaRPr lang="en-US" dirty="0"/>
          </a:p>
          <a:p>
            <a:pPr lvl="1"/>
            <a:r>
              <a:rPr lang="en-US" dirty="0"/>
              <a:t>For any L ⊂ K, </a:t>
            </a:r>
            <a:r>
              <a:rPr lang="en-US" altLang="ja-JP" dirty="0"/>
              <a:t>L </a:t>
            </a:r>
            <a:r>
              <a:rPr lang="en-US" altLang="ja-JP" dirty="0">
                <a:solidFill>
                  <a:srgbClr val="FF0000"/>
                </a:solidFill>
              </a:rPr>
              <a:t>!</a:t>
            </a:r>
            <a:r>
              <a:rPr lang="is-IS" altLang="ja-JP" dirty="0">
                <a:solidFill>
                  <a:srgbClr val="FF0000"/>
                </a:solidFill>
                <a:sym typeface="Symbol" charset="2"/>
              </a:rPr>
              <a:t>→</a:t>
            </a:r>
            <a:r>
              <a:rPr lang="en-US" altLang="ja-JP" dirty="0"/>
              <a:t> {all attributes}   (minimal)</a:t>
            </a:r>
            <a:endParaRPr lang="en-US" dirty="0"/>
          </a:p>
          <a:p>
            <a:r>
              <a:rPr lang="en-US" dirty="0"/>
              <a:t>Primary Key: a single chosen candidate key</a:t>
            </a:r>
          </a:p>
          <a:p>
            <a:pPr>
              <a:spcBef>
                <a:spcPts val="1824"/>
              </a:spcBef>
            </a:pPr>
            <a:r>
              <a:rPr lang="en-US" dirty="0"/>
              <a:t>Index/sort “key” : columns used in an index or sort. </a:t>
            </a:r>
          </a:p>
          <a:p>
            <a:pPr lvl="1"/>
            <a:r>
              <a:rPr lang="en-US" dirty="0"/>
              <a:t>Unrelated to FDs, dependencies.</a:t>
            </a:r>
          </a:p>
        </p:txBody>
      </p:sp>
    </p:spTree>
    <p:extLst>
      <p:ext uri="{BB962C8B-B14F-4D97-AF65-F5344CB8AC3E}">
        <p14:creationId xmlns:p14="http://schemas.microsoft.com/office/powerpoint/2010/main" val="343440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700" dirty="0">
                <a:latin typeface="Helvetica Neue Regular" charset="0"/>
              </a:rPr>
              <a:t>Example: Constraints on Entity Set</a:t>
            </a:r>
          </a:p>
        </p:txBody>
      </p:sp>
      <p:sp>
        <p:nvSpPr>
          <p:cNvPr id="10245" name="Rectangle 5"/>
          <p:cNvSpPr>
            <a:spLocks noGrp="1" noChangeArrowheads="1"/>
          </p:cNvSpPr>
          <p:nvPr>
            <p:ph idx="1"/>
          </p:nvPr>
        </p:nvSpPr>
        <p:spPr>
          <a:xfrm>
            <a:off x="457200" y="1200150"/>
            <a:ext cx="8229600" cy="4190999"/>
          </a:xfrm>
        </p:spPr>
        <p:txBody>
          <a:bodyPr anchor="t"/>
          <a:lstStyle/>
          <a:p>
            <a:pPr eaLnBrk="1" hangingPunct="1"/>
            <a:r>
              <a:rPr lang="en-US" altLang="en-US" sz="1800" dirty="0">
                <a:ea typeface="Helvetica Neue" charset="0"/>
                <a:cs typeface="Helvetica Neue" charset="0"/>
              </a:rPr>
              <a:t>Consider relation </a:t>
            </a:r>
            <a:r>
              <a:rPr lang="en-US" altLang="en-US" sz="1800" dirty="0" err="1">
                <a:ea typeface="Helvetica Neue" charset="0"/>
                <a:cs typeface="Helvetica Neue" charset="0"/>
              </a:rPr>
              <a:t>Hourly_Emps</a:t>
            </a:r>
            <a:r>
              <a:rPr lang="en-US" altLang="en-US" sz="1800" dirty="0">
                <a:ea typeface="Helvetica Neue" charset="0"/>
                <a:cs typeface="Helvetica Neue" charset="0"/>
              </a:rPr>
              <a:t>:</a:t>
            </a:r>
          </a:p>
          <a:p>
            <a:pPr marL="1371600" eaLnBrk="1" hangingPunct="1">
              <a:buFontTx/>
              <a:buNone/>
            </a:pPr>
            <a:r>
              <a:rPr lang="en-US" altLang="en-US" sz="1500" dirty="0">
                <a:ea typeface="Helvetica Neue" charset="0"/>
                <a:cs typeface="Helvetica Neue" charset="0"/>
              </a:rPr>
              <a:t>   </a:t>
            </a:r>
            <a:r>
              <a:rPr lang="en-US" altLang="en-US" sz="1500" dirty="0" err="1">
                <a:ea typeface="Helvetica Neue" charset="0"/>
                <a:cs typeface="Helvetica Neue" charset="0"/>
              </a:rPr>
              <a:t>Hourly_Emps</a:t>
            </a:r>
            <a:r>
              <a:rPr lang="en-US" altLang="en-US" sz="1500" dirty="0">
                <a:ea typeface="Helvetica Neue" charset="0"/>
                <a:cs typeface="Helvetica Neue" charset="0"/>
              </a:rPr>
              <a:t> (</a:t>
            </a:r>
            <a:r>
              <a:rPr lang="en-US" altLang="en-US" sz="1500" dirty="0" err="1">
                <a:ea typeface="Helvetica Neue" charset="0"/>
                <a:cs typeface="Helvetica Neue" charset="0"/>
              </a:rPr>
              <a:t>ssn</a:t>
            </a:r>
            <a:r>
              <a:rPr lang="en-US" altLang="en-US" sz="1500" dirty="0">
                <a:ea typeface="Helvetica Neue" charset="0"/>
                <a:cs typeface="Helvetica Neue" charset="0"/>
              </a:rPr>
              <a:t>, name, lot, rating, </a:t>
            </a:r>
            <a:r>
              <a:rPr lang="en-US" altLang="en-US" sz="1500" dirty="0" err="1">
                <a:ea typeface="Helvetica Neue" charset="0"/>
                <a:cs typeface="Helvetica Neue" charset="0"/>
              </a:rPr>
              <a:t>wage_per_hr</a:t>
            </a:r>
            <a:r>
              <a:rPr lang="en-US" altLang="en-US" sz="1500" dirty="0">
                <a:ea typeface="Helvetica Neue" charset="0"/>
                <a:cs typeface="Helvetica Neue" charset="0"/>
              </a:rPr>
              <a:t>, </a:t>
            </a:r>
            <a:r>
              <a:rPr lang="en-US" altLang="en-US" sz="1500" dirty="0" err="1">
                <a:ea typeface="Helvetica Neue" charset="0"/>
                <a:cs typeface="Helvetica Neue" charset="0"/>
              </a:rPr>
              <a:t>hrs_per_wk</a:t>
            </a:r>
            <a:r>
              <a:rPr lang="en-US" altLang="en-US" sz="1500" dirty="0">
                <a:ea typeface="Helvetica Neue" charset="0"/>
                <a:cs typeface="Helvetica Neue" charset="0"/>
              </a:rPr>
              <a:t>)</a:t>
            </a:r>
          </a:p>
          <a:p>
            <a:pPr eaLnBrk="1" hangingPunct="1">
              <a:spcBef>
                <a:spcPts val="2500"/>
              </a:spcBef>
            </a:pPr>
            <a:r>
              <a:rPr lang="en-US" altLang="en-US" sz="1800" dirty="0">
                <a:ea typeface="Helvetica Neue" charset="0"/>
                <a:cs typeface="Helvetica Neue" charset="0"/>
              </a:rPr>
              <a:t>We can denote a relation schema by listing its attributes: </a:t>
            </a:r>
          </a:p>
          <a:p>
            <a:pPr lvl="1" eaLnBrk="1" hangingPunct="1"/>
            <a:r>
              <a:rPr lang="en-US" altLang="en-US" sz="1350" dirty="0">
                <a:ea typeface="Helvetica Neue" charset="0"/>
                <a:cs typeface="Helvetica Neue" charset="0"/>
              </a:rPr>
              <a:t>e.g.,  SNLRWH</a:t>
            </a:r>
          </a:p>
          <a:p>
            <a:pPr lvl="1" eaLnBrk="1" hangingPunct="1"/>
            <a:r>
              <a:rPr lang="en-US" altLang="en-US" sz="1350" dirty="0">
                <a:ea typeface="Helvetica Neue" charset="0"/>
                <a:cs typeface="Helvetica Neue" charset="0"/>
              </a:rPr>
              <a:t>This is really the set of attributes {S,N,L,R,W,H}.</a:t>
            </a:r>
          </a:p>
          <a:p>
            <a:pPr eaLnBrk="1" hangingPunct="1">
              <a:spcBef>
                <a:spcPts val="1000"/>
              </a:spcBef>
            </a:pPr>
            <a:r>
              <a:rPr lang="en-US" altLang="en-US" sz="1800" dirty="0">
                <a:ea typeface="Helvetica Neue" charset="0"/>
                <a:cs typeface="Helvetica Neue" charset="0"/>
              </a:rPr>
              <a:t>And we can use relation name to refer to the set of all its attributes </a:t>
            </a:r>
          </a:p>
          <a:p>
            <a:pPr lvl="1" eaLnBrk="1" hangingPunct="1"/>
            <a:r>
              <a:rPr lang="en-US" altLang="en-US" sz="1500" dirty="0">
                <a:ea typeface="Helvetica Neue" charset="0"/>
                <a:cs typeface="Helvetica Neue" charset="0"/>
              </a:rPr>
              <a:t>e.g., “</a:t>
            </a:r>
            <a:r>
              <a:rPr lang="en-US" altLang="ja-JP" sz="1500" dirty="0" err="1">
                <a:ea typeface="Helvetica Neue" charset="0"/>
                <a:cs typeface="Helvetica Neue" charset="0"/>
              </a:rPr>
              <a:t>Hourly_Emps</a:t>
            </a:r>
            <a:r>
              <a:rPr lang="en-US" altLang="ja-JP" sz="1200" dirty="0">
                <a:ea typeface="Helvetica Neue" charset="0"/>
                <a:cs typeface="Helvetica Neue" charset="0"/>
              </a:rPr>
              <a:t>” for </a:t>
            </a:r>
            <a:r>
              <a:rPr lang="en-US" altLang="ja-JP" sz="1500" dirty="0">
                <a:ea typeface="Helvetica Neue" charset="0"/>
                <a:cs typeface="Helvetica Neue" charset="0"/>
              </a:rPr>
              <a:t>SNLRWH</a:t>
            </a:r>
          </a:p>
          <a:p>
            <a:pPr eaLnBrk="1" hangingPunct="1">
              <a:spcBef>
                <a:spcPts val="2000"/>
              </a:spcBef>
            </a:pPr>
            <a:r>
              <a:rPr lang="en-US" altLang="en-US" sz="1800" dirty="0">
                <a:ea typeface="Helvetica Neue" charset="0"/>
                <a:cs typeface="Helvetica Neue" charset="0"/>
              </a:rPr>
              <a:t>What are some FDs on </a:t>
            </a:r>
            <a:r>
              <a:rPr lang="en-US" altLang="en-US" sz="1800" dirty="0" err="1">
                <a:ea typeface="Helvetica Neue" charset="0"/>
                <a:cs typeface="Helvetica Neue" charset="0"/>
              </a:rPr>
              <a:t>Hourly_Emps</a:t>
            </a:r>
            <a:r>
              <a:rPr lang="en-US" altLang="en-US" sz="1800" dirty="0">
                <a:ea typeface="Helvetica Neue" charset="0"/>
                <a:cs typeface="Helvetica Neue" charset="0"/>
              </a:rPr>
              <a:t>?</a:t>
            </a:r>
          </a:p>
          <a:p>
            <a:pPr lvl="1"/>
            <a:r>
              <a:rPr lang="en-US" altLang="en-US" sz="1500" b="1" i="1" dirty="0" err="1">
                <a:ea typeface="Helvetica Neue" charset="0"/>
                <a:cs typeface="Helvetica Neue" charset="0"/>
              </a:rPr>
              <a:t>ssn</a:t>
            </a:r>
            <a:r>
              <a:rPr lang="en-US" altLang="en-US" sz="1500" dirty="0">
                <a:ea typeface="Helvetica Neue" charset="0"/>
                <a:cs typeface="Helvetica Neue" charset="0"/>
              </a:rPr>
              <a:t> is the primary key:  S </a:t>
            </a:r>
            <a:r>
              <a:rPr lang="is-IS" altLang="en-US" sz="1500" dirty="0">
                <a:ea typeface="Helvetica Neue" charset="0"/>
                <a:cs typeface="Helvetica Neue" charset="0"/>
                <a:sym typeface="Symbol" charset="2"/>
              </a:rPr>
              <a:t>→</a:t>
            </a:r>
            <a:r>
              <a:rPr lang="en-US" altLang="en-US" sz="1500" dirty="0">
                <a:ea typeface="Helvetica Neue" charset="0"/>
                <a:cs typeface="Helvetica Neue" charset="0"/>
              </a:rPr>
              <a:t> SNLRWH </a:t>
            </a:r>
          </a:p>
          <a:p>
            <a:pPr lvl="1"/>
            <a:r>
              <a:rPr lang="en-US" altLang="en-US" sz="1500" b="1" i="1" dirty="0">
                <a:ea typeface="Helvetica Neue" charset="0"/>
                <a:cs typeface="Helvetica Neue" charset="0"/>
              </a:rPr>
              <a:t>rating</a:t>
            </a:r>
            <a:r>
              <a:rPr lang="en-US" altLang="en-US" sz="1500" dirty="0">
                <a:ea typeface="Helvetica Neue" charset="0"/>
                <a:cs typeface="Helvetica Neue" charset="0"/>
              </a:rPr>
              <a:t> determines </a:t>
            </a:r>
            <a:r>
              <a:rPr lang="en-US" altLang="en-US" sz="1500" i="1" dirty="0" err="1">
                <a:ea typeface="Helvetica Neue" charset="0"/>
                <a:cs typeface="Helvetica Neue" charset="0"/>
              </a:rPr>
              <a:t>wage_per_hr</a:t>
            </a:r>
            <a:r>
              <a:rPr lang="en-US" altLang="en-US" sz="1500" dirty="0">
                <a:ea typeface="Helvetica Neue" charset="0"/>
                <a:cs typeface="Helvetica Neue" charset="0"/>
              </a:rPr>
              <a:t>:    R </a:t>
            </a:r>
            <a:r>
              <a:rPr lang="is-IS" altLang="en-US" sz="1500" dirty="0">
                <a:ea typeface="Helvetica Neue" charset="0"/>
                <a:cs typeface="Helvetica Neue" charset="0"/>
                <a:sym typeface="Symbol" charset="2"/>
              </a:rPr>
              <a:t>→</a:t>
            </a:r>
            <a:r>
              <a:rPr lang="en-US" altLang="en-US" sz="1500" dirty="0">
                <a:ea typeface="Helvetica Neue" charset="0"/>
                <a:cs typeface="Helvetica Neue" charset="0"/>
              </a:rPr>
              <a:t> W</a:t>
            </a:r>
          </a:p>
          <a:p>
            <a:pPr lvl="1"/>
            <a:r>
              <a:rPr lang="en-US" altLang="en-US" sz="1500" b="1" i="1" dirty="0">
                <a:ea typeface="Helvetica Neue" charset="0"/>
                <a:cs typeface="Helvetica Neue" charset="0"/>
              </a:rPr>
              <a:t>lot</a:t>
            </a:r>
            <a:r>
              <a:rPr lang="en-US" altLang="en-US" sz="1500" dirty="0">
                <a:ea typeface="Helvetica Neue" charset="0"/>
                <a:cs typeface="Helvetica Neue" charset="0"/>
              </a:rPr>
              <a:t> determines </a:t>
            </a:r>
            <a:r>
              <a:rPr lang="en-US" altLang="en-US" sz="1500" i="1" dirty="0">
                <a:ea typeface="Helvetica Neue" charset="0"/>
                <a:cs typeface="Helvetica Neue" charset="0"/>
              </a:rPr>
              <a:t>lot</a:t>
            </a:r>
            <a:r>
              <a:rPr lang="en-US" altLang="en-US" sz="1500" dirty="0">
                <a:ea typeface="Helvetica Neue" charset="0"/>
                <a:cs typeface="Helvetica Neue" charset="0"/>
              </a:rPr>
              <a:t>:    L </a:t>
            </a:r>
            <a:r>
              <a:rPr lang="is-IS" altLang="en-US" sz="1500" dirty="0">
                <a:ea typeface="Helvetica Neue" charset="0"/>
                <a:cs typeface="Helvetica Neue" charset="0"/>
                <a:sym typeface="Symbol" charset="2"/>
              </a:rPr>
              <a:t>→</a:t>
            </a:r>
            <a:r>
              <a:rPr lang="en-US" altLang="en-US" sz="1500" dirty="0">
                <a:ea typeface="Helvetica Neue" charset="0"/>
                <a:cs typeface="Helvetica Neue" charset="0"/>
              </a:rPr>
              <a:t> L  (“</a:t>
            </a:r>
            <a:r>
              <a:rPr lang="en-US" altLang="ja-JP" sz="1500" dirty="0">
                <a:ea typeface="Helvetica Neue" charset="0"/>
                <a:cs typeface="Helvetica Neue" charset="0"/>
              </a:rPr>
              <a:t>trivial” dependency)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825" dirty="0">
              <a:solidFill>
                <a:srgbClr val="CF0E30"/>
              </a:solidFill>
              <a:ea typeface="Helvetica Neue" charset="0"/>
              <a:cs typeface="Helvetica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887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5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C9390-6909-0F49-849F-677AEDF87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D88AD-4CBB-5844-93B0-BACA46DE5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590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What??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FDs help us think about the Evils of Redundancy?</a:t>
            </a:r>
          </a:p>
          <a:p>
            <a:pPr>
              <a:spcBef>
                <a:spcPts val="2000"/>
              </a:spcBef>
            </a:pPr>
            <a:r>
              <a:rPr lang="en-US" dirty="0"/>
              <a:t>Let’s connect FDs and Evils of Redundancy in our example</a:t>
            </a:r>
            <a:r>
              <a:rPr lang="mr-IN" dirty="0"/>
              <a:t>…</a:t>
            </a:r>
            <a:endParaRPr lang="en-US" dirty="0"/>
          </a:p>
        </p:txBody>
      </p:sp>
      <p:pic>
        <p:nvPicPr>
          <p:cNvPr id="4" name="Picture 3" descr="A picture of Lord Voldemort from harry Potter captioned &quot;redundancy&quot;" title="Redundanc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388395"/>
            <a:ext cx="1757363" cy="2343150"/>
          </a:xfrm>
          <a:prstGeom prst="rect">
            <a:avLst/>
          </a:prstGeom>
        </p:spPr>
      </p:pic>
      <p:pic>
        <p:nvPicPr>
          <p:cNvPr id="5" name="Picture 4" descr="A picture of Lord Voldemort from harry Potter captioned &quot;redundancy&quot;" title="Redundancy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292843" y="4255295"/>
            <a:ext cx="1952244" cy="653653"/>
          </a:xfrm>
          <a:prstGeom prst="rect">
            <a:avLst/>
          </a:prstGeom>
        </p:spPr>
      </p:pic>
      <p:pic>
        <p:nvPicPr>
          <p:cNvPr id="6" name="Picture 5" descr="Picture of Professor Dumbledore from Harry Potter" title="Functional Dependenci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38200" y="2507949"/>
            <a:ext cx="2694112" cy="1498600"/>
          </a:xfrm>
          <a:prstGeom prst="rect">
            <a:avLst/>
          </a:prstGeom>
        </p:spPr>
      </p:pic>
      <p:grpSp>
        <p:nvGrpSpPr>
          <p:cNvPr id="7" name="Group 6" descr="Picture of Professor Dumbledore from Harry Potter" title="Functional Dependencies"/>
          <p:cNvGrpSpPr/>
          <p:nvPr/>
        </p:nvGrpSpPr>
        <p:grpSpPr>
          <a:xfrm>
            <a:off x="1555322" y="4114499"/>
            <a:ext cx="1645078" cy="838425"/>
            <a:chOff x="6736922" y="1846285"/>
            <a:chExt cx="2223356" cy="1133148"/>
          </a:xfrm>
        </p:grpSpPr>
        <p:pic>
          <p:nvPicPr>
            <p:cNvPr id="8" name="Picture 7" title="Functional Dependencies"/>
            <p:cNvPicPr>
              <a:picLocks noChangeAspect="1"/>
            </p:cNvPicPr>
            <p:nvPr/>
          </p:nvPicPr>
          <p:blipFill rotWithShape="1">
            <a:blip r:embed="rId5"/>
            <a:srcRect r="57013"/>
            <a:stretch/>
          </p:blipFill>
          <p:spPr>
            <a:xfrm>
              <a:off x="7010400" y="1846285"/>
              <a:ext cx="1676400" cy="664151"/>
            </a:xfrm>
            <a:prstGeom prst="rect">
              <a:avLst/>
            </a:prstGeom>
          </p:spPr>
        </p:pic>
        <p:pic>
          <p:nvPicPr>
            <p:cNvPr id="9" name="Picture 8" title="Functional Dependencies"/>
            <p:cNvPicPr>
              <a:picLocks noChangeAspect="1"/>
            </p:cNvPicPr>
            <p:nvPr/>
          </p:nvPicPr>
          <p:blipFill rotWithShape="1">
            <a:blip r:embed="rId5"/>
            <a:srcRect l="42987"/>
            <a:stretch/>
          </p:blipFill>
          <p:spPr>
            <a:xfrm>
              <a:off x="6736922" y="2315282"/>
              <a:ext cx="2223356" cy="6641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23437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>
                <a:latin typeface="Helvetica Neue Regular" charset="0"/>
              </a:rPr>
              <a:t>Problem 1 Due to R </a:t>
            </a:r>
            <a:r>
              <a:rPr lang="is-IS" altLang="en-US" dirty="0">
                <a:latin typeface="Helvetica Neue Regular" charset="0"/>
                <a:sym typeface="Symbol" charset="2"/>
              </a:rPr>
              <a:t>→</a:t>
            </a:r>
            <a:r>
              <a:rPr lang="en-US" altLang="en-US" dirty="0">
                <a:latin typeface="Helvetica Neue Regular" charset="0"/>
              </a:rPr>
              <a:t> W</a:t>
            </a:r>
          </a:p>
        </p:txBody>
      </p:sp>
      <p:sp>
        <p:nvSpPr>
          <p:cNvPr id="12293" name="Rectangle 5"/>
          <p:cNvSpPr>
            <a:spLocks noGrp="1" noChangeArrowheads="1"/>
          </p:cNvSpPr>
          <p:nvPr>
            <p:ph sz="quarter" idx="13"/>
          </p:nvPr>
        </p:nvSpPr>
        <p:spPr>
          <a:xfrm>
            <a:off x="153356" y="1057422"/>
            <a:ext cx="8457243" cy="3090672"/>
          </a:xfrm>
          <a:noFill/>
        </p:spPr>
        <p:txBody>
          <a:bodyPr anchor="t"/>
          <a:lstStyle/>
          <a:p>
            <a:pPr eaLnBrk="1" hangingPunct="1"/>
            <a:r>
              <a:rPr lang="en-US" altLang="en-US" sz="1800" b="1" i="1" u="sng" dirty="0">
                <a:ea typeface="Helvetica Neue" charset="0"/>
                <a:cs typeface="Helvetica Neue" charset="0"/>
              </a:rPr>
              <a:t>Update anomaly</a:t>
            </a:r>
            <a:r>
              <a:rPr lang="en-US" altLang="en-US" sz="1800" b="1" dirty="0">
                <a:ea typeface="Helvetica Neue" charset="0"/>
                <a:cs typeface="Helvetica Neue" charset="0"/>
              </a:rPr>
              <a:t>:  </a:t>
            </a:r>
            <a:r>
              <a:rPr lang="en-US" altLang="en-US" sz="1800" dirty="0">
                <a:ea typeface="Helvetica Neue" charset="0"/>
                <a:cs typeface="Helvetica Neue" charset="0"/>
              </a:rPr>
              <a:t>Can we modify W in only the 1st tuple of SNLRWH?</a:t>
            </a:r>
            <a:br>
              <a:rPr lang="en-US" altLang="en-US" sz="1800" dirty="0">
                <a:ea typeface="Helvetica Neue" charset="0"/>
                <a:cs typeface="Helvetica Neue" charset="0"/>
              </a:rPr>
            </a:br>
            <a:endParaRPr lang="en-US" altLang="en-US" sz="1800" dirty="0">
              <a:ea typeface="Helvetica Neue" charset="0"/>
              <a:cs typeface="Helvetica Neue" charset="0"/>
            </a:endParaRPr>
          </a:p>
        </p:txBody>
      </p:sp>
      <p:graphicFrame>
        <p:nvGraphicFramePr>
          <p:cNvPr id="30728" name="Object 2" descr="Table on hourly employees. (SSN, name, log, rating, wage, hours_per week)&#10;(123-22-3666,&#9;Attishoo,&#9;48,&#9;8,&#9;10,&#9;40),&#13;&#10;(231-31-5368,&#9;Smiley,&#9;22,&#9;8,&#9;10,&#9;30),&#13;&#10;(131-24-3650,&#9;Smethurst, 35,&#9;5,&#9;7,&#9;30),&#13;&#10;(434-26-3751,&#9;Guldu,&#9;35,&#9;5,&#9;7,&#9;32),&#13;&#10;(612-67-4134, Madayan,&#9;35,&#9;8,&#9;10,&#9;40)&#13;&#10;" title="Hourly Emps Table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485295"/>
              </p:ext>
            </p:extLst>
          </p:nvPr>
        </p:nvGraphicFramePr>
        <p:xfrm>
          <a:off x="1058863" y="3089275"/>
          <a:ext cx="4221162" cy="214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" name="Document" r:id="rId4" imgW="6769100" imgH="3441700" progId="Word.Document.8">
                  <p:embed/>
                </p:oleObj>
              </mc:Choice>
              <mc:Fallback>
                <p:oleObj name="Document" r:id="rId4" imgW="6769100" imgH="3441700" progId="Word.Document.8">
                  <p:embed/>
                  <p:pic>
                    <p:nvPicPr>
                      <p:cNvPr id="3072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8863" y="3089275"/>
                        <a:ext cx="4221162" cy="214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2" descr="A picture of Lord Voldemort from harry Potter captioned &quot;redundancy&quot;&#10;" title="Redundancy"/>
          <p:cNvGrpSpPr/>
          <p:nvPr/>
        </p:nvGrpSpPr>
        <p:grpSpPr>
          <a:xfrm>
            <a:off x="1091993" y="1711239"/>
            <a:ext cx="1027302" cy="1326355"/>
            <a:chOff x="4292843" y="2388395"/>
            <a:chExt cx="1952244" cy="2520553"/>
          </a:xfrm>
        </p:grpSpPr>
        <p:pic>
          <p:nvPicPr>
            <p:cNvPr id="14" name="Picture 13" descr="A picture of Lord Voldemort from harry Potter captioned &quot;redundancy&quot;" title="Redundancy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43400" y="2388395"/>
              <a:ext cx="1757363" cy="2343150"/>
            </a:xfrm>
            <a:prstGeom prst="rect">
              <a:avLst/>
            </a:prstGeom>
          </p:spPr>
        </p:pic>
        <p:pic>
          <p:nvPicPr>
            <p:cNvPr id="15" name="Picture 14" descr="A picture of Lord Voldemort from harry Potter captioned &quot;redundancy&quot;" title="Redundancy"/>
            <p:cNvPicPr>
              <a:picLocks noChangeAspect="1"/>
            </p:cNvPicPr>
            <p:nvPr/>
          </p:nvPicPr>
          <p:blipFill>
            <a:blip r:embed="rId7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292843" y="4255295"/>
              <a:ext cx="1952244" cy="653653"/>
            </a:xfrm>
            <a:prstGeom prst="rect">
              <a:avLst/>
            </a:prstGeom>
          </p:spPr>
        </p:pic>
      </p:grpSp>
      <p:sp>
        <p:nvSpPr>
          <p:cNvPr id="16" name="Rounded Rectangle 15"/>
          <p:cNvSpPr/>
          <p:nvPr/>
        </p:nvSpPr>
        <p:spPr>
          <a:xfrm>
            <a:off x="2472006" y="1821938"/>
            <a:ext cx="4233594" cy="869208"/>
          </a:xfrm>
          <a:prstGeom prst="round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bg1"/>
                </a:solidFill>
              </a:rPr>
              <a:t>Ha! Then that tuple will be inconsistent with Smiley and </a:t>
            </a:r>
            <a:r>
              <a:rPr lang="en-US" i="1" dirty="0" err="1">
                <a:solidFill>
                  <a:schemeClr val="bg1"/>
                </a:solidFill>
              </a:rPr>
              <a:t>Madayan</a:t>
            </a:r>
            <a:r>
              <a:rPr lang="en-US" i="1" dirty="0">
                <a:solidFill>
                  <a:schemeClr val="bg1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42681692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>
                <a:latin typeface="Helvetica Neue Regular" charset="0"/>
              </a:rPr>
              <a:t>Problem 2 Due to R </a:t>
            </a:r>
            <a:r>
              <a:rPr lang="is-IS" altLang="en-US" dirty="0">
                <a:latin typeface="Helvetica Neue Regular" charset="0"/>
                <a:sym typeface="Symbol" charset="2"/>
              </a:rPr>
              <a:t>→</a:t>
            </a:r>
            <a:r>
              <a:rPr lang="en-US" altLang="en-US" dirty="0">
                <a:latin typeface="Helvetica Neue Regular" charset="0"/>
              </a:rPr>
              <a:t> W</a:t>
            </a:r>
          </a:p>
        </p:txBody>
      </p:sp>
      <p:sp>
        <p:nvSpPr>
          <p:cNvPr id="12293" name="Rectangle 5"/>
          <p:cNvSpPr>
            <a:spLocks noGrp="1" noChangeArrowheads="1"/>
          </p:cNvSpPr>
          <p:nvPr>
            <p:ph sz="quarter" idx="13"/>
          </p:nvPr>
        </p:nvSpPr>
        <p:spPr>
          <a:xfrm>
            <a:off x="153356" y="1057422"/>
            <a:ext cx="8457243" cy="3090672"/>
          </a:xfrm>
          <a:noFill/>
        </p:spPr>
        <p:txBody>
          <a:bodyPr anchor="t"/>
          <a:lstStyle/>
          <a:p>
            <a:pPr eaLnBrk="1" hangingPunct="1">
              <a:spcBef>
                <a:spcPts val="2000"/>
              </a:spcBef>
            </a:pPr>
            <a:r>
              <a:rPr lang="en-US" altLang="en-US" sz="1800" b="1" i="1" u="sng" dirty="0">
                <a:ea typeface="Helvetica Neue" charset="0"/>
                <a:cs typeface="Helvetica Neue" charset="0"/>
              </a:rPr>
              <a:t>Insertion anomaly</a:t>
            </a:r>
            <a:r>
              <a:rPr lang="en-US" altLang="en-US" sz="1800" b="1" dirty="0">
                <a:ea typeface="Helvetica Neue" charset="0"/>
                <a:cs typeface="Helvetica Neue" charset="0"/>
              </a:rPr>
              <a:t>:  </a:t>
            </a:r>
            <a:r>
              <a:rPr lang="en-US" altLang="en-US" sz="1800" dirty="0">
                <a:ea typeface="Helvetica Neue" charset="0"/>
                <a:cs typeface="Helvetica Neue" charset="0"/>
              </a:rPr>
              <a:t>What if we want to insert an employee and don</a:t>
            </a:r>
            <a:r>
              <a:rPr lang="fr-FR" altLang="en-US" sz="1800" dirty="0">
                <a:ea typeface="Helvetica Neue" charset="0"/>
                <a:cs typeface="Helvetica Neue" charset="0"/>
              </a:rPr>
              <a:t>'</a:t>
            </a:r>
            <a:r>
              <a:rPr lang="en-US" altLang="en-US" sz="1800" dirty="0">
                <a:ea typeface="Helvetica Neue" charset="0"/>
                <a:cs typeface="Helvetica Neue" charset="0"/>
              </a:rPr>
              <a:t>t know the hourly wage for his or her rating? (or we get it wrong?)</a:t>
            </a:r>
          </a:p>
        </p:txBody>
      </p:sp>
      <p:graphicFrame>
        <p:nvGraphicFramePr>
          <p:cNvPr id="30728" name="Object 2" descr="Table on hourly employees. (SSN, name, log, rating, wage, hours_per week)&#10;(123-22-3666,&#9;Attishoo,&#9;48,&#9;8,&#9;10,&#9;40),&#13;&#10;(231-31-5368,&#9;Smiley,&#9;22,&#9;8,&#9;10,&#9;30),&#13;&#10;(131-24-3650,&#9;Smethurst, 35,&#9;5,&#9;7,&#9;30),&#13;&#10;(434-26-3751,&#9;Guldu,&#9;35,&#9;5,&#9;7,&#9;32),&#13;&#10;(612-67-4134, Madayan,&#9;35,&#9;8,&#9;10,&#9;40)&#13;&#10;" title="Hourly Emps Table"/>
          <p:cNvGraphicFramePr>
            <a:graphicFrameLocks noChangeAspect="1"/>
          </p:cNvGraphicFramePr>
          <p:nvPr>
            <p:extLst/>
          </p:nvPr>
        </p:nvGraphicFramePr>
        <p:xfrm>
          <a:off x="1058863" y="3089275"/>
          <a:ext cx="4221162" cy="214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3" name="Document" r:id="rId4" imgW="6769100" imgH="3441700" progId="Word.Document.8">
                  <p:embed/>
                </p:oleObj>
              </mc:Choice>
              <mc:Fallback>
                <p:oleObj name="Document" r:id="rId4" imgW="6769100" imgH="34417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8863" y="3089275"/>
                        <a:ext cx="4221162" cy="214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8" descr="A picture of Lord Voldemort from harry Potter captioned &quot;redundancy&quot;" title="Redundancy"/>
          <p:cNvGrpSpPr/>
          <p:nvPr/>
        </p:nvGrpSpPr>
        <p:grpSpPr>
          <a:xfrm>
            <a:off x="1091993" y="1711239"/>
            <a:ext cx="1027302" cy="1326355"/>
            <a:chOff x="4292843" y="2388395"/>
            <a:chExt cx="1952244" cy="2520553"/>
          </a:xfrm>
        </p:grpSpPr>
        <p:pic>
          <p:nvPicPr>
            <p:cNvPr id="10" name="Picture 9" descr="A picture of Lord Voldemort from harry Potter captioned &quot;redundancy&quot;" title="Redudancy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43400" y="2388395"/>
              <a:ext cx="1757363" cy="2343150"/>
            </a:xfrm>
            <a:prstGeom prst="rect">
              <a:avLst/>
            </a:prstGeom>
          </p:spPr>
        </p:pic>
        <p:pic>
          <p:nvPicPr>
            <p:cNvPr id="11" name="Picture 10" descr="A picture of Lord Voldemort from harry Potter captioned &quot;redundancy&quot;" title="Redundancy"/>
            <p:cNvPicPr>
              <a:picLocks noChangeAspect="1"/>
            </p:cNvPicPr>
            <p:nvPr/>
          </p:nvPicPr>
          <p:blipFill>
            <a:blip r:embed="rId7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292843" y="4255295"/>
              <a:ext cx="1952244" cy="653653"/>
            </a:xfrm>
            <a:prstGeom prst="rect">
              <a:avLst/>
            </a:prstGeom>
          </p:spPr>
        </p:pic>
      </p:grpSp>
      <p:sp>
        <p:nvSpPr>
          <p:cNvPr id="12" name="Rounded Rectangle 11"/>
          <p:cNvSpPr/>
          <p:nvPr/>
        </p:nvSpPr>
        <p:spPr>
          <a:xfrm>
            <a:off x="2472006" y="1821938"/>
            <a:ext cx="4004993" cy="869208"/>
          </a:xfrm>
          <a:prstGeom prst="round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bg1"/>
                </a:solidFill>
              </a:rPr>
              <a:t>Ha! Then you will have to invent a value without reference to established truth!</a:t>
            </a:r>
          </a:p>
        </p:txBody>
      </p:sp>
    </p:spTree>
    <p:extLst>
      <p:ext uri="{BB962C8B-B14F-4D97-AF65-F5344CB8AC3E}">
        <p14:creationId xmlns:p14="http://schemas.microsoft.com/office/powerpoint/2010/main" val="165379392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>
                <a:latin typeface="Helvetica Neue Regular" charset="0"/>
              </a:rPr>
              <a:t>Problem 3 Due to R </a:t>
            </a:r>
            <a:r>
              <a:rPr lang="is-IS" altLang="en-US" dirty="0">
                <a:latin typeface="Helvetica Neue Regular" charset="0"/>
                <a:sym typeface="Symbol" charset="2"/>
              </a:rPr>
              <a:t>→</a:t>
            </a:r>
            <a:r>
              <a:rPr lang="en-US" altLang="en-US" dirty="0">
                <a:latin typeface="Helvetica Neue Regular" charset="0"/>
              </a:rPr>
              <a:t> W</a:t>
            </a:r>
          </a:p>
        </p:txBody>
      </p:sp>
      <p:sp>
        <p:nvSpPr>
          <p:cNvPr id="12293" name="Rectangle 5"/>
          <p:cNvSpPr>
            <a:spLocks noGrp="1" noChangeArrowheads="1"/>
          </p:cNvSpPr>
          <p:nvPr>
            <p:ph sz="quarter" idx="13"/>
          </p:nvPr>
        </p:nvSpPr>
        <p:spPr>
          <a:xfrm>
            <a:off x="153356" y="1057422"/>
            <a:ext cx="8457243" cy="3090672"/>
          </a:xfrm>
          <a:noFill/>
        </p:spPr>
        <p:txBody>
          <a:bodyPr anchor="t"/>
          <a:lstStyle/>
          <a:p>
            <a:pPr eaLnBrk="1" hangingPunct="1">
              <a:spcBef>
                <a:spcPts val="2000"/>
              </a:spcBef>
            </a:pPr>
            <a:r>
              <a:rPr lang="en-US" altLang="en-US" sz="1800" b="1" i="1" u="sng" dirty="0">
                <a:ea typeface="Helvetica Neue" charset="0"/>
                <a:cs typeface="Helvetica Neue" charset="0"/>
              </a:rPr>
              <a:t>Deletion anomaly</a:t>
            </a:r>
            <a:r>
              <a:rPr lang="en-US" altLang="en-US" sz="1800" b="1" dirty="0">
                <a:ea typeface="Helvetica Neue" charset="0"/>
                <a:cs typeface="Helvetica Neue" charset="0"/>
              </a:rPr>
              <a:t>: </a:t>
            </a:r>
            <a:r>
              <a:rPr lang="en-US" altLang="en-US" sz="1800" dirty="0">
                <a:ea typeface="Helvetica Neue" charset="0"/>
                <a:cs typeface="Helvetica Neue" charset="0"/>
              </a:rPr>
              <a:t>If we delete all employees with rating 5, we lose the information about the wage for rating 5!  </a:t>
            </a:r>
          </a:p>
        </p:txBody>
      </p:sp>
      <p:graphicFrame>
        <p:nvGraphicFramePr>
          <p:cNvPr id="30728" name="Object 2" descr="Table on hourly employees. (SSN, name, log, rating, wage, hours_per week)&#10;(123-22-3666,&#9;Attishoo,&#9;48,&#9;8,&#9;10,&#9;40),&#13;&#10;(231-31-5368,&#9;Smiley,&#9;22,&#9;8,&#9;10,&#9;30),&#13;&#10;(131-24-3650,&#9;Smethurst, 35,&#9;5,&#9;7,&#9;30),&#13;&#10;(434-26-3751,&#9;Guldu,&#9;35,&#9;5,&#9;7,&#9;32),&#13;&#10;(612-67-4134, Madayan,&#9;35,&#9;8,&#9;10,&#9;40)&#13;&#10;" title="Hourly Emps Table"/>
          <p:cNvGraphicFramePr>
            <a:graphicFrameLocks noChangeAspect="1"/>
          </p:cNvGraphicFramePr>
          <p:nvPr>
            <p:extLst/>
          </p:nvPr>
        </p:nvGraphicFramePr>
        <p:xfrm>
          <a:off x="1058863" y="3089275"/>
          <a:ext cx="4221162" cy="214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7" name="Document" r:id="rId4" imgW="6769100" imgH="3441700" progId="Word.Document.8">
                  <p:embed/>
                </p:oleObj>
              </mc:Choice>
              <mc:Fallback>
                <p:oleObj name="Document" r:id="rId4" imgW="6769100" imgH="34417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8863" y="3089275"/>
                        <a:ext cx="4221162" cy="214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" descr="A picture of Lord Voldemort from harry Potter captioned &quot;redundancy&quot;" title="Redundancy"/>
          <p:cNvGrpSpPr/>
          <p:nvPr/>
        </p:nvGrpSpPr>
        <p:grpSpPr>
          <a:xfrm>
            <a:off x="1091993" y="1711239"/>
            <a:ext cx="1027302" cy="1326355"/>
            <a:chOff x="4292843" y="2388395"/>
            <a:chExt cx="1952244" cy="2520553"/>
          </a:xfrm>
        </p:grpSpPr>
        <p:pic>
          <p:nvPicPr>
            <p:cNvPr id="6" name="Picture 5" descr="A picture of Lord Voldemort from harry Potter captioned &quot;redundancy&quot;" title="Redundancy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43400" y="2388395"/>
              <a:ext cx="1757363" cy="2343150"/>
            </a:xfrm>
            <a:prstGeom prst="rect">
              <a:avLst/>
            </a:prstGeom>
          </p:spPr>
        </p:pic>
        <p:pic>
          <p:nvPicPr>
            <p:cNvPr id="7" name="Picture 6" descr="A picture of Lord Voldemort from harry Potter captioned &quot;redundancy&quot;" title="Redundancy"/>
            <p:cNvPicPr>
              <a:picLocks noChangeAspect="1"/>
            </p:cNvPicPr>
            <p:nvPr/>
          </p:nvPicPr>
          <p:blipFill>
            <a:blip r:embed="rId7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292843" y="4255295"/>
              <a:ext cx="1952244" cy="653653"/>
            </a:xfrm>
            <a:prstGeom prst="rect">
              <a:avLst/>
            </a:prstGeom>
          </p:spPr>
        </p:pic>
      </p:grpSp>
      <p:sp>
        <p:nvSpPr>
          <p:cNvPr id="8" name="Rounded Rectangle 7"/>
          <p:cNvSpPr/>
          <p:nvPr/>
        </p:nvSpPr>
        <p:spPr>
          <a:xfrm>
            <a:off x="2472006" y="1821938"/>
            <a:ext cx="4233594" cy="869208"/>
          </a:xfrm>
          <a:prstGeom prst="round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bg1"/>
                </a:solidFill>
              </a:rPr>
              <a:t>Ha! Then you will forget established truth!</a:t>
            </a:r>
          </a:p>
        </p:txBody>
      </p:sp>
    </p:spTree>
    <p:extLst>
      <p:ext uri="{BB962C8B-B14F-4D97-AF65-F5344CB8AC3E}">
        <p14:creationId xmlns:p14="http://schemas.microsoft.com/office/powerpoint/2010/main" val="99913075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>
                <a:latin typeface="Helvetica Neue Regular" charset="0"/>
              </a:rPr>
              <a:t>Detecting Redundancy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E6BC84-17D1-D043-9E3B-74492EC2E67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6888" y="1060704"/>
            <a:ext cx="8439912" cy="3090672"/>
          </a:xfrm>
        </p:spPr>
        <p:txBody>
          <a:bodyPr>
            <a:normAutofit/>
          </a:bodyPr>
          <a:lstStyle/>
          <a:p>
            <a:r>
              <a:rPr lang="en-US" altLang="en-US" sz="1800" dirty="0"/>
              <a:t>Q: Why is R </a:t>
            </a:r>
            <a:r>
              <a:rPr lang="is-IS" altLang="en-US" sz="1800" dirty="0">
                <a:sym typeface="Symbol" charset="2"/>
              </a:rPr>
              <a:t>→</a:t>
            </a:r>
            <a:r>
              <a:rPr lang="en-US" altLang="en-US" sz="1800" dirty="0"/>
              <a:t> W problematic, but S</a:t>
            </a:r>
            <a:r>
              <a:rPr lang="en-US" altLang="en-US" sz="1800" dirty="0">
                <a:solidFill>
                  <a:srgbClr val="CF0E30"/>
                </a:solidFill>
              </a:rPr>
              <a:t> </a:t>
            </a:r>
            <a:r>
              <a:rPr lang="is-IS" altLang="en-US" sz="1800" dirty="0">
                <a:sym typeface="Symbol" charset="2"/>
              </a:rPr>
              <a:t>→</a:t>
            </a:r>
            <a:r>
              <a:rPr lang="en-US" altLang="en-US" sz="1800" dirty="0">
                <a:sym typeface="Symbol" charset="2"/>
              </a:rPr>
              <a:t>W not?</a:t>
            </a:r>
          </a:p>
          <a:p>
            <a:r>
              <a:rPr lang="en-US" altLang="en-US" sz="1800" dirty="0">
                <a:sym typeface="Symbol" charset="2"/>
              </a:rPr>
              <a:t>A: R is not a key, so any pair ((8, 10) for example) can appear multiple times.</a:t>
            </a:r>
            <a:br>
              <a:rPr lang="en-US" altLang="en-US" sz="1800" dirty="0">
                <a:sym typeface="Symbol" charset="2"/>
              </a:rPr>
            </a:br>
            <a:r>
              <a:rPr lang="en-US" altLang="en-US" sz="1800" dirty="0">
                <a:sym typeface="Symbol" charset="2"/>
              </a:rPr>
              <a:t>    S is a </a:t>
            </a:r>
            <a:r>
              <a:rPr lang="en-US" altLang="en-US" sz="1800" b="1" dirty="0">
                <a:sym typeface="Symbol" charset="2"/>
              </a:rPr>
              <a:t>candidate key</a:t>
            </a:r>
            <a:r>
              <a:rPr lang="en-US" altLang="en-US" sz="1800" dirty="0">
                <a:sym typeface="Symbol" charset="2"/>
              </a:rPr>
              <a:t>, so each pair (e.g., (123-22-3666, 10)) is stored </a:t>
            </a:r>
            <a:br>
              <a:rPr lang="en-US" altLang="en-US" sz="1800" dirty="0">
                <a:sym typeface="Symbol" charset="2"/>
              </a:rPr>
            </a:br>
            <a:r>
              <a:rPr lang="en-US" altLang="en-US" sz="1800" dirty="0">
                <a:sym typeface="Symbol" charset="2"/>
              </a:rPr>
              <a:t>    exactly once.</a:t>
            </a:r>
            <a:r>
              <a:rPr lang="en-US" altLang="en-US" sz="1800" dirty="0"/>
              <a:t> </a:t>
            </a:r>
          </a:p>
        </p:txBody>
      </p:sp>
      <p:sp>
        <p:nvSpPr>
          <p:cNvPr id="32773" name="Rectangle 7" title="Hourly_Emps Table Header"/>
          <p:cNvSpPr>
            <a:spLocks noChangeArrowheads="1"/>
          </p:cNvSpPr>
          <p:nvPr/>
        </p:nvSpPr>
        <p:spPr bwMode="auto">
          <a:xfrm>
            <a:off x="2941058" y="2477000"/>
            <a:ext cx="1387046" cy="346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484848"/>
                </a:solidFill>
                <a:latin typeface="Helvetica Neue" charset="0"/>
                <a:ea typeface="Osaka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484848"/>
                </a:solidFill>
                <a:latin typeface="Helvetica Neue" charset="0"/>
                <a:ea typeface="Osaka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484848"/>
                </a:solidFill>
                <a:latin typeface="Helvetica Neue" charset="0"/>
                <a:ea typeface="Osaka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484848"/>
                </a:solidFill>
                <a:latin typeface="Helvetica Neue" charset="0"/>
                <a:ea typeface="Osaka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484848"/>
                </a:solidFill>
                <a:latin typeface="Helvetica Neue" charset="0"/>
                <a:ea typeface="Osaka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84848"/>
                </a:solidFill>
                <a:latin typeface="Helvetica Neue" charset="0"/>
                <a:ea typeface="Osaka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84848"/>
                </a:solidFill>
                <a:latin typeface="Helvetica Neue" charset="0"/>
                <a:ea typeface="Osaka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84848"/>
                </a:solidFill>
                <a:latin typeface="Helvetica Neue" charset="0"/>
                <a:ea typeface="Osaka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84848"/>
                </a:solidFill>
                <a:latin typeface="Helvetica Neue" charset="0"/>
                <a:ea typeface="Osaka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 err="1">
                <a:solidFill>
                  <a:srgbClr val="FF0000"/>
                </a:solidFill>
                <a:latin typeface="+mn-lt"/>
              </a:rPr>
              <a:t>Hourly_Emps</a:t>
            </a:r>
            <a:endParaRPr lang="en-US" altLang="en-US" sz="1800" dirty="0">
              <a:solidFill>
                <a:srgbClr val="FF0000"/>
              </a:solidFill>
              <a:latin typeface="+mn-lt"/>
            </a:endParaRPr>
          </a:p>
        </p:txBody>
      </p:sp>
      <p:graphicFrame>
        <p:nvGraphicFramePr>
          <p:cNvPr id="6" name="Object 2" descr="Table on hourly employees. (SSN, name, log, rating, wage, hours_per week)&#10;(123-22-3666,&#9;Attishoo,&#9;48,&#9;8,&#9;10,&#9;40),&#13;&#10;(231-31-5368,&#9;Smiley,&#9;22,&#9;8,&#9;10,&#9;30),&#13;&#10;(131-24-3650,&#9;Smethurst, 35,&#9;5,&#9;7,&#9;30),&#13;&#10;(434-26-3751,&#9;Guldu,&#9;35,&#9;5,&#9;7,&#9;32),&#13;&#10;(612-67-4134, Madayan,&#9;35,&#9;8,&#9;10,&#9;40)&#13;&#10;" title="Hourly Emps Table">
            <a:extLst>
              <a:ext uri="{FF2B5EF4-FFF2-40B4-BE49-F238E27FC236}">
                <a16:creationId xmlns:a16="http://schemas.microsoft.com/office/drawing/2014/main" id="{CD86532F-BCE2-2046-BE03-F0C6C558D7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2906027"/>
          <a:ext cx="4221162" cy="214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0" name="Document" r:id="rId4" imgW="6769100" imgH="3441700" progId="Word.Document.8">
                  <p:embed/>
                </p:oleObj>
              </mc:Choice>
              <mc:Fallback>
                <p:oleObj name="Document" r:id="rId4" imgW="6769100" imgH="3441700" progId="Word.Document.8">
                  <p:embed/>
                  <p:pic>
                    <p:nvPicPr>
                      <p:cNvPr id="6" name="Object 2" descr="Table on hourly employees. (SSN, name, log, rating, wage, hours_per week)&#10;(123-22-3666,&#9;Attishoo,&#9;48,&#9;8,&#9;10,&#9;40),&#13;&#10;(231-31-5368,&#9;Smiley,&#9;22,&#9;8,&#9;10,&#9;30),&#13;&#10;(131-24-3650,&#9;Smethurst, 35,&#9;5,&#9;7,&#9;30),&#13;&#10;(434-26-3751,&#9;Guldu,&#9;35,&#9;5,&#9;7,&#9;32),&#13;&#10;(612-67-4134, Madayan,&#9;35,&#9;8,&#9;10,&#9;40)&#13;&#10;" title="Hourly Emps Table">
                        <a:extLst>
                          <a:ext uri="{FF2B5EF4-FFF2-40B4-BE49-F238E27FC236}">
                            <a16:creationId xmlns:a16="http://schemas.microsoft.com/office/drawing/2014/main" id="{CD86532F-BCE2-2046-BE03-F0C6C558D7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906027"/>
                        <a:ext cx="4221162" cy="214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22149476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+mn-lt"/>
              </a:rPr>
              <a:t>Decomposing a Relation</a:t>
            </a:r>
          </a:p>
        </p:txBody>
      </p:sp>
      <p:sp>
        <p:nvSpPr>
          <p:cNvPr id="34818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63229"/>
            <a:ext cx="8229600" cy="3531394"/>
          </a:xfrm>
        </p:spPr>
        <p:txBody>
          <a:bodyPr anchor="t"/>
          <a:lstStyle/>
          <a:p>
            <a:pPr eaLnBrk="1" hangingPunct="1"/>
            <a:r>
              <a:rPr lang="en-US" altLang="en-US" sz="2100" dirty="0">
                <a:latin typeface="+mn-lt"/>
              </a:rPr>
              <a:t>Redundancy can be removed by “</a:t>
            </a:r>
            <a:r>
              <a:rPr lang="en-US" altLang="ja-JP" sz="2100" dirty="0">
                <a:latin typeface="+mn-lt"/>
              </a:rPr>
              <a:t>chopping” the relation into pieces.</a:t>
            </a:r>
          </a:p>
          <a:p>
            <a:pPr eaLnBrk="1" hangingPunct="1"/>
            <a:r>
              <a:rPr lang="en-US" altLang="en-US" sz="2100" dirty="0">
                <a:latin typeface="+mn-lt"/>
              </a:rPr>
              <a:t>FD</a:t>
            </a:r>
            <a:r>
              <a:rPr lang="fr-FR" altLang="ja-JP" sz="2100" dirty="0">
                <a:latin typeface="+mn-lt"/>
              </a:rPr>
              <a:t>'</a:t>
            </a:r>
            <a:r>
              <a:rPr lang="en-US" altLang="en-US" sz="2100" dirty="0">
                <a:latin typeface="+mn-lt"/>
              </a:rPr>
              <a:t>s are used to drive this process.</a:t>
            </a:r>
          </a:p>
          <a:p>
            <a:pPr lvl="1" eaLnBrk="1" hangingPunct="1"/>
            <a:r>
              <a:rPr lang="en-US" altLang="en-US" dirty="0">
                <a:latin typeface="+mn-lt"/>
              </a:rPr>
              <a:t>R </a:t>
            </a:r>
            <a:r>
              <a:rPr lang="is-IS" altLang="en-US" dirty="0">
                <a:latin typeface="+mn-lt"/>
                <a:sym typeface="Symbol" charset="2"/>
              </a:rPr>
              <a:t>→</a:t>
            </a:r>
            <a:r>
              <a:rPr lang="en-US" altLang="en-US" dirty="0">
                <a:latin typeface="+mn-lt"/>
              </a:rPr>
              <a:t> W is causing the problems, so decompose SNLRWH into what relations?</a:t>
            </a:r>
          </a:p>
        </p:txBody>
      </p:sp>
      <p:grpSp>
        <p:nvGrpSpPr>
          <p:cNvPr id="3" name="Group 2" descr="Table on hourly employees. (SSN, name, log, rating, hours_per week)&#10;(123-22-3666,&#9;Attishoo,&#9;48,&#9;8,&#9;40),&#13;&#10;(231-31-5368,&#9;Smiley,&#9;22,&#9;8, 30),&#13;&#10;(131-24-3650,&#9;Smethurst, 35,&#9;5, 30),&#13;&#10;(434-26-3751,&#9;Guldu,&#9;35,&#9;5, 32),&#13;&#10;(612-67-4134, Madayan,&#9;35,&#9;8, 40)&#13;&#10;" title="Hourly_Emps2">
            <a:extLst>
              <a:ext uri="{FF2B5EF4-FFF2-40B4-BE49-F238E27FC236}">
                <a16:creationId xmlns:a16="http://schemas.microsoft.com/office/drawing/2014/main" id="{0694F9D2-A9FA-6D4D-85F6-E1CA4F867BDD}"/>
              </a:ext>
            </a:extLst>
          </p:cNvPr>
          <p:cNvGrpSpPr/>
          <p:nvPr/>
        </p:nvGrpSpPr>
        <p:grpSpPr>
          <a:xfrm>
            <a:off x="762000" y="2647950"/>
            <a:ext cx="3370263" cy="2289572"/>
            <a:chOff x="762000" y="2647950"/>
            <a:chExt cx="3370263" cy="2289572"/>
          </a:xfrm>
        </p:grpSpPr>
        <p:sp>
          <p:nvSpPr>
            <p:cNvPr id="34821" name="Rectangle 7"/>
            <p:cNvSpPr>
              <a:spLocks noChangeArrowheads="1"/>
            </p:cNvSpPr>
            <p:nvPr/>
          </p:nvSpPr>
          <p:spPr bwMode="auto">
            <a:xfrm>
              <a:off x="1619250" y="4591050"/>
              <a:ext cx="1503759" cy="346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FF0000"/>
                  </a:solidFill>
                  <a:latin typeface="+mn-lt"/>
                </a:rPr>
                <a:t>Hourly_Emps2</a:t>
              </a:r>
            </a:p>
          </p:txBody>
        </p:sp>
        <p:graphicFrame>
          <p:nvGraphicFramePr>
            <p:cNvPr id="34823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65001701"/>
                </p:ext>
              </p:extLst>
            </p:nvPr>
          </p:nvGraphicFramePr>
          <p:xfrm>
            <a:off x="762000" y="2647950"/>
            <a:ext cx="3370263" cy="2008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4" name="Document" r:id="rId4" imgW="5791200" imgH="3441700" progId="Word.Document.8">
                    <p:embed/>
                  </p:oleObj>
                </mc:Choice>
                <mc:Fallback>
                  <p:oleObj name="Document" r:id="rId4" imgW="5791200" imgH="3441700" progId="Word.Document.8">
                    <p:embed/>
                    <p:pic>
                      <p:nvPicPr>
                        <p:cNvPr id="34823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2000" y="2647950"/>
                          <a:ext cx="3370263" cy="20081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3" descr="Table of Table on wages employees. ( rating, wage)&#10;(8,&#9;10),&#13;&#10;(8,&#9;10),&#13;&#10;(5,&#9;7),&#13;&#10;(5,&#9;7),&#13;&#10;(8,&#9;10)&#13;&#10;" title="Wages">
            <a:extLst>
              <a:ext uri="{FF2B5EF4-FFF2-40B4-BE49-F238E27FC236}">
                <a16:creationId xmlns:a16="http://schemas.microsoft.com/office/drawing/2014/main" id="{4D7A64B1-14C7-9941-9422-EDDD1E7D7A4E}"/>
              </a:ext>
            </a:extLst>
          </p:cNvPr>
          <p:cNvGrpSpPr/>
          <p:nvPr/>
        </p:nvGrpSpPr>
        <p:grpSpPr>
          <a:xfrm>
            <a:off x="4989513" y="3061097"/>
            <a:ext cx="4004072" cy="1529953"/>
            <a:chOff x="4819650" y="2950369"/>
            <a:chExt cx="4004072" cy="1529953"/>
          </a:xfrm>
        </p:grpSpPr>
        <p:sp>
          <p:nvSpPr>
            <p:cNvPr id="34822" name="Rectangle 8"/>
            <p:cNvSpPr>
              <a:spLocks noChangeArrowheads="1"/>
            </p:cNvSpPr>
            <p:nvPr/>
          </p:nvSpPr>
          <p:spPr bwMode="auto">
            <a:xfrm>
              <a:off x="4876800" y="4133850"/>
              <a:ext cx="759619" cy="346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FF0000"/>
                  </a:solidFill>
                  <a:latin typeface="+mn-lt"/>
                </a:rPr>
                <a:t>Wages</a:t>
              </a:r>
            </a:p>
          </p:txBody>
        </p:sp>
        <p:graphicFrame>
          <p:nvGraphicFramePr>
            <p:cNvPr id="34824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24810581"/>
                </p:ext>
              </p:extLst>
            </p:nvPr>
          </p:nvGraphicFramePr>
          <p:xfrm>
            <a:off x="4819650" y="2950369"/>
            <a:ext cx="4004072" cy="1295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5" name="Document" r:id="rId6" imgW="5638800" imgH="1828800" progId="Word.Document.8">
                    <p:embed/>
                  </p:oleObj>
                </mc:Choice>
                <mc:Fallback>
                  <p:oleObj name="Document" r:id="rId6" imgW="5638800" imgH="1828800" progId="Word.Document.8">
                    <p:embed/>
                    <p:pic>
                      <p:nvPicPr>
                        <p:cNvPr id="34824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19650" y="2950369"/>
                          <a:ext cx="4004072" cy="1295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2" name="Picture 1" descr="A wand casting a spell between the Hourly_Emps2 table and the wages table killing Voldemort" title="A wand"/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96318" l="1473" r="98969"/>
                    </a14:imgEffect>
                  </a14:imgLayer>
                </a14:imgProps>
              </a:ext>
            </a:extLst>
          </a:blip>
          <a:srcRect l="5444" t="1913" r="-5282" b="-7355"/>
          <a:stretch/>
        </p:blipFill>
        <p:spPr>
          <a:xfrm rot="20435178">
            <a:off x="3400425" y="2175668"/>
            <a:ext cx="2838450" cy="2952750"/>
          </a:xfrm>
          <a:prstGeom prst="diagStripe">
            <a:avLst>
              <a:gd name="adj" fmla="val 60411"/>
            </a:avLst>
          </a:prstGeom>
        </p:spPr>
      </p:pic>
      <p:pic>
        <p:nvPicPr>
          <p:cNvPr id="6" name="Picture 5" descr="I photo of Lord Voldemort's death " title="Killing Redundancy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05251" y="2157427"/>
            <a:ext cx="1972049" cy="1497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5877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Reasoning About FDs: Examples</a:t>
            </a:r>
          </a:p>
        </p:txBody>
      </p:sp>
      <p:sp>
        <p:nvSpPr>
          <p:cNvPr id="16389" name="Rectangle 5"/>
          <p:cNvSpPr>
            <a:spLocks noGrp="1" noChangeArrowheads="1"/>
          </p:cNvSpPr>
          <p:nvPr>
            <p:ph sz="quarter" idx="13"/>
          </p:nvPr>
        </p:nvSpPr>
        <p:spPr>
          <a:xfrm>
            <a:off x="246888" y="1060704"/>
            <a:ext cx="8668512" cy="4254246"/>
          </a:xfrm>
        </p:spPr>
        <p:txBody>
          <a:bodyPr>
            <a:normAutofit/>
          </a:bodyPr>
          <a:lstStyle/>
          <a:p>
            <a:r>
              <a:rPr lang="en-US" altLang="en-US" sz="1800" dirty="0"/>
              <a:t>Given some FDs, we can usually infer additional FDs:</a:t>
            </a:r>
          </a:p>
          <a:p>
            <a:pPr lvl="1"/>
            <a:r>
              <a:rPr lang="en-US" altLang="en-US" sz="1600" dirty="0" err="1"/>
              <a:t>bookId</a:t>
            </a:r>
            <a:r>
              <a:rPr lang="en-US" altLang="en-US" sz="1600" dirty="0"/>
              <a:t> </a:t>
            </a:r>
            <a:r>
              <a:rPr lang="is-IS" altLang="en-US" sz="1600" dirty="0">
                <a:sym typeface="Symbol" charset="2"/>
              </a:rPr>
              <a:t>→</a:t>
            </a:r>
            <a:r>
              <a:rPr lang="en-US" altLang="en-US" sz="1600" dirty="0"/>
              <a:t> (publisher, author)		implies    </a:t>
            </a:r>
            <a:r>
              <a:rPr lang="en-US" altLang="en-US" sz="1600" dirty="0" err="1"/>
              <a:t>bookID</a:t>
            </a:r>
            <a:r>
              <a:rPr lang="en-US" altLang="en-US" sz="1600" dirty="0"/>
              <a:t> </a:t>
            </a:r>
            <a:r>
              <a:rPr lang="is-IS" altLang="en-US" sz="1600" dirty="0">
                <a:sym typeface="Symbol" charset="2"/>
              </a:rPr>
              <a:t>→</a:t>
            </a:r>
            <a:r>
              <a:rPr lang="en-US" altLang="en-US" sz="1600" dirty="0"/>
              <a:t> publisher </a:t>
            </a:r>
            <a:br>
              <a:rPr lang="en-US" altLang="en-US" sz="1600" dirty="0"/>
            </a:br>
            <a:r>
              <a:rPr lang="en-US" altLang="en-US" sz="1600" dirty="0"/>
              <a:t>					     and    </a:t>
            </a:r>
            <a:r>
              <a:rPr lang="en-US" altLang="en-US" sz="1600" dirty="0" err="1"/>
              <a:t>bookID</a:t>
            </a:r>
            <a:r>
              <a:rPr lang="en-US" altLang="en-US" sz="1600" dirty="0"/>
              <a:t> </a:t>
            </a:r>
            <a:r>
              <a:rPr lang="is-IS" altLang="en-US" sz="1600" dirty="0">
                <a:sym typeface="Symbol" charset="2"/>
              </a:rPr>
              <a:t>→</a:t>
            </a:r>
            <a:r>
              <a:rPr lang="en-US" altLang="en-US" sz="1600" dirty="0"/>
              <a:t> author</a:t>
            </a:r>
          </a:p>
          <a:p>
            <a:pPr lvl="1"/>
            <a:r>
              <a:rPr lang="en-US" altLang="en-US" sz="1600" dirty="0" err="1"/>
              <a:t>bookID</a:t>
            </a:r>
            <a:r>
              <a:rPr lang="en-US" altLang="en-US" sz="1600" dirty="0"/>
              <a:t> </a:t>
            </a:r>
            <a:r>
              <a:rPr lang="is-IS" altLang="en-US" sz="1600" dirty="0">
                <a:sym typeface="Symbol" charset="2"/>
              </a:rPr>
              <a:t>→</a:t>
            </a:r>
            <a:r>
              <a:rPr lang="en-US" altLang="en-US" sz="1600" dirty="0"/>
              <a:t> publisher and </a:t>
            </a:r>
            <a:r>
              <a:rPr lang="en-US" altLang="en-US" sz="1600" dirty="0" err="1"/>
              <a:t>bookID</a:t>
            </a:r>
            <a:r>
              <a:rPr lang="en-US" altLang="en-US" sz="1600" dirty="0"/>
              <a:t> </a:t>
            </a:r>
            <a:r>
              <a:rPr lang="is-IS" altLang="en-US" sz="1600" dirty="0">
                <a:sym typeface="Symbol" charset="2"/>
              </a:rPr>
              <a:t>→</a:t>
            </a:r>
            <a:r>
              <a:rPr lang="en-US" altLang="en-US" sz="1600" dirty="0"/>
              <a:t> author	implies    </a:t>
            </a:r>
            <a:r>
              <a:rPr lang="en-US" altLang="en-US" sz="1600" dirty="0" err="1"/>
              <a:t>bookID</a:t>
            </a:r>
            <a:r>
              <a:rPr lang="en-US" altLang="en-US" sz="1600" dirty="0"/>
              <a:t> </a:t>
            </a:r>
            <a:r>
              <a:rPr lang="is-IS" altLang="en-US" sz="1600" dirty="0">
                <a:sym typeface="Symbol" charset="2"/>
              </a:rPr>
              <a:t>→</a:t>
            </a:r>
            <a:r>
              <a:rPr lang="en-US" altLang="en-US" sz="1600" dirty="0"/>
              <a:t> (publisher, author)</a:t>
            </a:r>
          </a:p>
          <a:p>
            <a:pPr lvl="1"/>
            <a:r>
              <a:rPr lang="en-US" altLang="en-US" sz="1600" dirty="0" err="1"/>
              <a:t>bookID</a:t>
            </a:r>
            <a:r>
              <a:rPr lang="en-US" altLang="en-US" sz="1600" dirty="0"/>
              <a:t> </a:t>
            </a:r>
            <a:r>
              <a:rPr lang="is-IS" altLang="en-US" sz="1600" dirty="0">
                <a:sym typeface="Symbol" charset="2"/>
              </a:rPr>
              <a:t>→</a:t>
            </a:r>
            <a:r>
              <a:rPr lang="en-US" altLang="en-US" sz="1600" dirty="0"/>
              <a:t> author and author </a:t>
            </a:r>
            <a:r>
              <a:rPr lang="is-IS" altLang="en-US" sz="1600" dirty="0">
                <a:sym typeface="Symbol" charset="2"/>
              </a:rPr>
              <a:t>→</a:t>
            </a:r>
            <a:r>
              <a:rPr lang="en-US" altLang="en-US" sz="1600" dirty="0"/>
              <a:t> publisher 	implies    </a:t>
            </a:r>
            <a:r>
              <a:rPr lang="en-US" altLang="en-US" sz="1600" dirty="0" err="1"/>
              <a:t>bookID</a:t>
            </a:r>
            <a:r>
              <a:rPr lang="en-US" altLang="en-US" sz="1600" dirty="0"/>
              <a:t> </a:t>
            </a:r>
            <a:r>
              <a:rPr lang="is-IS" altLang="en-US" sz="1600" dirty="0">
                <a:sym typeface="Symbol" charset="2"/>
              </a:rPr>
              <a:t>→</a:t>
            </a:r>
            <a:r>
              <a:rPr lang="en-US" altLang="en-US" sz="1600" dirty="0"/>
              <a:t> publisher</a:t>
            </a:r>
          </a:p>
          <a:p>
            <a:pPr>
              <a:spcBef>
                <a:spcPts val="2000"/>
              </a:spcBef>
            </a:pPr>
            <a:r>
              <a:rPr lang="en-US" altLang="en-US" sz="1800" dirty="0"/>
              <a:t>But,</a:t>
            </a:r>
            <a:br>
              <a:rPr lang="en-US" altLang="en-US" sz="1800" dirty="0"/>
            </a:br>
            <a:r>
              <a:rPr lang="en-US" altLang="en-US" sz="1800" dirty="0"/>
              <a:t>        (title, author) </a:t>
            </a:r>
            <a:r>
              <a:rPr lang="is-IS" altLang="en-US" sz="1800" dirty="0">
                <a:sym typeface="Symbol" charset="2"/>
              </a:rPr>
              <a:t>→</a:t>
            </a:r>
            <a:r>
              <a:rPr lang="en-US" altLang="en-US" sz="1800" dirty="0"/>
              <a:t> publisher does NOT necessarily imply that </a:t>
            </a:r>
          </a:p>
          <a:p>
            <a:pPr marL="914400" indent="0">
              <a:buNone/>
            </a:pPr>
            <a:r>
              <a:rPr lang="en-US" altLang="en-US" sz="1800" dirty="0"/>
              <a:t>title </a:t>
            </a:r>
            <a:r>
              <a:rPr lang="is-IS" altLang="en-US" sz="1800" dirty="0">
                <a:sym typeface="Symbol" charset="2"/>
              </a:rPr>
              <a:t>→</a:t>
            </a:r>
            <a:r>
              <a:rPr lang="en-US" altLang="en-US" sz="1800" dirty="0"/>
              <a:t> publisher NOR that author </a:t>
            </a:r>
            <a:r>
              <a:rPr lang="is-IS" altLang="en-US" sz="1800" dirty="0">
                <a:sym typeface="Symbol" charset="2"/>
              </a:rPr>
              <a:t>→</a:t>
            </a:r>
            <a:r>
              <a:rPr lang="en-US" altLang="en-US" sz="1800" dirty="0"/>
              <a:t> publisher</a:t>
            </a:r>
            <a:br>
              <a:rPr lang="en-US" altLang="en-US" sz="1800" dirty="0"/>
            </a:b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7458712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 uiExpand="1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Reasoning About FDs: General</a:t>
            </a:r>
          </a:p>
        </p:txBody>
      </p:sp>
      <p:sp>
        <p:nvSpPr>
          <p:cNvPr id="16389" name="Rectangle 5"/>
          <p:cNvSpPr>
            <a:spLocks noGrp="1" noChangeArrowheads="1"/>
          </p:cNvSpPr>
          <p:nvPr>
            <p:ph sz="quarter" idx="13"/>
          </p:nvPr>
        </p:nvSpPr>
        <p:spPr>
          <a:xfrm>
            <a:off x="246888" y="1060704"/>
            <a:ext cx="8668512" cy="4254246"/>
          </a:xfrm>
        </p:spPr>
        <p:txBody>
          <a:bodyPr>
            <a:normAutofit/>
          </a:bodyPr>
          <a:lstStyle/>
          <a:p>
            <a:pPr>
              <a:spcBef>
                <a:spcPts val="2000"/>
              </a:spcBef>
            </a:pPr>
            <a:r>
              <a:rPr lang="en-US" altLang="en-US" sz="2400" dirty="0"/>
              <a:t>Generally, an FD g is implied by a set of FDs F </a:t>
            </a:r>
          </a:p>
          <a:p>
            <a:pPr marL="914400" indent="0">
              <a:spcBef>
                <a:spcPts val="0"/>
              </a:spcBef>
              <a:buNone/>
            </a:pPr>
            <a:r>
              <a:rPr lang="en-US" altLang="en-US" sz="2400" dirty="0"/>
              <a:t>if g holds whenever all FDs in F hold.</a:t>
            </a:r>
          </a:p>
          <a:p>
            <a:pPr>
              <a:spcBef>
                <a:spcPts val="2000"/>
              </a:spcBef>
            </a:pPr>
            <a:r>
              <a:rPr lang="en-US" altLang="en-US" sz="2400" dirty="0"/>
              <a:t>F+ = closure of  F:</a:t>
            </a:r>
          </a:p>
          <a:p>
            <a:pPr lvl="1">
              <a:spcBef>
                <a:spcPts val="0"/>
              </a:spcBef>
            </a:pPr>
            <a:r>
              <a:rPr lang="en-US" altLang="en-US" sz="2400" dirty="0"/>
              <a:t>the set of all FDs that are implied by F.</a:t>
            </a:r>
          </a:p>
          <a:p>
            <a:pPr lvl="1">
              <a:spcBef>
                <a:spcPts val="0"/>
              </a:spcBef>
            </a:pPr>
            <a:r>
              <a:rPr lang="en-US" altLang="en-US" sz="2400" dirty="0"/>
              <a:t>includes “</a:t>
            </a:r>
            <a:r>
              <a:rPr lang="en-US" altLang="ja-JP" sz="2400" dirty="0"/>
              <a:t>trivial dependencies”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41396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 uiExpand="1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Rules of Inference</a:t>
            </a:r>
          </a:p>
        </p:txBody>
      </p:sp>
      <p:sp>
        <p:nvSpPr>
          <p:cNvPr id="109573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b="1" dirty="0"/>
              <a:t>Armstrong</a:t>
            </a:r>
            <a:r>
              <a:rPr lang="fr-FR" altLang="ja-JP" b="1" dirty="0"/>
              <a:t>'</a:t>
            </a:r>
            <a:r>
              <a:rPr lang="en-US" altLang="en-US" b="1" dirty="0"/>
              <a:t>s Axioms </a:t>
            </a:r>
            <a:r>
              <a:rPr lang="en-US" altLang="en-US" dirty="0"/>
              <a:t>(X, Y, Z are sets of attributes):</a:t>
            </a:r>
          </a:p>
          <a:p>
            <a:pPr lvl="1"/>
            <a:r>
              <a:rPr lang="en-US" altLang="en-US" i="1" u="sng" dirty="0"/>
              <a:t>Reflexivity</a:t>
            </a:r>
            <a:r>
              <a:rPr lang="en-US" altLang="en-US" b="1" dirty="0"/>
              <a:t>:  </a:t>
            </a:r>
            <a:r>
              <a:rPr lang="en-US" altLang="en-US" dirty="0"/>
              <a:t>If  X ⊇ Y,  then   X </a:t>
            </a:r>
            <a:r>
              <a:rPr lang="is-IS" altLang="en-US" dirty="0">
                <a:sym typeface="Symbol" charset="2"/>
              </a:rPr>
              <a:t>→</a:t>
            </a:r>
            <a:r>
              <a:rPr lang="en-US" altLang="en-US" dirty="0"/>
              <a:t> Y </a:t>
            </a:r>
          </a:p>
          <a:p>
            <a:pPr lvl="1"/>
            <a:r>
              <a:rPr lang="en-US" altLang="en-US" i="1" u="sng" dirty="0"/>
              <a:t>Augmentation</a:t>
            </a:r>
            <a:r>
              <a:rPr lang="en-US" altLang="en-US" dirty="0"/>
              <a:t>:  If  X </a:t>
            </a:r>
            <a:r>
              <a:rPr lang="is-IS" altLang="en-US" dirty="0">
                <a:sym typeface="Symbol" charset="2"/>
              </a:rPr>
              <a:t>→</a:t>
            </a:r>
            <a:r>
              <a:rPr lang="en-US" altLang="en-US" dirty="0"/>
              <a:t> Y,  then   XZ </a:t>
            </a:r>
            <a:r>
              <a:rPr lang="is-IS" altLang="en-US" dirty="0">
                <a:sym typeface="Symbol" charset="2"/>
              </a:rPr>
              <a:t>→</a:t>
            </a:r>
            <a:r>
              <a:rPr lang="en-US" altLang="en-US" dirty="0"/>
              <a:t> YZ   for any Z</a:t>
            </a:r>
          </a:p>
          <a:p>
            <a:pPr lvl="1"/>
            <a:r>
              <a:rPr lang="en-US" altLang="en-US" i="1" u="sng" dirty="0"/>
              <a:t>Transitivity</a:t>
            </a:r>
            <a:r>
              <a:rPr lang="en-US" altLang="en-US" dirty="0"/>
              <a:t>:  If  X </a:t>
            </a:r>
            <a:r>
              <a:rPr lang="is-IS" altLang="en-US" dirty="0">
                <a:sym typeface="Symbol" charset="2"/>
              </a:rPr>
              <a:t>→</a:t>
            </a:r>
            <a:r>
              <a:rPr lang="en-US" altLang="en-US" dirty="0"/>
              <a:t> Y  and  Y </a:t>
            </a:r>
            <a:r>
              <a:rPr lang="is-IS" altLang="en-US" dirty="0">
                <a:sym typeface="Symbol" charset="2"/>
              </a:rPr>
              <a:t>→</a:t>
            </a:r>
            <a:r>
              <a:rPr lang="en-US" altLang="en-US" dirty="0"/>
              <a:t> Z,  then   X </a:t>
            </a:r>
            <a:r>
              <a:rPr lang="is-IS" altLang="en-US" dirty="0">
                <a:sym typeface="Symbol" charset="2"/>
              </a:rPr>
              <a:t>→</a:t>
            </a:r>
            <a:r>
              <a:rPr lang="en-US" altLang="en-US" dirty="0"/>
              <a:t> Z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Sound and complete inference rules for FDs!</a:t>
            </a:r>
          </a:p>
          <a:p>
            <a:pPr lvl="1"/>
            <a:r>
              <a:rPr lang="en-US" altLang="en-US" dirty="0"/>
              <a:t>using AA you get only the FDs in F+ and all these FDs.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Some additional rules (that follow from AA):</a:t>
            </a:r>
          </a:p>
          <a:p>
            <a:pPr lvl="1"/>
            <a:r>
              <a:rPr lang="en-US" altLang="en-US" i="1" u="sng" dirty="0"/>
              <a:t>Union</a:t>
            </a:r>
            <a:r>
              <a:rPr lang="en-US" altLang="en-US" dirty="0"/>
              <a:t>:   If X </a:t>
            </a:r>
            <a:r>
              <a:rPr lang="is-IS" altLang="en-US" dirty="0">
                <a:sym typeface="Symbol" charset="2"/>
              </a:rPr>
              <a:t>→</a:t>
            </a:r>
            <a:r>
              <a:rPr lang="en-US" altLang="en-US" dirty="0"/>
              <a:t> Y  and  X </a:t>
            </a:r>
            <a:r>
              <a:rPr lang="is-IS" altLang="en-US" dirty="0">
                <a:sym typeface="Symbol" charset="2"/>
              </a:rPr>
              <a:t>→</a:t>
            </a:r>
            <a:r>
              <a:rPr lang="en-US" altLang="en-US" dirty="0"/>
              <a:t> Z,   then  X </a:t>
            </a:r>
            <a:r>
              <a:rPr lang="is-IS" altLang="en-US" dirty="0">
                <a:sym typeface="Symbol" charset="2"/>
              </a:rPr>
              <a:t>→</a:t>
            </a:r>
            <a:r>
              <a:rPr lang="en-US" altLang="en-US" dirty="0"/>
              <a:t> YZ</a:t>
            </a:r>
          </a:p>
          <a:p>
            <a:pPr lvl="1"/>
            <a:r>
              <a:rPr lang="en-US" altLang="en-US" i="1" u="sng" dirty="0"/>
              <a:t>Decomposition</a:t>
            </a:r>
            <a:r>
              <a:rPr lang="en-US" altLang="en-US" dirty="0"/>
              <a:t>:   If X </a:t>
            </a:r>
            <a:r>
              <a:rPr lang="is-IS" altLang="en-US" dirty="0">
                <a:sym typeface="Symbol" charset="2"/>
              </a:rPr>
              <a:t>→</a:t>
            </a:r>
            <a:r>
              <a:rPr lang="en-US" altLang="en-US" dirty="0"/>
              <a:t> YZ,   then  X </a:t>
            </a:r>
            <a:r>
              <a:rPr lang="is-IS" altLang="en-US" dirty="0">
                <a:sym typeface="Symbol" charset="2"/>
              </a:rPr>
              <a:t>→</a:t>
            </a:r>
            <a:r>
              <a:rPr lang="en-US" altLang="en-US" dirty="0"/>
              <a:t> Y  and  X </a:t>
            </a:r>
            <a:r>
              <a:rPr lang="is-IS" altLang="en-US" dirty="0">
                <a:sym typeface="Symbol" charset="2"/>
              </a:rPr>
              <a:t>→</a:t>
            </a:r>
            <a:r>
              <a:rPr lang="en-US" altLang="en-US" dirty="0"/>
              <a:t> Z</a:t>
            </a:r>
          </a:p>
          <a:p>
            <a:pPr lvl="1"/>
            <a:r>
              <a:rPr lang="en-US" altLang="en-US" dirty="0"/>
              <a:t>See if you can prove these!</a:t>
            </a:r>
          </a:p>
          <a:p>
            <a:pPr lvl="1"/>
            <a:endParaRPr lang="en-US" altLang="en-US" dirty="0"/>
          </a:p>
        </p:txBody>
      </p:sp>
      <p:pic>
        <p:nvPicPr>
          <p:cNvPr id="3" name="Picture 2" descr="A picture of Louis Armstrong playing the trumpet. Armstrong's axioms were actually done by William Ward Armstrong" title="Armstro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4826" y="361950"/>
            <a:ext cx="2629174" cy="2266950"/>
          </a:xfrm>
          <a:prstGeom prst="rect">
            <a:avLst/>
          </a:prstGeom>
        </p:spPr>
      </p:pic>
      <p:sp>
        <p:nvSpPr>
          <p:cNvPr id="5" name="TextBox 4" descr="A picture of Louis Armstrong playing the trumpet. Armstrong's axioms were actually done by William Ward Armstrong" title="Armstrong"/>
          <p:cNvSpPr txBox="1"/>
          <p:nvPr/>
        </p:nvSpPr>
        <p:spPr>
          <a:xfrm>
            <a:off x="7162801" y="2628900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Actually, William Ward Armstrong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9651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5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5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5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57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57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57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3" grpId="0" uiExpand="1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</a:t>
            </a:r>
          </a:p>
        </p:txBody>
      </p:sp>
      <p:sp>
        <p:nvSpPr>
          <p:cNvPr id="18437" name="Rectangle 5"/>
          <p:cNvSpPr>
            <a:spLocks noGrp="1" noChangeArrowheads="1"/>
          </p:cNvSpPr>
          <p:nvPr>
            <p:ph idx="1"/>
          </p:nvPr>
        </p:nvSpPr>
        <p:spPr>
          <a:xfrm>
            <a:off x="152400" y="1063229"/>
            <a:ext cx="8229600" cy="4327921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b="1" dirty="0"/>
              <a:t>Contracts(</a:t>
            </a:r>
            <a:r>
              <a:rPr lang="en-US" altLang="en-US" b="1" dirty="0" err="1"/>
              <a:t>cid,sid,jid,did,pid,qty,value</a:t>
            </a:r>
            <a:r>
              <a:rPr lang="en-US" altLang="en-US" b="1" dirty="0"/>
              <a:t>), </a:t>
            </a:r>
            <a:r>
              <a:rPr lang="en-US" altLang="en-US" dirty="0"/>
              <a:t>and:</a:t>
            </a:r>
          </a:p>
          <a:p>
            <a:pPr lvl="1"/>
            <a:r>
              <a:rPr lang="en-US" altLang="en-US" dirty="0"/>
              <a:t>C is the key:   C </a:t>
            </a:r>
            <a:r>
              <a:rPr lang="is-IS" altLang="en-US" dirty="0">
                <a:sym typeface="Symbol" charset="2"/>
              </a:rPr>
              <a:t>→</a:t>
            </a:r>
            <a:r>
              <a:rPr lang="en-US" altLang="en-US" dirty="0"/>
              <a:t> CSJDPQV</a:t>
            </a:r>
          </a:p>
          <a:p>
            <a:pPr lvl="1"/>
            <a:r>
              <a:rPr lang="en-US" altLang="en-US" dirty="0" err="1"/>
              <a:t>Proj</a:t>
            </a:r>
            <a:r>
              <a:rPr lang="en-US" altLang="en-US" dirty="0"/>
              <a:t> (J) purchases each part (P) using single contract (C):  JP </a:t>
            </a:r>
            <a:r>
              <a:rPr lang="is-IS" altLang="en-US" dirty="0">
                <a:sym typeface="Symbol" charset="2"/>
              </a:rPr>
              <a:t>→</a:t>
            </a:r>
            <a:r>
              <a:rPr lang="en-US" altLang="en-US" dirty="0"/>
              <a:t> C</a:t>
            </a:r>
          </a:p>
          <a:p>
            <a:pPr lvl="1"/>
            <a:r>
              <a:rPr lang="en-US" altLang="en-US" dirty="0"/>
              <a:t>Dept (D) purchases at most 1 part (P) from a supplier (S): SD </a:t>
            </a:r>
            <a:r>
              <a:rPr lang="is-IS" altLang="en-US" dirty="0">
                <a:sym typeface="Symbol" charset="2"/>
              </a:rPr>
              <a:t>→</a:t>
            </a:r>
            <a:r>
              <a:rPr lang="en-US" altLang="en-US" dirty="0"/>
              <a:t> P</a:t>
            </a:r>
          </a:p>
          <a:p>
            <a:pPr>
              <a:spcBef>
                <a:spcPts val="2000"/>
              </a:spcBef>
            </a:pPr>
            <a:r>
              <a:rPr lang="en-US" altLang="en-US" b="1" dirty="0"/>
              <a:t>Problem: Prove that SDJ is a key for Contracts</a:t>
            </a:r>
          </a:p>
          <a:p>
            <a:r>
              <a:rPr lang="en-US" altLang="en-US" dirty="0"/>
              <a:t>JP </a:t>
            </a:r>
            <a:r>
              <a:rPr lang="is-IS" altLang="en-US" dirty="0">
                <a:sym typeface="Symbol" charset="2"/>
              </a:rPr>
              <a:t>→</a:t>
            </a:r>
            <a:r>
              <a:rPr lang="en-US" altLang="en-US" dirty="0"/>
              <a:t> C,  C </a:t>
            </a:r>
            <a:r>
              <a:rPr lang="is-IS" altLang="en-US" dirty="0">
                <a:sym typeface="Symbol" charset="2"/>
              </a:rPr>
              <a:t>→</a:t>
            </a:r>
            <a:r>
              <a:rPr lang="en-US" altLang="en-US" dirty="0"/>
              <a:t> CSJDPQV </a:t>
            </a:r>
          </a:p>
          <a:p>
            <a:pPr lvl="1"/>
            <a:r>
              <a:rPr lang="en-US" altLang="en-US" dirty="0"/>
              <a:t>Imply   JP </a:t>
            </a:r>
            <a:r>
              <a:rPr lang="is-IS" altLang="en-US" dirty="0">
                <a:sym typeface="Symbol" charset="2"/>
              </a:rPr>
              <a:t>→</a:t>
            </a:r>
            <a:r>
              <a:rPr lang="en-US" altLang="en-US" dirty="0"/>
              <a:t> CSJDPQV</a:t>
            </a:r>
          </a:p>
          <a:p>
            <a:pPr lvl="1"/>
            <a:r>
              <a:rPr lang="en-US" altLang="en-US" dirty="0"/>
              <a:t>(by transitivity)  (shows that JP is a key)</a:t>
            </a:r>
          </a:p>
          <a:p>
            <a:r>
              <a:rPr lang="en-US" altLang="en-US" dirty="0"/>
              <a:t>SD </a:t>
            </a:r>
            <a:r>
              <a:rPr lang="is-IS" altLang="en-US" dirty="0">
                <a:sym typeface="Symbol" charset="2"/>
              </a:rPr>
              <a:t>→</a:t>
            </a:r>
            <a:r>
              <a:rPr lang="en-US" altLang="en-US" dirty="0"/>
              <a:t> P                                </a:t>
            </a:r>
          </a:p>
          <a:p>
            <a:pPr lvl="1"/>
            <a:r>
              <a:rPr lang="en-US" altLang="en-US" dirty="0"/>
              <a:t>implies   SDJ </a:t>
            </a:r>
            <a:r>
              <a:rPr lang="is-IS" altLang="en-US" dirty="0">
                <a:sym typeface="Symbol" charset="2"/>
              </a:rPr>
              <a:t>→</a:t>
            </a:r>
            <a:r>
              <a:rPr lang="en-US" altLang="en-US" dirty="0"/>
              <a:t> JP  (by augmentation)</a:t>
            </a:r>
          </a:p>
          <a:p>
            <a:r>
              <a:rPr lang="en-US" altLang="en-US" dirty="0"/>
              <a:t>SDJ </a:t>
            </a:r>
            <a:r>
              <a:rPr lang="is-IS" altLang="en-US" dirty="0">
                <a:sym typeface="Symbol" charset="2"/>
              </a:rPr>
              <a:t>→</a:t>
            </a:r>
            <a:r>
              <a:rPr lang="en-US" altLang="en-US" dirty="0"/>
              <a:t> JP,   JP </a:t>
            </a:r>
            <a:r>
              <a:rPr lang="is-IS" altLang="en-US" dirty="0">
                <a:sym typeface="Symbol" charset="2"/>
              </a:rPr>
              <a:t>→</a:t>
            </a:r>
            <a:r>
              <a:rPr lang="en-US" altLang="en-US" dirty="0"/>
              <a:t> CSJDPQV    </a:t>
            </a:r>
          </a:p>
          <a:p>
            <a:pPr lvl="1"/>
            <a:r>
              <a:rPr lang="en-US" altLang="en-US" dirty="0"/>
              <a:t>imply   SDJ </a:t>
            </a:r>
            <a:r>
              <a:rPr lang="is-IS" altLang="en-US" dirty="0">
                <a:sym typeface="Symbol" charset="2"/>
              </a:rPr>
              <a:t>→</a:t>
            </a:r>
            <a:r>
              <a:rPr lang="en-US" altLang="en-US" dirty="0"/>
              <a:t> CSJDPQV</a:t>
            </a:r>
          </a:p>
          <a:p>
            <a:pPr lvl="1"/>
            <a:r>
              <a:rPr lang="en-US" altLang="en-US" dirty="0"/>
              <a:t> (by transitivity) (shows that SDJ is a key).</a:t>
            </a:r>
          </a:p>
          <a:p>
            <a:pPr>
              <a:spcBef>
                <a:spcPts val="2000"/>
              </a:spcBef>
            </a:pPr>
            <a:r>
              <a:rPr lang="en-US" altLang="en-US" dirty="0"/>
              <a:t>Q: can you now infer that SD </a:t>
            </a:r>
            <a:r>
              <a:rPr lang="is-IS" altLang="en-US" dirty="0">
                <a:sym typeface="Symbol" charset="2"/>
              </a:rPr>
              <a:t>→</a:t>
            </a:r>
            <a:r>
              <a:rPr lang="en-US" altLang="en-US" dirty="0"/>
              <a:t> CSDPQV</a:t>
            </a:r>
          </a:p>
          <a:p>
            <a:pPr lvl="1">
              <a:spcBef>
                <a:spcPts val="0"/>
              </a:spcBef>
            </a:pPr>
            <a:r>
              <a:rPr lang="en-US" altLang="en-US" sz="1900" dirty="0">
                <a:solidFill>
                  <a:srgbClr val="CF0E30"/>
                </a:solidFill>
              </a:rPr>
              <a:t>No</a:t>
            </a:r>
          </a:p>
          <a:p>
            <a:pPr>
              <a:spcBef>
                <a:spcPts val="2000"/>
              </a:spcBef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96110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843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843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7" grpId="0" uiExpand="1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Attribute Closure</a:t>
            </a:r>
          </a:p>
        </p:txBody>
      </p:sp>
      <p:sp>
        <p:nvSpPr>
          <p:cNvPr id="45058" name="Rectangle 5"/>
          <p:cNvSpPr>
            <a:spLocks noGrp="1" noChangeArrowheads="1"/>
          </p:cNvSpPr>
          <p:nvPr>
            <p:ph idx="1"/>
          </p:nvPr>
        </p:nvSpPr>
        <p:spPr>
          <a:xfrm>
            <a:off x="152400" y="1200150"/>
            <a:ext cx="8229600" cy="3657600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dirty="0"/>
              <a:t>Computing closure F+ of a set of FDs F is hard:</a:t>
            </a:r>
          </a:p>
          <a:p>
            <a:pPr lvl="1"/>
            <a:r>
              <a:rPr lang="en-US" altLang="en-US" dirty="0"/>
              <a:t>exponential in # </a:t>
            </a:r>
            <a:r>
              <a:rPr lang="en-US" altLang="en-US" dirty="0" err="1"/>
              <a:t>attrs</a:t>
            </a:r>
            <a:r>
              <a:rPr lang="en-US" altLang="en-US" dirty="0"/>
              <a:t>!</a:t>
            </a:r>
          </a:p>
          <a:p>
            <a:pPr>
              <a:spcBef>
                <a:spcPts val="2000"/>
              </a:spcBef>
            </a:pPr>
            <a:r>
              <a:rPr lang="en-US" altLang="en-US" dirty="0"/>
              <a:t>Typically, just check if X </a:t>
            </a:r>
            <a:r>
              <a:rPr lang="is-IS" altLang="en-US" dirty="0">
                <a:sym typeface="Symbol" charset="2"/>
              </a:rPr>
              <a:t>→</a:t>
            </a:r>
            <a:r>
              <a:rPr lang="en-US" altLang="en-US" dirty="0"/>
              <a:t> Y  is in F+.  Efficient!</a:t>
            </a:r>
          </a:p>
          <a:p>
            <a:pPr lvl="1"/>
            <a:r>
              <a:rPr lang="en-US" altLang="en-US" dirty="0"/>
              <a:t>Compute attribute closure of X (denoted X+) </a:t>
            </a:r>
            <a:r>
              <a:rPr lang="en-US" altLang="en-US" dirty="0" err="1"/>
              <a:t>wrt</a:t>
            </a:r>
            <a:r>
              <a:rPr lang="en-US" altLang="en-US" dirty="0"/>
              <a:t> F.</a:t>
            </a:r>
            <a:br>
              <a:rPr lang="en-US" altLang="en-US" dirty="0"/>
            </a:br>
            <a:r>
              <a:rPr lang="en-US" altLang="en-US" dirty="0"/>
              <a:t>X+ =  Set of all attributes A such that X </a:t>
            </a:r>
            <a:r>
              <a:rPr lang="is-IS" altLang="en-US" dirty="0">
                <a:sym typeface="Symbol" charset="2"/>
              </a:rPr>
              <a:t>→</a:t>
            </a:r>
            <a:r>
              <a:rPr lang="en-US" altLang="en-US" dirty="0"/>
              <a:t> A is in F+</a:t>
            </a:r>
          </a:p>
          <a:p>
            <a:pPr lvl="2"/>
            <a:r>
              <a:rPr lang="en-US" altLang="en-US" dirty="0"/>
              <a:t>X+ := X</a:t>
            </a:r>
          </a:p>
          <a:p>
            <a:pPr lvl="2"/>
            <a:r>
              <a:rPr lang="en-US" altLang="en-US" dirty="0"/>
              <a:t>Repeat until no change (fixpoint):</a:t>
            </a:r>
            <a:br>
              <a:rPr lang="en-US" altLang="en-US" dirty="0"/>
            </a:br>
            <a:r>
              <a:rPr lang="en-US" altLang="en-US" dirty="0"/>
              <a:t>	for U </a:t>
            </a:r>
            <a:r>
              <a:rPr lang="is-IS" altLang="en-US" dirty="0">
                <a:sym typeface="Symbol" charset="2"/>
              </a:rPr>
              <a:t>→</a:t>
            </a:r>
            <a:r>
              <a:rPr lang="en-US" altLang="en-US" dirty="0">
                <a:sym typeface="Symbol" charset="2"/>
              </a:rPr>
              <a:t> V</a:t>
            </a:r>
            <a:r>
              <a:rPr lang="en-US" altLang="en-US" dirty="0"/>
              <a:t> ⊆  F,</a:t>
            </a:r>
            <a:br>
              <a:rPr lang="en-US" altLang="en-US" dirty="0"/>
            </a:br>
            <a:r>
              <a:rPr lang="en-US" altLang="en-US" dirty="0"/>
              <a:t>             if U ⊆ X+, then add V to X+</a:t>
            </a:r>
          </a:p>
          <a:p>
            <a:pPr lvl="1"/>
            <a:r>
              <a:rPr lang="en-US" altLang="en-US" dirty="0"/>
              <a:t>Check if Y is in X+</a:t>
            </a:r>
          </a:p>
          <a:p>
            <a:pPr lvl="1"/>
            <a:r>
              <a:rPr lang="en-US" altLang="en-US" dirty="0"/>
              <a:t>Approach can also be used to check for keys of a relation.</a:t>
            </a:r>
          </a:p>
          <a:p>
            <a:pPr lvl="2"/>
            <a:r>
              <a:rPr lang="en-US" altLang="en-US" dirty="0"/>
              <a:t>If X+ = R, then X is a </a:t>
            </a:r>
            <a:r>
              <a:rPr lang="en-US" altLang="en-US" dirty="0" err="1"/>
              <a:t>superkey</a:t>
            </a:r>
            <a:r>
              <a:rPr lang="en-US" altLang="en-US" dirty="0"/>
              <a:t> for R.</a:t>
            </a:r>
          </a:p>
          <a:p>
            <a:pPr lvl="2"/>
            <a:r>
              <a:rPr lang="en-US" altLang="en-US" dirty="0"/>
              <a:t>Q: How to check if X is a “</a:t>
            </a:r>
            <a:r>
              <a:rPr lang="en-US" altLang="ja-JP" dirty="0"/>
              <a:t>candidate key” (minimal)?</a:t>
            </a:r>
          </a:p>
          <a:p>
            <a:pPr lvl="2"/>
            <a:r>
              <a:rPr lang="en-US" altLang="ja-JP" dirty="0"/>
              <a:t>A: For each attribute A in X, check if (X-A)+ = R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366457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>
          <a:xfrm>
            <a:off x="246888" y="310896"/>
            <a:ext cx="5925312" cy="1161288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Helvetica Neue Regular" charset="0"/>
              </a:rPr>
              <a:t>Attribute Closure (example)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246888" y="1554480"/>
            <a:ext cx="4477512" cy="2633472"/>
          </a:xfrm>
        </p:spPr>
        <p:txBody>
          <a:bodyPr anchor="t">
            <a:noAutofit/>
          </a:bodyPr>
          <a:lstStyle/>
          <a:p>
            <a:pPr marL="0" indent="0" eaLnBrk="1" hangingPunct="1">
              <a:buNone/>
            </a:pPr>
            <a:r>
              <a:rPr lang="en-US" altLang="en-US" sz="1600" dirty="0">
                <a:ea typeface="Helvetica Neue" charset="0"/>
                <a:cs typeface="Helvetica Neue" charset="0"/>
              </a:rPr>
              <a:t>R = {A, B, C, D, E}</a:t>
            </a:r>
          </a:p>
          <a:p>
            <a:pPr marL="0" indent="0" eaLnBrk="1" hangingPunct="1">
              <a:buNone/>
            </a:pPr>
            <a:r>
              <a:rPr lang="en-US" altLang="en-US" sz="1600" dirty="0">
                <a:ea typeface="Helvetica Neue" charset="0"/>
                <a:cs typeface="Helvetica Neue" charset="0"/>
              </a:rPr>
              <a:t>F = { B </a:t>
            </a:r>
            <a:r>
              <a:rPr lang="is-IS" altLang="en-US" sz="1600" dirty="0">
                <a:ea typeface="Helvetica Neue" charset="0"/>
                <a:cs typeface="Helvetica Neue" charset="0"/>
                <a:sym typeface="Symbol" charset="2"/>
              </a:rPr>
              <a:t>→</a:t>
            </a:r>
            <a:r>
              <a:rPr lang="en-US" altLang="en-US" sz="1600" dirty="0">
                <a:ea typeface="Helvetica Neue" charset="0"/>
                <a:cs typeface="Helvetica Neue" charset="0"/>
                <a:sym typeface="Symbol" charset="2"/>
              </a:rPr>
              <a:t>CD, D </a:t>
            </a:r>
            <a:r>
              <a:rPr lang="is-IS" altLang="en-US" sz="1600" dirty="0">
                <a:ea typeface="Helvetica Neue" charset="0"/>
                <a:cs typeface="Helvetica Neue" charset="0"/>
                <a:sym typeface="Symbol" charset="2"/>
              </a:rPr>
              <a:t>→</a:t>
            </a:r>
            <a:r>
              <a:rPr lang="en-US" altLang="en-US" sz="1600" dirty="0">
                <a:ea typeface="Helvetica Neue" charset="0"/>
                <a:cs typeface="Helvetica Neue" charset="0"/>
                <a:sym typeface="Symbol" charset="2"/>
              </a:rPr>
              <a:t> E, B </a:t>
            </a:r>
            <a:r>
              <a:rPr lang="is-IS" altLang="en-US" sz="1600" dirty="0">
                <a:ea typeface="Helvetica Neue" charset="0"/>
                <a:cs typeface="Helvetica Neue" charset="0"/>
                <a:sym typeface="Symbol" charset="2"/>
              </a:rPr>
              <a:t>→</a:t>
            </a:r>
            <a:r>
              <a:rPr lang="en-US" altLang="en-US" sz="1600" dirty="0">
                <a:ea typeface="Helvetica Neue" charset="0"/>
                <a:cs typeface="Helvetica Neue" charset="0"/>
                <a:sym typeface="Symbol" charset="2"/>
              </a:rPr>
              <a:t> A, E </a:t>
            </a:r>
            <a:r>
              <a:rPr lang="is-IS" altLang="en-US" sz="1600" dirty="0">
                <a:ea typeface="Helvetica Neue" charset="0"/>
                <a:cs typeface="Helvetica Neue" charset="0"/>
                <a:sym typeface="Symbol" charset="2"/>
              </a:rPr>
              <a:t>→</a:t>
            </a:r>
            <a:r>
              <a:rPr lang="en-US" altLang="en-US" sz="1600" dirty="0">
                <a:ea typeface="Helvetica Neue" charset="0"/>
                <a:cs typeface="Helvetica Neue" charset="0"/>
                <a:sym typeface="Symbol" charset="2"/>
              </a:rPr>
              <a:t> C, AD </a:t>
            </a:r>
            <a:r>
              <a:rPr lang="is-IS" altLang="en-US" sz="1600" dirty="0">
                <a:ea typeface="Helvetica Neue" charset="0"/>
                <a:cs typeface="Helvetica Neue" charset="0"/>
                <a:sym typeface="Symbol" charset="2"/>
              </a:rPr>
              <a:t>→</a:t>
            </a:r>
            <a:r>
              <a:rPr lang="en-US" altLang="en-US" sz="1600" dirty="0">
                <a:ea typeface="Helvetica Neue" charset="0"/>
                <a:cs typeface="Helvetica Neue" charset="0"/>
                <a:sym typeface="Symbol" charset="2"/>
              </a:rPr>
              <a:t>B }</a:t>
            </a:r>
            <a:endParaRPr lang="en-US" altLang="en-US" sz="1600" b="1" dirty="0">
              <a:ea typeface="Helvetica Neue" charset="0"/>
              <a:cs typeface="Helvetica Neue" charset="0"/>
              <a:sym typeface="Symbol" charset="2"/>
            </a:endParaRPr>
          </a:p>
          <a:p>
            <a:pPr eaLnBrk="1" hangingPunct="1">
              <a:spcBef>
                <a:spcPts val="2000"/>
              </a:spcBef>
            </a:pPr>
            <a:r>
              <a:rPr lang="en-US" altLang="en-US" sz="1600" b="1" dirty="0">
                <a:ea typeface="Helvetica Neue" charset="0"/>
                <a:cs typeface="Helvetica Neue" charset="0"/>
                <a:sym typeface="Symbol" charset="2"/>
              </a:rPr>
              <a:t>Is B </a:t>
            </a:r>
            <a:r>
              <a:rPr lang="is-IS" altLang="en-US" sz="1600" b="1" dirty="0">
                <a:ea typeface="Helvetica Neue" charset="0"/>
                <a:cs typeface="Helvetica Neue" charset="0"/>
                <a:sym typeface="Symbol" charset="2"/>
              </a:rPr>
              <a:t>→</a:t>
            </a:r>
            <a:r>
              <a:rPr lang="en-US" altLang="en-US" sz="1600" b="1" dirty="0">
                <a:ea typeface="Helvetica Neue" charset="0"/>
                <a:cs typeface="Helvetica Neue" charset="0"/>
                <a:sym typeface="Symbol" charset="2"/>
              </a:rPr>
              <a:t> E in F</a:t>
            </a:r>
            <a:r>
              <a:rPr lang="en-US" altLang="en-US" sz="1600" b="1" baseline="30000" dirty="0">
                <a:ea typeface="Helvetica Neue" charset="0"/>
                <a:cs typeface="Helvetica Neue" charset="0"/>
                <a:sym typeface="Symbol" charset="2"/>
              </a:rPr>
              <a:t>+  </a:t>
            </a:r>
            <a:r>
              <a:rPr lang="en-US" altLang="en-US" sz="1600" b="1" dirty="0">
                <a:ea typeface="Helvetica Neue" charset="0"/>
                <a:cs typeface="Helvetica Neue" charset="0"/>
                <a:sym typeface="Symbol" charset="2"/>
              </a:rPr>
              <a:t>?</a:t>
            </a:r>
            <a:br>
              <a:rPr lang="en-US" altLang="en-US" sz="1600" b="1" dirty="0">
                <a:ea typeface="Helvetica Neue" charset="0"/>
                <a:cs typeface="Helvetica Neue" charset="0"/>
                <a:sym typeface="Symbol" charset="2"/>
              </a:rPr>
            </a:br>
            <a:r>
              <a:rPr lang="en-US" altLang="en-US" sz="1400" dirty="0">
                <a:ea typeface="Helvetica Neue" charset="0"/>
                <a:cs typeface="Helvetica Neue" charset="0"/>
                <a:sym typeface="Symbol" charset="2"/>
              </a:rPr>
              <a:t>B+ = {B, C, D, E, </a:t>
            </a:r>
            <a:r>
              <a:rPr lang="mr-IN" altLang="en-US" sz="1400" dirty="0">
                <a:ea typeface="Helvetica Neue" charset="0"/>
                <a:cs typeface="Helvetica Neue" charset="0"/>
                <a:sym typeface="Symbol" charset="2"/>
              </a:rPr>
              <a:t>…</a:t>
            </a:r>
            <a:r>
              <a:rPr lang="en-US" altLang="en-US" sz="1400" dirty="0">
                <a:ea typeface="Helvetica Neue" charset="0"/>
                <a:cs typeface="Helvetica Neue" charset="0"/>
                <a:sym typeface="Symbol" charset="2"/>
              </a:rPr>
              <a:t>}</a:t>
            </a:r>
            <a:br>
              <a:rPr lang="en-US" altLang="en-US" sz="1400" dirty="0">
                <a:ea typeface="Helvetica Neue" charset="0"/>
                <a:cs typeface="Helvetica Neue" charset="0"/>
                <a:sym typeface="Symbol" charset="2"/>
              </a:rPr>
            </a:br>
            <a:r>
              <a:rPr lang="en-US" altLang="en-US" sz="1400" dirty="0">
                <a:ea typeface="Helvetica Neue" charset="0"/>
                <a:cs typeface="Helvetica Neue" charset="0"/>
                <a:sym typeface="Symbol" charset="2"/>
              </a:rPr>
              <a:t>… Yep!</a:t>
            </a:r>
            <a:endParaRPr lang="en-US" altLang="en-US" sz="1800" dirty="0">
              <a:ea typeface="Helvetica Neue" charset="0"/>
              <a:cs typeface="Helvetica Neue" charset="0"/>
              <a:sym typeface="Symbol" charset="2"/>
            </a:endParaRPr>
          </a:p>
          <a:p>
            <a:pPr eaLnBrk="1" hangingPunct="1">
              <a:spcBef>
                <a:spcPts val="3000"/>
              </a:spcBef>
            </a:pPr>
            <a:r>
              <a:rPr lang="en-US" altLang="en-US" sz="1600" b="1" dirty="0">
                <a:ea typeface="Helvetica Neue" charset="0"/>
                <a:cs typeface="Helvetica Neue" charset="0"/>
                <a:sym typeface="Symbol" charset="2"/>
              </a:rPr>
              <a:t>Is D a key for R?</a:t>
            </a:r>
          </a:p>
          <a:p>
            <a:pPr marL="352425" lvl="1" indent="-339725" eaLnBrk="1" hangingPunct="1">
              <a:buFontTx/>
              <a:buNone/>
            </a:pPr>
            <a:r>
              <a:rPr lang="en-US" altLang="en-US" sz="1400" dirty="0">
                <a:ea typeface="Helvetica Neue" charset="0"/>
                <a:cs typeface="Helvetica Neue" charset="0"/>
                <a:sym typeface="Symbol" charset="2"/>
              </a:rPr>
              <a:t>	D</a:t>
            </a:r>
            <a:r>
              <a:rPr lang="en-US" altLang="en-US" sz="1400" baseline="30000" dirty="0">
                <a:ea typeface="Helvetica Neue" charset="0"/>
                <a:cs typeface="Helvetica Neue" charset="0"/>
                <a:sym typeface="Symbol" charset="2"/>
              </a:rPr>
              <a:t>+</a:t>
            </a:r>
            <a:r>
              <a:rPr lang="en-US" altLang="en-US" sz="1400" dirty="0">
                <a:ea typeface="Helvetica Neue" charset="0"/>
                <a:cs typeface="Helvetica Neue" charset="0"/>
                <a:sym typeface="Symbol" charset="2"/>
              </a:rPr>
              <a:t> = {D, E, C}</a:t>
            </a:r>
          </a:p>
          <a:p>
            <a:pPr lvl="1" eaLnBrk="1" hangingPunct="1">
              <a:buFontTx/>
              <a:buNone/>
            </a:pPr>
            <a:r>
              <a:rPr lang="en-US" altLang="en-US" sz="1400" dirty="0">
                <a:ea typeface="Helvetica Neue" charset="0"/>
                <a:cs typeface="Helvetica Neue" charset="0"/>
                <a:sym typeface="Symbol" charset="2"/>
              </a:rPr>
              <a:t>… Nope!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BAEF33-A582-3043-81E6-749757C188F8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590288" y="1528804"/>
            <a:ext cx="4224528" cy="2033546"/>
          </a:xfrm>
        </p:spPr>
        <p:txBody>
          <a:bodyPr>
            <a:noAutofit/>
          </a:bodyPr>
          <a:lstStyle/>
          <a:p>
            <a:r>
              <a:rPr lang="en-US" altLang="en-US" sz="1600" b="1" dirty="0">
                <a:solidFill>
                  <a:srgbClr val="404040"/>
                </a:solidFill>
                <a:latin typeface="Helvetica Neue Regular" charset="0"/>
                <a:sym typeface="Symbol" charset="2"/>
              </a:rPr>
              <a:t>Is AD a key for R?</a:t>
            </a:r>
          </a:p>
          <a:p>
            <a:pPr>
              <a:buFontTx/>
              <a:buNone/>
            </a:pPr>
            <a:r>
              <a:rPr lang="en-US" altLang="en-US" sz="1600" dirty="0">
                <a:solidFill>
                  <a:srgbClr val="404040"/>
                </a:solidFill>
                <a:latin typeface="Helvetica Neue Regular" charset="0"/>
                <a:sym typeface="Symbol" charset="2"/>
              </a:rPr>
              <a:t>    	</a:t>
            </a:r>
            <a:r>
              <a:rPr lang="en-US" altLang="en-US" sz="1400" dirty="0">
                <a:solidFill>
                  <a:srgbClr val="404040"/>
                </a:solidFill>
                <a:latin typeface="Helvetica Neue Regular" charset="0"/>
                <a:sym typeface="Symbol" charset="2"/>
              </a:rPr>
              <a:t>AD</a:t>
            </a:r>
            <a:r>
              <a:rPr lang="en-US" altLang="en-US" sz="1400" baseline="30000" dirty="0">
                <a:solidFill>
                  <a:srgbClr val="404040"/>
                </a:solidFill>
                <a:latin typeface="Helvetica Neue Regular" charset="0"/>
                <a:sym typeface="Symbol" charset="2"/>
              </a:rPr>
              <a:t>+</a:t>
            </a:r>
            <a:r>
              <a:rPr lang="en-US" altLang="en-US" sz="1400" dirty="0">
                <a:solidFill>
                  <a:srgbClr val="404040"/>
                </a:solidFill>
                <a:latin typeface="Helvetica Neue Regular" charset="0"/>
                <a:sym typeface="Symbol" charset="2"/>
              </a:rPr>
              <a:t> = {A, D, E, C, B}</a:t>
            </a:r>
            <a:br>
              <a:rPr lang="en-US" altLang="en-US" sz="1400" dirty="0">
                <a:solidFill>
                  <a:srgbClr val="404040"/>
                </a:solidFill>
                <a:latin typeface="Helvetica Neue Regular" charset="0"/>
                <a:sym typeface="Symbol" charset="2"/>
              </a:rPr>
            </a:br>
            <a:r>
              <a:rPr lang="en-US" altLang="en-US" sz="1400" dirty="0">
                <a:solidFill>
                  <a:srgbClr val="404040"/>
                </a:solidFill>
                <a:latin typeface="Helvetica Neue Regular" charset="0"/>
                <a:sym typeface="Symbol" charset="2"/>
              </a:rPr>
              <a:t>   …Yep!</a:t>
            </a:r>
          </a:p>
          <a:p>
            <a:pPr>
              <a:spcBef>
                <a:spcPts val="800"/>
              </a:spcBef>
            </a:pPr>
            <a:r>
              <a:rPr lang="en-US" altLang="en-US" sz="1600" b="1" dirty="0">
                <a:solidFill>
                  <a:srgbClr val="404040"/>
                </a:solidFill>
                <a:latin typeface="Helvetica Neue Regular" charset="0"/>
                <a:sym typeface="Symbol" charset="2"/>
              </a:rPr>
              <a:t>Is AD a </a:t>
            </a:r>
            <a:r>
              <a:rPr lang="en-US" altLang="en-US" sz="1600" b="1" i="1" dirty="0">
                <a:solidFill>
                  <a:srgbClr val="404040"/>
                </a:solidFill>
                <a:latin typeface="Helvetica Neue Regular" charset="0"/>
                <a:sym typeface="Symbol" charset="2"/>
              </a:rPr>
              <a:t>candidate</a:t>
            </a:r>
            <a:r>
              <a:rPr lang="en-US" altLang="en-US" sz="1600" b="1" dirty="0">
                <a:solidFill>
                  <a:srgbClr val="404040"/>
                </a:solidFill>
                <a:latin typeface="Helvetica Neue Regular" charset="0"/>
                <a:sym typeface="Symbol" charset="2"/>
              </a:rPr>
              <a:t> key for R?</a:t>
            </a:r>
          </a:p>
          <a:p>
            <a:pPr lvl="1">
              <a:buFontTx/>
              <a:buNone/>
            </a:pPr>
            <a:r>
              <a:rPr lang="en-US" altLang="en-US" sz="1400" dirty="0">
                <a:solidFill>
                  <a:srgbClr val="404040"/>
                </a:solidFill>
                <a:latin typeface="Helvetica Neue Regular" charset="0"/>
                <a:sym typeface="Symbol" charset="2"/>
              </a:rPr>
              <a:t>A</a:t>
            </a:r>
            <a:r>
              <a:rPr lang="en-US" altLang="en-US" sz="1400" baseline="30000" dirty="0">
                <a:solidFill>
                  <a:srgbClr val="404040"/>
                </a:solidFill>
                <a:latin typeface="Helvetica Neue Regular" charset="0"/>
                <a:sym typeface="Symbol" charset="2"/>
              </a:rPr>
              <a:t>+</a:t>
            </a:r>
            <a:r>
              <a:rPr lang="en-US" altLang="en-US" sz="1400" dirty="0">
                <a:solidFill>
                  <a:srgbClr val="404040"/>
                </a:solidFill>
                <a:latin typeface="Helvetica Neue Regular" charset="0"/>
                <a:sym typeface="Symbol" charset="2"/>
              </a:rPr>
              <a:t> = {A}  D</a:t>
            </a:r>
            <a:r>
              <a:rPr lang="en-US" altLang="en-US" sz="1400" baseline="30000" dirty="0">
                <a:solidFill>
                  <a:srgbClr val="404040"/>
                </a:solidFill>
                <a:latin typeface="Helvetica Neue Regular" charset="0"/>
                <a:sym typeface="Symbol" charset="2"/>
              </a:rPr>
              <a:t>+</a:t>
            </a:r>
            <a:r>
              <a:rPr lang="en-US" altLang="en-US" sz="1400" dirty="0">
                <a:solidFill>
                  <a:srgbClr val="404040"/>
                </a:solidFill>
                <a:latin typeface="Helvetica Neue Regular" charset="0"/>
                <a:sym typeface="Symbol" charset="2"/>
              </a:rPr>
              <a:t> = {D, E, C}</a:t>
            </a:r>
          </a:p>
          <a:p>
            <a:pPr lvl="1">
              <a:buFontTx/>
              <a:buNone/>
            </a:pPr>
            <a:r>
              <a:rPr lang="en-US" altLang="en-US" sz="1400" dirty="0">
                <a:solidFill>
                  <a:srgbClr val="404040"/>
                </a:solidFill>
                <a:latin typeface="Helvetica Neue Regular" charset="0"/>
                <a:sym typeface="Symbol" charset="2"/>
              </a:rPr>
              <a:t>…Yes!</a:t>
            </a:r>
          </a:p>
          <a:p>
            <a:pPr>
              <a:spcBef>
                <a:spcPts val="1400"/>
              </a:spcBef>
            </a:pPr>
            <a:r>
              <a:rPr lang="en-US" altLang="en-US" sz="1600" b="1" dirty="0">
                <a:solidFill>
                  <a:srgbClr val="404040"/>
                </a:solidFill>
                <a:latin typeface="Helvetica Neue Regular" charset="0"/>
                <a:sym typeface="Symbol" charset="2"/>
              </a:rPr>
              <a:t> Is ADE a candidate key  for R?</a:t>
            </a:r>
          </a:p>
          <a:p>
            <a:pPr>
              <a:buFontTx/>
              <a:buNone/>
            </a:pPr>
            <a:r>
              <a:rPr lang="en-US" altLang="en-US" sz="1600" dirty="0">
                <a:solidFill>
                  <a:srgbClr val="404040"/>
                </a:solidFill>
                <a:latin typeface="Helvetica Neue Regular" charset="0"/>
                <a:sym typeface="Symbol" charset="2"/>
              </a:rPr>
              <a:t>      No! </a:t>
            </a:r>
          </a:p>
        </p:txBody>
      </p:sp>
    </p:spTree>
    <p:extLst>
      <p:ext uri="{BB962C8B-B14F-4D97-AF65-F5344CB8AC3E}">
        <p14:creationId xmlns:p14="http://schemas.microsoft.com/office/powerpoint/2010/main" val="1228019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19" grpId="0" build="p" bldLvl="2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DB184-E2A0-A342-BF14-75CE7C20F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B5050-A934-AB43-9F00-13A909553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5033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Thanks for that…</a:t>
            </a:r>
          </a:p>
        </p:txBody>
      </p:sp>
      <p:sp>
        <p:nvSpPr>
          <p:cNvPr id="4915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So we know a lot about FDs</a:t>
            </a:r>
          </a:p>
          <a:p>
            <a:r>
              <a:rPr lang="en-US" altLang="en-US" dirty="0"/>
              <a:t>So what?</a:t>
            </a:r>
          </a:p>
          <a:p>
            <a:r>
              <a:rPr lang="en-US" altLang="en-US" dirty="0"/>
              <a:t>Can they help with removing redundancy?</a:t>
            </a:r>
          </a:p>
        </p:txBody>
      </p:sp>
      <p:grpSp>
        <p:nvGrpSpPr>
          <p:cNvPr id="5" name="Group 4" descr="A picture of Lord Voldemort from harry Potter captioned &quot;redundancy&quot;" title="Redundancy"/>
          <p:cNvGrpSpPr/>
          <p:nvPr/>
        </p:nvGrpSpPr>
        <p:grpSpPr>
          <a:xfrm>
            <a:off x="7924800" y="205979"/>
            <a:ext cx="1027302" cy="1326355"/>
            <a:chOff x="4292843" y="2388395"/>
            <a:chExt cx="1952244" cy="2520553"/>
          </a:xfrm>
        </p:grpSpPr>
        <p:pic>
          <p:nvPicPr>
            <p:cNvPr id="6" name="Picture 5" descr="A picture of Lord Voldemort from harry Potter captioned &quot;redundancy&quot;" title="Redundancy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43400" y="2388395"/>
              <a:ext cx="1757363" cy="2343150"/>
            </a:xfrm>
            <a:prstGeom prst="rect">
              <a:avLst/>
            </a:prstGeom>
          </p:spPr>
        </p:pic>
        <p:pic>
          <p:nvPicPr>
            <p:cNvPr id="7" name="Picture 6" descr="A picture of Lord Voldemort from harry Potter captioned &quot;redundancy&quot;" title="Redundancy"/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292843" y="4255295"/>
              <a:ext cx="1952244" cy="6536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17779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The Notion of Normal Forms</a:t>
            </a:r>
          </a:p>
        </p:txBody>
      </p:sp>
      <p:sp>
        <p:nvSpPr>
          <p:cNvPr id="50178" name="Rectangle 5"/>
          <p:cNvSpPr>
            <a:spLocks noGrp="1" noChangeArrowheads="1"/>
          </p:cNvSpPr>
          <p:nvPr>
            <p:ph sz="quarter" idx="13"/>
          </p:nvPr>
        </p:nvSpPr>
        <p:spPr>
          <a:xfrm>
            <a:off x="246888" y="895350"/>
            <a:ext cx="8668512" cy="3949446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100" dirty="0">
                <a:ea typeface="Helvetica Neue" charset="0"/>
                <a:cs typeface="Helvetica Neue" charset="0"/>
              </a:rPr>
              <a:t>Q1: is any refinement is needed??!</a:t>
            </a:r>
          </a:p>
          <a:p>
            <a:pPr eaLnBrk="1" hangingPunct="1"/>
            <a:r>
              <a:rPr lang="en-US" altLang="en-US" sz="2100" dirty="0">
                <a:ea typeface="Helvetica Neue" charset="0"/>
                <a:cs typeface="Helvetica Neue" charset="0"/>
              </a:rPr>
              <a:t>If relation is in a </a:t>
            </a:r>
            <a:r>
              <a:rPr lang="en-US" altLang="en-US" sz="2100" i="1" dirty="0">
                <a:ea typeface="Helvetica Neue" charset="0"/>
                <a:cs typeface="Helvetica Neue" charset="0"/>
              </a:rPr>
              <a:t>normal form</a:t>
            </a:r>
            <a:r>
              <a:rPr lang="en-US" altLang="en-US" sz="2100" dirty="0">
                <a:ea typeface="Helvetica Neue" charset="0"/>
                <a:cs typeface="Helvetica Neue" charset="0"/>
              </a:rPr>
              <a:t> (e.g. </a:t>
            </a:r>
            <a:r>
              <a:rPr lang="en-US" altLang="en-US" sz="2100" b="1" dirty="0">
                <a:ea typeface="Helvetica Neue" charset="0"/>
                <a:cs typeface="Helvetica Neue" charset="0"/>
              </a:rPr>
              <a:t>BCNF</a:t>
            </a:r>
            <a:r>
              <a:rPr lang="en-US" altLang="en-US" sz="2100" dirty="0">
                <a:ea typeface="Helvetica Neue" charset="0"/>
                <a:cs typeface="Helvetica Neue" charset="0"/>
              </a:rPr>
              <a:t>):</a:t>
            </a:r>
          </a:p>
          <a:p>
            <a:pPr lvl="1" eaLnBrk="1" hangingPunct="1"/>
            <a:r>
              <a:rPr lang="en-US" altLang="en-US" sz="1800" dirty="0">
                <a:ea typeface="Helvetica Neue" charset="0"/>
                <a:cs typeface="Helvetica Neue" charset="0"/>
              </a:rPr>
              <a:t>we know certain problems are avoided/minimized.  </a:t>
            </a:r>
          </a:p>
          <a:p>
            <a:pPr lvl="1" eaLnBrk="1" hangingPunct="1"/>
            <a:r>
              <a:rPr lang="en-US" altLang="en-US" sz="1800" dirty="0">
                <a:ea typeface="Helvetica Neue" charset="0"/>
                <a:cs typeface="Helvetica Neue" charset="0"/>
              </a:rPr>
              <a:t>helps decide whether decomposing relation is useful</a:t>
            </a:r>
            <a:r>
              <a:rPr lang="en-US" altLang="en-US" dirty="0">
                <a:ea typeface="Helvetica Neue" charset="0"/>
                <a:cs typeface="Helvetica Neue" charset="0"/>
              </a:rPr>
              <a:t>.</a:t>
            </a:r>
          </a:p>
          <a:p>
            <a:pPr eaLnBrk="1" hangingPunct="1">
              <a:spcBef>
                <a:spcPts val="2000"/>
              </a:spcBef>
            </a:pPr>
            <a:r>
              <a:rPr lang="en-US" altLang="en-US" sz="2100" dirty="0">
                <a:ea typeface="Helvetica Neue" charset="0"/>
                <a:cs typeface="Helvetica Neue" charset="0"/>
              </a:rPr>
              <a:t>Consider a relation R with 3 attributes, ABC.  </a:t>
            </a:r>
          </a:p>
          <a:p>
            <a:pPr lvl="1" eaLnBrk="1" hangingPunct="1"/>
            <a:r>
              <a:rPr lang="en-US" altLang="en-US" sz="1800" i="1" dirty="0">
                <a:ea typeface="Helvetica Neue" charset="0"/>
                <a:cs typeface="Helvetica Neue" charset="0"/>
              </a:rPr>
              <a:t>No (non-trivial) FDs hold</a:t>
            </a:r>
            <a:r>
              <a:rPr lang="en-US" altLang="en-US" sz="1800" dirty="0">
                <a:ea typeface="Helvetica Neue" charset="0"/>
                <a:cs typeface="Helvetica Neue" charset="0"/>
              </a:rPr>
              <a:t>:   No redundancy here.</a:t>
            </a:r>
          </a:p>
          <a:p>
            <a:pPr lvl="1" eaLnBrk="1" hangingPunct="1"/>
            <a:r>
              <a:rPr lang="en-US" altLang="en-US" sz="1800" i="1" dirty="0">
                <a:ea typeface="Helvetica Neue" charset="0"/>
                <a:cs typeface="Helvetica Neue" charset="0"/>
              </a:rPr>
              <a:t>Given A </a:t>
            </a:r>
            <a:r>
              <a:rPr lang="is-IS" altLang="en-US" sz="1800" i="1" dirty="0">
                <a:ea typeface="Helvetica Neue" charset="0"/>
                <a:cs typeface="Helvetica Neue" charset="0"/>
                <a:sym typeface="Symbol" charset="2"/>
              </a:rPr>
              <a:t>→</a:t>
            </a:r>
            <a:r>
              <a:rPr lang="en-US" altLang="en-US" sz="1800" i="1" dirty="0">
                <a:ea typeface="Helvetica Neue" charset="0"/>
                <a:cs typeface="Helvetica Neue" charset="0"/>
              </a:rPr>
              <a:t> B:   </a:t>
            </a:r>
            <a:r>
              <a:rPr lang="en-US" altLang="en-US" sz="1800" b="1" dirty="0">
                <a:ea typeface="Helvetica Neue" charset="0"/>
                <a:cs typeface="Helvetica Neue" charset="0"/>
              </a:rPr>
              <a:t>If A is not a key, </a:t>
            </a:r>
            <a:r>
              <a:rPr lang="en-US" altLang="en-US" sz="1800" dirty="0">
                <a:ea typeface="Helvetica Neue" charset="0"/>
                <a:cs typeface="Helvetica Neue" charset="0"/>
              </a:rPr>
              <a:t>then several tuples could have the same A value, and if so, they</a:t>
            </a:r>
            <a:r>
              <a:rPr lang="fr-FR" altLang="ja-JP" sz="1800" dirty="0">
                <a:ea typeface="Helvetica Neue" charset="0"/>
                <a:cs typeface="Helvetica Neue" charset="0"/>
              </a:rPr>
              <a:t>'</a:t>
            </a:r>
            <a:r>
              <a:rPr lang="en-US" altLang="en-US" sz="1800" dirty="0" err="1">
                <a:ea typeface="Helvetica Neue" charset="0"/>
                <a:cs typeface="Helvetica Neue" charset="0"/>
              </a:rPr>
              <a:t>ll</a:t>
            </a:r>
            <a:r>
              <a:rPr lang="en-US" altLang="en-US" sz="1800" dirty="0">
                <a:ea typeface="Helvetica Neue" charset="0"/>
                <a:cs typeface="Helvetica Neue" charset="0"/>
              </a:rPr>
              <a:t> all have the same B value!</a:t>
            </a:r>
          </a:p>
        </p:txBody>
      </p:sp>
      <p:grpSp>
        <p:nvGrpSpPr>
          <p:cNvPr id="7" name="Group 6" descr="A picture of Lord Voldemort from harry Potter captioned &quot;redundancy&quot;" title="Redundancy"/>
          <p:cNvGrpSpPr/>
          <p:nvPr/>
        </p:nvGrpSpPr>
        <p:grpSpPr>
          <a:xfrm>
            <a:off x="5431890" y="4019550"/>
            <a:ext cx="853212" cy="1101587"/>
            <a:chOff x="4292843" y="2388395"/>
            <a:chExt cx="1952244" cy="2520553"/>
          </a:xfrm>
        </p:grpSpPr>
        <p:pic>
          <p:nvPicPr>
            <p:cNvPr id="8" name="Picture 7" descr="A picture of Lord Voldemort from harry Potter captioned &quot;redundancy&quot;" title="Redundancy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43400" y="2388395"/>
              <a:ext cx="1757363" cy="2343150"/>
            </a:xfrm>
            <a:prstGeom prst="rect">
              <a:avLst/>
            </a:prstGeom>
          </p:spPr>
        </p:pic>
        <p:pic>
          <p:nvPicPr>
            <p:cNvPr id="9" name="Picture 8" descr="A picture of Lord Voldemort from harry Potter captioned &quot;redundancy&quot;" title="Redundancy"/>
            <p:cNvPicPr>
              <a:picLocks noChangeAspect="1"/>
            </p:cNvPicPr>
            <p:nvPr/>
          </p:nvPicPr>
          <p:blipFill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292843" y="4255295"/>
              <a:ext cx="1952244" cy="6536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8397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8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Helvetica Neue" charset="0"/>
                <a:cs typeface="Helvetica Neue" charset="0"/>
              </a:rPr>
              <a:t>Basic Normal Forms</a:t>
            </a:r>
          </a:p>
        </p:txBody>
      </p:sp>
      <p:sp>
        <p:nvSpPr>
          <p:cNvPr id="52226" name="Content Placeholder 2"/>
          <p:cNvSpPr>
            <a:spLocks noGrp="1"/>
          </p:cNvSpPr>
          <p:nvPr>
            <p:ph idx="1"/>
          </p:nvPr>
        </p:nvSpPr>
        <p:spPr>
          <a:xfrm>
            <a:off x="76200" y="1276350"/>
            <a:ext cx="8229600" cy="3394472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sz="2100" dirty="0">
                <a:ea typeface="Helvetica Neue" charset="0"/>
                <a:cs typeface="Helvetica Neue" charset="0"/>
              </a:rPr>
              <a:t>1st Normal Form – all attributes atomic</a:t>
            </a:r>
          </a:p>
          <a:p>
            <a:pPr lvl="1" eaLnBrk="1" hangingPunct="1"/>
            <a:r>
              <a:rPr lang="en-US" altLang="en-US" dirty="0">
                <a:ea typeface="Helvetica Neue" charset="0"/>
                <a:cs typeface="Helvetica Neue" charset="0"/>
              </a:rPr>
              <a:t>I.e. relational model</a:t>
            </a:r>
          </a:p>
          <a:p>
            <a:pPr lvl="1" eaLnBrk="1" hangingPunct="1"/>
            <a:r>
              <a:rPr lang="en-US" altLang="en-US" dirty="0">
                <a:ea typeface="Helvetica Neue" charset="0"/>
                <a:cs typeface="Helvetica Neue" charset="0"/>
              </a:rPr>
              <a:t>Violated by many common data models</a:t>
            </a:r>
          </a:p>
          <a:p>
            <a:pPr lvl="2" eaLnBrk="1" hangingPunct="1"/>
            <a:r>
              <a:rPr lang="en-US" altLang="en-US" dirty="0">
                <a:ea typeface="Helvetica Neue" charset="0"/>
                <a:cs typeface="Helvetica Neue" charset="0"/>
              </a:rPr>
              <a:t>Including XML, JSON, various OO models</a:t>
            </a:r>
          </a:p>
          <a:p>
            <a:pPr lvl="1" eaLnBrk="1" hangingPunct="1"/>
            <a:r>
              <a:rPr lang="en-US" altLang="en-US" dirty="0">
                <a:ea typeface="Helvetica Neue" charset="0"/>
                <a:cs typeface="Helvetica Neue" charset="0"/>
              </a:rPr>
              <a:t>Some of these “</a:t>
            </a:r>
            <a:r>
              <a:rPr lang="en-US" altLang="ja-JP" dirty="0">
                <a:ea typeface="Helvetica Neue" charset="0"/>
                <a:cs typeface="Helvetica Neue" charset="0"/>
              </a:rPr>
              <a:t>non-first-normal form” (NFNF) quite useful in various settings</a:t>
            </a:r>
          </a:p>
          <a:p>
            <a:pPr lvl="2" eaLnBrk="1" hangingPunct="1"/>
            <a:r>
              <a:rPr lang="en-US" altLang="en-US" dirty="0">
                <a:ea typeface="Helvetica Neue" charset="0"/>
                <a:cs typeface="Helvetica Neue" charset="0"/>
              </a:rPr>
              <a:t>especially in update-never settings like data transmission</a:t>
            </a:r>
          </a:p>
          <a:p>
            <a:pPr lvl="2" eaLnBrk="1" hangingPunct="1"/>
            <a:r>
              <a:rPr lang="en-US" altLang="en-US" dirty="0">
                <a:ea typeface="Helvetica Neue" charset="0"/>
                <a:cs typeface="Helvetica Neue" charset="0"/>
              </a:rPr>
              <a:t>if you never “</a:t>
            </a:r>
            <a:r>
              <a:rPr lang="en-US" altLang="ja-JP" dirty="0" err="1">
                <a:ea typeface="Helvetica Neue" charset="0"/>
                <a:cs typeface="Helvetica Neue" charset="0"/>
              </a:rPr>
              <a:t>unnest</a:t>
            </a:r>
            <a:r>
              <a:rPr lang="en-US" altLang="en-US" dirty="0">
                <a:ea typeface="Helvetica Neue" charset="0"/>
                <a:cs typeface="Helvetica Neue" charset="0"/>
              </a:rPr>
              <a:t>”</a:t>
            </a:r>
            <a:r>
              <a:rPr lang="en-US" altLang="ja-JP" dirty="0">
                <a:ea typeface="Helvetica Neue" charset="0"/>
                <a:cs typeface="Helvetica Neue" charset="0"/>
              </a:rPr>
              <a:t>, then who cares!</a:t>
            </a:r>
          </a:p>
          <a:p>
            <a:pPr lvl="3" eaLnBrk="1" hangingPunct="1"/>
            <a:r>
              <a:rPr lang="en-US" altLang="en-US" sz="1600" dirty="0">
                <a:latin typeface="Helvetica Neue" charset="0"/>
                <a:ea typeface="Helvetica Neue" charset="0"/>
                <a:cs typeface="Helvetica Neue" charset="0"/>
              </a:rPr>
              <a:t>basically relational collection of structured objects</a:t>
            </a:r>
          </a:p>
          <a:p>
            <a:pPr eaLnBrk="1" hangingPunct="1"/>
            <a:r>
              <a:rPr lang="en-US" altLang="en-US" sz="2100" dirty="0">
                <a:ea typeface="Helvetica Neue" charset="0"/>
                <a:cs typeface="Helvetica Neue" charset="0"/>
              </a:rPr>
              <a:t>1st </a:t>
            </a:r>
            <a:r>
              <a:rPr lang="en-US" altLang="en-US" sz="2100" dirty="0">
                <a:ea typeface="Helvetica Neue" charset="0"/>
                <a:cs typeface="Helvetica Neue" charset="0"/>
                <a:sym typeface="Symbol" charset="2"/>
              </a:rPr>
              <a:t>⊃ </a:t>
            </a:r>
            <a:r>
              <a:rPr lang="en-US" altLang="en-US" sz="2100" dirty="0">
                <a:ea typeface="Helvetica Neue" charset="0"/>
                <a:cs typeface="Helvetica Neue" charset="0"/>
              </a:rPr>
              <a:t>2nd (of historical interest) </a:t>
            </a:r>
            <a:br>
              <a:rPr lang="en-US" altLang="en-US" sz="2100" dirty="0">
                <a:ea typeface="Helvetica Neue" charset="0"/>
                <a:cs typeface="Helvetica Neue" charset="0"/>
              </a:rPr>
            </a:br>
            <a:r>
              <a:rPr lang="en-US" altLang="en-US" sz="2100" dirty="0">
                <a:ea typeface="Helvetica Neue" charset="0"/>
                <a:cs typeface="Helvetica Neue" charset="0"/>
              </a:rPr>
              <a:t>       </a:t>
            </a:r>
            <a:r>
              <a:rPr lang="en-US" altLang="en-US" sz="2100" dirty="0">
                <a:ea typeface="Helvetica Neue" charset="0"/>
                <a:cs typeface="Helvetica Neue" charset="0"/>
                <a:sym typeface="Symbol" charset="2"/>
              </a:rPr>
              <a:t>⊃</a:t>
            </a:r>
            <a:r>
              <a:rPr lang="en-US" altLang="en-US" sz="2100" dirty="0">
                <a:ea typeface="Helvetica Neue" charset="0"/>
                <a:cs typeface="Helvetica Neue" charset="0"/>
              </a:rPr>
              <a:t> 3rd (of historical interest)</a:t>
            </a:r>
            <a:br>
              <a:rPr lang="en-US" altLang="en-US" sz="2100" dirty="0">
                <a:ea typeface="Helvetica Neue" charset="0"/>
                <a:cs typeface="Helvetica Neue" charset="0"/>
              </a:rPr>
            </a:br>
            <a:r>
              <a:rPr lang="en-US" altLang="en-US" sz="2100" dirty="0">
                <a:ea typeface="Helvetica Neue" charset="0"/>
                <a:cs typeface="Helvetica Neue" charset="0"/>
              </a:rPr>
              <a:t>       </a:t>
            </a:r>
            <a:r>
              <a:rPr lang="en-US" altLang="en-US" sz="2100" dirty="0">
                <a:ea typeface="Helvetica Neue" charset="0"/>
                <a:cs typeface="Helvetica Neue" charset="0"/>
                <a:sym typeface="Symbol" charset="2"/>
              </a:rPr>
              <a:t>⊃</a:t>
            </a:r>
            <a:r>
              <a:rPr lang="en-US" altLang="en-US" sz="2100" dirty="0">
                <a:ea typeface="Helvetica Neue" charset="0"/>
                <a:cs typeface="Helvetica Neue" charset="0"/>
              </a:rPr>
              <a:t> Boyce-Codd </a:t>
            </a:r>
            <a:r>
              <a:rPr lang="en-US" altLang="en-US" sz="2100" dirty="0">
                <a:ea typeface="Helvetica Neue" charset="0"/>
                <a:cs typeface="Helvetica Neue" charset="0"/>
                <a:sym typeface="Symbol" charset="2"/>
              </a:rPr>
              <a:t> …</a:t>
            </a:r>
          </a:p>
        </p:txBody>
      </p:sp>
    </p:spTree>
    <p:extLst>
      <p:ext uri="{BB962C8B-B14F-4D97-AF65-F5344CB8AC3E}">
        <p14:creationId xmlns:p14="http://schemas.microsoft.com/office/powerpoint/2010/main" val="7315095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Boyce-Codd Normal Form  (BCNF)</a:t>
            </a:r>
          </a:p>
        </p:txBody>
      </p:sp>
      <p:sp>
        <p:nvSpPr>
          <p:cNvPr id="53250" name="Rectangle 5"/>
          <p:cNvSpPr>
            <a:spLocks noGrp="1" noChangeArrowheads="1"/>
          </p:cNvSpPr>
          <p:nvPr>
            <p:ph sz="quarter" idx="13"/>
          </p:nvPr>
        </p:nvSpPr>
        <p:spPr>
          <a:xfrm>
            <a:off x="246888" y="1060704"/>
            <a:ext cx="8668512" cy="4082796"/>
          </a:xfrm>
        </p:spPr>
        <p:txBody>
          <a:bodyPr>
            <a:normAutofit/>
          </a:bodyPr>
          <a:lstStyle/>
          <a:p>
            <a:r>
              <a:rPr lang="en-US" altLang="en-US" dirty="0" err="1"/>
              <a:t>Reln</a:t>
            </a:r>
            <a:r>
              <a:rPr lang="en-US" altLang="en-US" dirty="0"/>
              <a:t> R with FDs F is in BCNF if, for all X </a:t>
            </a:r>
            <a:r>
              <a:rPr lang="is-IS" altLang="en-US" dirty="0">
                <a:sym typeface="Symbol" charset="2"/>
              </a:rPr>
              <a:t>→</a:t>
            </a:r>
            <a:r>
              <a:rPr lang="en-US" altLang="en-US" dirty="0"/>
              <a:t> A  in F+</a:t>
            </a:r>
          </a:p>
          <a:p>
            <a:pPr lvl="1"/>
            <a:r>
              <a:rPr lang="en-US" altLang="en-US" dirty="0"/>
              <a:t>A </a:t>
            </a:r>
            <a:r>
              <a:rPr lang="en-US" altLang="en-US" dirty="0">
                <a:sym typeface="Symbol" charset="2"/>
              </a:rPr>
              <a:t>⊆</a:t>
            </a:r>
            <a:r>
              <a:rPr lang="en-US" altLang="en-US" dirty="0"/>
              <a:t> X   (called a trivial FD), or</a:t>
            </a:r>
          </a:p>
          <a:p>
            <a:pPr lvl="1"/>
            <a:r>
              <a:rPr lang="en-US" altLang="en-US" dirty="0"/>
              <a:t>X is a </a:t>
            </a:r>
            <a:r>
              <a:rPr lang="en-US" altLang="en-US" dirty="0" err="1"/>
              <a:t>superkey</a:t>
            </a:r>
            <a:r>
              <a:rPr lang="en-US" altLang="en-US" dirty="0"/>
              <a:t> for R.</a:t>
            </a:r>
          </a:p>
          <a:p>
            <a:r>
              <a:rPr lang="en-US" altLang="en-US" dirty="0"/>
              <a:t>In other words: “</a:t>
            </a:r>
            <a:r>
              <a:rPr lang="en-US" altLang="ja-JP" dirty="0"/>
              <a:t>R is in BCNF if </a:t>
            </a:r>
            <a:br>
              <a:rPr lang="en-US" altLang="ja-JP" dirty="0"/>
            </a:br>
            <a:r>
              <a:rPr lang="en-US" altLang="ja-JP" dirty="0"/>
              <a:t>the only non-trivial FDs over R are key constraints.”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6842056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Why is BCNF Useful?</a:t>
            </a:r>
          </a:p>
        </p:txBody>
      </p:sp>
      <p:sp>
        <p:nvSpPr>
          <p:cNvPr id="53250" name="Rectangle 5"/>
          <p:cNvSpPr>
            <a:spLocks noGrp="1" noChangeArrowheads="1"/>
          </p:cNvSpPr>
          <p:nvPr>
            <p:ph sz="quarter" idx="13"/>
          </p:nvPr>
        </p:nvSpPr>
        <p:spPr>
          <a:xfrm>
            <a:off x="246888" y="1060704"/>
            <a:ext cx="8668512" cy="4082796"/>
          </a:xfrm>
        </p:spPr>
        <p:txBody>
          <a:bodyPr>
            <a:normAutofit/>
          </a:bodyPr>
          <a:lstStyle/>
          <a:p>
            <a:pPr>
              <a:spcBef>
                <a:spcPts val="2400"/>
              </a:spcBef>
            </a:pPr>
            <a:r>
              <a:rPr lang="en-US" altLang="en-US" sz="2000" dirty="0"/>
              <a:t>If R in BCNF, every field of every tuple records </a:t>
            </a:r>
            <a:br>
              <a:rPr lang="en-US" altLang="en-US" sz="2000" dirty="0"/>
            </a:br>
            <a:r>
              <a:rPr lang="en-US" altLang="en-US" sz="2000" dirty="0"/>
              <a:t>useful info that cannot be inferred via FDs.</a:t>
            </a:r>
          </a:p>
          <a:p>
            <a:pPr lvl="1"/>
            <a:r>
              <a:rPr lang="en-US" altLang="en-US" sz="2000" dirty="0"/>
              <a:t>Say we know FD X </a:t>
            </a:r>
            <a:r>
              <a:rPr lang="is-IS" altLang="en-US" sz="2000" dirty="0">
                <a:sym typeface="Symbol" charset="2"/>
              </a:rPr>
              <a:t>→</a:t>
            </a:r>
            <a:r>
              <a:rPr lang="en-US" altLang="en-US" sz="2000" dirty="0"/>
              <a:t> A holds for this example relation:</a:t>
            </a:r>
          </a:p>
          <a:p>
            <a:pPr lvl="1"/>
            <a:r>
              <a:rPr lang="en-US" altLang="en-US" sz="2000" dirty="0"/>
              <a:t>Can you guess the value of  the missing </a:t>
            </a:r>
            <a:br>
              <a:rPr lang="en-US" altLang="en-US" sz="2000" dirty="0"/>
            </a:br>
            <a:r>
              <a:rPr lang="en-US" altLang="en-US" sz="2000" dirty="0"/>
              <a:t>attribute</a:t>
            </a:r>
          </a:p>
          <a:p>
            <a:pPr lvl="1"/>
            <a:r>
              <a:rPr lang="en-US" altLang="en-US" sz="2000" dirty="0"/>
              <a:t>Yes, so relation is not in BCNF</a:t>
            </a:r>
          </a:p>
        </p:txBody>
      </p:sp>
      <p:graphicFrame>
        <p:nvGraphicFramePr>
          <p:cNvPr id="53255" name="Object 2" descr="Table Header: (X, Y, A)&#10;Rows: (x, y1, a), (x, y2, ?)" title="FD Table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481830"/>
              </p:ext>
            </p:extLst>
          </p:nvPr>
        </p:nvGraphicFramePr>
        <p:xfrm>
          <a:off x="6400800" y="2190750"/>
          <a:ext cx="423029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8" name="Document" r:id="rId4" imgW="22552381" imgH="7111111" progId="Word.Document.8">
                  <p:embed/>
                </p:oleObj>
              </mc:Choice>
              <mc:Fallback>
                <p:oleObj name="Document" r:id="rId4" imgW="22552381" imgH="711111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2190750"/>
                        <a:ext cx="4230290" cy="133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 descr="Picture of Professor Dumbledore from Harry Potter" title="Functional Dependencie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1887031" y="3612598"/>
            <a:ext cx="2694112" cy="1498600"/>
          </a:xfrm>
          <a:prstGeom prst="rect">
            <a:avLst/>
          </a:prstGeom>
        </p:spPr>
      </p:pic>
      <p:grpSp>
        <p:nvGrpSpPr>
          <p:cNvPr id="6" name="Group 5" descr="Picture of Professor Dumbledore from Harry Potter" title="Functional Dependencies"/>
          <p:cNvGrpSpPr/>
          <p:nvPr/>
        </p:nvGrpSpPr>
        <p:grpSpPr>
          <a:xfrm>
            <a:off x="4581144" y="4037195"/>
            <a:ext cx="1645078" cy="838425"/>
            <a:chOff x="6736922" y="1846285"/>
            <a:chExt cx="2223356" cy="1133148"/>
          </a:xfrm>
        </p:grpSpPr>
        <p:pic>
          <p:nvPicPr>
            <p:cNvPr id="7" name="Picture 6" title="Functional Depencies"/>
            <p:cNvPicPr>
              <a:picLocks noChangeAspect="1"/>
            </p:cNvPicPr>
            <p:nvPr/>
          </p:nvPicPr>
          <p:blipFill rotWithShape="1">
            <a:blip r:embed="rId7"/>
            <a:srcRect r="57013"/>
            <a:stretch/>
          </p:blipFill>
          <p:spPr>
            <a:xfrm>
              <a:off x="7010400" y="1846285"/>
              <a:ext cx="1676400" cy="664151"/>
            </a:xfrm>
            <a:prstGeom prst="rect">
              <a:avLst/>
            </a:prstGeom>
          </p:spPr>
        </p:pic>
        <p:pic>
          <p:nvPicPr>
            <p:cNvPr id="8" name="Picture 7" title="Functional Depencies"/>
            <p:cNvPicPr>
              <a:picLocks noChangeAspect="1"/>
            </p:cNvPicPr>
            <p:nvPr/>
          </p:nvPicPr>
          <p:blipFill rotWithShape="1">
            <a:blip r:embed="rId7"/>
            <a:srcRect l="42987"/>
            <a:stretch/>
          </p:blipFill>
          <p:spPr>
            <a:xfrm>
              <a:off x="6736922" y="2315282"/>
              <a:ext cx="2223356" cy="6641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90813201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F8D2F-EFB7-E640-A638-DE90639FE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BA436-2922-0D44-9B6F-BBE2F41E19A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58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2700" dirty="0">
                <a:latin typeface="Helvetica Neue" charset="0"/>
                <a:ea typeface="Helvetica Neue" charset="0"/>
                <a:cs typeface="Helvetica Neue" charset="0"/>
              </a:rPr>
              <a:t>Decomposition of a Relation Scheme</a:t>
            </a:r>
          </a:p>
        </p:txBody>
      </p:sp>
      <p:sp>
        <p:nvSpPr>
          <p:cNvPr id="55298" name="Rectangle 5"/>
          <p:cNvSpPr>
            <a:spLocks noGrp="1" noChangeArrowheads="1"/>
          </p:cNvSpPr>
          <p:nvPr>
            <p:ph idx="1"/>
          </p:nvPr>
        </p:nvSpPr>
        <p:spPr>
          <a:xfrm>
            <a:off x="457200" y="1200151"/>
            <a:ext cx="6019800" cy="3394472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300" dirty="0">
                <a:ea typeface="Helvetica Neue" charset="0"/>
                <a:cs typeface="Helvetica Neue" charset="0"/>
              </a:rPr>
              <a:t>How to normalize a relation?</a:t>
            </a:r>
          </a:p>
          <a:p>
            <a:pPr lvl="1" eaLnBrk="1" hangingPunct="1"/>
            <a:r>
              <a:rPr lang="en-US" altLang="en-US" sz="1900" b="1" i="1" dirty="0">
                <a:ea typeface="Helvetica Neue" charset="0"/>
                <a:cs typeface="Helvetica Neue" charset="0"/>
              </a:rPr>
              <a:t>decompose</a:t>
            </a:r>
            <a:r>
              <a:rPr lang="en-US" altLang="en-US" sz="1900" i="1" dirty="0">
                <a:ea typeface="Helvetica Neue" charset="0"/>
                <a:cs typeface="Helvetica Neue" charset="0"/>
              </a:rPr>
              <a:t> </a:t>
            </a:r>
            <a:r>
              <a:rPr lang="en-US" altLang="en-US" sz="1900" dirty="0">
                <a:ea typeface="Helvetica Neue" charset="0"/>
                <a:cs typeface="Helvetica Neue" charset="0"/>
              </a:rPr>
              <a:t>into multiple normalized relations</a:t>
            </a:r>
          </a:p>
          <a:p>
            <a:pPr eaLnBrk="1" hangingPunct="1"/>
            <a:r>
              <a:rPr lang="en-US" altLang="en-US" sz="2300" dirty="0">
                <a:ea typeface="Helvetica Neue" charset="0"/>
                <a:cs typeface="Helvetica Neue" charset="0"/>
              </a:rPr>
              <a:t>Suppose </a:t>
            </a:r>
            <a:r>
              <a:rPr lang="en-US" altLang="en-US" sz="2300" i="1" dirty="0">
                <a:ea typeface="Helvetica Neue" charset="0"/>
                <a:cs typeface="Helvetica Neue" charset="0"/>
              </a:rPr>
              <a:t>R </a:t>
            </a:r>
            <a:r>
              <a:rPr lang="en-US" altLang="en-US" sz="2300" dirty="0">
                <a:ea typeface="Helvetica Neue" charset="0"/>
                <a:cs typeface="Helvetica Neue" charset="0"/>
              </a:rPr>
              <a:t>contains attributes </a:t>
            </a:r>
            <a:r>
              <a:rPr lang="en-US" altLang="en-US" sz="2300" i="1" dirty="0">
                <a:ea typeface="Helvetica Neue" charset="0"/>
                <a:cs typeface="Helvetica Neue" charset="0"/>
              </a:rPr>
              <a:t>A1 ... An.  </a:t>
            </a:r>
            <a:br>
              <a:rPr lang="en-US" altLang="en-US" sz="2300" i="1" dirty="0">
                <a:ea typeface="Helvetica Neue" charset="0"/>
                <a:cs typeface="Helvetica Neue" charset="0"/>
              </a:rPr>
            </a:br>
            <a:r>
              <a:rPr lang="en-US" altLang="en-US" sz="2300" dirty="0">
                <a:ea typeface="Helvetica Neue" charset="0"/>
                <a:cs typeface="Helvetica Neue" charset="0"/>
              </a:rPr>
              <a:t>A </a:t>
            </a:r>
            <a:r>
              <a:rPr lang="en-US" altLang="en-US" sz="2300" b="1" i="1" u="sng" dirty="0">
                <a:ea typeface="Helvetica Neue" charset="0"/>
                <a:cs typeface="Helvetica Neue" charset="0"/>
              </a:rPr>
              <a:t>decomposition</a:t>
            </a:r>
            <a:r>
              <a:rPr lang="en-US" altLang="en-US" sz="2300" i="1" dirty="0">
                <a:ea typeface="Helvetica Neue" charset="0"/>
                <a:cs typeface="Helvetica Neue" charset="0"/>
              </a:rPr>
              <a:t> </a:t>
            </a:r>
            <a:r>
              <a:rPr lang="en-US" altLang="en-US" sz="2300" dirty="0">
                <a:ea typeface="Helvetica Neue" charset="0"/>
                <a:cs typeface="Helvetica Neue" charset="0"/>
              </a:rPr>
              <a:t>of R consists of replacing R by two or more relations such that:</a:t>
            </a:r>
          </a:p>
          <a:p>
            <a:pPr lvl="1" eaLnBrk="1" hangingPunct="1"/>
            <a:r>
              <a:rPr lang="en-US" altLang="en-US" sz="1900" dirty="0">
                <a:ea typeface="Helvetica Neue" charset="0"/>
                <a:cs typeface="Helvetica Neue" charset="0"/>
              </a:rPr>
              <a:t>Each new relation scheme contains a </a:t>
            </a:r>
            <a:r>
              <a:rPr lang="en-US" altLang="en-US" sz="1900" b="1" dirty="0">
                <a:ea typeface="Helvetica Neue" charset="0"/>
                <a:cs typeface="Helvetica Neue" charset="0"/>
              </a:rPr>
              <a:t>subset</a:t>
            </a:r>
            <a:r>
              <a:rPr lang="en-US" altLang="en-US" sz="1900" dirty="0">
                <a:ea typeface="Helvetica Neue" charset="0"/>
                <a:cs typeface="Helvetica Neue" charset="0"/>
              </a:rPr>
              <a:t> of the attributes of R, and</a:t>
            </a:r>
          </a:p>
          <a:p>
            <a:pPr lvl="1" eaLnBrk="1" hangingPunct="1"/>
            <a:r>
              <a:rPr lang="en-US" altLang="en-US" sz="1900" dirty="0">
                <a:ea typeface="Helvetica Neue" charset="0"/>
                <a:cs typeface="Helvetica Neue" charset="0"/>
              </a:rPr>
              <a:t>Every attribute of R appears as an attribute of at least one of the new relations.</a:t>
            </a:r>
          </a:p>
        </p:txBody>
      </p:sp>
      <p:pic>
        <p:nvPicPr>
          <p:cNvPr id="4" name="Picture 3" title="A wand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96318" l="1473" r="98969"/>
                    </a14:imgEffect>
                  </a14:imgLayer>
                </a14:imgProps>
              </a:ext>
            </a:extLst>
          </a:blip>
          <a:srcRect l="5444" t="1913" r="-5282" b="-7355"/>
          <a:stretch/>
        </p:blipFill>
        <p:spPr>
          <a:xfrm>
            <a:off x="7391400" y="205979"/>
            <a:ext cx="1495884" cy="1556121"/>
          </a:xfrm>
          <a:prstGeom prst="diagStripe">
            <a:avLst>
              <a:gd name="adj" fmla="val 60411"/>
            </a:avLst>
          </a:prstGeom>
        </p:spPr>
      </p:pic>
    </p:spTree>
    <p:extLst>
      <p:ext uri="{BB962C8B-B14F-4D97-AF65-F5344CB8AC3E}">
        <p14:creationId xmlns:p14="http://schemas.microsoft.com/office/powerpoint/2010/main" val="797152997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latin typeface="+mn-lt"/>
              </a:rPr>
              <a:t> Example (same as before)</a:t>
            </a:r>
          </a:p>
        </p:txBody>
      </p:sp>
      <p:sp>
        <p:nvSpPr>
          <p:cNvPr id="57346" name="Rectangle 5"/>
          <p:cNvSpPr>
            <a:spLocks noGrp="1" noChangeArrowheads="1"/>
          </p:cNvSpPr>
          <p:nvPr>
            <p:ph sz="quarter" idx="13"/>
          </p:nvPr>
        </p:nvSpPr>
        <p:spPr>
          <a:xfrm>
            <a:off x="271707" y="3230634"/>
            <a:ext cx="8668512" cy="3090672"/>
          </a:xfrm>
          <a:noFill/>
        </p:spPr>
        <p:txBody>
          <a:bodyPr anchor="t"/>
          <a:lstStyle/>
          <a:p>
            <a:pPr eaLnBrk="1" hangingPunct="1"/>
            <a:r>
              <a:rPr lang="en-US" altLang="en-US" sz="2100" dirty="0">
                <a:latin typeface="+mn-lt"/>
              </a:rPr>
              <a:t>SNLRWH has FDs  S </a:t>
            </a:r>
            <a:r>
              <a:rPr lang="is-IS" altLang="en-US" sz="2100" dirty="0">
                <a:latin typeface="+mn-lt"/>
                <a:sym typeface="Symbol" charset="2"/>
              </a:rPr>
              <a:t>→</a:t>
            </a:r>
            <a:r>
              <a:rPr lang="en-US" altLang="en-US" sz="2100" dirty="0">
                <a:latin typeface="+mn-lt"/>
              </a:rPr>
              <a:t> SNLRWH  and  R </a:t>
            </a:r>
            <a:r>
              <a:rPr lang="is-IS" altLang="en-US" sz="2100" dirty="0">
                <a:latin typeface="+mn-lt"/>
                <a:sym typeface="Symbol" charset="2"/>
              </a:rPr>
              <a:t>→</a:t>
            </a:r>
            <a:r>
              <a:rPr lang="en-US" altLang="en-US" sz="2100" dirty="0">
                <a:latin typeface="+mn-lt"/>
              </a:rPr>
              <a:t> W</a:t>
            </a:r>
          </a:p>
          <a:p>
            <a:pPr eaLnBrk="1" hangingPunct="1"/>
            <a:r>
              <a:rPr lang="en-US" altLang="en-US" sz="2100" dirty="0">
                <a:latin typeface="+mn-lt"/>
              </a:rPr>
              <a:t>Q: Is this relation in BCNF?</a:t>
            </a:r>
          </a:p>
          <a:p>
            <a:pPr lvl="1"/>
            <a:r>
              <a:rPr lang="en-US" altLang="en-US" sz="1900" dirty="0"/>
              <a:t>No, The second FD causes a  violation;             </a:t>
            </a:r>
          </a:p>
          <a:p>
            <a:pPr lvl="1"/>
            <a:r>
              <a:rPr lang="en-US" altLang="en-US" sz="1900" dirty="0"/>
              <a:t>W values repeatedly associated with R values.</a:t>
            </a:r>
          </a:p>
        </p:txBody>
      </p:sp>
      <p:grpSp>
        <p:nvGrpSpPr>
          <p:cNvPr id="2" name="Group 1" descr="Table on hourly employees. (SSN, name, log, rating, wage, hours_per week)&#10;(123-22-3666,&#9;Attishoo,&#9;48,&#9;8,&#9;10,&#9;40),&#13;&#10;(231-31-5368,&#9;Smiley,&#9;22,&#9;8,&#9;10,&#9;30),&#13;&#10;(131-24-3650,&#9;Smethurst, 35,&#9;5,&#9;7,&#9;30),&#13;&#10;(434-26-3751,&#9;Guldu,&#9;35,&#9;5,&#9;7,&#9;32),&#13;&#10;(612-67-4134, Madayan,&#9;35,&#9;8,&#9;10,&#9;40)&#13;&#10;" title="Hourly_Emps Table">
            <a:extLst>
              <a:ext uri="{FF2B5EF4-FFF2-40B4-BE49-F238E27FC236}">
                <a16:creationId xmlns:a16="http://schemas.microsoft.com/office/drawing/2014/main" id="{863FAA9A-1E79-394A-B92D-7A4307F2A4CF}"/>
              </a:ext>
            </a:extLst>
          </p:cNvPr>
          <p:cNvGrpSpPr/>
          <p:nvPr/>
        </p:nvGrpSpPr>
        <p:grpSpPr>
          <a:xfrm>
            <a:off x="1543050" y="769014"/>
            <a:ext cx="4251642" cy="2461620"/>
            <a:chOff x="1543050" y="769014"/>
            <a:chExt cx="4251642" cy="2461620"/>
          </a:xfrm>
        </p:grpSpPr>
        <p:sp>
          <p:nvSpPr>
            <p:cNvPr id="57350" name="Rectangle 6"/>
            <p:cNvSpPr>
              <a:spLocks noChangeArrowheads="1"/>
            </p:cNvSpPr>
            <p:nvPr/>
          </p:nvSpPr>
          <p:spPr bwMode="auto">
            <a:xfrm>
              <a:off x="1543050" y="769014"/>
              <a:ext cx="1387046" cy="3467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dirty="0" err="1">
                  <a:solidFill>
                    <a:srgbClr val="FF0000"/>
                  </a:solidFill>
                  <a:latin typeface="+mn-lt"/>
                </a:rPr>
                <a:t>Hourly_Emps</a:t>
              </a:r>
              <a:endParaRPr lang="en-US" altLang="en-US" sz="1800" dirty="0">
                <a:solidFill>
                  <a:srgbClr val="FF0000"/>
                </a:solidFill>
                <a:latin typeface="+mn-lt"/>
              </a:endParaRPr>
            </a:p>
          </p:txBody>
        </p:sp>
        <p:graphicFrame>
          <p:nvGraphicFramePr>
            <p:cNvPr id="7" name="Object 2" descr="Table on hourly employees. (SSN, name, log, rating, wage, hours_per week)&#10;(123-22-3666,&#9;Attishoo,&#9;48,&#9;8,&#9;10,&#9;40),&#13;&#10;(231-31-5368,&#9;Smiley,&#9;22,&#9;8,&#9;10,&#9;30),&#13;&#10;(131-24-3650,&#9;Smethurst, 35,&#9;5,&#9;7,&#9;30),&#13;&#10;(434-26-3751,&#9;Guldu,&#9;35,&#9;5,&#9;7,&#9;32),&#13;&#10;(612-67-4134, Madayan,&#9;35,&#9;8,&#9;10,&#9;40)&#13;&#10;" title="Hourly Emps Table">
              <a:extLst>
                <a:ext uri="{FF2B5EF4-FFF2-40B4-BE49-F238E27FC236}">
                  <a16:creationId xmlns:a16="http://schemas.microsoft.com/office/drawing/2014/main" id="{92DCFE29-37AF-9748-9252-A3F800ADA02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71647985"/>
                </p:ext>
              </p:extLst>
            </p:nvPr>
          </p:nvGraphicFramePr>
          <p:xfrm>
            <a:off x="1573530" y="1081159"/>
            <a:ext cx="4221162" cy="2149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9" name="Document" r:id="rId4" imgW="6769100" imgH="3441700" progId="Word.Document.8">
                    <p:embed/>
                  </p:oleObj>
                </mc:Choice>
                <mc:Fallback>
                  <p:oleObj name="Document" r:id="rId4" imgW="6769100" imgH="3441700" progId="Word.Document.8">
                    <p:embed/>
                    <p:pic>
                      <p:nvPicPr>
                        <p:cNvPr id="6" name="Object 2" descr="Table on hourly employees. (SSN, name, log, rating, wage, hours_per week)&#10;(123-22-3666,&#9;Attishoo,&#9;48,&#9;8,&#9;10,&#9;40),&#13;&#10;(231-31-5368,&#9;Smiley,&#9;22,&#9;8,&#9;10,&#9;30),&#13;&#10;(131-24-3650,&#9;Smethurst, 35,&#9;5,&#9;7,&#9;30),&#13;&#10;(434-26-3751,&#9;Guldu,&#9;35,&#9;5,&#9;7,&#9;32),&#13;&#10;(612-67-4134, Madayan,&#9;35,&#9;8,&#9;10,&#9;40)&#13;&#10;" title="Hourly Emps Table">
                          <a:extLst>
                            <a:ext uri="{FF2B5EF4-FFF2-40B4-BE49-F238E27FC236}">
                              <a16:creationId xmlns:a16="http://schemas.microsoft.com/office/drawing/2014/main" id="{CD86532F-BCE2-2046-BE03-F0C6C558D78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3530" y="1081159"/>
                          <a:ext cx="4221162" cy="21494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796201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7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73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+mn-lt"/>
              </a:rPr>
              <a:t>Decomposing a Relation, Part 2</a:t>
            </a:r>
          </a:p>
        </p:txBody>
      </p:sp>
      <p:sp>
        <p:nvSpPr>
          <p:cNvPr id="59394" name="Rectangle 3"/>
          <p:cNvSpPr>
            <a:spLocks noGrp="1" noChangeArrowheads="1"/>
          </p:cNvSpPr>
          <p:nvPr>
            <p:ph sz="quarter" idx="13"/>
          </p:nvPr>
        </p:nvSpPr>
        <p:spPr>
          <a:xfrm>
            <a:off x="246888" y="1060704"/>
            <a:ext cx="8668512" cy="4406646"/>
          </a:xfrm>
        </p:spPr>
        <p:txBody>
          <a:bodyPr anchor="t">
            <a:normAutofit/>
          </a:bodyPr>
          <a:lstStyle/>
          <a:p>
            <a:pPr eaLnBrk="1" hangingPunct="1"/>
            <a:r>
              <a:rPr lang="en-US" altLang="en-US" sz="2100" dirty="0">
                <a:latin typeface="+mn-lt"/>
              </a:rPr>
              <a:t>Easiest fix is to create a relation RW to store these associations, and to remove W from the main schema: </a:t>
            </a:r>
          </a:p>
          <a:p>
            <a:pPr marL="0" indent="0">
              <a:spcBef>
                <a:spcPts val="19000"/>
              </a:spcBef>
              <a:buNone/>
            </a:pPr>
            <a:r>
              <a:rPr lang="en-US" altLang="en-US" sz="2000" dirty="0"/>
              <a:t>Q: Are both of these relations are now in BCNF?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altLang="en-US" sz="2000" dirty="0"/>
              <a:t>Yes! S </a:t>
            </a:r>
            <a:r>
              <a:rPr lang="en-US" altLang="en-US" sz="2000" dirty="0">
                <a:sym typeface="Wingdings"/>
              </a:rPr>
              <a:t> SNLRH is OK, as is R  W.</a:t>
            </a:r>
            <a:endParaRPr lang="en-US" altLang="en-US" sz="2000" dirty="0"/>
          </a:p>
        </p:txBody>
      </p:sp>
      <p:grpSp>
        <p:nvGrpSpPr>
          <p:cNvPr id="11" name="Group 10" descr="Table on hourly employees. (SSN, name, log, rating, hours_per week)&#10;(123-22-3666,&#9;Attishoo,&#9;48,&#9;8,&#9;40),&#13;&#10;(231-31-5368,&#9;Smiley,&#9;22,&#9;8, 30),&#13;&#10;(131-24-3650,&#9;Smethurst, 35,&#9;5, 30),&#13;&#10;(434-26-3751,&#9;Guldu,&#9;35,&#9;5, 32),&#13;&#10;(612-67-4134, Madayan,&#9;35,&#9;8, 40)&#13;&#10;" title="Hourly_Emps2">
            <a:extLst>
              <a:ext uri="{FF2B5EF4-FFF2-40B4-BE49-F238E27FC236}">
                <a16:creationId xmlns:a16="http://schemas.microsoft.com/office/drawing/2014/main" id="{55DF50E8-34B2-3643-9CC2-B57BDDFD8C04}"/>
              </a:ext>
            </a:extLst>
          </p:cNvPr>
          <p:cNvGrpSpPr/>
          <p:nvPr/>
        </p:nvGrpSpPr>
        <p:grpSpPr>
          <a:xfrm>
            <a:off x="1049621" y="1869076"/>
            <a:ext cx="3370659" cy="2289572"/>
            <a:chOff x="762000" y="2647950"/>
            <a:chExt cx="3370659" cy="2289572"/>
          </a:xfrm>
        </p:grpSpPr>
        <p:sp>
          <p:nvSpPr>
            <p:cNvPr id="12" name="Rectangle 7">
              <a:extLst>
                <a:ext uri="{FF2B5EF4-FFF2-40B4-BE49-F238E27FC236}">
                  <a16:creationId xmlns:a16="http://schemas.microsoft.com/office/drawing/2014/main" id="{27208CB6-E693-CA4F-9BDE-900B33D7AD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9250" y="4591050"/>
              <a:ext cx="1503759" cy="346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FF0000"/>
                  </a:solidFill>
                  <a:latin typeface="+mn-lt"/>
                </a:rPr>
                <a:t>Hourly_Emps2</a:t>
              </a:r>
            </a:p>
          </p:txBody>
        </p:sp>
        <p:graphicFrame>
          <p:nvGraphicFramePr>
            <p:cNvPr id="13" name="Object 2">
              <a:extLst>
                <a:ext uri="{FF2B5EF4-FFF2-40B4-BE49-F238E27FC236}">
                  <a16:creationId xmlns:a16="http://schemas.microsoft.com/office/drawing/2014/main" id="{42786371-AA28-434F-80F4-D3D99F26B8A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80300472"/>
                </p:ext>
              </p:extLst>
            </p:nvPr>
          </p:nvGraphicFramePr>
          <p:xfrm>
            <a:off x="762000" y="2647950"/>
            <a:ext cx="3370659" cy="20073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78" name="Document" r:id="rId4" imgW="5791200" imgH="3441700" progId="Word.Document.8">
                    <p:embed/>
                  </p:oleObj>
                </mc:Choice>
                <mc:Fallback>
                  <p:oleObj name="Document" r:id="rId4" imgW="5791200" imgH="3441700" progId="Word.Document.8">
                    <p:embed/>
                    <p:pic>
                      <p:nvPicPr>
                        <p:cNvPr id="34823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2000" y="2647950"/>
                          <a:ext cx="3370659" cy="20073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Group 13" descr="Table of Table on wages employees. ( rating, wage)&#10;(8,&#9;10),&#13;&#10;(8,&#9;10),&#13;&#10;(5,&#9;7),&#13;&#10;(5,&#9;7),&#13;&#10;(8,&#9;10)&#13;&#10;" title="Wages">
            <a:extLst>
              <a:ext uri="{FF2B5EF4-FFF2-40B4-BE49-F238E27FC236}">
                <a16:creationId xmlns:a16="http://schemas.microsoft.com/office/drawing/2014/main" id="{09AFCE16-9ADC-6B4A-AA38-BACCFE9830BF}"/>
              </a:ext>
            </a:extLst>
          </p:cNvPr>
          <p:cNvGrpSpPr/>
          <p:nvPr/>
        </p:nvGrpSpPr>
        <p:grpSpPr>
          <a:xfrm>
            <a:off x="5107271" y="2171495"/>
            <a:ext cx="4004072" cy="1529953"/>
            <a:chOff x="4819650" y="2950369"/>
            <a:chExt cx="4004072" cy="1529953"/>
          </a:xfrm>
        </p:grpSpPr>
        <p:sp>
          <p:nvSpPr>
            <p:cNvPr id="15" name="Rectangle 8">
              <a:extLst>
                <a:ext uri="{FF2B5EF4-FFF2-40B4-BE49-F238E27FC236}">
                  <a16:creationId xmlns:a16="http://schemas.microsoft.com/office/drawing/2014/main" id="{50EDAE0B-DBB4-2E4E-B63A-A5E3944E3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4133850"/>
              <a:ext cx="759619" cy="346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FF0000"/>
                  </a:solidFill>
                  <a:latin typeface="+mn-lt"/>
                </a:rPr>
                <a:t>Wages</a:t>
              </a:r>
            </a:p>
          </p:txBody>
        </p:sp>
        <p:graphicFrame>
          <p:nvGraphicFramePr>
            <p:cNvPr id="16" name="Object 3">
              <a:extLst>
                <a:ext uri="{FF2B5EF4-FFF2-40B4-BE49-F238E27FC236}">
                  <a16:creationId xmlns:a16="http://schemas.microsoft.com/office/drawing/2014/main" id="{A7866FA2-11E3-224C-9E05-E41953DA463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70471799"/>
                </p:ext>
              </p:extLst>
            </p:nvPr>
          </p:nvGraphicFramePr>
          <p:xfrm>
            <a:off x="4819650" y="2950369"/>
            <a:ext cx="4004072" cy="1295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79" name="Document" r:id="rId6" imgW="5638800" imgH="1828800" progId="Word.Document.8">
                    <p:embed/>
                  </p:oleObj>
                </mc:Choice>
                <mc:Fallback>
                  <p:oleObj name="Document" r:id="rId6" imgW="5638800" imgH="1828800" progId="Word.Document.8">
                    <p:embed/>
                    <p:pic>
                      <p:nvPicPr>
                        <p:cNvPr id="34824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19650" y="2950369"/>
                          <a:ext cx="4004072" cy="1295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0" name="Picture 9" title="A wand"/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96318" l="1473" r="98969"/>
                    </a14:imgEffect>
                  </a14:imgLayer>
                </a14:imgProps>
              </a:ext>
            </a:extLst>
          </a:blip>
          <a:srcRect l="5444" t="1913" r="-5282" b="-7355"/>
          <a:stretch/>
        </p:blipFill>
        <p:spPr>
          <a:xfrm rot="20044755">
            <a:off x="4121884" y="2485965"/>
            <a:ext cx="1495884" cy="1556121"/>
          </a:xfrm>
          <a:prstGeom prst="diagStripe">
            <a:avLst>
              <a:gd name="adj" fmla="val 60411"/>
            </a:avLst>
          </a:prstGeom>
        </p:spPr>
      </p:pic>
    </p:spTree>
    <p:extLst>
      <p:ext uri="{BB962C8B-B14F-4D97-AF65-F5344CB8AC3E}">
        <p14:creationId xmlns:p14="http://schemas.microsoft.com/office/powerpoint/2010/main" val="509432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93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93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3000">
                <a:latin typeface="+mn-lt"/>
              </a:rPr>
              <a:t>Problems with Decompositions</a:t>
            </a:r>
          </a:p>
        </p:txBody>
      </p:sp>
      <p:sp>
        <p:nvSpPr>
          <p:cNvPr id="134149" name="Rectangle 5"/>
          <p:cNvSpPr>
            <a:spLocks noGrp="1" noChangeArrowheads="1"/>
          </p:cNvSpPr>
          <p:nvPr>
            <p:ph sz="quarter" idx="13"/>
          </p:nvPr>
        </p:nvSpPr>
        <p:spPr>
          <a:xfrm>
            <a:off x="246888" y="1060704"/>
            <a:ext cx="7028485" cy="3873246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en-US" dirty="0">
                <a:latin typeface="+mn-lt"/>
              </a:rPr>
              <a:t>There are three potential problems to consider:</a:t>
            </a:r>
          </a:p>
          <a:p>
            <a:pPr lvl="1" eaLnBrk="1" hangingPunct="1">
              <a:buFontTx/>
              <a:buNone/>
            </a:pPr>
            <a:r>
              <a:rPr lang="en-US" altLang="en-US" dirty="0">
                <a:latin typeface="+mn-lt"/>
              </a:rPr>
              <a:t>1) May be </a:t>
            </a:r>
            <a:r>
              <a:rPr lang="en-US" altLang="en-US" b="1" i="1" dirty="0">
                <a:latin typeface="+mn-lt"/>
              </a:rPr>
              <a:t>impossible</a:t>
            </a:r>
            <a:r>
              <a:rPr lang="en-US" altLang="en-US" dirty="0">
                <a:latin typeface="+mn-lt"/>
              </a:rPr>
              <a:t> to reconstruct the original relation!  (</a:t>
            </a:r>
            <a:r>
              <a:rPr lang="en-US" altLang="en-US" dirty="0" err="1">
                <a:latin typeface="+mn-lt"/>
              </a:rPr>
              <a:t>Lossiness</a:t>
            </a:r>
            <a:r>
              <a:rPr lang="en-US" altLang="en-US" dirty="0">
                <a:latin typeface="+mn-lt"/>
              </a:rPr>
              <a:t>)</a:t>
            </a:r>
          </a:p>
          <a:p>
            <a:pPr lvl="2" eaLnBrk="1" hangingPunct="1"/>
            <a:r>
              <a:rPr lang="en-US" altLang="en-US" dirty="0">
                <a:latin typeface="+mn-lt"/>
              </a:rPr>
              <a:t>Fortunately, not in the SNLRWH example.</a:t>
            </a:r>
          </a:p>
          <a:p>
            <a:pPr lvl="1" eaLnBrk="1" hangingPunct="1">
              <a:spcBef>
                <a:spcPts val="2000"/>
              </a:spcBef>
              <a:buFontTx/>
              <a:buNone/>
            </a:pPr>
            <a:r>
              <a:rPr lang="en-US" altLang="en-US" dirty="0">
                <a:latin typeface="+mn-lt"/>
              </a:rPr>
              <a:t>2) Dependency checking may require joins.</a:t>
            </a:r>
          </a:p>
          <a:p>
            <a:pPr lvl="2" eaLnBrk="1" hangingPunct="1"/>
            <a:r>
              <a:rPr lang="en-US" altLang="en-US" dirty="0">
                <a:latin typeface="+mn-lt"/>
              </a:rPr>
              <a:t>Fortunately, not in the SNLRWH example.</a:t>
            </a:r>
          </a:p>
          <a:p>
            <a:pPr lvl="1" eaLnBrk="1" hangingPunct="1">
              <a:spcBef>
                <a:spcPts val="2000"/>
              </a:spcBef>
              <a:buFontTx/>
              <a:buNone/>
            </a:pPr>
            <a:r>
              <a:rPr lang="en-US" altLang="en-US" dirty="0">
                <a:latin typeface="+mn-lt"/>
              </a:rPr>
              <a:t>3) Some queries become more expensive.  </a:t>
            </a:r>
          </a:p>
          <a:p>
            <a:pPr lvl="2" eaLnBrk="1" hangingPunct="1"/>
            <a:r>
              <a:rPr lang="en-US" altLang="en-US" dirty="0">
                <a:latin typeface="+mn-lt"/>
              </a:rPr>
              <a:t>e.g., How much does </a:t>
            </a:r>
            <a:r>
              <a:rPr lang="en-US" altLang="en-US" dirty="0" err="1">
                <a:latin typeface="+mn-lt"/>
              </a:rPr>
              <a:t>Guldu</a:t>
            </a:r>
            <a:r>
              <a:rPr lang="en-US" altLang="en-US" dirty="0">
                <a:latin typeface="+mn-lt"/>
              </a:rPr>
              <a:t> earn? </a:t>
            </a:r>
          </a:p>
          <a:p>
            <a:pPr>
              <a:spcBef>
                <a:spcPts val="3000"/>
              </a:spcBef>
            </a:pPr>
            <a:r>
              <a:rPr lang="en-US" altLang="en-US" sz="1900" b="1" i="1" u="sng" dirty="0">
                <a:latin typeface="+mn-lt"/>
              </a:rPr>
              <a:t>Tradeoff</a:t>
            </a:r>
            <a:r>
              <a:rPr lang="en-US" altLang="en-US" sz="1900" b="1" dirty="0">
                <a:latin typeface="+mn-lt"/>
              </a:rPr>
              <a:t>:   Must consider these 3 vs. redundancy.</a:t>
            </a:r>
          </a:p>
        </p:txBody>
      </p:sp>
      <p:pic>
        <p:nvPicPr>
          <p:cNvPr id="2" name="Picture 1" descr="Ron Weasley with a broken wand looking dejected" title="R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5373" y="310896"/>
            <a:ext cx="1630088" cy="218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0399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9" grpId="0" build="p" bldLvl="2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93CB3-1EBF-804A-89FB-B510B664E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62AAB-10E7-DA49-B042-57C48FEFDD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7288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1150"/>
            <a:ext cx="7067550" cy="666750"/>
          </a:xfrm>
        </p:spPr>
        <p:txBody>
          <a:bodyPr/>
          <a:lstStyle/>
          <a:p>
            <a:pPr eaLnBrk="1" hangingPunct="1"/>
            <a:r>
              <a:rPr lang="en-US" altLang="en-US" sz="2700" dirty="0">
                <a:latin typeface="Helvetica Neue Regular" charset="0"/>
              </a:rPr>
              <a:t>Lossless Decomposition (example)</a:t>
            </a:r>
          </a:p>
        </p:txBody>
      </p:sp>
      <p:sp>
        <p:nvSpPr>
          <p:cNvPr id="63491" name="Text Box 3" title="Equals Sign"/>
          <p:cNvSpPr txBox="1">
            <a:spLocks noChangeArrowheads="1"/>
          </p:cNvSpPr>
          <p:nvPr/>
        </p:nvSpPr>
        <p:spPr bwMode="auto">
          <a:xfrm>
            <a:off x="582178" y="3562350"/>
            <a:ext cx="534121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484848"/>
                </a:solidFill>
                <a:latin typeface="Helvetica Neue" charset="0"/>
                <a:ea typeface="Osaka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484848"/>
                </a:solidFill>
                <a:latin typeface="Helvetica Neue" charset="0"/>
                <a:ea typeface="Osaka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484848"/>
                </a:solidFill>
                <a:latin typeface="Helvetica Neue" charset="0"/>
                <a:ea typeface="Osaka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484848"/>
                </a:solidFill>
                <a:latin typeface="Helvetica Neue" charset="0"/>
                <a:ea typeface="Osaka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484848"/>
                </a:solidFill>
                <a:latin typeface="Helvetica Neue" charset="0"/>
                <a:ea typeface="Osaka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84848"/>
                </a:solidFill>
                <a:latin typeface="Helvetica Neue" charset="0"/>
                <a:ea typeface="Osaka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84848"/>
                </a:solidFill>
                <a:latin typeface="Helvetica Neue" charset="0"/>
                <a:ea typeface="Osaka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84848"/>
                </a:solidFill>
                <a:latin typeface="Helvetica Neue" charset="0"/>
                <a:ea typeface="Osaka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84848"/>
                </a:solidFill>
                <a:latin typeface="Helvetica Neue" charset="0"/>
                <a:ea typeface="Osaka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500" dirty="0">
                <a:solidFill>
                  <a:schemeClr val="tx1"/>
                </a:solidFill>
                <a:latin typeface="Book Antiqua" charset="0"/>
              </a:rPr>
              <a:t>=</a:t>
            </a:r>
          </a:p>
        </p:txBody>
      </p:sp>
      <p:graphicFrame>
        <p:nvGraphicFramePr>
          <p:cNvPr id="63492" name="Object 2" descr="A join of the Hourly_Emps2 Table and Wages Table" title="Join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6291516"/>
              </p:ext>
            </p:extLst>
          </p:nvPr>
        </p:nvGraphicFramePr>
        <p:xfrm>
          <a:off x="4595776" y="1716683"/>
          <a:ext cx="7429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2" name="Equation" r:id="rId4" imgW="431800" imgH="266700" progId="Equation.3">
                  <p:embed/>
                </p:oleObj>
              </mc:Choice>
              <mc:Fallback>
                <p:oleObj name="Equation" r:id="rId4" imgW="431800" imgH="266700" progId="Equation.3">
                  <p:embed/>
                  <p:pic>
                    <p:nvPicPr>
                      <p:cNvPr id="63492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5776" y="1716683"/>
                        <a:ext cx="742950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7" descr="Table on hourly employees. (SSN, name, log, rating, hours_per week)&#10;(123-22-3666,&#9;Attishoo,&#9;48,&#9;8,&#9;40),&#13;&#10;(231-31-5368,&#9;Smiley,&#9;22,&#9;8, 30),&#13;&#10;(131-24-3650,&#9;Smethurst, 35,&#9;5, 30),&#13;&#10;(434-26-3751,&#9;Guldu,&#9;35,&#9;5, 32),&#13;&#10;(612-67-4134, Madayan,&#9;35,&#9;8, 40)&#13;&#10;" title="Hourly_Emps2">
            <a:extLst>
              <a:ext uri="{FF2B5EF4-FFF2-40B4-BE49-F238E27FC236}">
                <a16:creationId xmlns:a16="http://schemas.microsoft.com/office/drawing/2014/main" id="{DB35FA60-632A-D843-AD15-998CDEBC20DA}"/>
              </a:ext>
            </a:extLst>
          </p:cNvPr>
          <p:cNvGrpSpPr/>
          <p:nvPr/>
        </p:nvGrpSpPr>
        <p:grpSpPr>
          <a:xfrm>
            <a:off x="582178" y="857882"/>
            <a:ext cx="3583741" cy="2273611"/>
            <a:chOff x="548522" y="2647950"/>
            <a:chExt cx="3583741" cy="2273611"/>
          </a:xfrm>
        </p:grpSpPr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1236EDE3-6315-6A41-B656-45D791AA50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522" y="4575089"/>
              <a:ext cx="1503759" cy="346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FF0000"/>
                  </a:solidFill>
                  <a:latin typeface="+mn-lt"/>
                </a:rPr>
                <a:t>Hourly_Emps2</a:t>
              </a:r>
            </a:p>
          </p:txBody>
        </p:sp>
        <p:graphicFrame>
          <p:nvGraphicFramePr>
            <p:cNvPr id="10" name="Object 2">
              <a:extLst>
                <a:ext uri="{FF2B5EF4-FFF2-40B4-BE49-F238E27FC236}">
                  <a16:creationId xmlns:a16="http://schemas.microsoft.com/office/drawing/2014/main" id="{B06BBFE6-B8F4-E946-95BA-C88E8EF94B7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0759140"/>
                </p:ext>
              </p:extLst>
            </p:nvPr>
          </p:nvGraphicFramePr>
          <p:xfrm>
            <a:off x="762000" y="2647950"/>
            <a:ext cx="3370263" cy="2008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33" name="Document" r:id="rId6" imgW="5791200" imgH="3441700" progId="Word.Document.8">
                    <p:embed/>
                  </p:oleObj>
                </mc:Choice>
                <mc:Fallback>
                  <p:oleObj name="Document" r:id="rId6" imgW="5791200" imgH="3441700" progId="Word.Document.8">
                    <p:embed/>
                    <p:pic>
                      <p:nvPicPr>
                        <p:cNvPr id="34823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2000" y="2647950"/>
                          <a:ext cx="3370263" cy="20081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10" descr="Table of Table on wages employees. ( rating, wage)&#10;(8,&#9;10),&#13;&#10;(8,&#9;10),&#13;&#10;(5,&#9;7),&#13;&#10;(5,&#9;7),&#13;&#10;(8,&#9;10)&#13;&#10;" title="Wages">
            <a:extLst>
              <a:ext uri="{FF2B5EF4-FFF2-40B4-BE49-F238E27FC236}">
                <a16:creationId xmlns:a16="http://schemas.microsoft.com/office/drawing/2014/main" id="{6A73AD91-DD87-0C45-8000-C9682EB06E9D}"/>
              </a:ext>
            </a:extLst>
          </p:cNvPr>
          <p:cNvGrpSpPr/>
          <p:nvPr/>
        </p:nvGrpSpPr>
        <p:grpSpPr>
          <a:xfrm>
            <a:off x="6400800" y="1137575"/>
            <a:ext cx="4004072" cy="1529953"/>
            <a:chOff x="4819650" y="2950369"/>
            <a:chExt cx="4004072" cy="1529953"/>
          </a:xfrm>
        </p:grpSpPr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8AAA531D-D20E-2245-A7F1-D51F094C2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4133850"/>
              <a:ext cx="759619" cy="346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9056" tIns="34529" rIns="69056" bIns="34529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FF0000"/>
                  </a:solidFill>
                  <a:latin typeface="+mn-lt"/>
                </a:rPr>
                <a:t>Wages</a:t>
              </a:r>
            </a:p>
          </p:txBody>
        </p:sp>
        <p:graphicFrame>
          <p:nvGraphicFramePr>
            <p:cNvPr id="13" name="Object 3">
              <a:extLst>
                <a:ext uri="{FF2B5EF4-FFF2-40B4-BE49-F238E27FC236}">
                  <a16:creationId xmlns:a16="http://schemas.microsoft.com/office/drawing/2014/main" id="{0C73210F-66AC-E84D-9BF0-BD1D74B05D9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70504524"/>
                </p:ext>
              </p:extLst>
            </p:nvPr>
          </p:nvGraphicFramePr>
          <p:xfrm>
            <a:off x="4819650" y="2950369"/>
            <a:ext cx="4004072" cy="1295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34" name="Document" r:id="rId8" imgW="5638800" imgH="1828800" progId="Word.Document.8">
                    <p:embed/>
                  </p:oleObj>
                </mc:Choice>
                <mc:Fallback>
                  <p:oleObj name="Document" r:id="rId8" imgW="5638800" imgH="1828800" progId="Word.Document.8">
                    <p:embed/>
                    <p:pic>
                      <p:nvPicPr>
                        <p:cNvPr id="34824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19650" y="2950369"/>
                          <a:ext cx="4004072" cy="1295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Object 2" descr="Table on hourly employees. (SSN, name, log, rating, wage, hours_per week)&#10;(123-22-3666,&#9;Attishoo,&#9;48,&#9;8,&#9;10,&#9;40),&#13;&#10;(231-31-5368,&#9;Smiley,&#9;22,&#9;8,&#9;10,&#9;30),&#13;&#10;(131-24-3650,&#9;Smethurst, 35,&#9;5,&#9;7,&#9;30),&#13;&#10;(434-26-3751,&#9;Guldu,&#9;35,&#9;5,&#9;7,&#9;32),&#13;&#10;(612-67-4134, Madayan,&#9;35,&#9;8,&#9;10,&#9;40)&#13;&#10;" title="Hourly Emps Table">
            <a:extLst>
              <a:ext uri="{FF2B5EF4-FFF2-40B4-BE49-F238E27FC236}">
                <a16:creationId xmlns:a16="http://schemas.microsoft.com/office/drawing/2014/main" id="{E1529395-BBD7-A741-AAF6-7EF2F1AFD2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3608596"/>
              </p:ext>
            </p:extLst>
          </p:nvPr>
        </p:nvGraphicFramePr>
        <p:xfrm>
          <a:off x="2175284" y="2998924"/>
          <a:ext cx="4221162" cy="214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5" name="Document" r:id="rId10" imgW="6769100" imgH="3441700" progId="Word.Document.8">
                  <p:embed/>
                </p:oleObj>
              </mc:Choice>
              <mc:Fallback>
                <p:oleObj name="Document" r:id="rId10" imgW="6769100" imgH="3441700" progId="Word.Document.8">
                  <p:embed/>
                  <p:pic>
                    <p:nvPicPr>
                      <p:cNvPr id="7" name="Object 2" descr="Table on hourly employees. (SSN, name, log, rating, wage, hours_per week)&#10;(123-22-3666,&#9;Attishoo,&#9;48,&#9;8,&#9;10,&#9;40),&#13;&#10;(231-31-5368,&#9;Smiley,&#9;22,&#9;8,&#9;10,&#9;30),&#13;&#10;(131-24-3650,&#9;Smethurst, 35,&#9;5,&#9;7,&#9;30),&#13;&#10;(434-26-3751,&#9;Guldu,&#9;35,&#9;5,&#9;7,&#9;32),&#13;&#10;(612-67-4134, Madayan,&#9;35,&#9;8,&#9;10,&#9;40)&#13;&#10;" title="Hourly Emps Table">
                        <a:extLst>
                          <a:ext uri="{FF2B5EF4-FFF2-40B4-BE49-F238E27FC236}">
                            <a16:creationId xmlns:a16="http://schemas.microsoft.com/office/drawing/2014/main" id="{92DCFE29-37AF-9748-9252-A3F800ADA0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5284" y="2998924"/>
                        <a:ext cx="4221162" cy="214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 descr="Harry Potter looking cool casting a spell" title="Harry Potter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43775" y="0"/>
            <a:ext cx="1800225" cy="120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1115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000" dirty="0">
                <a:latin typeface="Helvetica Neue Regular" charset="0"/>
              </a:rPr>
              <a:t>Lossy Decomposition (example)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2" name="Group 1" descr="Table with columns A, B, and C&#10;Entries: (1, 2, 3), (4, 5, 6), (7, 2, 8))&#10;A implies B. C implies B" title="ABC Table 1">
            <a:extLst>
              <a:ext uri="{FF2B5EF4-FFF2-40B4-BE49-F238E27FC236}">
                <a16:creationId xmlns:a16="http://schemas.microsoft.com/office/drawing/2014/main" id="{CA582911-9966-9C41-B6FE-175EA2DA7B3D}"/>
              </a:ext>
            </a:extLst>
          </p:cNvPr>
          <p:cNvGrpSpPr/>
          <p:nvPr/>
        </p:nvGrpSpPr>
        <p:grpSpPr>
          <a:xfrm>
            <a:off x="492918" y="1070372"/>
            <a:ext cx="4307682" cy="1707356"/>
            <a:chOff x="492918" y="1070372"/>
            <a:chExt cx="4307682" cy="1707356"/>
          </a:xfrm>
        </p:grpSpPr>
        <p:grpSp>
          <p:nvGrpSpPr>
            <p:cNvPr id="65539" name="Group 3"/>
            <p:cNvGrpSpPr>
              <a:grpSpLocks/>
            </p:cNvGrpSpPr>
            <p:nvPr/>
          </p:nvGrpSpPr>
          <p:grpSpPr bwMode="auto">
            <a:xfrm>
              <a:off x="492918" y="1322784"/>
              <a:ext cx="2062163" cy="1454944"/>
              <a:chOff x="708" y="1152"/>
              <a:chExt cx="1732" cy="1222"/>
            </a:xfrm>
          </p:grpSpPr>
          <p:sp>
            <p:nvSpPr>
              <p:cNvPr id="65550" name="AutoShape 4"/>
              <p:cNvSpPr>
                <a:spLocks noChangeArrowheads="1"/>
              </p:cNvSpPr>
              <p:nvPr/>
            </p:nvSpPr>
            <p:spPr bwMode="auto">
              <a:xfrm>
                <a:off x="2160" y="1152"/>
                <a:ext cx="280" cy="376"/>
              </a:xfrm>
              <a:prstGeom prst="rightArrow">
                <a:avLst>
                  <a:gd name="adj1" fmla="val 50000"/>
                  <a:gd name="adj2" fmla="val 50005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484848"/>
                    </a:solidFill>
                    <a:latin typeface="Helvetica Neue" charset="0"/>
                    <a:ea typeface="Osaka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484848"/>
                    </a:solidFill>
                    <a:latin typeface="Helvetica Neue" charset="0"/>
                    <a:ea typeface="Osaka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484848"/>
                    </a:solidFill>
                    <a:latin typeface="Helvetica Neue" charset="0"/>
                    <a:ea typeface="Osaka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484848"/>
                    </a:solidFill>
                    <a:latin typeface="Helvetica Neue" charset="0"/>
                    <a:ea typeface="Osaka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484848"/>
                    </a:solidFill>
                    <a:latin typeface="Helvetica Neue" charset="0"/>
                    <a:ea typeface="Osaka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484848"/>
                    </a:solidFill>
                    <a:latin typeface="Helvetica Neue" charset="0"/>
                    <a:ea typeface="Osaka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484848"/>
                    </a:solidFill>
                    <a:latin typeface="Helvetica Neue" charset="0"/>
                    <a:ea typeface="Osaka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484848"/>
                    </a:solidFill>
                    <a:latin typeface="Helvetica Neue" charset="0"/>
                    <a:ea typeface="Osaka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484848"/>
                    </a:solidFill>
                    <a:latin typeface="Helvetica Neue" charset="0"/>
                    <a:ea typeface="Osaka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900">
                  <a:solidFill>
                    <a:srgbClr val="CF0E30"/>
                  </a:solidFill>
                  <a:latin typeface="Book Antiqua" charset="0"/>
                </a:endParaRPr>
              </a:p>
            </p:txBody>
          </p:sp>
          <p:sp>
            <p:nvSpPr>
              <p:cNvPr id="65551" name="Rectangle 5"/>
              <p:cNvSpPr>
                <a:spLocks noChangeArrowheads="1"/>
              </p:cNvSpPr>
              <p:nvPr/>
            </p:nvSpPr>
            <p:spPr bwMode="auto">
              <a:xfrm>
                <a:off x="708" y="2064"/>
                <a:ext cx="1398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484848"/>
                    </a:solidFill>
                    <a:latin typeface="Helvetica Neue" charset="0"/>
                    <a:ea typeface="Osaka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484848"/>
                    </a:solidFill>
                    <a:latin typeface="Helvetica Neue" charset="0"/>
                    <a:ea typeface="Osaka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484848"/>
                    </a:solidFill>
                    <a:latin typeface="Helvetica Neue" charset="0"/>
                    <a:ea typeface="Osaka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484848"/>
                    </a:solidFill>
                    <a:latin typeface="Helvetica Neue" charset="0"/>
                    <a:ea typeface="Osaka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484848"/>
                    </a:solidFill>
                    <a:latin typeface="Helvetica Neue" charset="0"/>
                    <a:ea typeface="Osaka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484848"/>
                    </a:solidFill>
                    <a:latin typeface="Helvetica Neue" charset="0"/>
                    <a:ea typeface="Osaka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484848"/>
                    </a:solidFill>
                    <a:latin typeface="Helvetica Neue" charset="0"/>
                    <a:ea typeface="Osaka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484848"/>
                    </a:solidFill>
                    <a:latin typeface="Helvetica Neue" charset="0"/>
                    <a:ea typeface="Osaka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484848"/>
                    </a:solidFill>
                    <a:latin typeface="Helvetica Neue" charset="0"/>
                    <a:ea typeface="Osaka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solidFill>
                      <a:schemeClr val="accent2"/>
                    </a:solidFill>
                    <a:latin typeface="Helvetica Neue Regular" charset="0"/>
                  </a:rPr>
                  <a:t>A </a:t>
                </a:r>
                <a:r>
                  <a:rPr lang="is-IS" altLang="en-US" sz="1800" dirty="0">
                    <a:solidFill>
                      <a:srgbClr val="009900"/>
                    </a:solidFill>
                    <a:latin typeface="Helvetica Neue Regular" charset="0"/>
                    <a:sym typeface="Symbol" charset="2"/>
                  </a:rPr>
                  <a:t>→</a:t>
                </a:r>
                <a:r>
                  <a:rPr lang="en-US" altLang="en-US" sz="1800" dirty="0">
                    <a:solidFill>
                      <a:schemeClr val="accent2"/>
                    </a:solidFill>
                    <a:latin typeface="Helvetica Neue Regular" charset="0"/>
                  </a:rPr>
                  <a:t> B; C </a:t>
                </a:r>
                <a:r>
                  <a:rPr lang="is-IS" altLang="en-US" sz="1800" dirty="0">
                    <a:solidFill>
                      <a:srgbClr val="009900"/>
                    </a:solidFill>
                    <a:latin typeface="Helvetica Neue Regular" charset="0"/>
                    <a:sym typeface="Symbol" charset="2"/>
                  </a:rPr>
                  <a:t>→</a:t>
                </a:r>
                <a:r>
                  <a:rPr lang="en-US" altLang="en-US" sz="1800" dirty="0">
                    <a:solidFill>
                      <a:srgbClr val="009900"/>
                    </a:solidFill>
                    <a:latin typeface="Helvetica Neue Regular" charset="0"/>
                    <a:sym typeface="Symbol" charset="2"/>
                  </a:rPr>
                  <a:t> </a:t>
                </a:r>
                <a:r>
                  <a:rPr lang="en-US" altLang="en-US" sz="1800" dirty="0">
                    <a:solidFill>
                      <a:srgbClr val="760001"/>
                    </a:solidFill>
                    <a:latin typeface="Helvetica Neue Regular" charset="0"/>
                    <a:sym typeface="Symbol" charset="2"/>
                  </a:rPr>
                  <a:t>B</a:t>
                </a:r>
              </a:p>
            </p:txBody>
          </p:sp>
        </p:grpSp>
        <p:graphicFrame>
          <p:nvGraphicFramePr>
            <p:cNvPr id="65540" name="Object 2" descr="Table with columns A, B, and C&#10;Entries: (1, 2, 3), (4, 5, 6), (7, 2, 8))" title="ABC Table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87757426"/>
                </p:ext>
              </p:extLst>
            </p:nvPr>
          </p:nvGraphicFramePr>
          <p:xfrm>
            <a:off x="567928" y="1070372"/>
            <a:ext cx="4232672" cy="13787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15" name="Document" r:id="rId4" imgW="5638800" imgH="1841500" progId="Word.Document.8">
                    <p:embed/>
                  </p:oleObj>
                </mc:Choice>
                <mc:Fallback>
                  <p:oleObj name="Document" r:id="rId4" imgW="5638800" imgH="1841500" progId="Word.Document.8">
                    <p:embed/>
                    <p:pic>
                      <p:nvPicPr>
                        <p:cNvPr id="6554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928" y="1070372"/>
                          <a:ext cx="4232672" cy="13787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7" descr="2 Tables: First Table has columns A, B and entries (1, 2), (4, 5), (7, 2). Second table has columns B, C and entries (2, 3), (5, 6), (2, 8)" title="Result of ABC Table 1 Decomposition"/>
          <p:cNvGrpSpPr>
            <a:grpSpLocks/>
          </p:cNvGrpSpPr>
          <p:nvPr/>
        </p:nvGrpSpPr>
        <p:grpSpPr bwMode="auto">
          <a:xfrm>
            <a:off x="3048000" y="1168343"/>
            <a:ext cx="5543550" cy="1385888"/>
            <a:chOff x="2880" y="858"/>
            <a:chExt cx="4656" cy="1164"/>
          </a:xfrm>
        </p:grpSpPr>
        <p:graphicFrame>
          <p:nvGraphicFramePr>
            <p:cNvPr id="65548" name="Object 7"/>
            <p:cNvGraphicFramePr>
              <a:graphicFrameLocks noChangeAspect="1"/>
            </p:cNvGraphicFramePr>
            <p:nvPr/>
          </p:nvGraphicFramePr>
          <p:xfrm>
            <a:off x="2880" y="858"/>
            <a:ext cx="3553" cy="1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16" name="Document" r:id="rId6" imgW="5638800" imgH="1841500" progId="Word.Document.8">
                    <p:embed/>
                  </p:oleObj>
                </mc:Choice>
                <mc:Fallback>
                  <p:oleObj name="Document" r:id="rId6" imgW="5638800" imgH="1841500" progId="Word.Document.8">
                    <p:embed/>
                    <p:pic>
                      <p:nvPicPr>
                        <p:cNvPr id="65548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858"/>
                          <a:ext cx="3553" cy="11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5549" name="Object 8"/>
            <p:cNvGraphicFramePr>
              <a:graphicFrameLocks noChangeAspect="1"/>
            </p:cNvGraphicFramePr>
            <p:nvPr/>
          </p:nvGraphicFramePr>
          <p:xfrm>
            <a:off x="3983" y="864"/>
            <a:ext cx="3553" cy="1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17" name="Document" r:id="rId8" imgW="5638800" imgH="1841500" progId="Word.Document.8">
                    <p:embed/>
                  </p:oleObj>
                </mc:Choice>
                <mc:Fallback>
                  <p:oleObj name="Document" r:id="rId8" imgW="5638800" imgH="1841500" progId="Word.Document.8">
                    <p:embed/>
                    <p:pic>
                      <p:nvPicPr>
                        <p:cNvPr id="65549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3" y="864"/>
                          <a:ext cx="3553" cy="11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7226" name="Object 3" descr="Table with columns A, B, and C&#10;Entries: (1, 2, 3), (4, 5, 6), (7, 2, 8), (1, 2, 8), (7, 2, 3)&#10;" title="Result of the Join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2541801"/>
              </p:ext>
            </p:extLst>
          </p:nvPr>
        </p:nvGraphicFramePr>
        <p:xfrm>
          <a:off x="4528457" y="3026569"/>
          <a:ext cx="4232672" cy="1993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8" name="Document" r:id="rId10" imgW="5638800" imgH="2654300" progId="Word.Document.8">
                  <p:embed/>
                </p:oleObj>
              </mc:Choice>
              <mc:Fallback>
                <p:oleObj name="Document" r:id="rId10" imgW="5638800" imgH="2654300" progId="Word.Document.8">
                  <p:embed/>
                  <p:pic>
                    <p:nvPicPr>
                      <p:cNvPr id="13722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8457" y="3026569"/>
                        <a:ext cx="4232672" cy="19931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1" descr="Joinin the table tables that were the result of the decomposition of ABC Table 1" title="Join"/>
          <p:cNvGrpSpPr>
            <a:grpSpLocks/>
          </p:cNvGrpSpPr>
          <p:nvPr/>
        </p:nvGrpSpPr>
        <p:grpSpPr bwMode="auto">
          <a:xfrm>
            <a:off x="381000" y="3333750"/>
            <a:ext cx="6459141" cy="1435894"/>
            <a:chOff x="528" y="2784"/>
            <a:chExt cx="5425" cy="1206"/>
          </a:xfrm>
        </p:grpSpPr>
        <p:sp>
          <p:nvSpPr>
            <p:cNvPr id="65544" name="Text Box 12"/>
            <p:cNvSpPr txBox="1">
              <a:spLocks noChangeArrowheads="1"/>
            </p:cNvSpPr>
            <p:nvPr/>
          </p:nvSpPr>
          <p:spPr bwMode="auto">
            <a:xfrm>
              <a:off x="3408" y="2880"/>
              <a:ext cx="449" cy="6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484848"/>
                  </a:solidFill>
                  <a:latin typeface="Helvetica Neue" charset="0"/>
                  <a:ea typeface="Osaka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4500">
                  <a:solidFill>
                    <a:schemeClr val="tx1"/>
                  </a:solidFill>
                  <a:latin typeface="Book Antiqua" charset="0"/>
                </a:rPr>
                <a:t>=</a:t>
              </a:r>
            </a:p>
          </p:txBody>
        </p:sp>
        <p:graphicFrame>
          <p:nvGraphicFramePr>
            <p:cNvPr id="65545" name="Object 4"/>
            <p:cNvGraphicFramePr>
              <a:graphicFrameLocks/>
            </p:cNvGraphicFramePr>
            <p:nvPr/>
          </p:nvGraphicFramePr>
          <p:xfrm>
            <a:off x="1488" y="3024"/>
            <a:ext cx="624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19" name="Equation" r:id="rId12" imgW="431800" imgH="266700" progId="Equation.3">
                    <p:embed/>
                  </p:oleObj>
                </mc:Choice>
                <mc:Fallback>
                  <p:oleObj name="Equation" r:id="rId12" imgW="431800" imgH="266700" progId="Equation.3">
                    <p:embed/>
                    <p:pic>
                      <p:nvPicPr>
                        <p:cNvPr id="65545" name="Object 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3024"/>
                          <a:ext cx="624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5546" name="Object 5"/>
            <p:cNvGraphicFramePr>
              <a:graphicFrameLocks noChangeAspect="1"/>
            </p:cNvGraphicFramePr>
            <p:nvPr/>
          </p:nvGraphicFramePr>
          <p:xfrm>
            <a:off x="528" y="2832"/>
            <a:ext cx="3553" cy="1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20" name="Document" r:id="rId14" imgW="5638800" imgH="1841500" progId="Word.Document.8">
                    <p:embed/>
                  </p:oleObj>
                </mc:Choice>
                <mc:Fallback>
                  <p:oleObj name="Document" r:id="rId14" imgW="5638800" imgH="1841500" progId="Word.Document.8">
                    <p:embed/>
                    <p:pic>
                      <p:nvPicPr>
                        <p:cNvPr id="65546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2832"/>
                          <a:ext cx="3553" cy="11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554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04467740"/>
                </p:ext>
              </p:extLst>
            </p:nvPr>
          </p:nvGraphicFramePr>
          <p:xfrm>
            <a:off x="2400" y="2784"/>
            <a:ext cx="3553" cy="1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21" name="Document" r:id="rId16" imgW="5638800" imgH="1841500" progId="Word.Document.8">
                    <p:embed/>
                  </p:oleObj>
                </mc:Choice>
                <mc:Fallback>
                  <p:oleObj name="Document" r:id="rId16" imgW="5638800" imgH="1841500" progId="Word.Document.8">
                    <p:embed/>
                    <p:pic>
                      <p:nvPicPr>
                        <p:cNvPr id="6554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2784"/>
                          <a:ext cx="3553" cy="11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9" name="Picture 18" descr="Ron Weasley with a broken wand looking dejected" title="Ron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84938" y="0"/>
            <a:ext cx="1425932" cy="1911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066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7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3000" dirty="0">
                <a:ea typeface="Helvetica Neue" charset="0"/>
                <a:cs typeface="Helvetica Neue" charset="0"/>
              </a:rPr>
              <a:t>Lossless Join Decompositions</a:t>
            </a:r>
          </a:p>
        </p:txBody>
      </p:sp>
      <p:sp>
        <p:nvSpPr>
          <p:cNvPr id="67586" name="Rectangle 5"/>
          <p:cNvSpPr>
            <a:spLocks noGrp="1" noChangeArrowheads="1"/>
          </p:cNvSpPr>
          <p:nvPr>
            <p:ph idx="1"/>
          </p:nvPr>
        </p:nvSpPr>
        <p:spPr>
          <a:xfrm>
            <a:off x="457200" y="1200151"/>
            <a:ext cx="7010400" cy="3394472"/>
          </a:xfrm>
        </p:spPr>
        <p:txBody>
          <a:bodyPr>
            <a:normAutofit fontScale="92500"/>
          </a:bodyPr>
          <a:lstStyle/>
          <a:p>
            <a:pPr eaLnBrk="1" hangingPunct="1"/>
            <a:r>
              <a:rPr lang="en-US" altLang="en-US" sz="1800" dirty="0" err="1">
                <a:ea typeface="Helvetica Neue" charset="0"/>
                <a:cs typeface="Helvetica Neue" charset="0"/>
              </a:rPr>
              <a:t>Defn</a:t>
            </a:r>
            <a:r>
              <a:rPr lang="en-US" altLang="en-US" sz="1800" dirty="0">
                <a:ea typeface="Helvetica Neue" charset="0"/>
                <a:cs typeface="Helvetica Neue" charset="0"/>
              </a:rPr>
              <a:t>: Decomposition of R into X and Y is</a:t>
            </a:r>
            <a:r>
              <a:rPr lang="en-US" altLang="en-US" sz="1800" b="1" dirty="0">
                <a:ea typeface="Helvetica Neue" charset="0"/>
                <a:cs typeface="Helvetica Neue" charset="0"/>
              </a:rPr>
              <a:t> </a:t>
            </a:r>
            <a:r>
              <a:rPr lang="en-US" altLang="en-US" sz="1800" b="1" i="1" u="sng" dirty="0">
                <a:ea typeface="Helvetica Neue" charset="0"/>
                <a:cs typeface="Helvetica Neue" charset="0"/>
              </a:rPr>
              <a:t>lossless-join</a:t>
            </a:r>
            <a:r>
              <a:rPr lang="en-US" altLang="en-US" sz="1800" b="1" dirty="0">
                <a:ea typeface="Helvetica Neue" charset="0"/>
                <a:cs typeface="Helvetica Neue" charset="0"/>
              </a:rPr>
              <a:t> </a:t>
            </a:r>
            <a:r>
              <a:rPr lang="en-US" altLang="en-US" sz="1800" dirty="0" err="1">
                <a:ea typeface="Helvetica Neue" charset="0"/>
                <a:cs typeface="Helvetica Neue" charset="0"/>
              </a:rPr>
              <a:t>w.r.t</a:t>
            </a:r>
            <a:r>
              <a:rPr lang="en-US" altLang="en-US" sz="1800" dirty="0">
                <a:ea typeface="Helvetica Neue" charset="0"/>
                <a:cs typeface="Helvetica Neue" charset="0"/>
              </a:rPr>
              <a:t>. a set of FDs F if, for every instance </a:t>
            </a:r>
            <a:r>
              <a:rPr lang="en-US" altLang="en-US" sz="1800" i="1" dirty="0">
                <a:ea typeface="Helvetica Neue" charset="0"/>
                <a:cs typeface="Helvetica Neue" charset="0"/>
              </a:rPr>
              <a:t>r</a:t>
            </a:r>
            <a:r>
              <a:rPr lang="en-US" altLang="en-US" sz="1800" dirty="0">
                <a:ea typeface="Helvetica Neue" charset="0"/>
                <a:cs typeface="Helvetica Neue" charset="0"/>
              </a:rPr>
              <a:t> that satisfies F:</a:t>
            </a:r>
          </a:p>
          <a:p>
            <a:pPr marL="914400" lvl="1" indent="0">
              <a:buNone/>
            </a:pPr>
            <a:r>
              <a:rPr lang="en-US" altLang="en-US" sz="2200" i="1" dirty="0" err="1">
                <a:latin typeface="Symbol" charset="2"/>
                <a:ea typeface="Symbol" charset="2"/>
                <a:cs typeface="Symbol" charset="2"/>
              </a:rPr>
              <a:t>p</a:t>
            </a:r>
            <a:r>
              <a:rPr lang="en-US" altLang="en-US" sz="2200" i="1" baseline="-25000" dirty="0" err="1">
                <a:latin typeface="Times New Roman" charset="0"/>
                <a:ea typeface="Times New Roman" charset="0"/>
                <a:cs typeface="Times New Roman" charset="0"/>
              </a:rPr>
              <a:t>x</a:t>
            </a:r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(</a:t>
            </a:r>
            <a:r>
              <a:rPr lang="en-US" altLang="en-US" i="1" dirty="0">
                <a:latin typeface="Times New Roman" charset="0"/>
                <a:ea typeface="Times New Roman" charset="0"/>
                <a:cs typeface="Times New Roman" charset="0"/>
              </a:rPr>
              <a:t>r</a:t>
            </a:r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) ⋈ </a:t>
            </a:r>
            <a:r>
              <a:rPr lang="en-US" altLang="en-US" sz="2200" i="1" dirty="0" err="1">
                <a:latin typeface="Symbol" charset="2"/>
                <a:ea typeface="Symbol" charset="2"/>
                <a:cs typeface="Symbol" charset="2"/>
              </a:rPr>
              <a:t>p</a:t>
            </a:r>
            <a:r>
              <a:rPr lang="en-US" altLang="en-US" sz="2200" i="1" baseline="-25000" dirty="0" err="1">
                <a:latin typeface="Times New Roman" charset="0"/>
                <a:ea typeface="Times New Roman" charset="0"/>
                <a:cs typeface="Times New Roman" charset="0"/>
              </a:rPr>
              <a:t>Y</a:t>
            </a:r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(</a:t>
            </a:r>
            <a:r>
              <a:rPr lang="en-US" altLang="en-US" i="1" dirty="0">
                <a:latin typeface="Times New Roman" charset="0"/>
                <a:ea typeface="Times New Roman" charset="0"/>
                <a:cs typeface="Times New Roman" charset="0"/>
              </a:rPr>
              <a:t>r</a:t>
            </a:r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) = </a:t>
            </a:r>
            <a:r>
              <a:rPr lang="en-US" altLang="en-US" i="1" dirty="0">
                <a:latin typeface="Times New Roman" charset="0"/>
                <a:ea typeface="Times New Roman" charset="0"/>
                <a:cs typeface="Times New Roman" charset="0"/>
              </a:rPr>
              <a:t>r</a:t>
            </a:r>
          </a:p>
          <a:p>
            <a:pPr>
              <a:spcBef>
                <a:spcPts val="2000"/>
              </a:spcBef>
            </a:pPr>
            <a:r>
              <a:rPr lang="en-US" altLang="en-US" sz="1800" dirty="0">
                <a:ea typeface="Helvetica Neue" charset="0"/>
                <a:cs typeface="Helvetica Neue" charset="0"/>
              </a:rPr>
              <a:t>It is always true that  </a:t>
            </a:r>
            <a:r>
              <a:rPr lang="en-US" altLang="en-US" sz="1800" i="1" dirty="0">
                <a:latin typeface="Times New Roman" charset="0"/>
                <a:ea typeface="Times New Roman" charset="0"/>
                <a:cs typeface="Times New Roman" charset="0"/>
              </a:rPr>
              <a:t>r </a:t>
            </a:r>
            <a:r>
              <a:rPr lang="en-US" altLang="en-US" sz="1800" dirty="0">
                <a:latin typeface="Times New Roman" charset="0"/>
                <a:ea typeface="Times New Roman" charset="0"/>
                <a:cs typeface="Times New Roman" charset="0"/>
              </a:rPr>
              <a:t>⊆</a:t>
            </a:r>
            <a:r>
              <a:rPr lang="en-US" altLang="en-US" sz="1800" i="1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altLang="en-US" i="1" dirty="0" err="1">
                <a:latin typeface="Symbol" charset="2"/>
                <a:ea typeface="Symbol" charset="2"/>
                <a:cs typeface="Symbol" charset="2"/>
              </a:rPr>
              <a:t>p</a:t>
            </a:r>
            <a:r>
              <a:rPr lang="en-US" altLang="en-US" i="1" baseline="-25000" dirty="0" err="1">
                <a:latin typeface="Times New Roman" charset="0"/>
                <a:ea typeface="Times New Roman" charset="0"/>
                <a:cs typeface="Times New Roman" charset="0"/>
              </a:rPr>
              <a:t>x</a:t>
            </a:r>
            <a:r>
              <a:rPr lang="en-US" altLang="en-US" sz="1800" dirty="0">
                <a:latin typeface="Times New Roman" charset="0"/>
                <a:ea typeface="Times New Roman" charset="0"/>
                <a:cs typeface="Times New Roman" charset="0"/>
              </a:rPr>
              <a:t>(</a:t>
            </a:r>
            <a:r>
              <a:rPr lang="en-US" altLang="en-US" sz="1800" i="1" dirty="0">
                <a:latin typeface="Times New Roman" charset="0"/>
                <a:ea typeface="Times New Roman" charset="0"/>
                <a:cs typeface="Times New Roman" charset="0"/>
              </a:rPr>
              <a:t>r</a:t>
            </a:r>
            <a:r>
              <a:rPr lang="en-US" altLang="en-US" sz="1800" dirty="0">
                <a:latin typeface="Times New Roman" charset="0"/>
                <a:ea typeface="Times New Roman" charset="0"/>
                <a:cs typeface="Times New Roman" charset="0"/>
              </a:rPr>
              <a:t>) ⋈ </a:t>
            </a:r>
            <a:r>
              <a:rPr lang="en-US" altLang="en-US" i="1" dirty="0" err="1">
                <a:latin typeface="Symbol" charset="2"/>
                <a:ea typeface="Symbol" charset="2"/>
                <a:cs typeface="Symbol" charset="2"/>
              </a:rPr>
              <a:t>p</a:t>
            </a:r>
            <a:r>
              <a:rPr lang="en-US" altLang="en-US" i="1" baseline="-25000" dirty="0" err="1">
                <a:latin typeface="Times New Roman" charset="0"/>
                <a:ea typeface="Times New Roman" charset="0"/>
                <a:cs typeface="Times New Roman" charset="0"/>
              </a:rPr>
              <a:t>x</a:t>
            </a:r>
            <a:r>
              <a:rPr lang="en-US" altLang="en-US" sz="1800" dirty="0">
                <a:latin typeface="Times New Roman" charset="0"/>
                <a:ea typeface="Times New Roman" charset="0"/>
                <a:cs typeface="Times New Roman" charset="0"/>
              </a:rPr>
              <a:t>(</a:t>
            </a:r>
            <a:r>
              <a:rPr lang="en-US" altLang="en-US" sz="1800" i="1" dirty="0">
                <a:latin typeface="Times New Roman" charset="0"/>
                <a:ea typeface="Times New Roman" charset="0"/>
                <a:cs typeface="Times New Roman" charset="0"/>
              </a:rPr>
              <a:t>r</a:t>
            </a:r>
            <a:r>
              <a:rPr lang="en-US" altLang="en-US" sz="1800" dirty="0">
                <a:latin typeface="Times New Roman" charset="0"/>
                <a:ea typeface="Times New Roman" charset="0"/>
                <a:cs typeface="Times New Roman" charset="0"/>
              </a:rPr>
              <a:t>)</a:t>
            </a:r>
          </a:p>
          <a:p>
            <a:pPr lvl="1" eaLnBrk="1" hangingPunct="1"/>
            <a:r>
              <a:rPr lang="en-US" altLang="en-US" sz="1500" dirty="0">
                <a:ea typeface="Helvetica Neue" charset="0"/>
                <a:cs typeface="Helvetica Neue" charset="0"/>
              </a:rPr>
              <a:t>When the relation is equality, the decomposition is lossless-join. </a:t>
            </a:r>
          </a:p>
          <a:p>
            <a:pPr eaLnBrk="1" hangingPunct="1">
              <a:spcBef>
                <a:spcPts val="2000"/>
              </a:spcBef>
            </a:pPr>
            <a:r>
              <a:rPr lang="en-US" altLang="en-US" sz="1700" dirty="0">
                <a:ea typeface="Helvetica Neue" charset="0"/>
                <a:cs typeface="Helvetica Neue" charset="0"/>
              </a:rPr>
              <a:t>Definition easily extended to decomposition into 3 or more relations </a:t>
            </a:r>
          </a:p>
          <a:p>
            <a:pPr eaLnBrk="1" hangingPunct="1">
              <a:spcBef>
                <a:spcPts val="2000"/>
              </a:spcBef>
            </a:pPr>
            <a:r>
              <a:rPr lang="en-US" altLang="en-US" sz="1700" b="1" i="1" dirty="0">
                <a:ea typeface="Helvetica Neue" charset="0"/>
                <a:cs typeface="Helvetica Neue" charset="0"/>
              </a:rPr>
              <a:t>It is essential that all decompositions used to deal with </a:t>
            </a:r>
          </a:p>
          <a:p>
            <a:pPr marL="457200" indent="0" eaLnBrk="1" hangingPunct="1">
              <a:spcBef>
                <a:spcPts val="0"/>
              </a:spcBef>
              <a:buNone/>
            </a:pPr>
            <a:r>
              <a:rPr lang="en-US" altLang="en-US" sz="1700" b="1" i="1" dirty="0">
                <a:ea typeface="Helvetica Neue" charset="0"/>
                <a:cs typeface="Helvetica Neue" charset="0"/>
              </a:rPr>
              <a:t>redundancy be lossless! </a:t>
            </a:r>
          </a:p>
          <a:p>
            <a:pPr eaLnBrk="1" hangingPunct="1">
              <a:spcBef>
                <a:spcPts val="1000"/>
              </a:spcBef>
            </a:pPr>
            <a:r>
              <a:rPr lang="en-US" altLang="en-US" sz="1700" i="1" u="sng" dirty="0">
                <a:ea typeface="Helvetica Neue" charset="0"/>
                <a:cs typeface="Helvetica Neue" charset="0"/>
              </a:rPr>
              <a:t>(Avoids Problem #1) </a:t>
            </a:r>
          </a:p>
        </p:txBody>
      </p:sp>
      <p:pic>
        <p:nvPicPr>
          <p:cNvPr id="6" name="Picture 5" descr="Harry Potter looking cool casting a spell" title="Harry Pot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775" y="0"/>
            <a:ext cx="1800225" cy="120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676406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2400" dirty="0">
                <a:latin typeface="+mn-lt"/>
              </a:rPr>
              <a:t>More on Lossless Decomposition</a:t>
            </a:r>
          </a:p>
        </p:txBody>
      </p:sp>
      <p:sp>
        <p:nvSpPr>
          <p:cNvPr id="69634" name="Rectangle 5"/>
          <p:cNvSpPr>
            <a:spLocks noGrp="1" noChangeArrowheads="1"/>
          </p:cNvSpPr>
          <p:nvPr>
            <p:ph idx="1"/>
          </p:nvPr>
        </p:nvSpPr>
        <p:spPr>
          <a:xfrm>
            <a:off x="457200" y="1200151"/>
            <a:ext cx="7086600" cy="3394472"/>
          </a:xfrm>
        </p:spPr>
        <p:txBody>
          <a:bodyPr>
            <a:normAutofit fontScale="62500" lnSpcReduction="20000"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en-US" sz="2200" dirty="0">
                <a:ea typeface="Helvetica Neue" charset="0"/>
                <a:cs typeface="Helvetica Neue" charset="0"/>
              </a:rPr>
              <a:t>Theorem: The decomposition of R into X and Y is </a:t>
            </a:r>
            <a:r>
              <a:rPr lang="en-US" altLang="en-US" sz="2200" b="1" dirty="0">
                <a:ea typeface="Helvetica Neue" charset="0"/>
                <a:cs typeface="Helvetica Neue" charset="0"/>
              </a:rPr>
              <a:t>lossless with respect to F</a:t>
            </a:r>
            <a:r>
              <a:rPr lang="en-US" altLang="en-US" sz="2200" dirty="0">
                <a:ea typeface="Helvetica Neue" charset="0"/>
                <a:cs typeface="Helvetica Neue" charset="0"/>
              </a:rPr>
              <a:t> </a:t>
            </a:r>
            <a:r>
              <a:rPr lang="en-US" altLang="en-US" sz="2200" i="1" dirty="0">
                <a:ea typeface="Helvetica Neue" charset="0"/>
                <a:cs typeface="Helvetica Neue" charset="0"/>
              </a:rPr>
              <a:t>if and only if</a:t>
            </a:r>
            <a:r>
              <a:rPr lang="en-US" altLang="en-US" sz="2200" dirty="0">
                <a:ea typeface="Helvetica Neue" charset="0"/>
                <a:cs typeface="Helvetica Neue" charset="0"/>
              </a:rPr>
              <a:t>  the closure of F contains:</a:t>
            </a:r>
          </a:p>
          <a:p>
            <a:pPr marL="1828800" lvl="1" eaLnBrk="1" hangingPunct="1">
              <a:lnSpc>
                <a:spcPct val="120000"/>
              </a:lnSpc>
              <a:buFontTx/>
              <a:buNone/>
            </a:pPr>
            <a:r>
              <a:rPr lang="en-US" altLang="en-US" sz="2100" dirty="0">
                <a:latin typeface="Times New Roman" charset="0"/>
                <a:ea typeface="Times New Roman" charset="0"/>
                <a:cs typeface="Times New Roman" charset="0"/>
              </a:rPr>
              <a:t>X </a:t>
            </a:r>
            <a:r>
              <a:rPr lang="en-US" altLang="en-US" sz="2100" dirty="0">
                <a:latin typeface="Times New Roman" charset="0"/>
                <a:ea typeface="Times New Roman" charset="0"/>
                <a:cs typeface="Times New Roman" charset="0"/>
                <a:sym typeface="Symbol" charset="2"/>
              </a:rPr>
              <a:t>∩</a:t>
            </a:r>
            <a:r>
              <a:rPr lang="en-US" altLang="en-US" sz="2100" dirty="0">
                <a:latin typeface="Times New Roman" charset="0"/>
                <a:ea typeface="Times New Roman" charset="0"/>
                <a:cs typeface="Times New Roman" charset="0"/>
              </a:rPr>
              <a:t> Y </a:t>
            </a:r>
            <a:r>
              <a:rPr lang="is-IS" altLang="en-US" sz="2100" dirty="0">
                <a:latin typeface="Times New Roman" charset="0"/>
                <a:ea typeface="Times New Roman" charset="0"/>
                <a:cs typeface="Times New Roman" charset="0"/>
                <a:sym typeface="Symbol" charset="2"/>
              </a:rPr>
              <a:t>→</a:t>
            </a:r>
            <a:r>
              <a:rPr lang="en-US" altLang="en-US" sz="2100" dirty="0">
                <a:latin typeface="Times New Roman" charset="0"/>
                <a:ea typeface="Times New Roman" charset="0"/>
                <a:cs typeface="Times New Roman" charset="0"/>
              </a:rPr>
              <a:t> X,   </a:t>
            </a:r>
            <a:r>
              <a:rPr lang="en-US" altLang="en-US" sz="2100" b="1" dirty="0">
                <a:ea typeface="Helvetica Neue" charset="0"/>
                <a:cs typeface="Helvetica Neue" charset="0"/>
              </a:rPr>
              <a:t>or</a:t>
            </a:r>
          </a:p>
          <a:p>
            <a:pPr marL="1828800" lvl="1" eaLnBrk="1" hangingPunct="1">
              <a:lnSpc>
                <a:spcPct val="120000"/>
              </a:lnSpc>
              <a:buFontTx/>
              <a:buNone/>
            </a:pPr>
            <a:r>
              <a:rPr lang="en-US" altLang="en-US" sz="2100" dirty="0">
                <a:latin typeface="Times New Roman" charset="0"/>
                <a:ea typeface="Times New Roman" charset="0"/>
                <a:cs typeface="Times New Roman" charset="0"/>
              </a:rPr>
              <a:t>X </a:t>
            </a:r>
            <a:r>
              <a:rPr lang="en-US" altLang="en-US" sz="2100" dirty="0">
                <a:latin typeface="Times New Roman" charset="0"/>
                <a:ea typeface="Times New Roman" charset="0"/>
                <a:cs typeface="Times New Roman" charset="0"/>
                <a:sym typeface="Symbol" charset="2"/>
              </a:rPr>
              <a:t>∩</a:t>
            </a:r>
            <a:r>
              <a:rPr lang="en-US" altLang="en-US" sz="2100" dirty="0">
                <a:latin typeface="Times New Roman" charset="0"/>
                <a:ea typeface="Times New Roman" charset="0"/>
                <a:cs typeface="Times New Roman" charset="0"/>
              </a:rPr>
              <a:t> Y </a:t>
            </a:r>
            <a:r>
              <a:rPr lang="is-IS" altLang="en-US" sz="2100" dirty="0">
                <a:latin typeface="Times New Roman" charset="0"/>
                <a:ea typeface="Times New Roman" charset="0"/>
                <a:cs typeface="Times New Roman" charset="0"/>
                <a:sym typeface="Symbol" charset="2"/>
              </a:rPr>
              <a:t>→</a:t>
            </a:r>
            <a:r>
              <a:rPr lang="en-US" altLang="en-US" sz="2100" dirty="0">
                <a:latin typeface="Times New Roman" charset="0"/>
                <a:ea typeface="Times New Roman" charset="0"/>
                <a:cs typeface="Times New Roman" charset="0"/>
              </a:rPr>
              <a:t> Y</a:t>
            </a:r>
          </a:p>
          <a:p>
            <a:pPr marL="352425" lvl="1" indent="-339725">
              <a:lnSpc>
                <a:spcPct val="120000"/>
              </a:lnSpc>
              <a:spcBef>
                <a:spcPts val="2400"/>
              </a:spcBef>
            </a:pPr>
            <a:r>
              <a:rPr lang="en-US" altLang="en-US" sz="2100" dirty="0">
                <a:ea typeface="Helvetica Neue" charset="0"/>
                <a:cs typeface="Helvetica Neue" charset="0"/>
              </a:rPr>
              <a:t>From example: decomposing ABC into AB and BC is </a:t>
            </a:r>
            <a:r>
              <a:rPr lang="en-US" altLang="en-US" sz="2100" dirty="0" err="1">
                <a:ea typeface="Helvetica Neue" charset="0"/>
                <a:cs typeface="Helvetica Neue" charset="0"/>
              </a:rPr>
              <a:t>lossy</a:t>
            </a:r>
            <a:r>
              <a:rPr lang="en-US" altLang="en-US" sz="2100" dirty="0">
                <a:ea typeface="Helvetica Neue" charset="0"/>
                <a:cs typeface="Helvetica Neue" charset="0"/>
              </a:rPr>
              <a:t>, because their intersection </a:t>
            </a:r>
            <a:br>
              <a:rPr lang="en-US" altLang="en-US" sz="2100" dirty="0">
                <a:ea typeface="Helvetica Neue" charset="0"/>
                <a:cs typeface="Helvetica Neue" charset="0"/>
              </a:rPr>
            </a:br>
            <a:r>
              <a:rPr lang="en-US" altLang="en-US" sz="2100" dirty="0">
                <a:ea typeface="Helvetica Neue" charset="0"/>
                <a:cs typeface="Helvetica Neue" charset="0"/>
              </a:rPr>
              <a:t>(i.e., </a:t>
            </a:r>
            <a:r>
              <a:rPr lang="en-US" altLang="ja-JP" sz="2100" dirty="0">
                <a:ea typeface="Helvetica Neue" charset="0"/>
                <a:cs typeface="Helvetica Neue" charset="0"/>
              </a:rPr>
              <a:t>B) is not a key of either resulting relation. </a:t>
            </a:r>
            <a:endParaRPr lang="en-US" altLang="en-US" sz="1800" dirty="0">
              <a:ea typeface="Helvetica Neue" charset="0"/>
              <a:cs typeface="Helvetica Neue" charset="0"/>
            </a:endParaRPr>
          </a:p>
          <a:p>
            <a:pPr eaLnBrk="1" hangingPunct="1">
              <a:lnSpc>
                <a:spcPct val="120000"/>
              </a:lnSpc>
              <a:spcBef>
                <a:spcPts val="2000"/>
              </a:spcBef>
            </a:pPr>
            <a:r>
              <a:rPr lang="en-US" altLang="en-US" sz="2100" dirty="0">
                <a:ea typeface="Helvetica Neue" charset="0"/>
                <a:cs typeface="Helvetica Neue" charset="0"/>
              </a:rPr>
              <a:t>Useful corollary: If X </a:t>
            </a:r>
            <a:r>
              <a:rPr lang="is-IS" altLang="en-US" sz="2100" dirty="0">
                <a:ea typeface="Helvetica Neue" charset="0"/>
                <a:cs typeface="Helvetica Neue" charset="0"/>
                <a:sym typeface="Symbol" charset="2"/>
              </a:rPr>
              <a:t>→</a:t>
            </a:r>
            <a:r>
              <a:rPr lang="en-US" altLang="en-US" sz="2100" dirty="0">
                <a:ea typeface="Helvetica Neue" charset="0"/>
                <a:cs typeface="Helvetica Neue" charset="0"/>
                <a:sym typeface="Symbol" charset="2"/>
              </a:rPr>
              <a:t> Z holds over R and  X ∩ Z is empty then </a:t>
            </a:r>
            <a:br>
              <a:rPr lang="en-US" altLang="en-US" sz="2100" dirty="0">
                <a:ea typeface="Helvetica Neue" charset="0"/>
                <a:cs typeface="Helvetica Neue" charset="0"/>
                <a:sym typeface="Symbol" charset="2"/>
              </a:rPr>
            </a:br>
            <a:r>
              <a:rPr lang="en-US" altLang="en-US" sz="2100" dirty="0">
                <a:ea typeface="Helvetica Neue" charset="0"/>
                <a:cs typeface="Helvetica Neue" charset="0"/>
                <a:sym typeface="Symbol" charset="2"/>
              </a:rPr>
              <a:t>decomposition of R into R-Z and XZ is loss-less (b/c X is a </a:t>
            </a:r>
            <a:r>
              <a:rPr lang="en-US" altLang="en-US" sz="2100" dirty="0" err="1">
                <a:ea typeface="Helvetica Neue" charset="0"/>
                <a:cs typeface="Helvetica Neue" charset="0"/>
                <a:sym typeface="Symbol" charset="2"/>
              </a:rPr>
              <a:t>superkey</a:t>
            </a:r>
            <a:r>
              <a:rPr lang="en-US" altLang="en-US" sz="2100" dirty="0">
                <a:ea typeface="Helvetica Neue" charset="0"/>
                <a:cs typeface="Helvetica Neue" charset="0"/>
                <a:sym typeface="Symbol" charset="2"/>
              </a:rPr>
              <a:t> of XZ!)</a:t>
            </a:r>
          </a:p>
          <a:p>
            <a:pPr eaLnBrk="1" hangingPunct="1">
              <a:lnSpc>
                <a:spcPct val="120000"/>
              </a:lnSpc>
              <a:spcBef>
                <a:spcPts val="2000"/>
              </a:spcBef>
            </a:pPr>
            <a:r>
              <a:rPr lang="en-US" altLang="en-US" sz="2100" dirty="0">
                <a:ea typeface="Helvetica Neue" charset="0"/>
                <a:cs typeface="Helvetica Neue" charset="0"/>
                <a:sym typeface="Symbol" charset="2"/>
              </a:rPr>
              <a:t>Just like our BCNF example!</a:t>
            </a:r>
            <a:br>
              <a:rPr lang="en-US" altLang="en-US" sz="2100" dirty="0">
                <a:ea typeface="Helvetica Neue" charset="0"/>
                <a:cs typeface="Helvetica Neue" charset="0"/>
                <a:sym typeface="Symbol" charset="2"/>
              </a:rPr>
            </a:br>
            <a:r>
              <a:rPr lang="en-US" altLang="en-US" sz="2100" dirty="0">
                <a:ea typeface="Helvetica Neue" charset="0"/>
                <a:cs typeface="Helvetica Neue" charset="0"/>
                <a:sym typeface="Symbol" charset="2"/>
              </a:rPr>
              <a:t>    Where X is Rating, Z is Wage. </a:t>
            </a:r>
          </a:p>
          <a:p>
            <a:pPr marL="457200" indent="0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en-US" sz="2100" dirty="0">
                <a:ea typeface="Helvetica Neue" charset="0"/>
                <a:cs typeface="Helvetica Neue" charset="0"/>
                <a:sym typeface="Symbol" charset="2"/>
              </a:rPr>
              <a:t> Clearly Rating intersect Wage is empty.</a:t>
            </a:r>
          </a:p>
          <a:p>
            <a:pPr marL="457200" indent="0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en-US" sz="2100" dirty="0">
                <a:ea typeface="Helvetica Neue" charset="0"/>
                <a:cs typeface="Helvetica Neue" charset="0"/>
                <a:sym typeface="Symbol" charset="2"/>
              </a:rPr>
              <a:t> So decompose into SNLRH and RW and it is lossless.</a:t>
            </a:r>
          </a:p>
        </p:txBody>
      </p:sp>
      <p:pic>
        <p:nvPicPr>
          <p:cNvPr id="5" name="Picture 4" descr="Harry Potter looking cool casting a spell" title="Harry Pot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775" y="0"/>
            <a:ext cx="1800225" cy="120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792007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700" dirty="0">
                <a:latin typeface="+mn-lt"/>
              </a:rPr>
              <a:t>Lossless Decomposition? Yes, but</a:t>
            </a:r>
            <a:r>
              <a:rPr lang="mr-IN" altLang="en-US" sz="2700" dirty="0">
                <a:latin typeface="+mn-lt"/>
              </a:rPr>
              <a:t>…</a:t>
            </a:r>
            <a:endParaRPr lang="en-US" altLang="en-US" sz="27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54F09-4140-9641-87A8-07D2093B316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346" y="4530362"/>
            <a:ext cx="8668512" cy="3090672"/>
          </a:xfrm>
        </p:spPr>
        <p:txBody>
          <a:bodyPr>
            <a:normAutofit/>
          </a:bodyPr>
          <a:lstStyle/>
          <a:p>
            <a:r>
              <a:rPr lang="en-US" altLang="en-US" sz="1800" dirty="0"/>
              <a:t>But, now we can</a:t>
            </a:r>
            <a:r>
              <a:rPr lang="fr-FR" altLang="ja-JP" sz="1800" dirty="0"/>
              <a:t>'</a:t>
            </a:r>
            <a:r>
              <a:rPr lang="en-US" altLang="en-US" sz="1800" dirty="0"/>
              <a:t>t check </a:t>
            </a:r>
            <a:r>
              <a:rPr lang="en-US" altLang="en-US" sz="1800" dirty="0">
                <a:solidFill>
                  <a:schemeClr val="accent2"/>
                </a:solidFill>
              </a:rPr>
              <a:t>A</a:t>
            </a:r>
            <a:r>
              <a:rPr lang="en-US" altLang="en-US" sz="1800" b="1" dirty="0">
                <a:solidFill>
                  <a:schemeClr val="accent2"/>
                </a:solidFill>
              </a:rPr>
              <a:t> </a:t>
            </a:r>
            <a:r>
              <a:rPr lang="is-IS" altLang="en-US" sz="1800" b="1" dirty="0">
                <a:solidFill>
                  <a:srgbClr val="009900"/>
                </a:solidFill>
                <a:sym typeface="Symbol" charset="2"/>
              </a:rPr>
              <a:t>→</a:t>
            </a:r>
            <a:r>
              <a:rPr lang="en-US" altLang="en-US" sz="1800" b="1" dirty="0">
                <a:solidFill>
                  <a:schemeClr val="accent2"/>
                </a:solidFill>
              </a:rPr>
              <a:t> </a:t>
            </a:r>
            <a:r>
              <a:rPr lang="en-US" altLang="en-US" sz="1800" dirty="0">
                <a:solidFill>
                  <a:schemeClr val="accent2"/>
                </a:solidFill>
              </a:rPr>
              <a:t>B</a:t>
            </a:r>
            <a:r>
              <a:rPr lang="en-US" altLang="en-US" sz="1800" dirty="0"/>
              <a:t> without doing a join!</a:t>
            </a:r>
          </a:p>
        </p:txBody>
      </p:sp>
      <p:sp>
        <p:nvSpPr>
          <p:cNvPr id="71683" name="AutoShape 3" descr="Arrow pointing to the result of the decomposition of ABC Table 1" title="Arrow"/>
          <p:cNvSpPr>
            <a:spLocks noChangeArrowheads="1"/>
          </p:cNvSpPr>
          <p:nvPr/>
        </p:nvSpPr>
        <p:spPr bwMode="auto">
          <a:xfrm>
            <a:off x="2590800" y="1371600"/>
            <a:ext cx="333375" cy="447675"/>
          </a:xfrm>
          <a:prstGeom prst="rightArrow">
            <a:avLst>
              <a:gd name="adj1" fmla="val 50000"/>
              <a:gd name="adj2" fmla="val 50005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484848"/>
                </a:solidFill>
                <a:latin typeface="Helvetica Neue" charset="0"/>
                <a:ea typeface="Osaka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484848"/>
                </a:solidFill>
                <a:latin typeface="Helvetica Neue" charset="0"/>
                <a:ea typeface="Osaka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484848"/>
                </a:solidFill>
                <a:latin typeface="Helvetica Neue" charset="0"/>
                <a:ea typeface="Osaka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484848"/>
                </a:solidFill>
                <a:latin typeface="Helvetica Neue" charset="0"/>
                <a:ea typeface="Osaka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484848"/>
                </a:solidFill>
                <a:latin typeface="Helvetica Neue" charset="0"/>
                <a:ea typeface="Osaka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84848"/>
                </a:solidFill>
                <a:latin typeface="Helvetica Neue" charset="0"/>
                <a:ea typeface="Osaka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84848"/>
                </a:solidFill>
                <a:latin typeface="Helvetica Neue" charset="0"/>
                <a:ea typeface="Osaka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84848"/>
                </a:solidFill>
                <a:latin typeface="Helvetica Neue" charset="0"/>
                <a:ea typeface="Osaka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84848"/>
                </a:solidFill>
                <a:latin typeface="Helvetica Neue" charset="0"/>
                <a:ea typeface="Osaka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900">
              <a:solidFill>
                <a:srgbClr val="CF0E30"/>
              </a:solidFill>
              <a:latin typeface="+mn-lt"/>
            </a:endParaRPr>
          </a:p>
        </p:txBody>
      </p:sp>
      <p:sp>
        <p:nvSpPr>
          <p:cNvPr id="71684" name="Rectangle 4" descr="Table with columns A, B, and C&#10;Entries: (1, 2, 3), (4, 5, 6), (7, 2, 8))&#10;A implies B. C implies B" title="ABC Table 1"/>
          <p:cNvSpPr>
            <a:spLocks noChangeArrowheads="1"/>
          </p:cNvSpPr>
          <p:nvPr/>
        </p:nvSpPr>
        <p:spPr bwMode="auto">
          <a:xfrm>
            <a:off x="439340" y="2479391"/>
            <a:ext cx="143500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484848"/>
                </a:solidFill>
                <a:latin typeface="Helvetica Neue" charset="0"/>
                <a:ea typeface="Osaka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484848"/>
                </a:solidFill>
                <a:latin typeface="Helvetica Neue" charset="0"/>
                <a:ea typeface="Osaka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484848"/>
                </a:solidFill>
                <a:latin typeface="Helvetica Neue" charset="0"/>
                <a:ea typeface="Osaka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484848"/>
                </a:solidFill>
                <a:latin typeface="Helvetica Neue" charset="0"/>
                <a:ea typeface="Osaka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484848"/>
                </a:solidFill>
                <a:latin typeface="Helvetica Neue" charset="0"/>
                <a:ea typeface="Osaka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84848"/>
                </a:solidFill>
                <a:latin typeface="Helvetica Neue" charset="0"/>
                <a:ea typeface="Osaka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84848"/>
                </a:solidFill>
                <a:latin typeface="Helvetica Neue" charset="0"/>
                <a:ea typeface="Osaka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84848"/>
                </a:solidFill>
                <a:latin typeface="Helvetica Neue" charset="0"/>
                <a:ea typeface="Osaka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84848"/>
                </a:solidFill>
                <a:latin typeface="Helvetica Neue" charset="0"/>
                <a:ea typeface="Osaka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accent2"/>
                </a:solidFill>
                <a:latin typeface="+mn-lt"/>
              </a:rPr>
              <a:t>A</a:t>
            </a:r>
            <a:r>
              <a:rPr lang="en-US" altLang="en-US" sz="1800" b="1" dirty="0">
                <a:solidFill>
                  <a:schemeClr val="accent2"/>
                </a:solidFill>
                <a:latin typeface="+mn-lt"/>
              </a:rPr>
              <a:t> </a:t>
            </a:r>
            <a:r>
              <a:rPr lang="is-IS" altLang="en-US" sz="1800" b="1" dirty="0">
                <a:solidFill>
                  <a:srgbClr val="009900"/>
                </a:solidFill>
                <a:latin typeface="+mn-lt"/>
                <a:sym typeface="Symbol" charset="2"/>
              </a:rPr>
              <a:t>→</a:t>
            </a:r>
            <a:r>
              <a:rPr lang="en-US" altLang="en-US" sz="1800" b="1" dirty="0">
                <a:solidFill>
                  <a:schemeClr val="accent2"/>
                </a:solidFill>
                <a:latin typeface="+mn-lt"/>
              </a:rPr>
              <a:t> </a:t>
            </a:r>
            <a:r>
              <a:rPr lang="en-US" altLang="en-US" sz="1800" dirty="0">
                <a:solidFill>
                  <a:schemeClr val="accent2"/>
                </a:solidFill>
                <a:latin typeface="+mn-lt"/>
              </a:rPr>
              <a:t>B; C </a:t>
            </a:r>
            <a:r>
              <a:rPr lang="is-IS" altLang="en-US" sz="1800" b="1" dirty="0">
                <a:solidFill>
                  <a:srgbClr val="009900"/>
                </a:solidFill>
                <a:latin typeface="+mn-lt"/>
                <a:sym typeface="Symbol" charset="2"/>
              </a:rPr>
              <a:t>→</a:t>
            </a:r>
            <a:r>
              <a:rPr lang="en-US" altLang="en-US" sz="1800" b="1" dirty="0">
                <a:solidFill>
                  <a:srgbClr val="760001"/>
                </a:solidFill>
                <a:latin typeface="+mn-lt"/>
                <a:sym typeface="Symbol" charset="2"/>
              </a:rPr>
              <a:t> </a:t>
            </a:r>
            <a:r>
              <a:rPr lang="en-US" altLang="en-US" sz="1800" dirty="0">
                <a:solidFill>
                  <a:srgbClr val="760001"/>
                </a:solidFill>
                <a:latin typeface="+mn-lt"/>
                <a:sym typeface="Symbol" charset="2"/>
              </a:rPr>
              <a:t>B</a:t>
            </a:r>
          </a:p>
        </p:txBody>
      </p:sp>
      <p:sp>
        <p:nvSpPr>
          <p:cNvPr id="71687" name="Text Box 7" title="Equals Sign"/>
          <p:cNvSpPr txBox="1">
            <a:spLocks noChangeArrowheads="1"/>
          </p:cNvSpPr>
          <p:nvPr/>
        </p:nvSpPr>
        <p:spPr bwMode="auto">
          <a:xfrm>
            <a:off x="4114800" y="3200400"/>
            <a:ext cx="471604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484848"/>
                </a:solidFill>
                <a:latin typeface="Helvetica Neue" charset="0"/>
                <a:ea typeface="Osaka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484848"/>
                </a:solidFill>
                <a:latin typeface="Helvetica Neue" charset="0"/>
                <a:ea typeface="Osaka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484848"/>
                </a:solidFill>
                <a:latin typeface="Helvetica Neue" charset="0"/>
                <a:ea typeface="Osaka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484848"/>
                </a:solidFill>
                <a:latin typeface="Helvetica Neue" charset="0"/>
                <a:ea typeface="Osaka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484848"/>
                </a:solidFill>
                <a:latin typeface="Helvetica Neue" charset="0"/>
                <a:ea typeface="Osaka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84848"/>
                </a:solidFill>
                <a:latin typeface="Helvetica Neue" charset="0"/>
                <a:ea typeface="Osaka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84848"/>
                </a:solidFill>
                <a:latin typeface="Helvetica Neue" charset="0"/>
                <a:ea typeface="Osaka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84848"/>
                </a:solidFill>
                <a:latin typeface="Helvetica Neue" charset="0"/>
                <a:ea typeface="Osaka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484848"/>
                </a:solidFill>
                <a:latin typeface="Helvetica Neue" charset="0"/>
                <a:ea typeface="Osaka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500">
                <a:solidFill>
                  <a:schemeClr val="tx1"/>
                </a:solidFill>
                <a:latin typeface="+mn-lt"/>
              </a:rPr>
              <a:t>=</a:t>
            </a:r>
          </a:p>
        </p:txBody>
      </p:sp>
      <p:graphicFrame>
        <p:nvGraphicFramePr>
          <p:cNvPr id="71688" name="Object 3" descr="Table with columns A, B, and C&#10;Entries: (1, 2, 3), (4, 5, 6), (7, 2, 8))&#10;A implies B. C implies B" title="ABC Table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2331089"/>
              </p:ext>
            </p:extLst>
          </p:nvPr>
        </p:nvGraphicFramePr>
        <p:xfrm>
          <a:off x="453628" y="1050641"/>
          <a:ext cx="4232672" cy="13787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25" name="Document" r:id="rId4" imgW="5638800" imgH="1841500" progId="Word.Document.8">
                  <p:embed/>
                </p:oleObj>
              </mc:Choice>
              <mc:Fallback>
                <p:oleObj name="Document" r:id="rId4" imgW="5638800" imgH="1841500" progId="Word.Document.8">
                  <p:embed/>
                  <p:pic>
                    <p:nvPicPr>
                      <p:cNvPr id="7168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628" y="1050641"/>
                        <a:ext cx="4232672" cy="13787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" descr="2 Tables: First Table has columns A, C and entries (1, 3), (4, 6), (7, 8). Second table has columns B, C and entries (2, 3), (5, 6), (2, 8)" title="Result of Decomposition of ABC Table 1">
            <a:extLst>
              <a:ext uri="{FF2B5EF4-FFF2-40B4-BE49-F238E27FC236}">
                <a16:creationId xmlns:a16="http://schemas.microsoft.com/office/drawing/2014/main" id="{7154DA97-98A7-9B41-B801-1C0F35F25BE2}"/>
              </a:ext>
            </a:extLst>
          </p:cNvPr>
          <p:cNvGrpSpPr/>
          <p:nvPr/>
        </p:nvGrpSpPr>
        <p:grpSpPr>
          <a:xfrm>
            <a:off x="3321306" y="1100647"/>
            <a:ext cx="5822694" cy="1396705"/>
            <a:chOff x="3321306" y="1100647"/>
            <a:chExt cx="5822694" cy="1396705"/>
          </a:xfrm>
        </p:grpSpPr>
        <p:graphicFrame>
          <p:nvGraphicFramePr>
            <p:cNvPr id="71689" name="Object 4" descr="2 Tables: First Table has columns A, C and entries (1, 3), (4, 6), (7, 8). Second table has columns B, C and entries (2, 3), (5, 6), (2, 8)" title="Result of Decomposition of ABC Table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63976983"/>
                </p:ext>
              </p:extLst>
            </p:nvPr>
          </p:nvGraphicFramePr>
          <p:xfrm>
            <a:off x="3321306" y="1118608"/>
            <a:ext cx="4230291" cy="13787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26" name="Document" r:id="rId6" imgW="5638800" imgH="1841500" progId="Word.Document.8">
                    <p:embed/>
                  </p:oleObj>
                </mc:Choice>
                <mc:Fallback>
                  <p:oleObj name="Document" r:id="rId6" imgW="5638800" imgH="1841500" progId="Word.Document.8">
                    <p:embed/>
                    <p:pic>
                      <p:nvPicPr>
                        <p:cNvPr id="71689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1306" y="1118608"/>
                          <a:ext cx="4230291" cy="13787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690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05451921"/>
                </p:ext>
              </p:extLst>
            </p:nvPr>
          </p:nvGraphicFramePr>
          <p:xfrm>
            <a:off x="4913710" y="1100647"/>
            <a:ext cx="4230290" cy="13787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27" name="Document" r:id="rId8" imgW="5638800" imgH="1841500" progId="Word.Document.8">
                    <p:embed/>
                  </p:oleObj>
                </mc:Choice>
                <mc:Fallback>
                  <p:oleObj name="Document" r:id="rId8" imgW="5638800" imgH="1841500" progId="Word.Document.8">
                    <p:embed/>
                    <p:pic>
                      <p:nvPicPr>
                        <p:cNvPr id="7169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13710" y="1100647"/>
                          <a:ext cx="4230290" cy="13787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" name="Group 1" descr="Joinin the table tables that were the result of the decomposition of ABC Table 1" title="JOIN">
            <a:extLst>
              <a:ext uri="{FF2B5EF4-FFF2-40B4-BE49-F238E27FC236}">
                <a16:creationId xmlns:a16="http://schemas.microsoft.com/office/drawing/2014/main" id="{66AFB222-D692-4B47-B288-80B04078B52E}"/>
              </a:ext>
            </a:extLst>
          </p:cNvPr>
          <p:cNvGrpSpPr/>
          <p:nvPr/>
        </p:nvGrpSpPr>
        <p:grpSpPr>
          <a:xfrm>
            <a:off x="439340" y="3035482"/>
            <a:ext cx="4230291" cy="1378744"/>
            <a:chOff x="439340" y="3035482"/>
            <a:chExt cx="4230291" cy="1378744"/>
          </a:xfrm>
        </p:grpSpPr>
        <p:graphicFrame>
          <p:nvGraphicFramePr>
            <p:cNvPr id="71686" name="Object 2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970922276"/>
                </p:ext>
              </p:extLst>
            </p:nvPr>
          </p:nvGraphicFramePr>
          <p:xfrm>
            <a:off x="1752600" y="3371850"/>
            <a:ext cx="742950" cy="514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28" name="Equation" r:id="rId10" imgW="431800" imgH="266700" progId="Equation.3">
                    <p:embed/>
                  </p:oleObj>
                </mc:Choice>
                <mc:Fallback>
                  <p:oleObj name="Equation" r:id="rId10" imgW="431800" imgH="266700" progId="Equation.3">
                    <p:embed/>
                    <p:pic>
                      <p:nvPicPr>
                        <p:cNvPr id="71686" name="Object 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2600" y="3371850"/>
                          <a:ext cx="742950" cy="5143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691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74916285"/>
                </p:ext>
              </p:extLst>
            </p:nvPr>
          </p:nvGraphicFramePr>
          <p:xfrm>
            <a:off x="439340" y="3035482"/>
            <a:ext cx="4230291" cy="13787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29" name="Document" r:id="rId12" imgW="5638800" imgH="1841500" progId="Word.Document.8">
                    <p:embed/>
                  </p:oleObj>
                </mc:Choice>
                <mc:Fallback>
                  <p:oleObj name="Document" r:id="rId12" imgW="5638800" imgH="1841500" progId="Word.Document.8">
                    <p:embed/>
                    <p:pic>
                      <p:nvPicPr>
                        <p:cNvPr id="71691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340" y="3035482"/>
                          <a:ext cx="4230291" cy="13787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1693" name="Object 8" descr="Table with columns A, B, and C&#10;Entries: (1, 2, 3), (4, 5, 6), (7, 2, 8))&#10;A implies B. C implies B" title="Result of Join of Two Table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8388198"/>
              </p:ext>
            </p:extLst>
          </p:nvPr>
        </p:nvGraphicFramePr>
        <p:xfrm>
          <a:off x="4822966" y="2986700"/>
          <a:ext cx="4232672" cy="13787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30" name="Document" r:id="rId14" imgW="5638800" imgH="1841500" progId="Word.Document.8">
                  <p:embed/>
                </p:oleObj>
              </mc:Choice>
              <mc:Fallback>
                <p:oleObj name="Document" r:id="rId14" imgW="5638800" imgH="1841500" progId="Word.Document.8">
                  <p:embed/>
                  <p:pic>
                    <p:nvPicPr>
                      <p:cNvPr id="7169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2966" y="2986700"/>
                        <a:ext cx="4232672" cy="13787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6" title="JOIN">
            <a:extLst>
              <a:ext uri="{FF2B5EF4-FFF2-40B4-BE49-F238E27FC236}">
                <a16:creationId xmlns:a16="http://schemas.microsoft.com/office/drawing/2014/main" id="{D7CB3C6F-3FBA-A04E-A5C4-8569BF1103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2251211"/>
              </p:ext>
            </p:extLst>
          </p:nvPr>
        </p:nvGraphicFramePr>
        <p:xfrm>
          <a:off x="2659062" y="2841228"/>
          <a:ext cx="5640388" cy="183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31" name="Document" r:id="rId16" imgW="5638800" imgH="1841500" progId="Word.Document.8">
                  <p:embed/>
                </p:oleObj>
              </mc:Choice>
              <mc:Fallback>
                <p:oleObj name="Document" r:id="rId16" imgW="5638800" imgH="1841500" progId="Word.Document.8">
                  <p:embed/>
                  <p:pic>
                    <p:nvPicPr>
                      <p:cNvPr id="6554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9062" y="2841228"/>
                        <a:ext cx="5640388" cy="183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 descr="Harry Ron amd Hermione screaming in fear after seeing the three headed dog" title="Fear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08545" y="0"/>
            <a:ext cx="3231394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9173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79D4B-0CD7-9146-9B2D-EB647B427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3729F-3273-144A-A3F6-11A146C6A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873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2800" dirty="0"/>
              <a:t>Dependency Preserving Decomposition</a:t>
            </a:r>
          </a:p>
        </p:txBody>
      </p:sp>
      <p:sp>
        <p:nvSpPr>
          <p:cNvPr id="73730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b="1" dirty="0"/>
              <a:t>Dependency preserving decomposition </a:t>
            </a:r>
            <a:r>
              <a:rPr lang="en-US" altLang="en-US" dirty="0"/>
              <a:t>(Intuitive):</a:t>
            </a:r>
          </a:p>
          <a:p>
            <a:pPr lvl="1"/>
            <a:r>
              <a:rPr lang="en-US" altLang="en-US" dirty="0"/>
              <a:t>A decomposition where the following is true:</a:t>
            </a:r>
          </a:p>
          <a:p>
            <a:pPr lvl="2"/>
            <a:r>
              <a:rPr lang="en-US" altLang="en-US" dirty="0"/>
              <a:t>If 	R is decomposed into X, Y and Z, </a:t>
            </a:r>
          </a:p>
          <a:p>
            <a:pPr lvl="2"/>
            <a:r>
              <a:rPr lang="en-US" altLang="en-US" dirty="0"/>
              <a:t>and  	we enforce FDs individually on each of X, Y and Z, </a:t>
            </a:r>
          </a:p>
          <a:p>
            <a:pPr lvl="2"/>
            <a:r>
              <a:rPr lang="en-US" altLang="en-US" dirty="0"/>
              <a:t>then  	all FDs that held on R must also hold on result.  </a:t>
            </a:r>
          </a:p>
          <a:p>
            <a:pPr lvl="2"/>
            <a:r>
              <a:rPr lang="en-US" altLang="en-US" dirty="0"/>
              <a:t>(Avoids Problem #2 on our list.)</a:t>
            </a:r>
          </a:p>
          <a:p>
            <a:pPr>
              <a:spcBef>
                <a:spcPts val="2000"/>
              </a:spcBef>
            </a:pPr>
            <a:r>
              <a:rPr lang="en-US" altLang="en-US" b="1" dirty="0" err="1"/>
              <a:t>Defn</a:t>
            </a:r>
            <a:r>
              <a:rPr lang="en-US" altLang="en-US" b="1" dirty="0"/>
              <a:t>: Projection of set of FDs F </a:t>
            </a:r>
            <a:r>
              <a:rPr lang="en-US" altLang="en-US" dirty="0"/>
              <a:t>:   </a:t>
            </a:r>
          </a:p>
          <a:p>
            <a:pPr lvl="1">
              <a:spcBef>
                <a:spcPts val="0"/>
              </a:spcBef>
            </a:pPr>
            <a:r>
              <a:rPr lang="en-US" altLang="en-US" dirty="0"/>
              <a:t>If R is decomposed into X and Y the projection of F on X  (denoted F</a:t>
            </a:r>
            <a:r>
              <a:rPr lang="en-US" altLang="en-US" baseline="-25000" dirty="0"/>
              <a:t>X</a:t>
            </a:r>
            <a:r>
              <a:rPr lang="en-US" altLang="en-US" dirty="0"/>
              <a:t> ) </a:t>
            </a:r>
            <a:br>
              <a:rPr lang="en-US" altLang="en-US" dirty="0"/>
            </a:br>
            <a:r>
              <a:rPr lang="en-US" altLang="en-US" dirty="0"/>
              <a:t>is the set of FDs U </a:t>
            </a:r>
            <a:r>
              <a:rPr lang="is-IS" altLang="en-US" dirty="0">
                <a:sym typeface="Symbol" charset="2"/>
              </a:rPr>
              <a:t>→</a:t>
            </a:r>
            <a:r>
              <a:rPr lang="en-US" altLang="en-US" dirty="0"/>
              <a:t> V in F+ </a:t>
            </a:r>
            <a:br>
              <a:rPr lang="en-US" altLang="en-US" dirty="0"/>
            </a:br>
            <a:r>
              <a:rPr lang="en-US" altLang="en-US" dirty="0"/>
              <a:t>such that all of the attributes  U, V are in X.</a:t>
            </a:r>
          </a:p>
          <a:p>
            <a:pPr>
              <a:spcBef>
                <a:spcPts val="2000"/>
              </a:spcBef>
            </a:pPr>
            <a:r>
              <a:rPr lang="en-US" altLang="en-US" i="1" dirty="0"/>
              <a:t>F+:</a:t>
            </a:r>
            <a:r>
              <a:rPr lang="en-US" altLang="en-US" dirty="0"/>
              <a:t> </a:t>
            </a:r>
            <a:r>
              <a:rPr lang="en-US" altLang="en-US" i="1" dirty="0"/>
              <a:t>closure of F , not just F! </a:t>
            </a:r>
            <a:endParaRPr lang="en-US" altLang="en-US" dirty="0"/>
          </a:p>
          <a:p>
            <a:pPr>
              <a:spcBef>
                <a:spcPts val="2000"/>
              </a:spcBef>
            </a:pPr>
            <a:endParaRPr lang="en-US" altLang="en-US" dirty="0"/>
          </a:p>
          <a:p>
            <a:pPr>
              <a:spcBef>
                <a:spcPts val="2000"/>
              </a:spcBef>
            </a:pPr>
            <a:endParaRPr lang="en-US" altLang="en-US" dirty="0"/>
          </a:p>
          <a:p>
            <a:pPr>
              <a:spcBef>
                <a:spcPts val="2000"/>
              </a:spcBef>
            </a:pPr>
            <a:endParaRPr lang="en-US" altLang="en-US" dirty="0"/>
          </a:p>
        </p:txBody>
      </p:sp>
      <p:pic>
        <p:nvPicPr>
          <p:cNvPr id="2" name="Picture 1" descr="Hermione Granger looking feirce casting a spell" title="Hermione Grang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9308" y="-19050"/>
            <a:ext cx="1724691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284909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>
                <a:latin typeface="+mn-lt"/>
              </a:rPr>
              <a:t>Dependency Preserving Decompositions: Definition</a:t>
            </a:r>
          </a:p>
        </p:txBody>
      </p:sp>
      <p:sp>
        <p:nvSpPr>
          <p:cNvPr id="144389" name="Rectangle 5"/>
          <p:cNvSpPr>
            <a:spLocks noGrp="1" noChangeArrowheads="1"/>
          </p:cNvSpPr>
          <p:nvPr>
            <p:ph idx="1"/>
          </p:nvPr>
        </p:nvSpPr>
        <p:spPr>
          <a:xfrm>
            <a:off x="457200" y="1200151"/>
            <a:ext cx="6962108" cy="3394472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 err="1">
                <a:latin typeface="+mn-lt"/>
              </a:rPr>
              <a:t>Defn</a:t>
            </a:r>
            <a:r>
              <a:rPr lang="en-US" altLang="en-US" sz="2800" dirty="0">
                <a:latin typeface="+mn-lt"/>
              </a:rPr>
              <a:t>: Decomposition of R into X and Y is </a:t>
            </a:r>
            <a:br>
              <a:rPr lang="en-US" altLang="en-US" sz="2800" dirty="0">
                <a:latin typeface="+mn-lt"/>
              </a:rPr>
            </a:br>
            <a:r>
              <a:rPr lang="en-US" altLang="en-US" sz="2800" b="1" i="1" u="sng" dirty="0">
                <a:latin typeface="+mn-lt"/>
              </a:rPr>
              <a:t>dependency</a:t>
            </a:r>
            <a:r>
              <a:rPr lang="en-US" altLang="en-US" sz="2800" b="1" u="sng" dirty="0">
                <a:latin typeface="+mn-lt"/>
              </a:rPr>
              <a:t> </a:t>
            </a:r>
            <a:r>
              <a:rPr lang="en-US" altLang="en-US" sz="2800" b="1" i="1" u="sng" dirty="0">
                <a:latin typeface="+mn-lt"/>
              </a:rPr>
              <a:t>preserving</a:t>
            </a:r>
            <a:r>
              <a:rPr lang="en-US" altLang="en-US" sz="2800" b="1" dirty="0">
                <a:latin typeface="+mn-lt"/>
              </a:rPr>
              <a:t> if  (F</a:t>
            </a:r>
            <a:r>
              <a:rPr lang="en-US" altLang="en-US" sz="2800" b="1" baseline="-25000" dirty="0">
                <a:latin typeface="+mn-lt"/>
              </a:rPr>
              <a:t>X</a:t>
            </a:r>
            <a:r>
              <a:rPr lang="en-US" altLang="en-US" sz="2800" b="1" dirty="0">
                <a:latin typeface="+mn-lt"/>
              </a:rPr>
              <a:t> </a:t>
            </a:r>
            <a:r>
              <a:rPr lang="en-US" altLang="en-US" sz="2800" b="1" dirty="0">
                <a:latin typeface="+mn-lt"/>
                <a:sym typeface="Symbol" charset="2"/>
              </a:rPr>
              <a:t>∪</a:t>
            </a:r>
            <a:r>
              <a:rPr lang="en-US" altLang="en-US" sz="2800" b="1" dirty="0">
                <a:latin typeface="+mn-lt"/>
              </a:rPr>
              <a:t> F</a:t>
            </a:r>
            <a:r>
              <a:rPr lang="en-US" altLang="en-US" sz="2800" b="1" baseline="-25000" dirty="0">
                <a:latin typeface="+mn-lt"/>
              </a:rPr>
              <a:t>Y </a:t>
            </a:r>
            <a:r>
              <a:rPr lang="en-US" altLang="en-US" sz="2800" b="1" dirty="0">
                <a:latin typeface="+mn-lt"/>
              </a:rPr>
              <a:t>) </a:t>
            </a:r>
            <a:r>
              <a:rPr lang="en-US" altLang="en-US" sz="2800" b="1" baseline="30000" dirty="0">
                <a:latin typeface="+mn-lt"/>
              </a:rPr>
              <a:t>+  </a:t>
            </a:r>
            <a:r>
              <a:rPr lang="en-US" altLang="en-US" sz="2800" b="1" dirty="0">
                <a:latin typeface="+mn-lt"/>
              </a:rPr>
              <a:t>=  F</a:t>
            </a:r>
            <a:r>
              <a:rPr lang="en-US" altLang="en-US" sz="2800" b="1" baseline="30000" dirty="0">
                <a:latin typeface="+mn-lt"/>
              </a:rPr>
              <a:t> +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>
                <a:latin typeface="+mn-lt"/>
              </a:rPr>
              <a:t>i.e., if we consider only dependencies in the closure F</a:t>
            </a:r>
            <a:r>
              <a:rPr lang="en-US" altLang="en-US" sz="2000" baseline="30000" dirty="0">
                <a:latin typeface="+mn-lt"/>
              </a:rPr>
              <a:t> +</a:t>
            </a:r>
            <a:r>
              <a:rPr lang="en-US" altLang="en-US" sz="2000" dirty="0">
                <a:latin typeface="+mn-lt"/>
              </a:rPr>
              <a:t> that can be checked in X without considering Y, and in Y without considering X,  these imply all dependencies in F</a:t>
            </a:r>
            <a:r>
              <a:rPr lang="en-US" altLang="en-US" sz="2000" baseline="30000" dirty="0">
                <a:latin typeface="+mn-lt"/>
              </a:rPr>
              <a:t> +</a:t>
            </a:r>
            <a:r>
              <a:rPr lang="en-US" altLang="en-US" sz="2000" dirty="0">
                <a:latin typeface="+mn-lt"/>
              </a:rPr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>
                <a:latin typeface="+mn-lt"/>
              </a:rPr>
              <a:t>(just the formalism of our intuition above)</a:t>
            </a:r>
            <a:endParaRPr lang="en-US" altLang="en-US" sz="2800" dirty="0">
              <a:latin typeface="+mn-lt"/>
            </a:endParaRPr>
          </a:p>
        </p:txBody>
      </p:sp>
      <p:pic>
        <p:nvPicPr>
          <p:cNvPr id="4" name="Picture 3" descr="Hermione Granger looking feirce casting a spell" title="Hermione Grang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9308" y="-19050"/>
            <a:ext cx="1724691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4037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9" grpId="0" build="p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Preservation: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2000"/>
              </a:spcBef>
            </a:pPr>
            <a:r>
              <a:rPr lang="en-US" altLang="en-US" sz="1800" dirty="0"/>
              <a:t>Critical to consider F</a:t>
            </a:r>
            <a:r>
              <a:rPr lang="en-US" altLang="en-US" sz="1800" baseline="30000" dirty="0"/>
              <a:t> +</a:t>
            </a:r>
            <a:r>
              <a:rPr lang="en-US" altLang="en-US" sz="1800" dirty="0"/>
              <a:t> in the definition:</a:t>
            </a:r>
          </a:p>
          <a:p>
            <a:pPr lvl="1">
              <a:lnSpc>
                <a:spcPct val="90000"/>
              </a:lnSpc>
            </a:pPr>
            <a:r>
              <a:rPr lang="en-US" altLang="en-US" sz="1500" dirty="0"/>
              <a:t>ABC,  A </a:t>
            </a:r>
            <a:r>
              <a:rPr lang="is-IS" altLang="en-US" sz="1500" dirty="0">
                <a:sym typeface="Symbol" charset="2"/>
              </a:rPr>
              <a:t>→</a:t>
            </a:r>
            <a:r>
              <a:rPr lang="en-US" altLang="en-US" sz="1500" dirty="0"/>
              <a:t> B,  B </a:t>
            </a:r>
            <a:r>
              <a:rPr lang="is-IS" altLang="en-US" sz="1500" dirty="0">
                <a:sym typeface="Symbol" charset="2"/>
              </a:rPr>
              <a:t>→</a:t>
            </a:r>
            <a:r>
              <a:rPr lang="en-US" altLang="en-US" sz="1500" dirty="0"/>
              <a:t> C,  C </a:t>
            </a:r>
            <a:r>
              <a:rPr lang="is-IS" altLang="en-US" sz="1500" dirty="0">
                <a:sym typeface="Symbol" charset="2"/>
              </a:rPr>
              <a:t>→</a:t>
            </a:r>
            <a:r>
              <a:rPr lang="en-US" altLang="en-US" sz="1500" dirty="0"/>
              <a:t> A, decomposed into AB and BC.</a:t>
            </a:r>
          </a:p>
          <a:p>
            <a:pPr lvl="1">
              <a:lnSpc>
                <a:spcPct val="90000"/>
              </a:lnSpc>
            </a:pPr>
            <a:r>
              <a:rPr lang="en-US" altLang="en-US" sz="1500" dirty="0"/>
              <a:t>Is this dependency preserving?  Is  C </a:t>
            </a:r>
            <a:r>
              <a:rPr lang="is-IS" altLang="en-US" sz="1500" dirty="0">
                <a:sym typeface="Symbol" charset="2"/>
              </a:rPr>
              <a:t>→</a:t>
            </a:r>
            <a:r>
              <a:rPr lang="en-US" altLang="en-US" sz="1500" dirty="0"/>
              <a:t> A  preserved?????</a:t>
            </a:r>
            <a:endParaRPr lang="en-US" altLang="en-US" dirty="0"/>
          </a:p>
          <a:p>
            <a:pPr>
              <a:lnSpc>
                <a:spcPct val="90000"/>
              </a:lnSpc>
              <a:spcBef>
                <a:spcPts val="2000"/>
              </a:spcBef>
            </a:pPr>
            <a:r>
              <a:rPr lang="en-US" altLang="en-US" sz="1800" dirty="0"/>
              <a:t>Well</a:t>
            </a:r>
            <a:r>
              <a:rPr lang="mr-IN" altLang="en-US" sz="1800" dirty="0"/>
              <a:t>…</a:t>
            </a:r>
            <a:r>
              <a:rPr lang="en-US" altLang="en-US" sz="1800" dirty="0"/>
              <a:t> F</a:t>
            </a:r>
            <a:r>
              <a:rPr lang="en-US" altLang="en-US" sz="1800" baseline="30000" dirty="0"/>
              <a:t> +</a:t>
            </a:r>
            <a:r>
              <a:rPr lang="en-US" altLang="en-US" sz="1800" dirty="0"/>
              <a:t> contains F </a:t>
            </a:r>
            <a:r>
              <a:rPr lang="en-US" altLang="en-US" sz="1800" dirty="0">
                <a:sym typeface="Symbol" charset="2"/>
              </a:rPr>
              <a:t>∪ {</a:t>
            </a:r>
            <a:r>
              <a:rPr lang="en-US" altLang="en-US" sz="1800" dirty="0"/>
              <a:t>A </a:t>
            </a:r>
            <a:r>
              <a:rPr lang="is-IS" altLang="en-US" sz="1800" dirty="0">
                <a:sym typeface="Symbol" charset="2"/>
              </a:rPr>
              <a:t>→</a:t>
            </a:r>
            <a:r>
              <a:rPr lang="en-US" altLang="en-US" sz="1800" dirty="0"/>
              <a:t> C, B </a:t>
            </a:r>
            <a:r>
              <a:rPr lang="is-IS" altLang="en-US" sz="1800" dirty="0">
                <a:sym typeface="Symbol" charset="2"/>
              </a:rPr>
              <a:t>→</a:t>
            </a:r>
            <a:r>
              <a:rPr lang="en-US" altLang="en-US" sz="1800" dirty="0"/>
              <a:t> A, C </a:t>
            </a:r>
            <a:r>
              <a:rPr lang="is-IS" altLang="en-US" sz="1800" dirty="0">
                <a:sym typeface="Symbol" charset="2"/>
              </a:rPr>
              <a:t>→</a:t>
            </a:r>
            <a:r>
              <a:rPr lang="en-US" altLang="en-US" sz="1800" dirty="0"/>
              <a:t> B}, so…</a:t>
            </a:r>
          </a:p>
          <a:p>
            <a:pPr lvl="1">
              <a:lnSpc>
                <a:spcPct val="90000"/>
              </a:lnSpc>
            </a:pPr>
            <a:r>
              <a:rPr lang="en-US" altLang="en-US" sz="1500" dirty="0"/>
              <a:t>F</a:t>
            </a:r>
            <a:r>
              <a:rPr lang="en-US" altLang="en-US" sz="1500" baseline="-25000" dirty="0"/>
              <a:t>AB</a:t>
            </a:r>
            <a:r>
              <a:rPr lang="en-US" altLang="en-US" sz="1500" dirty="0"/>
              <a:t> ⊇ {A </a:t>
            </a:r>
            <a:r>
              <a:rPr lang="is-IS" altLang="en-US" sz="1500" dirty="0">
                <a:sym typeface="Symbol" charset="2"/>
              </a:rPr>
              <a:t>→</a:t>
            </a:r>
            <a:r>
              <a:rPr lang="en-US" altLang="en-US" sz="1500" dirty="0"/>
              <a:t>B, B </a:t>
            </a:r>
            <a:r>
              <a:rPr lang="is-IS" altLang="en-US" sz="1500" dirty="0">
                <a:sym typeface="Symbol" charset="2"/>
              </a:rPr>
              <a:t>→</a:t>
            </a:r>
            <a:r>
              <a:rPr lang="en-US" altLang="en-US" sz="1500" dirty="0"/>
              <a:t> A}; F</a:t>
            </a:r>
            <a:r>
              <a:rPr lang="en-US" altLang="en-US" sz="1500" baseline="-25000" dirty="0"/>
              <a:t>BC</a:t>
            </a:r>
            <a:r>
              <a:rPr lang="en-US" altLang="en-US" sz="1500" dirty="0"/>
              <a:t> ⊇ {B </a:t>
            </a:r>
            <a:r>
              <a:rPr lang="is-IS" altLang="en-US" sz="1500" dirty="0">
                <a:sym typeface="Symbol" charset="2"/>
              </a:rPr>
              <a:t>→</a:t>
            </a:r>
            <a:r>
              <a:rPr lang="en-US" altLang="en-US" sz="1500" dirty="0"/>
              <a:t> C, C </a:t>
            </a:r>
            <a:r>
              <a:rPr lang="is-IS" altLang="en-US" sz="1500" dirty="0">
                <a:sym typeface="Symbol" charset="2"/>
              </a:rPr>
              <a:t>→</a:t>
            </a:r>
            <a:r>
              <a:rPr lang="en-US" altLang="en-US" sz="1500" dirty="0"/>
              <a:t> B}</a:t>
            </a:r>
          </a:p>
          <a:p>
            <a:pPr lvl="1">
              <a:lnSpc>
                <a:spcPct val="90000"/>
              </a:lnSpc>
            </a:pPr>
            <a:r>
              <a:rPr lang="en-US" altLang="en-US" sz="1500" dirty="0"/>
              <a:t>So, (F</a:t>
            </a:r>
            <a:r>
              <a:rPr lang="en-US" altLang="en-US" sz="1500" baseline="-25000" dirty="0"/>
              <a:t>AB</a:t>
            </a:r>
            <a:r>
              <a:rPr lang="en-US" altLang="en-US" sz="1500" dirty="0"/>
              <a:t> </a:t>
            </a:r>
            <a:r>
              <a:rPr lang="en-US" altLang="en-US" sz="1500" dirty="0">
                <a:sym typeface="Symbol" charset="2"/>
              </a:rPr>
              <a:t>∪ </a:t>
            </a:r>
            <a:r>
              <a:rPr lang="en-US" altLang="en-US" sz="1500" dirty="0"/>
              <a:t>F</a:t>
            </a:r>
            <a:r>
              <a:rPr lang="en-US" altLang="en-US" sz="1500" baseline="-25000" dirty="0"/>
              <a:t>BC</a:t>
            </a:r>
            <a:r>
              <a:rPr lang="en-US" altLang="en-US" sz="1500" dirty="0"/>
              <a:t>)</a:t>
            </a:r>
            <a:r>
              <a:rPr lang="en-US" altLang="en-US" sz="1500" baseline="30000" dirty="0"/>
              <a:t>+</a:t>
            </a:r>
            <a:r>
              <a:rPr lang="en-US" altLang="en-US" sz="1500" dirty="0"/>
              <a:t> ⊇ {B </a:t>
            </a:r>
            <a:r>
              <a:rPr lang="is-IS" altLang="en-US" sz="1500" dirty="0">
                <a:sym typeface="Symbol" charset="2"/>
              </a:rPr>
              <a:t>→</a:t>
            </a:r>
            <a:r>
              <a:rPr lang="en-US" altLang="en-US" sz="1500" dirty="0"/>
              <a:t> A, C </a:t>
            </a:r>
            <a:r>
              <a:rPr lang="is-IS" altLang="en-US" sz="1500" dirty="0">
                <a:sym typeface="Symbol" charset="2"/>
              </a:rPr>
              <a:t>→</a:t>
            </a:r>
            <a:r>
              <a:rPr lang="en-US" altLang="en-US" sz="1500" dirty="0"/>
              <a:t> B}</a:t>
            </a:r>
          </a:p>
          <a:p>
            <a:pPr lvl="1">
              <a:lnSpc>
                <a:spcPct val="90000"/>
              </a:lnSpc>
            </a:pPr>
            <a:r>
              <a:rPr lang="en-US" altLang="en-US" sz="1500" dirty="0"/>
              <a:t>Hence (F</a:t>
            </a:r>
            <a:r>
              <a:rPr lang="en-US" altLang="en-US" sz="1500" baseline="-25000" dirty="0"/>
              <a:t>AB</a:t>
            </a:r>
            <a:r>
              <a:rPr lang="en-US" altLang="en-US" sz="1500" dirty="0"/>
              <a:t> </a:t>
            </a:r>
            <a:r>
              <a:rPr lang="en-US" altLang="en-US" sz="1500" dirty="0">
                <a:sym typeface="Symbol" charset="2"/>
              </a:rPr>
              <a:t>∪ </a:t>
            </a:r>
            <a:r>
              <a:rPr lang="en-US" altLang="en-US" sz="1500" dirty="0"/>
              <a:t>F</a:t>
            </a:r>
            <a:r>
              <a:rPr lang="en-US" altLang="en-US" sz="1500" baseline="-25000" dirty="0"/>
              <a:t>BC</a:t>
            </a:r>
            <a:r>
              <a:rPr lang="en-US" altLang="en-US" sz="1500" dirty="0"/>
              <a:t>)</a:t>
            </a:r>
            <a:r>
              <a:rPr lang="en-US" altLang="en-US" sz="1500" baseline="30000" dirty="0"/>
              <a:t>+ </a:t>
            </a:r>
            <a:r>
              <a:rPr lang="en-US" altLang="en-US" sz="1500" dirty="0"/>
              <a:t>⊇ {C </a:t>
            </a:r>
            <a:r>
              <a:rPr lang="is-IS" altLang="en-US" sz="1500" dirty="0">
                <a:sym typeface="Symbol" charset="2"/>
              </a:rPr>
              <a:t>→</a:t>
            </a:r>
            <a:r>
              <a:rPr lang="en-US" altLang="en-US" sz="1500" dirty="0"/>
              <a:t> A}</a:t>
            </a:r>
          </a:p>
        </p:txBody>
      </p:sp>
      <p:sp>
        <p:nvSpPr>
          <p:cNvPr id="5" name="Rectangle 4" descr="Hermione Granger looking feirce casting a spell (F_x U F_y)+ = F+"/>
          <p:cNvSpPr/>
          <p:nvPr/>
        </p:nvSpPr>
        <p:spPr>
          <a:xfrm>
            <a:off x="7419308" y="1906657"/>
            <a:ext cx="1714380" cy="34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en-US" b="1" dirty="0"/>
              <a:t>(F</a:t>
            </a:r>
            <a:r>
              <a:rPr lang="en-US" altLang="en-US" b="1" baseline="-25000" dirty="0"/>
              <a:t>X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charset="2"/>
              </a:rPr>
              <a:t>∪</a:t>
            </a:r>
            <a:r>
              <a:rPr lang="en-US" altLang="en-US" b="1" dirty="0"/>
              <a:t> F</a:t>
            </a:r>
            <a:r>
              <a:rPr lang="en-US" altLang="en-US" b="1" baseline="-25000" dirty="0"/>
              <a:t>Y </a:t>
            </a:r>
            <a:r>
              <a:rPr lang="en-US" altLang="en-US" b="1" dirty="0"/>
              <a:t>) </a:t>
            </a:r>
            <a:r>
              <a:rPr lang="en-US" altLang="en-US" b="1" baseline="30000" dirty="0"/>
              <a:t>+  </a:t>
            </a:r>
            <a:r>
              <a:rPr lang="en-US" altLang="en-US" b="1" dirty="0"/>
              <a:t>=  F</a:t>
            </a:r>
            <a:r>
              <a:rPr lang="en-US" altLang="en-US" b="1" baseline="30000" dirty="0"/>
              <a:t> +</a:t>
            </a:r>
          </a:p>
        </p:txBody>
      </p:sp>
      <p:pic>
        <p:nvPicPr>
          <p:cNvPr id="6" name="Picture 5" descr="Hermione Granger looking feirce casting a spell (F_x U F_y)+ = F+" title="Hermione Grang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9308" y="-19050"/>
            <a:ext cx="1724691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7192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>
                <a:latin typeface="Helvetica Neue Regular" charset="0"/>
              </a:rPr>
              <a:t>Decomposition into BCNF</a:t>
            </a:r>
          </a:p>
        </p:txBody>
      </p:sp>
      <p:sp>
        <p:nvSpPr>
          <p:cNvPr id="77826" name="Rectangle 5"/>
          <p:cNvSpPr>
            <a:spLocks noGrp="1" noChangeArrowheads="1"/>
          </p:cNvSpPr>
          <p:nvPr>
            <p:ph idx="1"/>
          </p:nvPr>
        </p:nvSpPr>
        <p:spPr>
          <a:xfrm>
            <a:off x="152400" y="1276350"/>
            <a:ext cx="8229600" cy="3394472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sz="1500" dirty="0">
                <a:latin typeface="Helvetica Neue Regular" charset="0"/>
              </a:rPr>
              <a:t>Consider relation R with FDs F.</a:t>
            </a:r>
          </a:p>
          <a:p>
            <a:pPr eaLnBrk="1" hangingPunct="1"/>
            <a:r>
              <a:rPr lang="en-US" altLang="en-US" sz="1500" dirty="0">
                <a:latin typeface="Helvetica Neue Regular" charset="0"/>
              </a:rPr>
              <a:t>  If X </a:t>
            </a:r>
            <a:r>
              <a:rPr lang="is-IS" altLang="en-US" sz="1500" dirty="0">
                <a:latin typeface="Helvetica Neue Regular" charset="0"/>
                <a:sym typeface="Symbol" charset="2"/>
              </a:rPr>
              <a:t>→</a:t>
            </a:r>
            <a:r>
              <a:rPr lang="en-US" altLang="en-US" sz="1500" dirty="0">
                <a:latin typeface="Helvetica Neue Regular" charset="0"/>
              </a:rPr>
              <a:t> Y violates BCNF, decompose R into  R - Y and XY </a:t>
            </a:r>
            <a:r>
              <a:rPr lang="en-US" altLang="en-US" sz="1300" dirty="0">
                <a:latin typeface="Helvetica Neue Regular" charset="0"/>
              </a:rPr>
              <a:t>(guaranteed to be loss-less).</a:t>
            </a:r>
          </a:p>
          <a:p>
            <a:pPr lvl="1" eaLnBrk="1" hangingPunct="1"/>
            <a:r>
              <a:rPr lang="en-US" altLang="en-US" sz="1500" dirty="0">
                <a:latin typeface="Helvetica Neue Regular" charset="0"/>
              </a:rPr>
              <a:t>Repeated application of this idea will give us a collection of relations that are in BCNF</a:t>
            </a:r>
          </a:p>
          <a:p>
            <a:pPr lvl="1" eaLnBrk="1" hangingPunct="1"/>
            <a:r>
              <a:rPr lang="en-US" altLang="en-US" sz="1500" dirty="0">
                <a:latin typeface="Helvetica Neue Regular" charset="0"/>
              </a:rPr>
              <a:t>Lossless join decomposition, and guaranteed to terminate.</a:t>
            </a:r>
          </a:p>
          <a:p>
            <a:pPr eaLnBrk="1" hangingPunct="1">
              <a:spcBef>
                <a:spcPts val="2000"/>
              </a:spcBef>
            </a:pPr>
            <a:r>
              <a:rPr lang="en-US" altLang="en-US" sz="1500" dirty="0">
                <a:latin typeface="Helvetica Neue Regular" charset="0"/>
              </a:rPr>
              <a:t>e.g.,  CSJDPQV,  key C,  JP </a:t>
            </a:r>
            <a:r>
              <a:rPr lang="is-IS" altLang="en-US" sz="1500" dirty="0">
                <a:latin typeface="Helvetica Neue Regular" charset="0"/>
                <a:sym typeface="Symbol" charset="2"/>
              </a:rPr>
              <a:t>→</a:t>
            </a:r>
            <a:r>
              <a:rPr lang="en-US" altLang="en-US" sz="1500" dirty="0">
                <a:latin typeface="Helvetica Neue Regular" charset="0"/>
              </a:rPr>
              <a:t> C,  SD </a:t>
            </a:r>
            <a:r>
              <a:rPr lang="is-IS" altLang="en-US" sz="1500" dirty="0">
                <a:latin typeface="Helvetica Neue Regular" charset="0"/>
                <a:sym typeface="Symbol" charset="2"/>
              </a:rPr>
              <a:t>→</a:t>
            </a:r>
            <a:r>
              <a:rPr lang="en-US" altLang="en-US" sz="1500" dirty="0">
                <a:latin typeface="Helvetica Neue Regular" charset="0"/>
              </a:rPr>
              <a:t> P,   J </a:t>
            </a:r>
            <a:r>
              <a:rPr lang="is-IS" altLang="en-US" sz="1500" dirty="0">
                <a:latin typeface="Helvetica Neue Regular" charset="0"/>
                <a:sym typeface="Symbol" charset="2"/>
              </a:rPr>
              <a:t>→</a:t>
            </a:r>
            <a:r>
              <a:rPr lang="en-US" altLang="en-US" sz="1500" dirty="0">
                <a:latin typeface="Helvetica Neue Regular" charset="0"/>
              </a:rPr>
              <a:t> S</a:t>
            </a:r>
            <a:endParaRPr lang="en-US" altLang="en-US" sz="1800" dirty="0">
              <a:latin typeface="Helvetica Neue Regular" charset="0"/>
            </a:endParaRPr>
          </a:p>
          <a:p>
            <a:pPr lvl="1" eaLnBrk="1" hangingPunct="1"/>
            <a:r>
              <a:rPr lang="en-US" altLang="en-US" sz="1500" dirty="0">
                <a:latin typeface="Helvetica Neue Regular" charset="0"/>
              </a:rPr>
              <a:t> {</a:t>
            </a:r>
            <a:r>
              <a:rPr lang="en-US" altLang="en-US" sz="1500" dirty="0" err="1">
                <a:latin typeface="Helvetica Neue Regular" charset="0"/>
              </a:rPr>
              <a:t>contractid</a:t>
            </a:r>
            <a:r>
              <a:rPr lang="en-US" altLang="en-US" sz="1500" dirty="0">
                <a:latin typeface="Helvetica Neue Regular" charset="0"/>
              </a:rPr>
              <a:t>, </a:t>
            </a:r>
            <a:r>
              <a:rPr lang="en-US" altLang="en-US" sz="1500" dirty="0" err="1">
                <a:latin typeface="Helvetica Neue Regular" charset="0"/>
              </a:rPr>
              <a:t>supplierid</a:t>
            </a:r>
            <a:r>
              <a:rPr lang="en-US" altLang="en-US" sz="1500" dirty="0">
                <a:latin typeface="Helvetica Neue Regular" charset="0"/>
              </a:rPr>
              <a:t>, </a:t>
            </a:r>
            <a:r>
              <a:rPr lang="en-US" altLang="en-US" sz="1500" dirty="0" err="1">
                <a:latin typeface="Helvetica Neue Regular" charset="0"/>
              </a:rPr>
              <a:t>projectid,deptid,partid</a:t>
            </a:r>
            <a:r>
              <a:rPr lang="en-US" altLang="en-US" sz="1500" dirty="0">
                <a:latin typeface="Helvetica Neue Regular" charset="0"/>
              </a:rPr>
              <a:t>, qty, value}</a:t>
            </a:r>
          </a:p>
          <a:p>
            <a:pPr lvl="1" eaLnBrk="1" hangingPunct="1"/>
            <a:r>
              <a:rPr lang="en-US" altLang="en-US" sz="1500" dirty="0">
                <a:latin typeface="Helvetica Neue Regular" charset="0"/>
              </a:rPr>
              <a:t>To deal with SD </a:t>
            </a:r>
            <a:r>
              <a:rPr lang="is-IS" altLang="en-US" sz="1500" dirty="0">
                <a:latin typeface="Helvetica Neue Regular" charset="0"/>
                <a:sym typeface="Symbol" charset="2"/>
              </a:rPr>
              <a:t>→</a:t>
            </a:r>
            <a:r>
              <a:rPr lang="en-US" altLang="en-US" sz="1500" dirty="0">
                <a:latin typeface="Helvetica Neue Regular" charset="0"/>
              </a:rPr>
              <a:t> P, decompose into  SDP, CSJDQV.</a:t>
            </a:r>
          </a:p>
          <a:p>
            <a:pPr lvl="1" eaLnBrk="1" hangingPunct="1"/>
            <a:r>
              <a:rPr lang="en-US" altLang="en-US" sz="1500" dirty="0">
                <a:latin typeface="Helvetica Neue Regular" charset="0"/>
              </a:rPr>
              <a:t>To deal with J </a:t>
            </a:r>
            <a:r>
              <a:rPr lang="is-IS" altLang="en-US" sz="1500" dirty="0">
                <a:latin typeface="Helvetica Neue Regular" charset="0"/>
                <a:sym typeface="Symbol" charset="2"/>
              </a:rPr>
              <a:t>→</a:t>
            </a:r>
            <a:r>
              <a:rPr lang="en-US" altLang="en-US" sz="1500" dirty="0">
                <a:latin typeface="Helvetica Neue Regular" charset="0"/>
              </a:rPr>
              <a:t> S, decompose CSJDQV into JS and CJDQV</a:t>
            </a:r>
          </a:p>
          <a:p>
            <a:pPr lvl="1" eaLnBrk="1" hangingPunct="1"/>
            <a:r>
              <a:rPr lang="en-US" altLang="en-US" sz="1500" dirty="0">
                <a:latin typeface="Helvetica Neue Regular" charset="0"/>
              </a:rPr>
              <a:t>So we end up with: SDP, JS, and CJDQV</a:t>
            </a:r>
          </a:p>
          <a:p>
            <a:pPr eaLnBrk="1" hangingPunct="1">
              <a:spcBef>
                <a:spcPts val="2400"/>
              </a:spcBef>
            </a:pPr>
            <a:r>
              <a:rPr lang="en-US" altLang="en-US" sz="1500" dirty="0">
                <a:latin typeface="Helvetica Neue Regular" charset="0"/>
              </a:rPr>
              <a:t>Note: several dependencies may cause violation of BCNF.  </a:t>
            </a:r>
          </a:p>
          <a:p>
            <a:pPr eaLnBrk="1" hangingPunct="1">
              <a:spcBef>
                <a:spcPts val="400"/>
              </a:spcBef>
            </a:pPr>
            <a:r>
              <a:rPr lang="en-US" altLang="en-US" sz="1500" dirty="0">
                <a:latin typeface="Helvetica Neue Regular" charset="0"/>
              </a:rPr>
              <a:t>The order in which we “deal with” them could lead to very different</a:t>
            </a:r>
          </a:p>
          <a:p>
            <a:pPr marL="571500" indent="0" eaLnBrk="1" hangingPunct="1">
              <a:spcBef>
                <a:spcPts val="400"/>
              </a:spcBef>
              <a:buNone/>
            </a:pPr>
            <a:r>
              <a:rPr lang="en-US" altLang="en-US" sz="1500" dirty="0">
                <a:latin typeface="Helvetica Neue Regular" charset="0"/>
              </a:rPr>
              <a:t> sets of relations!</a:t>
            </a:r>
          </a:p>
        </p:txBody>
      </p:sp>
      <p:pic>
        <p:nvPicPr>
          <p:cNvPr id="4" name="Picture 3" descr="Harry potter looking cool and casting a spell" title="Harry Pot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775" y="0"/>
            <a:ext cx="1800225" cy="120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070018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>
                <a:ea typeface="Helvetica Neue" charset="0"/>
                <a:cs typeface="Helvetica Neue" charset="0"/>
              </a:rPr>
              <a:t>BCNF and Dependency Preservation</a:t>
            </a:r>
          </a:p>
        </p:txBody>
      </p:sp>
      <p:sp>
        <p:nvSpPr>
          <p:cNvPr id="79874" name="Rectangle 5"/>
          <p:cNvSpPr>
            <a:spLocks noGrp="1" noChangeArrowheads="1"/>
          </p:cNvSpPr>
          <p:nvPr>
            <p:ph idx="1"/>
          </p:nvPr>
        </p:nvSpPr>
        <p:spPr>
          <a:xfrm>
            <a:off x="96078" y="1200150"/>
            <a:ext cx="7210011" cy="39433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800" dirty="0">
                <a:ea typeface="Helvetica Neue" charset="0"/>
                <a:cs typeface="Helvetica Neue" charset="0"/>
              </a:rPr>
              <a:t>In general, </a:t>
            </a:r>
            <a:r>
              <a:rPr lang="en-US" altLang="en-US" sz="1800" b="1" dirty="0">
                <a:ea typeface="Helvetica Neue" charset="0"/>
                <a:cs typeface="Helvetica Neue" charset="0"/>
              </a:rPr>
              <a:t>there may not be a dependency preserving decomposition into BCNF.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800" dirty="0">
                <a:ea typeface="Helvetica Neue" charset="0"/>
                <a:cs typeface="Helvetica Neue" charset="0"/>
              </a:rPr>
              <a:t>E.g</a:t>
            </a:r>
            <a:r>
              <a:rPr lang="en-US" altLang="en-US" sz="1500" dirty="0">
                <a:ea typeface="Helvetica Neue" charset="0"/>
                <a:cs typeface="Helvetica Neue" charset="0"/>
              </a:rPr>
              <a:t>.,  CSZ,  CS </a:t>
            </a:r>
            <a:r>
              <a:rPr lang="is-IS" altLang="en-US" sz="1500" dirty="0">
                <a:ea typeface="Helvetica Neue" charset="0"/>
                <a:cs typeface="Helvetica Neue" charset="0"/>
                <a:sym typeface="Symbol" charset="2"/>
              </a:rPr>
              <a:t>→</a:t>
            </a:r>
            <a:r>
              <a:rPr lang="en-US" altLang="en-US" sz="1500" dirty="0">
                <a:ea typeface="Helvetica Neue" charset="0"/>
                <a:cs typeface="Helvetica Neue" charset="0"/>
              </a:rPr>
              <a:t> Z,  Z </a:t>
            </a:r>
            <a:r>
              <a:rPr lang="is-IS" altLang="en-US" sz="1500" dirty="0">
                <a:ea typeface="Helvetica Neue" charset="0"/>
                <a:cs typeface="Helvetica Neue" charset="0"/>
                <a:sym typeface="Symbol" charset="2"/>
              </a:rPr>
              <a:t>→</a:t>
            </a:r>
            <a:r>
              <a:rPr lang="en-US" altLang="en-US" sz="1500" dirty="0">
                <a:ea typeface="Helvetica Neue" charset="0"/>
                <a:cs typeface="Helvetica Neue" charset="0"/>
              </a:rPr>
              <a:t> C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500" dirty="0">
                <a:ea typeface="Helvetica Neue" charset="0"/>
                <a:cs typeface="Helvetica Neue" charset="0"/>
              </a:rPr>
              <a:t>Can</a:t>
            </a:r>
            <a:r>
              <a:rPr lang="fr-FR" altLang="ja-JP" sz="1500" dirty="0">
                <a:ea typeface="Helvetica Neue" charset="0"/>
                <a:cs typeface="Helvetica Neue" charset="0"/>
              </a:rPr>
              <a:t>'</a:t>
            </a:r>
            <a:r>
              <a:rPr lang="en-US" altLang="en-US" sz="1500" dirty="0">
                <a:ea typeface="Helvetica Neue" charset="0"/>
                <a:cs typeface="Helvetica Neue" charset="0"/>
              </a:rPr>
              <a:t>t decompose while preserving 1st FD;  not in BCNF.</a:t>
            </a:r>
          </a:p>
          <a:p>
            <a:pPr eaLnBrk="1" hangingPunct="1">
              <a:lnSpc>
                <a:spcPct val="90000"/>
              </a:lnSpc>
              <a:spcBef>
                <a:spcPts val="2000"/>
              </a:spcBef>
            </a:pPr>
            <a:r>
              <a:rPr lang="en-US" altLang="en-US" sz="1800" dirty="0">
                <a:ea typeface="Helvetica Neue" charset="0"/>
                <a:cs typeface="Helvetica Neue" charset="0"/>
              </a:rPr>
              <a:t>Similarly,  decomposition of CSJDPQV into </a:t>
            </a:r>
            <a:br>
              <a:rPr lang="en-US" altLang="en-US" sz="1800" dirty="0">
                <a:ea typeface="Helvetica Neue" charset="0"/>
                <a:cs typeface="Helvetica Neue" charset="0"/>
              </a:rPr>
            </a:br>
            <a:r>
              <a:rPr lang="en-US" altLang="en-US" sz="1800" dirty="0">
                <a:ea typeface="Helvetica Neue" charset="0"/>
                <a:cs typeface="Helvetica Neue" charset="0"/>
              </a:rPr>
              <a:t>SDP, JS and CJDQV is not dependency preserving </a:t>
            </a:r>
            <a:br>
              <a:rPr lang="en-US" altLang="en-US" sz="1800" dirty="0">
                <a:ea typeface="Helvetica Neue" charset="0"/>
                <a:cs typeface="Helvetica Neue" charset="0"/>
              </a:rPr>
            </a:br>
            <a:r>
              <a:rPr lang="en-US" altLang="en-US" sz="1800" dirty="0">
                <a:ea typeface="Helvetica Neue" charset="0"/>
                <a:cs typeface="Helvetica Neue" charset="0"/>
              </a:rPr>
              <a:t>(</a:t>
            </a:r>
            <a:r>
              <a:rPr lang="en-US" altLang="en-US" sz="1800" dirty="0" err="1">
                <a:ea typeface="Helvetica Neue" charset="0"/>
                <a:cs typeface="Helvetica Neue" charset="0"/>
              </a:rPr>
              <a:t>w.r.t</a:t>
            </a:r>
            <a:r>
              <a:rPr lang="en-US" altLang="en-US" sz="1800" dirty="0">
                <a:ea typeface="Helvetica Neue" charset="0"/>
                <a:cs typeface="Helvetica Neue" charset="0"/>
              </a:rPr>
              <a:t>. the FDs  JP </a:t>
            </a:r>
            <a:r>
              <a:rPr lang="is-IS" altLang="en-US" sz="1800" dirty="0">
                <a:ea typeface="Helvetica Neue" charset="0"/>
                <a:cs typeface="Helvetica Neue" charset="0"/>
                <a:sym typeface="Symbol" charset="2"/>
              </a:rPr>
              <a:t>→</a:t>
            </a:r>
            <a:r>
              <a:rPr lang="en-US" altLang="en-US" sz="1800" dirty="0">
                <a:ea typeface="Helvetica Neue" charset="0"/>
                <a:cs typeface="Helvetica Neue" charset="0"/>
              </a:rPr>
              <a:t> C,  SD </a:t>
            </a:r>
            <a:r>
              <a:rPr lang="is-IS" altLang="en-US" sz="1800" dirty="0">
                <a:ea typeface="Helvetica Neue" charset="0"/>
                <a:cs typeface="Helvetica Neue" charset="0"/>
                <a:sym typeface="Symbol" charset="2"/>
              </a:rPr>
              <a:t>→</a:t>
            </a:r>
            <a:r>
              <a:rPr lang="en-US" altLang="en-US" sz="1800" dirty="0">
                <a:ea typeface="Helvetica Neue" charset="0"/>
                <a:cs typeface="Helvetica Neue" charset="0"/>
              </a:rPr>
              <a:t> P  and  J </a:t>
            </a:r>
            <a:r>
              <a:rPr lang="is-IS" altLang="en-US" sz="1800" dirty="0">
                <a:ea typeface="Helvetica Neue" charset="0"/>
                <a:cs typeface="Helvetica Neue" charset="0"/>
                <a:sym typeface="Symbol" charset="2"/>
              </a:rPr>
              <a:t>→</a:t>
            </a:r>
            <a:r>
              <a:rPr lang="en-US" altLang="en-US" sz="1800" dirty="0">
                <a:ea typeface="Helvetica Neue" charset="0"/>
                <a:cs typeface="Helvetica Neue" charset="0"/>
              </a:rPr>
              <a:t> S).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500" dirty="0">
                <a:ea typeface="Helvetica Neue" charset="0"/>
                <a:cs typeface="Helvetica Neue" charset="0"/>
              </a:rPr>
              <a:t>However, it is a lossless join decomposition.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500" dirty="0">
                <a:ea typeface="Helvetica Neue" charset="0"/>
                <a:cs typeface="Helvetica Neue" charset="0"/>
              </a:rPr>
              <a:t>In this case, adding JPC to the collection of relations gives us a dependency preserving decomposition.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350" dirty="0">
                <a:ea typeface="Helvetica Neue" charset="0"/>
                <a:cs typeface="Helvetica Neue" charset="0"/>
              </a:rPr>
              <a:t>but JPC tuples are stored only for checking the </a:t>
            </a:r>
            <a:r>
              <a:rPr lang="en-US" altLang="en-US" sz="1350" dirty="0" err="1">
                <a:ea typeface="Helvetica Neue" charset="0"/>
                <a:cs typeface="Helvetica Neue" charset="0"/>
              </a:rPr>
              <a:t>f.d</a:t>
            </a:r>
            <a:r>
              <a:rPr lang="en-US" altLang="en-US" sz="1350" dirty="0">
                <a:ea typeface="Helvetica Neue" charset="0"/>
                <a:cs typeface="Helvetica Neue" charset="0"/>
              </a:rPr>
              <a:t>.  (</a:t>
            </a:r>
            <a:r>
              <a:rPr lang="en-US" altLang="en-US" sz="1350" i="1" dirty="0">
                <a:ea typeface="Helvetica Neue" charset="0"/>
                <a:cs typeface="Helvetica Neue" charset="0"/>
              </a:rPr>
              <a:t>Redundancy!</a:t>
            </a:r>
            <a:r>
              <a:rPr lang="en-US" altLang="en-US" sz="1350" dirty="0">
                <a:ea typeface="Helvetica Neue" charset="0"/>
                <a:cs typeface="Helvetica Neue" charset="0"/>
              </a:rPr>
              <a:t>)</a:t>
            </a:r>
          </a:p>
        </p:txBody>
      </p:sp>
      <p:pic>
        <p:nvPicPr>
          <p:cNvPr id="4" name="Picture 3" descr="Harry potter looking cool and casting a spell" title="Harry Pot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775" y="0"/>
            <a:ext cx="1800225" cy="1200150"/>
          </a:xfrm>
          <a:prstGeom prst="rect">
            <a:avLst/>
          </a:prstGeom>
        </p:spPr>
      </p:pic>
      <p:pic>
        <p:nvPicPr>
          <p:cNvPr id="5" name="Picture 4" descr="Hermione Granger with an X across her face" title="Hermione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4790" b="27188"/>
          <a:stretch/>
        </p:blipFill>
        <p:spPr>
          <a:xfrm>
            <a:off x="7363653" y="1587104"/>
            <a:ext cx="1800225" cy="1352550"/>
          </a:xfrm>
          <a:prstGeom prst="rect">
            <a:avLst/>
          </a:prstGeom>
        </p:spPr>
      </p:pic>
      <p:sp>
        <p:nvSpPr>
          <p:cNvPr id="2" name="&quot;No&quot; Symbol 1" descr="Hermione Granger with an X across her face" title="Hermione"/>
          <p:cNvSpPr/>
          <p:nvPr/>
        </p:nvSpPr>
        <p:spPr>
          <a:xfrm>
            <a:off x="7449792" y="1425179"/>
            <a:ext cx="1676400" cy="1676400"/>
          </a:xfrm>
          <a:prstGeom prst="noSmoking">
            <a:avLst>
              <a:gd name="adj" fmla="val 1241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3754249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A0E97-C3F6-5649-9CA1-4D86C662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B5BF0-190A-B74C-A9AF-A6E262DDE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489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>
                <a:latin typeface="Helvetica Neue" charset="0"/>
                <a:ea typeface="Helvetica Neue" charset="0"/>
                <a:cs typeface="Helvetica Neue" charset="0"/>
              </a:rPr>
              <a:t>Third Normal Form  (3NF)</a:t>
            </a:r>
          </a:p>
        </p:txBody>
      </p:sp>
      <p:sp>
        <p:nvSpPr>
          <p:cNvPr id="81922" name="Rectangle 5"/>
          <p:cNvSpPr>
            <a:spLocks noGrp="1" noChangeArrowheads="1"/>
          </p:cNvSpPr>
          <p:nvPr>
            <p:ph sz="quarter" idx="13"/>
          </p:nvPr>
        </p:nvSpPr>
        <p:spPr>
          <a:xfrm>
            <a:off x="228600" y="1536192"/>
            <a:ext cx="8668512" cy="3607308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1800" dirty="0" err="1">
                <a:ea typeface="Helvetica Neue" charset="0"/>
                <a:cs typeface="Helvetica Neue" charset="0"/>
              </a:rPr>
              <a:t>Reln</a:t>
            </a:r>
            <a:r>
              <a:rPr lang="en-US" altLang="en-US" sz="1800" dirty="0">
                <a:ea typeface="Helvetica Neue" charset="0"/>
                <a:cs typeface="Helvetica Neue" charset="0"/>
              </a:rPr>
              <a:t> R with FDs </a:t>
            </a:r>
            <a:r>
              <a:rPr lang="en-US" altLang="en-US" sz="1800" i="1" dirty="0">
                <a:ea typeface="Helvetica Neue" charset="0"/>
                <a:cs typeface="Helvetica Neue" charset="0"/>
              </a:rPr>
              <a:t>F</a:t>
            </a:r>
            <a:r>
              <a:rPr lang="en-US" altLang="en-US" sz="1800" dirty="0">
                <a:ea typeface="Helvetica Neue" charset="0"/>
                <a:cs typeface="Helvetica Neue" charset="0"/>
              </a:rPr>
              <a:t>  is in </a:t>
            </a:r>
            <a:r>
              <a:rPr lang="en-US" altLang="en-US" sz="1800" b="1" dirty="0">
                <a:ea typeface="Helvetica Neue" charset="0"/>
                <a:cs typeface="Helvetica Neue" charset="0"/>
              </a:rPr>
              <a:t>3NF</a:t>
            </a:r>
            <a:r>
              <a:rPr lang="en-US" altLang="en-US" sz="1800" dirty="0">
                <a:ea typeface="Helvetica Neue" charset="0"/>
                <a:cs typeface="Helvetica Neue" charset="0"/>
              </a:rPr>
              <a:t> if, for all </a:t>
            </a:r>
            <a:r>
              <a:rPr lang="en-US" altLang="en-US" sz="1800" b="1" dirty="0">
                <a:ea typeface="Helvetica Neue" charset="0"/>
                <a:cs typeface="Helvetica Neue" charset="0"/>
              </a:rPr>
              <a:t>X </a:t>
            </a:r>
            <a:r>
              <a:rPr lang="is-IS" altLang="en-US" sz="1800" b="1" dirty="0">
                <a:ea typeface="Helvetica Neue" charset="0"/>
                <a:cs typeface="Helvetica Neue" charset="0"/>
                <a:sym typeface="Symbol" charset="2"/>
              </a:rPr>
              <a:t>→</a:t>
            </a:r>
            <a:r>
              <a:rPr lang="en-US" altLang="en-US" sz="1800" b="1" dirty="0">
                <a:ea typeface="Helvetica Neue" charset="0"/>
                <a:cs typeface="Helvetica Neue" charset="0"/>
              </a:rPr>
              <a:t> A  </a:t>
            </a:r>
            <a:r>
              <a:rPr lang="en-US" altLang="en-US" sz="1800" dirty="0">
                <a:ea typeface="Helvetica Neue" charset="0"/>
                <a:cs typeface="Helvetica Neue" charset="0"/>
              </a:rPr>
              <a:t>in F</a:t>
            </a:r>
            <a:r>
              <a:rPr lang="en-US" altLang="en-US" sz="1800" baseline="30000" dirty="0">
                <a:ea typeface="Helvetica Neue" charset="0"/>
                <a:cs typeface="Helvetica Neue" charset="0"/>
              </a:rPr>
              <a:t>+</a:t>
            </a:r>
            <a:endParaRPr lang="en-US" altLang="en-US" sz="1800" dirty="0">
              <a:ea typeface="Helvetica Neue" charset="0"/>
              <a:cs typeface="Helvetica Neue" charset="0"/>
            </a:endParaRPr>
          </a:p>
          <a:p>
            <a:pPr lvl="1" eaLnBrk="1" hangingPunct="1">
              <a:buFontTx/>
              <a:buNone/>
            </a:pPr>
            <a:r>
              <a:rPr lang="en-US" altLang="en-US" sz="1500" dirty="0">
                <a:ea typeface="Helvetica Neue" charset="0"/>
                <a:cs typeface="Helvetica Neue" charset="0"/>
              </a:rPr>
              <a:t>A </a:t>
            </a:r>
            <a:r>
              <a:rPr lang="en-US" altLang="en-US" sz="1500" dirty="0">
                <a:ea typeface="Helvetica Neue" charset="0"/>
                <a:cs typeface="Helvetica Neue" charset="0"/>
                <a:sym typeface="Symbol" charset="2"/>
              </a:rPr>
              <a:t>∈</a:t>
            </a:r>
            <a:r>
              <a:rPr lang="en-US" altLang="en-US" sz="1500" dirty="0">
                <a:ea typeface="Helvetica Neue" charset="0"/>
                <a:cs typeface="Helvetica Neue" charset="0"/>
              </a:rPr>
              <a:t> X   (called a </a:t>
            </a:r>
            <a:r>
              <a:rPr lang="en-US" altLang="en-US" sz="1500" i="1" dirty="0">
                <a:ea typeface="Helvetica Neue" charset="0"/>
                <a:cs typeface="Helvetica Neue" charset="0"/>
              </a:rPr>
              <a:t>trivial</a:t>
            </a:r>
            <a:r>
              <a:rPr lang="en-US" altLang="en-US" sz="1500" dirty="0">
                <a:ea typeface="Helvetica Neue" charset="0"/>
                <a:cs typeface="Helvetica Neue" charset="0"/>
              </a:rPr>
              <a:t> FD), or</a:t>
            </a:r>
          </a:p>
          <a:p>
            <a:pPr lvl="1" eaLnBrk="1" hangingPunct="1">
              <a:buFontTx/>
              <a:buNone/>
            </a:pPr>
            <a:r>
              <a:rPr lang="en-US" altLang="en-US" sz="1500" b="1" dirty="0">
                <a:ea typeface="Helvetica Neue" charset="0"/>
                <a:cs typeface="Helvetica Neue" charset="0"/>
              </a:rPr>
              <a:t>X</a:t>
            </a:r>
            <a:r>
              <a:rPr lang="en-US" altLang="en-US" sz="1500" dirty="0">
                <a:ea typeface="Helvetica Neue" charset="0"/>
                <a:cs typeface="Helvetica Neue" charset="0"/>
              </a:rPr>
              <a:t> is a </a:t>
            </a:r>
            <a:r>
              <a:rPr lang="en-US" altLang="en-US" sz="1500" dirty="0" err="1">
                <a:ea typeface="Helvetica Neue" charset="0"/>
                <a:cs typeface="Helvetica Neue" charset="0"/>
              </a:rPr>
              <a:t>superkey</a:t>
            </a:r>
            <a:r>
              <a:rPr lang="en-US" altLang="en-US" sz="1500" dirty="0">
                <a:ea typeface="Helvetica Neue" charset="0"/>
                <a:cs typeface="Helvetica Neue" charset="0"/>
              </a:rPr>
              <a:t> of R, </a:t>
            </a:r>
            <a:r>
              <a:rPr lang="en-US" altLang="en-US" sz="1500" b="1" dirty="0">
                <a:ea typeface="Helvetica Neue" charset="0"/>
                <a:cs typeface="Helvetica Neue" charset="0"/>
              </a:rPr>
              <a:t>or</a:t>
            </a:r>
          </a:p>
          <a:p>
            <a:pPr lvl="1" eaLnBrk="1" hangingPunct="1">
              <a:buFontTx/>
              <a:buNone/>
            </a:pPr>
            <a:r>
              <a:rPr lang="en-US" altLang="en-US" sz="1500" b="1" dirty="0">
                <a:ea typeface="Helvetica Neue" charset="0"/>
                <a:cs typeface="Helvetica Neue" charset="0"/>
              </a:rPr>
              <a:t>A</a:t>
            </a:r>
            <a:r>
              <a:rPr lang="en-US" altLang="en-US" sz="1500" dirty="0">
                <a:ea typeface="Helvetica Neue" charset="0"/>
                <a:cs typeface="Helvetica Neue" charset="0"/>
              </a:rPr>
              <a:t> is part of some </a:t>
            </a:r>
            <a:r>
              <a:rPr lang="en-US" altLang="en-US" sz="1500" b="1" dirty="0">
                <a:ea typeface="Helvetica Neue" charset="0"/>
                <a:cs typeface="Helvetica Neue" charset="0"/>
              </a:rPr>
              <a:t>candidate</a:t>
            </a:r>
            <a:r>
              <a:rPr lang="en-US" altLang="en-US" sz="1500" dirty="0">
                <a:ea typeface="Helvetica Neue" charset="0"/>
                <a:cs typeface="Helvetica Neue" charset="0"/>
              </a:rPr>
              <a:t> key (not </a:t>
            </a:r>
            <a:r>
              <a:rPr lang="en-US" altLang="en-US" sz="1500" dirty="0" err="1">
                <a:ea typeface="Helvetica Neue" charset="0"/>
                <a:cs typeface="Helvetica Neue" charset="0"/>
              </a:rPr>
              <a:t>superkey</a:t>
            </a:r>
            <a:r>
              <a:rPr lang="en-US" altLang="en-US" sz="1500" dirty="0">
                <a:ea typeface="Helvetica Neue" charset="0"/>
                <a:cs typeface="Helvetica Neue" charset="0"/>
              </a:rPr>
              <a:t>!) for R.      </a:t>
            </a:r>
            <a:br>
              <a:rPr lang="en-US" altLang="en-US" sz="1500" dirty="0">
                <a:ea typeface="Helvetica Neue" charset="0"/>
                <a:cs typeface="Helvetica Neue" charset="0"/>
              </a:rPr>
            </a:br>
            <a:r>
              <a:rPr lang="en-US" altLang="en-US" sz="1500" dirty="0">
                <a:ea typeface="Helvetica Neue" charset="0"/>
                <a:cs typeface="Helvetica Neue" charset="0"/>
              </a:rPr>
              <a:t> (sometimes stated as </a:t>
            </a:r>
            <a:r>
              <a:rPr lang="ja-JP" altLang="en-US" sz="1500" dirty="0">
                <a:ea typeface="Helvetica Neue" charset="0"/>
                <a:cs typeface="Helvetica Neue" charset="0"/>
              </a:rPr>
              <a:t>“</a:t>
            </a:r>
            <a:r>
              <a:rPr lang="en-US" altLang="ja-JP" sz="1500" dirty="0">
                <a:ea typeface="Helvetica Neue" charset="0"/>
                <a:cs typeface="Helvetica Neue" charset="0"/>
              </a:rPr>
              <a:t>A is </a:t>
            </a:r>
            <a:r>
              <a:rPr lang="en-US" altLang="ja-JP" sz="1500" b="1" i="1" dirty="0">
                <a:ea typeface="Helvetica Neue" charset="0"/>
                <a:cs typeface="Helvetica Neue" charset="0"/>
              </a:rPr>
              <a:t>prime</a:t>
            </a:r>
            <a:r>
              <a:rPr lang="ja-JP" altLang="en-US" sz="1500" i="1">
                <a:ea typeface="Helvetica Neue" charset="0"/>
                <a:cs typeface="Helvetica Neue" charset="0"/>
              </a:rPr>
              <a:t>”</a:t>
            </a:r>
            <a:r>
              <a:rPr lang="en-US" altLang="ja-JP" sz="1500" dirty="0">
                <a:ea typeface="Helvetica Neue" charset="0"/>
                <a:cs typeface="Helvetica Neue" charset="0"/>
              </a:rPr>
              <a:t>)</a:t>
            </a:r>
            <a:endParaRPr lang="en-US" altLang="en-US" sz="1800" dirty="0">
              <a:ea typeface="Helvetica Neue" charset="0"/>
              <a:cs typeface="Helvetica Neue" charset="0"/>
            </a:endParaRPr>
          </a:p>
          <a:p>
            <a:pPr eaLnBrk="1" hangingPunct="1">
              <a:spcBef>
                <a:spcPts val="3000"/>
              </a:spcBef>
            </a:pPr>
            <a:r>
              <a:rPr lang="en-US" altLang="en-US" sz="1800" dirty="0">
                <a:ea typeface="Helvetica Neue" charset="0"/>
                <a:cs typeface="Helvetica Neue" charset="0"/>
              </a:rPr>
              <a:t>If R is in BCNF, obviously in 3NF.</a:t>
            </a:r>
          </a:p>
          <a:p>
            <a:pPr eaLnBrk="1" hangingPunct="1"/>
            <a:r>
              <a:rPr lang="en-US" altLang="en-US" sz="1800" dirty="0">
                <a:ea typeface="Helvetica Neue" charset="0"/>
                <a:cs typeface="Helvetica Neue" charset="0"/>
              </a:rPr>
              <a:t>If R is in 3NF, some redundancy is possible. </a:t>
            </a:r>
          </a:p>
          <a:p>
            <a:pPr eaLnBrk="1" hangingPunct="1"/>
            <a:r>
              <a:rPr lang="en-US" altLang="en-US" sz="1800" dirty="0">
                <a:ea typeface="Helvetica Neue" charset="0"/>
                <a:cs typeface="Helvetica Neue" charset="0"/>
              </a:rPr>
              <a:t> It is a compromise, used when BCNF not achievable</a:t>
            </a:r>
          </a:p>
          <a:p>
            <a:pPr lvl="1"/>
            <a:r>
              <a:rPr lang="en-US" altLang="en-US" sz="1600" dirty="0">
                <a:ea typeface="Helvetica Neue" charset="0"/>
                <a:cs typeface="Helvetica Neue" charset="0"/>
              </a:rPr>
              <a:t> (e.g., no “good” decomp, or performance considerations).</a:t>
            </a:r>
          </a:p>
          <a:p>
            <a:pPr lvl="1" eaLnBrk="1" hangingPunct="1"/>
            <a:r>
              <a:rPr lang="en-US" altLang="en-US" sz="1500" i="1" dirty="0">
                <a:ea typeface="Helvetica Neue" charset="0"/>
                <a:cs typeface="Helvetica Neue" charset="0"/>
              </a:rPr>
              <a:t>Lossless-join, dependency-preserving decomposition of R into a </a:t>
            </a:r>
          </a:p>
          <a:p>
            <a:pPr marL="740664" lvl="1" indent="0" eaLnBrk="1" hangingPunct="1">
              <a:spcBef>
                <a:spcPts val="0"/>
              </a:spcBef>
              <a:buNone/>
            </a:pPr>
            <a:r>
              <a:rPr lang="en-US" altLang="en-US" sz="1500" i="1" dirty="0">
                <a:ea typeface="Helvetica Neue" charset="0"/>
                <a:cs typeface="Helvetica Neue" charset="0"/>
              </a:rPr>
              <a:t>collection of 3NF relations always possible.</a:t>
            </a:r>
          </a:p>
        </p:txBody>
      </p:sp>
    </p:spTree>
    <p:extLst>
      <p:ext uri="{BB962C8B-B14F-4D97-AF65-F5344CB8AC3E}">
        <p14:creationId xmlns:p14="http://schemas.microsoft.com/office/powerpoint/2010/main" val="554827663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Upshot on Third Normal 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in the following slides, but the bottom line is:</a:t>
            </a:r>
          </a:p>
          <a:p>
            <a:pPr lvl="1"/>
            <a:r>
              <a:rPr lang="en-US" dirty="0"/>
              <a:t>3NF doesn’t really make any sense.</a:t>
            </a:r>
          </a:p>
        </p:txBody>
      </p:sp>
      <p:pic>
        <p:nvPicPr>
          <p:cNvPr id="4" name="Picture 3" descr="Replies to man: &quot;Because you will hear about it anyhow on your job? Nonsense, yes, but Lossless-Join &amp; Dependency Preserving nonse! Because old people liked to say 'the key, the whole key and nothing but the key, so help me Codd...No, seriously&quot;" title="Women with speech bub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293" y="3199099"/>
            <a:ext cx="636694" cy="1941916"/>
          </a:xfrm>
          <a:prstGeom prst="rect">
            <a:avLst/>
          </a:prstGeom>
        </p:spPr>
      </p:pic>
      <p:pic>
        <p:nvPicPr>
          <p:cNvPr id="5" name="Picture 4" descr="Says: &quot;So why learn it?&quot;" title="Man with speech bub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96" y="3427699"/>
            <a:ext cx="809399" cy="1557212"/>
          </a:xfrm>
          <a:prstGeom prst="parallelogram">
            <a:avLst>
              <a:gd name="adj" fmla="val 5994"/>
            </a:avLst>
          </a:prstGeom>
        </p:spPr>
      </p:pic>
      <p:sp>
        <p:nvSpPr>
          <p:cNvPr id="6" name="Rounded Rectangular Callout 5" descr="Says: &quot;So why learn it?&quot;" title="Man with speech bubble"/>
          <p:cNvSpPr/>
          <p:nvPr/>
        </p:nvSpPr>
        <p:spPr bwMode="auto">
          <a:xfrm>
            <a:off x="1116991" y="2404913"/>
            <a:ext cx="1381397" cy="794186"/>
          </a:xfrm>
          <a:prstGeom prst="wedgeRoundRectCallout">
            <a:avLst>
              <a:gd name="adj1" fmla="val -56781"/>
              <a:gd name="adj2" fmla="val 88364"/>
              <a:gd name="adj3" fmla="val 16667"/>
            </a:avLst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r>
              <a:rPr lang="en-US" sz="1350" dirty="0">
                <a:solidFill>
                  <a:schemeClr val="accent2"/>
                </a:solidFill>
                <a:latin typeface="Helvetica Neue" charset="0"/>
              </a:rPr>
              <a:t>So why do we learn it?</a:t>
            </a:r>
          </a:p>
        </p:txBody>
      </p:sp>
      <p:grpSp>
        <p:nvGrpSpPr>
          <p:cNvPr id="13" name="Group 12" descr="Replies to man: &quot;Because you will hear about it anyhow on your job? Nonsense, yes, but Lossless-Join &amp; Dependency Preserving nonse! Because old people liked to say 'the key, the whole key and nothing but the key, so help me Codd...No, seriously&quot;" title="Women with speech bubble"/>
          <p:cNvGrpSpPr/>
          <p:nvPr/>
        </p:nvGrpSpPr>
        <p:grpSpPr>
          <a:xfrm>
            <a:off x="5059846" y="1648870"/>
            <a:ext cx="1450952" cy="1233525"/>
            <a:chOff x="6858000" y="2084372"/>
            <a:chExt cx="1934602" cy="1644700"/>
          </a:xfrm>
        </p:grpSpPr>
        <p:sp>
          <p:nvSpPr>
            <p:cNvPr id="7" name="Rounded Rectangular Callout 6"/>
            <p:cNvSpPr/>
            <p:nvPr/>
          </p:nvSpPr>
          <p:spPr bwMode="auto">
            <a:xfrm>
              <a:off x="6858000" y="2084372"/>
              <a:ext cx="1934602" cy="1294259"/>
            </a:xfrm>
            <a:prstGeom prst="wedgeRoundRectCallout">
              <a:avLst>
                <a:gd name="adj1" fmla="val -708"/>
                <a:gd name="adj2" fmla="val 103817"/>
                <a:gd name="adj3" fmla="val 16667"/>
              </a:avLst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r>
                <a:rPr lang="en-US" sz="1050" dirty="0">
                  <a:solidFill>
                    <a:schemeClr val="accent2"/>
                  </a:solidFill>
                  <a:latin typeface="Helvetica Neue" charset="0"/>
                </a:rPr>
                <a:t>Because you will hear about </a:t>
              </a:r>
              <a:r>
                <a:rPr lang="en-US" sz="1050">
                  <a:solidFill>
                    <a:schemeClr val="accent2"/>
                  </a:solidFill>
                  <a:latin typeface="Helvetica Neue" charset="0"/>
                </a:rPr>
                <a:t>it anyhow in your job?</a:t>
              </a:r>
              <a:endParaRPr lang="en-US" sz="1050" dirty="0">
                <a:solidFill>
                  <a:schemeClr val="accent2"/>
                </a:solidFill>
                <a:latin typeface="Helvetica Neue" charset="0"/>
              </a:endParaRPr>
            </a:p>
          </p:txBody>
        </p:sp>
        <p:pic>
          <p:nvPicPr>
            <p:cNvPr id="8" name="Picture 7" descr="Replies to man: &quot;Because you will hear about it anyhow on your job? Nonsense, yes, but Lossless-Join &amp; Dependency Preserving nonse! Because old people liked to say 'the key, the whole key and nothing but the key, so help me Codd...No, seriously&quot;" title="Woman replies to man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8008" y="2428880"/>
              <a:ext cx="1300192" cy="1300192"/>
            </a:xfrm>
            <a:prstGeom prst="rect">
              <a:avLst/>
            </a:prstGeom>
          </p:spPr>
        </p:pic>
      </p:grpSp>
      <p:grpSp>
        <p:nvGrpSpPr>
          <p:cNvPr id="14" name="Group 13" descr="Replies to man: &quot;Because you will hear about it anyhow on your job? Nonsense, yes, but Lossless-Join &amp; Dependency Preserving nonse! Because old people liked to say 'the key, the whole key and nothing but the key, so help me Codd...No, seriously&quot;" title="Women with speech bubble"/>
          <p:cNvGrpSpPr/>
          <p:nvPr/>
        </p:nvGrpSpPr>
        <p:grpSpPr>
          <a:xfrm>
            <a:off x="3346191" y="2207621"/>
            <a:ext cx="1512026" cy="1299257"/>
            <a:chOff x="4573127" y="2829372"/>
            <a:chExt cx="2016034" cy="1732343"/>
          </a:xfrm>
        </p:grpSpPr>
        <p:sp>
          <p:nvSpPr>
            <p:cNvPr id="9" name="Rounded Rectangular Callout 8"/>
            <p:cNvSpPr/>
            <p:nvPr/>
          </p:nvSpPr>
          <p:spPr bwMode="auto">
            <a:xfrm>
              <a:off x="4573127" y="2829372"/>
              <a:ext cx="2016034" cy="1428143"/>
            </a:xfrm>
            <a:prstGeom prst="wedgeRoundRectCallout">
              <a:avLst>
                <a:gd name="adj1" fmla="val 103977"/>
                <a:gd name="adj2" fmla="val 49268"/>
                <a:gd name="adj3" fmla="val 16667"/>
              </a:avLst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r>
                <a:rPr lang="en-US" sz="900" dirty="0">
                  <a:solidFill>
                    <a:schemeClr val="accent2"/>
                  </a:solidFill>
                  <a:latin typeface="Helvetica Neue" charset="0"/>
                </a:rPr>
                <a:t>Nonsense, yes, but Lossless-Join &amp; Dependency Preserving nonsense!</a:t>
              </a:r>
            </a:p>
          </p:txBody>
        </p:sp>
        <p:pic>
          <p:nvPicPr>
            <p:cNvPr id="10" name="Picture 9" descr="Replies to man: &quot;Because you will hear about it anyhow on your job? Nonsense, yes, but Lossless-Join &amp; Dependency Preserving nonse! Because old people liked to say 'the key, the whole key and nothing but the key, so help me Codd...No, seriously&quot;" title="Woman replies to Man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31048" y="3261523"/>
              <a:ext cx="1300192" cy="1300192"/>
            </a:xfrm>
            <a:prstGeom prst="rect">
              <a:avLst/>
            </a:prstGeom>
          </p:spPr>
        </p:pic>
      </p:grpSp>
      <p:grpSp>
        <p:nvGrpSpPr>
          <p:cNvPr id="15" name="Group 14" descr="Replies to man: &quot;Because you will hear about it anyhow on your job? Nonsense, yes, but Lossless-Join &amp; Dependency Preserving nonse! Because old people liked to say 'the key, the whole key and nothing but the key, so help me Codd...No, seriously&quot;" title="Women with speech bubble"/>
          <p:cNvGrpSpPr/>
          <p:nvPr/>
        </p:nvGrpSpPr>
        <p:grpSpPr>
          <a:xfrm>
            <a:off x="3060675" y="3607093"/>
            <a:ext cx="1633065" cy="1463660"/>
            <a:chOff x="4192438" y="4695335"/>
            <a:chExt cx="2177420" cy="1951547"/>
          </a:xfrm>
        </p:grpSpPr>
        <p:sp>
          <p:nvSpPr>
            <p:cNvPr id="11" name="Rounded Rectangular Callout 10"/>
            <p:cNvSpPr/>
            <p:nvPr/>
          </p:nvSpPr>
          <p:spPr bwMode="auto">
            <a:xfrm>
              <a:off x="4192438" y="4695335"/>
              <a:ext cx="2177420" cy="1573729"/>
            </a:xfrm>
            <a:prstGeom prst="wedgeRoundRectCallout">
              <a:avLst>
                <a:gd name="adj1" fmla="val 107222"/>
                <a:gd name="adj2" fmla="val -67028"/>
                <a:gd name="adj3" fmla="val 16667"/>
              </a:avLst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r>
                <a:rPr lang="en-US" sz="900" dirty="0">
                  <a:solidFill>
                    <a:schemeClr val="accent2"/>
                  </a:solidFill>
                  <a:latin typeface="Helvetica Neue" charset="0"/>
                </a:rPr>
                <a:t>Because old people liked to say “the key, the whole key and nothing but the key, so help me </a:t>
              </a:r>
              <a:r>
                <a:rPr lang="en-US" sz="900" dirty="0" err="1">
                  <a:solidFill>
                    <a:schemeClr val="accent2"/>
                  </a:solidFill>
                  <a:latin typeface="Helvetica Neue" charset="0"/>
                </a:rPr>
                <a:t>Codd</a:t>
              </a:r>
              <a:r>
                <a:rPr lang="en-US" sz="900" dirty="0">
                  <a:solidFill>
                    <a:schemeClr val="accent2"/>
                  </a:solidFill>
                  <a:latin typeface="Helvetica Neue" charset="0"/>
                </a:rPr>
                <a:t>.” </a:t>
              </a:r>
              <a:br>
                <a:rPr lang="en-US" sz="900" dirty="0">
                  <a:solidFill>
                    <a:schemeClr val="accent2"/>
                  </a:solidFill>
                  <a:latin typeface="Helvetica Neue" charset="0"/>
                </a:rPr>
              </a:br>
              <a:r>
                <a:rPr lang="en-US" sz="900" dirty="0">
                  <a:solidFill>
                    <a:schemeClr val="accent2"/>
                  </a:solidFill>
                  <a:latin typeface="Helvetica Neue" charset="0"/>
                </a:rPr>
                <a:t>No, seriously.</a:t>
              </a:r>
            </a:p>
          </p:txBody>
        </p:sp>
        <p:pic>
          <p:nvPicPr>
            <p:cNvPr id="12" name="Picture 11" descr="Replies to man: &quot;Because you will hear about it anyhow on your job? Nonsense, yes, but Lossless-Join &amp; Dependency Preserving nonse! Because old people liked to say 'the key, the whole key and nothing but the key, so help me Codd...No, seriously&quot;" title="Woman replies to man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12910" y="5346690"/>
              <a:ext cx="1300192" cy="13001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32096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latin typeface="+mn-lt"/>
              </a:rPr>
              <a:t>What Does 3NF Achieve?</a:t>
            </a:r>
          </a:p>
        </p:txBody>
      </p:sp>
      <p:sp>
        <p:nvSpPr>
          <p:cNvPr id="88066" name="Rectangle 5"/>
          <p:cNvSpPr>
            <a:spLocks noGrp="1" noChangeArrowheads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pPr eaLnBrk="1" hangingPunct="1"/>
            <a:r>
              <a:rPr lang="en-US" altLang="en-US" sz="1500" dirty="0">
                <a:latin typeface="+mn-lt"/>
              </a:rPr>
              <a:t>If 3NF violated by X </a:t>
            </a:r>
            <a:r>
              <a:rPr lang="is-IS" altLang="en-US" sz="1500" dirty="0">
                <a:latin typeface="+mn-lt"/>
                <a:sym typeface="Symbol" charset="2"/>
              </a:rPr>
              <a:t>→</a:t>
            </a:r>
            <a:r>
              <a:rPr lang="en-US" altLang="en-US" sz="1500" dirty="0">
                <a:latin typeface="+mn-lt"/>
              </a:rPr>
              <a:t> A, we can look at only two possible cases:</a:t>
            </a:r>
          </a:p>
          <a:p>
            <a:pPr lvl="1" eaLnBrk="1" hangingPunct="1"/>
            <a:r>
              <a:rPr lang="en-US" altLang="en-US" sz="1500" dirty="0">
                <a:latin typeface="+mn-lt"/>
              </a:rPr>
              <a:t>X is a subset of some key K (</a:t>
            </a:r>
            <a:r>
              <a:rPr lang="ja-JP" altLang="en-US" sz="1500" b="1" dirty="0">
                <a:latin typeface="+mn-lt"/>
              </a:rPr>
              <a:t>“</a:t>
            </a:r>
            <a:r>
              <a:rPr lang="en-US" altLang="ja-JP" sz="1500" b="1" dirty="0">
                <a:latin typeface="+mn-lt"/>
              </a:rPr>
              <a:t>partial dependency</a:t>
            </a:r>
            <a:r>
              <a:rPr lang="ja-JP" altLang="en-US" sz="1500" dirty="0">
                <a:latin typeface="+mn-lt"/>
              </a:rPr>
              <a:t>”</a:t>
            </a:r>
            <a:r>
              <a:rPr lang="en-US" altLang="ja-JP" sz="1500" dirty="0">
                <a:latin typeface="+mn-lt"/>
              </a:rPr>
              <a:t>)</a:t>
            </a:r>
          </a:p>
          <a:p>
            <a:pPr lvl="2" eaLnBrk="1" hangingPunct="1"/>
            <a:r>
              <a:rPr lang="en-US" altLang="en-US" sz="1350" dirty="0">
                <a:latin typeface="+mn-lt"/>
              </a:rPr>
              <a:t>We store (X, A) pairs redundantly.</a:t>
            </a:r>
          </a:p>
          <a:p>
            <a:pPr lvl="2" eaLnBrk="1" hangingPunct="1"/>
            <a:r>
              <a:rPr lang="en-US" altLang="en-US" sz="1350" dirty="0">
                <a:latin typeface="+mn-lt"/>
              </a:rPr>
              <a:t>e.g. Reserves SBDC (C is for credit card) with key SBD and  S </a:t>
            </a:r>
            <a:r>
              <a:rPr lang="is-IS" altLang="en-US" sz="1350" dirty="0">
                <a:latin typeface="+mn-lt"/>
                <a:sym typeface="Symbol" charset="2"/>
              </a:rPr>
              <a:t>→</a:t>
            </a:r>
            <a:r>
              <a:rPr lang="en-US" altLang="en-US" sz="1350" dirty="0">
                <a:latin typeface="+mn-lt"/>
              </a:rPr>
              <a:t> C</a:t>
            </a:r>
          </a:p>
          <a:p>
            <a:pPr lvl="1" eaLnBrk="1" hangingPunct="1"/>
            <a:r>
              <a:rPr lang="en-US" altLang="en-US" sz="1500" dirty="0">
                <a:latin typeface="+mn-lt"/>
              </a:rPr>
              <a:t>X is not a proper subset of any key. (</a:t>
            </a:r>
            <a:r>
              <a:rPr lang="ja-JP" altLang="en-US" sz="1500" dirty="0">
                <a:latin typeface="+mn-lt"/>
              </a:rPr>
              <a:t>“</a:t>
            </a:r>
            <a:r>
              <a:rPr lang="en-US" altLang="ja-JP" sz="1500" b="1" dirty="0">
                <a:latin typeface="+mn-lt"/>
              </a:rPr>
              <a:t>transitive</a:t>
            </a:r>
            <a:r>
              <a:rPr lang="en-US" altLang="ja-JP" sz="1500" dirty="0">
                <a:latin typeface="+mn-lt"/>
              </a:rPr>
              <a:t> </a:t>
            </a:r>
            <a:r>
              <a:rPr lang="en-US" altLang="ja-JP" sz="1500" b="1" dirty="0">
                <a:latin typeface="+mn-lt"/>
              </a:rPr>
              <a:t>dep</a:t>
            </a:r>
            <a:r>
              <a:rPr lang="en-US" altLang="ja-JP" sz="1500" dirty="0">
                <a:latin typeface="+mn-lt"/>
              </a:rPr>
              <a:t>.</a:t>
            </a:r>
            <a:r>
              <a:rPr lang="ja-JP" altLang="en-US" sz="1500" dirty="0">
                <a:latin typeface="+mn-lt"/>
              </a:rPr>
              <a:t>”</a:t>
            </a:r>
            <a:r>
              <a:rPr lang="en-US" altLang="ja-JP" sz="1500" dirty="0">
                <a:latin typeface="+mn-lt"/>
              </a:rPr>
              <a:t>)</a:t>
            </a:r>
          </a:p>
          <a:p>
            <a:pPr lvl="2" eaLnBrk="1" hangingPunct="1"/>
            <a:r>
              <a:rPr lang="en-US" altLang="en-US" sz="1350" dirty="0">
                <a:latin typeface="+mn-lt"/>
              </a:rPr>
              <a:t>There is a chain of FDs  K </a:t>
            </a:r>
            <a:r>
              <a:rPr lang="is-IS" altLang="en-US" sz="1350" dirty="0">
                <a:latin typeface="+mn-lt"/>
                <a:sym typeface="Symbol" charset="2"/>
              </a:rPr>
              <a:t>→</a:t>
            </a:r>
            <a:r>
              <a:rPr lang="en-US" altLang="en-US" sz="1350" dirty="0">
                <a:latin typeface="+mn-lt"/>
              </a:rPr>
              <a:t> X </a:t>
            </a:r>
            <a:r>
              <a:rPr lang="is-IS" altLang="en-US" sz="1350" dirty="0">
                <a:latin typeface="+mn-lt"/>
                <a:sym typeface="Symbol" charset="2"/>
              </a:rPr>
              <a:t>→</a:t>
            </a:r>
            <a:r>
              <a:rPr lang="en-US" altLang="en-US" sz="1350" dirty="0">
                <a:latin typeface="+mn-lt"/>
              </a:rPr>
              <a:t> A, which means that we cannot associate an X value with a K value unless we also associate an A value with an X value (different K</a:t>
            </a:r>
            <a:r>
              <a:rPr lang="fr-FR" altLang="ja-JP" sz="1350" dirty="0">
                <a:latin typeface="+mn-lt"/>
              </a:rPr>
              <a:t>'</a:t>
            </a:r>
            <a:r>
              <a:rPr lang="en-US" altLang="en-US" sz="1350" dirty="0">
                <a:latin typeface="+mn-lt"/>
              </a:rPr>
              <a:t>s, same X implies same A!) – problem with initial SNLRWH example.</a:t>
            </a:r>
          </a:p>
          <a:p>
            <a:pPr eaLnBrk="1" hangingPunct="1">
              <a:spcBef>
                <a:spcPts val="2000"/>
              </a:spcBef>
            </a:pPr>
            <a:r>
              <a:rPr lang="en-US" altLang="en-US" sz="1500" dirty="0">
                <a:latin typeface="+mn-lt"/>
              </a:rPr>
              <a:t>But: even if R is in 3NF, these problems could arise.</a:t>
            </a:r>
          </a:p>
          <a:p>
            <a:pPr lvl="1" eaLnBrk="1" hangingPunct="1"/>
            <a:r>
              <a:rPr lang="en-US" altLang="en-US" sz="1500" dirty="0">
                <a:latin typeface="+mn-lt"/>
              </a:rPr>
              <a:t>e.g., Reserves  SBDC</a:t>
            </a:r>
            <a:r>
              <a:rPr lang="en-US" altLang="ja-JP" sz="1500" dirty="0">
                <a:latin typeface="+mn-lt"/>
              </a:rPr>
              <a:t>  </a:t>
            </a:r>
            <a:br>
              <a:rPr lang="en-US" altLang="ja-JP" sz="1500" dirty="0">
                <a:latin typeface="+mn-lt"/>
              </a:rPr>
            </a:br>
            <a:r>
              <a:rPr lang="en-US" altLang="ja-JP" sz="1500" dirty="0">
                <a:latin typeface="+mn-lt"/>
              </a:rPr>
              <a:t>S </a:t>
            </a:r>
            <a:r>
              <a:rPr lang="is-IS" altLang="ja-JP" sz="1500" dirty="0">
                <a:latin typeface="+mn-lt"/>
                <a:sym typeface="Symbol" charset="2"/>
              </a:rPr>
              <a:t>→</a:t>
            </a:r>
            <a:r>
              <a:rPr lang="en-US" altLang="ja-JP" sz="1500" dirty="0">
                <a:latin typeface="+mn-lt"/>
              </a:rPr>
              <a:t> C,   C </a:t>
            </a:r>
            <a:r>
              <a:rPr lang="is-IS" altLang="ja-JP" sz="1500" dirty="0">
                <a:latin typeface="+mn-lt"/>
                <a:sym typeface="Symbol" charset="2"/>
              </a:rPr>
              <a:t>→</a:t>
            </a:r>
            <a:r>
              <a:rPr lang="en-US" altLang="ja-JP" sz="1500" dirty="0">
                <a:latin typeface="+mn-lt"/>
              </a:rPr>
              <a:t> S is in 3NF (why?), </a:t>
            </a:r>
            <a:br>
              <a:rPr lang="en-US" altLang="ja-JP" sz="1500" dirty="0">
                <a:latin typeface="+mn-lt"/>
              </a:rPr>
            </a:br>
            <a:r>
              <a:rPr lang="en-US" altLang="ja-JP" sz="1500" dirty="0">
                <a:latin typeface="+mn-lt"/>
              </a:rPr>
              <a:t>but for each reservation of sailor S,  same (S, C) pair is stored.</a:t>
            </a:r>
          </a:p>
          <a:p>
            <a:pPr eaLnBrk="1" hangingPunct="1">
              <a:spcBef>
                <a:spcPts val="2000"/>
              </a:spcBef>
            </a:pPr>
            <a:r>
              <a:rPr lang="en-US" altLang="en-US" sz="1500" dirty="0">
                <a:latin typeface="+mn-lt"/>
              </a:rPr>
              <a:t>Thus, 3NF is indeed a compromise relative to BCNF.</a:t>
            </a:r>
          </a:p>
        </p:txBody>
      </p:sp>
    </p:spTree>
    <p:extLst>
      <p:ext uri="{BB962C8B-B14F-4D97-AF65-F5344CB8AC3E}">
        <p14:creationId xmlns:p14="http://schemas.microsoft.com/office/powerpoint/2010/main" val="1270584546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dirty="0">
                <a:latin typeface="+mn-lt"/>
              </a:rPr>
              <a:t>Decomposition into 3NF</a:t>
            </a:r>
          </a:p>
        </p:txBody>
      </p:sp>
      <p:sp>
        <p:nvSpPr>
          <p:cNvPr id="90114" name="Rectangle 5"/>
          <p:cNvSpPr>
            <a:spLocks noGrp="1" noChangeArrowheads="1"/>
          </p:cNvSpPr>
          <p:nvPr>
            <p:ph sz="quarter" idx="13"/>
          </p:nvPr>
        </p:nvSpPr>
        <p:spPr/>
        <p:txBody>
          <a:bodyPr/>
          <a:lstStyle/>
          <a:p>
            <a:pPr eaLnBrk="1" hangingPunct="1"/>
            <a:r>
              <a:rPr lang="en-US" altLang="en-US" sz="1800" dirty="0">
                <a:latin typeface="+mn-lt"/>
              </a:rPr>
              <a:t>Obviously, the algorithm for lossless join decomp into BCNF can be used to obtain a lossless join decomp into 3NF (typically, can stop earlier) but does not ensure dependency preservation.</a:t>
            </a:r>
          </a:p>
          <a:p>
            <a:pPr eaLnBrk="1" hangingPunct="1">
              <a:spcBef>
                <a:spcPts val="2000"/>
              </a:spcBef>
            </a:pPr>
            <a:r>
              <a:rPr lang="en-US" altLang="en-US" sz="1800" b="1" dirty="0">
                <a:latin typeface="+mn-lt"/>
              </a:rPr>
              <a:t>To ensure dependency preservation, one idea:</a:t>
            </a:r>
          </a:p>
          <a:p>
            <a:pPr lvl="1" eaLnBrk="1" hangingPunct="1"/>
            <a:r>
              <a:rPr lang="en-US" altLang="en-US" sz="1500" b="1" dirty="0">
                <a:latin typeface="+mn-lt"/>
              </a:rPr>
              <a:t>If  X </a:t>
            </a:r>
            <a:r>
              <a:rPr lang="is-IS" altLang="en-US" sz="1500" b="1" dirty="0">
                <a:latin typeface="+mn-lt"/>
                <a:sym typeface="Symbol" charset="2"/>
              </a:rPr>
              <a:t>→</a:t>
            </a:r>
            <a:r>
              <a:rPr lang="en-US" altLang="en-US" sz="1500" b="1" dirty="0">
                <a:latin typeface="+mn-lt"/>
              </a:rPr>
              <a:t> Y  is not preserved,  add relation XY.</a:t>
            </a:r>
          </a:p>
          <a:p>
            <a:pPr lvl="1" eaLnBrk="1" hangingPunct="1">
              <a:buFontTx/>
              <a:buNone/>
            </a:pPr>
            <a:r>
              <a:rPr lang="en-US" altLang="en-US" sz="1500" dirty="0">
                <a:latin typeface="+mn-lt"/>
              </a:rPr>
              <a:t>Problem is that XY may violate 3NF!  e.g.,  consider the addition of CJP to `preserve</a:t>
            </a:r>
            <a:r>
              <a:rPr lang="fr-FR" altLang="ja-JP" sz="1500" dirty="0">
                <a:latin typeface="+mn-lt"/>
              </a:rPr>
              <a:t>'</a:t>
            </a:r>
            <a:r>
              <a:rPr lang="en-US" altLang="en-US" sz="1500" dirty="0">
                <a:latin typeface="+mn-lt"/>
              </a:rPr>
              <a:t>  JP </a:t>
            </a:r>
            <a:r>
              <a:rPr lang="is-IS" altLang="en-US" sz="1500" dirty="0">
                <a:latin typeface="+mn-lt"/>
                <a:sym typeface="Symbol" charset="2"/>
              </a:rPr>
              <a:t>→</a:t>
            </a:r>
            <a:r>
              <a:rPr lang="en-US" altLang="en-US" sz="1500" dirty="0">
                <a:latin typeface="+mn-lt"/>
              </a:rPr>
              <a:t> C.   What if we also have  J </a:t>
            </a:r>
            <a:r>
              <a:rPr lang="is-IS" altLang="en-US" sz="1500" dirty="0">
                <a:latin typeface="+mn-lt"/>
                <a:sym typeface="Symbol" charset="2"/>
              </a:rPr>
              <a:t>→</a:t>
            </a:r>
            <a:r>
              <a:rPr lang="en-US" altLang="en-US" sz="1500" dirty="0">
                <a:latin typeface="+mn-lt"/>
              </a:rPr>
              <a:t> C ?</a:t>
            </a:r>
          </a:p>
          <a:p>
            <a:pPr eaLnBrk="1" hangingPunct="1"/>
            <a:r>
              <a:rPr lang="en-US" altLang="en-US" sz="1800" b="1" dirty="0">
                <a:latin typeface="+mn-lt"/>
              </a:rPr>
              <a:t>Refinement</a:t>
            </a:r>
            <a:r>
              <a:rPr lang="en-US" altLang="en-US" sz="1800" dirty="0">
                <a:latin typeface="+mn-lt"/>
              </a:rPr>
              <a:t>:  Instead of the given set of FDs F, use a</a:t>
            </a:r>
            <a:r>
              <a:rPr lang="en-US" altLang="en-US" sz="1800" b="1" dirty="0">
                <a:latin typeface="+mn-lt"/>
              </a:rPr>
              <a:t> </a:t>
            </a:r>
            <a:r>
              <a:rPr lang="en-US" altLang="en-US" sz="1800" b="1" i="1" dirty="0">
                <a:latin typeface="+mn-lt"/>
              </a:rPr>
              <a:t>minimal cover for F</a:t>
            </a:r>
            <a:r>
              <a:rPr lang="en-US" altLang="en-US" sz="1800" dirty="0"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1829594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3000" dirty="0">
                <a:latin typeface="+mn-lt"/>
              </a:rPr>
              <a:t>Minimal Cover for a Set of FDs</a:t>
            </a:r>
          </a:p>
        </p:txBody>
      </p:sp>
      <p:sp>
        <p:nvSpPr>
          <p:cNvPr id="92162" name="Rectangle 5"/>
          <p:cNvSpPr>
            <a:spLocks noGrp="1" noChangeArrowheads="1"/>
          </p:cNvSpPr>
          <p:nvPr>
            <p:ph sz="quarter" idx="13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1800" b="1" i="1" u="sng" dirty="0">
                <a:latin typeface="+mn-lt"/>
              </a:rPr>
              <a:t>Minimal cover</a:t>
            </a:r>
            <a:r>
              <a:rPr lang="en-US" altLang="en-US" sz="1800" b="1" dirty="0">
                <a:latin typeface="+mn-lt"/>
              </a:rPr>
              <a:t>  </a:t>
            </a:r>
            <a:r>
              <a:rPr lang="en-US" altLang="en-US" sz="1800" dirty="0">
                <a:latin typeface="+mn-lt"/>
              </a:rPr>
              <a:t>G for a set of FDs F: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500" dirty="0">
                <a:latin typeface="+mn-lt"/>
              </a:rPr>
              <a:t>Closure of F  =  closure of G.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500" dirty="0">
                <a:latin typeface="+mn-lt"/>
              </a:rPr>
              <a:t>Right hand side of each FD in G is a single attribute.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500" dirty="0">
                <a:latin typeface="+mn-lt"/>
              </a:rPr>
              <a:t>If we modify G by deleting an FD or by deleting attributes from an FD in G, the closure changes.</a:t>
            </a:r>
          </a:p>
          <a:p>
            <a:pPr eaLnBrk="1" hangingPunct="1">
              <a:lnSpc>
                <a:spcPct val="90000"/>
              </a:lnSpc>
              <a:spcBef>
                <a:spcPts val="2000"/>
              </a:spcBef>
            </a:pPr>
            <a:r>
              <a:rPr lang="en-US" altLang="en-US" sz="1800" dirty="0">
                <a:latin typeface="+mn-lt"/>
              </a:rPr>
              <a:t>Intuitively, every FD in G is needed, and ``</a:t>
            </a:r>
            <a:r>
              <a:rPr lang="en-US" altLang="en-US" sz="1800" b="1" i="1" dirty="0">
                <a:latin typeface="+mn-lt"/>
              </a:rPr>
              <a:t>as small as possible</a:t>
            </a:r>
            <a:r>
              <a:rPr lang="fr-FR" altLang="ja-JP" sz="1800" b="1" dirty="0">
                <a:latin typeface="+mn-lt"/>
              </a:rPr>
              <a:t>''</a:t>
            </a:r>
            <a:r>
              <a:rPr lang="en-US" altLang="en-US" sz="1800" b="1" dirty="0">
                <a:latin typeface="+mn-lt"/>
              </a:rPr>
              <a:t> </a:t>
            </a:r>
            <a:r>
              <a:rPr lang="en-US" altLang="en-US" sz="1800" dirty="0">
                <a:latin typeface="+mn-lt"/>
              </a:rPr>
              <a:t>in order to get the same closure as F.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800" dirty="0">
                <a:latin typeface="+mn-lt"/>
              </a:rPr>
              <a:t>e.g.,  A </a:t>
            </a:r>
            <a:r>
              <a:rPr lang="is-IS" altLang="en-US" sz="1800" dirty="0">
                <a:latin typeface="+mn-lt"/>
                <a:sym typeface="Symbol" charset="2"/>
              </a:rPr>
              <a:t>→</a:t>
            </a:r>
            <a:r>
              <a:rPr lang="en-US" altLang="en-US" sz="1800" dirty="0">
                <a:latin typeface="+mn-lt"/>
              </a:rPr>
              <a:t> B,  ABCD </a:t>
            </a:r>
            <a:r>
              <a:rPr lang="is-IS" altLang="en-US" sz="1800" dirty="0">
                <a:latin typeface="+mn-lt"/>
                <a:sym typeface="Symbol" charset="2"/>
              </a:rPr>
              <a:t>→</a:t>
            </a:r>
            <a:r>
              <a:rPr lang="en-US" altLang="en-US" sz="1800" dirty="0">
                <a:latin typeface="+mn-lt"/>
              </a:rPr>
              <a:t> E,  EF </a:t>
            </a:r>
            <a:r>
              <a:rPr lang="is-IS" altLang="en-US" sz="1800" dirty="0">
                <a:latin typeface="+mn-lt"/>
                <a:sym typeface="Symbol" charset="2"/>
              </a:rPr>
              <a:t>→</a:t>
            </a:r>
            <a:r>
              <a:rPr lang="en-US" altLang="en-US" sz="1800" dirty="0">
                <a:latin typeface="+mn-lt"/>
              </a:rPr>
              <a:t> GH,  ACDF </a:t>
            </a:r>
            <a:r>
              <a:rPr lang="is-IS" altLang="en-US" sz="1800" dirty="0">
                <a:latin typeface="+mn-lt"/>
                <a:sym typeface="Symbol" charset="2"/>
              </a:rPr>
              <a:t>→</a:t>
            </a:r>
            <a:r>
              <a:rPr lang="en-US" altLang="en-US" sz="1800" dirty="0">
                <a:latin typeface="+mn-lt"/>
              </a:rPr>
              <a:t> EG has the following minimal cover: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500" dirty="0">
                <a:latin typeface="+mn-lt"/>
              </a:rPr>
              <a:t>A </a:t>
            </a:r>
            <a:r>
              <a:rPr lang="is-IS" altLang="en-US" sz="1500" dirty="0">
                <a:latin typeface="+mn-lt"/>
                <a:sym typeface="Symbol" charset="2"/>
              </a:rPr>
              <a:t>→</a:t>
            </a:r>
            <a:r>
              <a:rPr lang="en-US" altLang="en-US" sz="1500" dirty="0">
                <a:latin typeface="+mn-lt"/>
              </a:rPr>
              <a:t> B,  ACD </a:t>
            </a:r>
            <a:r>
              <a:rPr lang="is-IS" altLang="en-US" sz="1500" dirty="0">
                <a:latin typeface="+mn-lt"/>
                <a:sym typeface="Symbol" charset="2"/>
              </a:rPr>
              <a:t>→</a:t>
            </a:r>
            <a:r>
              <a:rPr lang="en-US" altLang="en-US" sz="1500" dirty="0">
                <a:latin typeface="+mn-lt"/>
              </a:rPr>
              <a:t> E,  EF </a:t>
            </a:r>
            <a:r>
              <a:rPr lang="is-IS" altLang="en-US" sz="1500" dirty="0">
                <a:latin typeface="+mn-lt"/>
                <a:sym typeface="Symbol" charset="2"/>
              </a:rPr>
              <a:t>→</a:t>
            </a:r>
            <a:r>
              <a:rPr lang="en-US" altLang="en-US" sz="1500" dirty="0">
                <a:latin typeface="+mn-lt"/>
              </a:rPr>
              <a:t> G  and  EF </a:t>
            </a:r>
            <a:r>
              <a:rPr lang="is-IS" altLang="en-US" sz="1500" dirty="0">
                <a:latin typeface="+mn-lt"/>
                <a:sym typeface="Symbol" charset="2"/>
              </a:rPr>
              <a:t>→</a:t>
            </a:r>
            <a:r>
              <a:rPr lang="en-US" altLang="en-US" sz="1500" dirty="0">
                <a:latin typeface="+mn-lt"/>
              </a:rPr>
              <a:t> H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800" dirty="0">
                <a:latin typeface="+mn-lt"/>
              </a:rPr>
              <a:t>M.C. implies Lossless-Join, Dep. Pres. Decomp!!!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500" dirty="0">
                <a:latin typeface="+mn-lt"/>
              </a:rPr>
              <a:t>(in book)</a:t>
            </a:r>
          </a:p>
        </p:txBody>
      </p:sp>
    </p:spTree>
    <p:extLst>
      <p:ext uri="{BB962C8B-B14F-4D97-AF65-F5344CB8AC3E}">
        <p14:creationId xmlns:p14="http://schemas.microsoft.com/office/powerpoint/2010/main" val="1380393725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23B71-311C-2846-9BB2-39E26A947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D1DA0-F138-0F45-A46C-B54E29277FF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9197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Summary of Schema Refinement</a:t>
            </a:r>
          </a:p>
        </p:txBody>
      </p:sp>
      <p:sp>
        <p:nvSpPr>
          <p:cNvPr id="94210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BCNF: each field contains data that cannot be </a:t>
            </a:r>
            <a:r>
              <a:rPr lang="en-US" altLang="en-US"/>
              <a:t>inferred via FDs</a:t>
            </a:r>
            <a:r>
              <a:rPr lang="en-US" altLang="en-US" dirty="0"/>
              <a:t>.</a:t>
            </a:r>
          </a:p>
          <a:p>
            <a:pPr lvl="1"/>
            <a:r>
              <a:rPr lang="en-US" altLang="en-US" dirty="0"/>
              <a:t>ensuring BCNF is a good heuristic.</a:t>
            </a:r>
          </a:p>
          <a:p>
            <a:pPr>
              <a:spcBef>
                <a:spcPts val="2000"/>
              </a:spcBef>
            </a:pPr>
            <a:r>
              <a:rPr lang="en-US" altLang="en-US" dirty="0"/>
              <a:t>Not in BCNF?  Try decomposing into BCNF relations.</a:t>
            </a:r>
          </a:p>
          <a:p>
            <a:pPr lvl="1"/>
            <a:r>
              <a:rPr lang="en-US" altLang="en-US" dirty="0"/>
              <a:t>Must consider whether all FDs are preserved!  </a:t>
            </a:r>
          </a:p>
        </p:txBody>
      </p:sp>
    </p:spTree>
    <p:extLst>
      <p:ext uri="{BB962C8B-B14F-4D97-AF65-F5344CB8AC3E}">
        <p14:creationId xmlns:p14="http://schemas.microsoft.com/office/powerpoint/2010/main" val="718606210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Summary of Schema Refinement, </a:t>
            </a:r>
            <a:r>
              <a:rPr lang="en-US" altLang="en-US" dirty="0" err="1"/>
              <a:t>cont</a:t>
            </a:r>
            <a:endParaRPr lang="en-US" altLang="en-US" dirty="0"/>
          </a:p>
        </p:txBody>
      </p:sp>
      <p:sp>
        <p:nvSpPr>
          <p:cNvPr id="94210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What to </a:t>
            </a:r>
            <a:r>
              <a:rPr lang="en-US" altLang="en-US"/>
              <a:t>do when a lossless-join</a:t>
            </a:r>
            <a:r>
              <a:rPr lang="en-US" altLang="en-US" dirty="0"/>
              <a:t>, dependency preserving decomposition into </a:t>
            </a:r>
            <a:r>
              <a:rPr lang="en-US" altLang="en-US"/>
              <a:t>BCNF is impossible</a:t>
            </a:r>
            <a:r>
              <a:rPr lang="en-US" altLang="en-US" dirty="0"/>
              <a:t>?  </a:t>
            </a:r>
          </a:p>
          <a:p>
            <a:pPr lvl="1"/>
            <a:r>
              <a:rPr lang="en-US" altLang="en-US" dirty="0"/>
              <a:t>There is a more </a:t>
            </a:r>
            <a:r>
              <a:rPr lang="en-US" altLang="en-US" i="1" dirty="0"/>
              <a:t>permissive</a:t>
            </a:r>
            <a:r>
              <a:rPr lang="en-US" altLang="en-US" dirty="0"/>
              <a:t> Third Normal Form (3NF) </a:t>
            </a:r>
          </a:p>
          <a:p>
            <a:pPr lvl="2"/>
            <a:r>
              <a:rPr lang="en-US" altLang="en-US" dirty="0"/>
              <a:t>In the hidden slides of slide deck, or book, or Wikipedia</a:t>
            </a:r>
          </a:p>
          <a:p>
            <a:pPr lvl="1"/>
            <a:r>
              <a:rPr lang="en-US" altLang="en-US" dirty="0"/>
              <a:t>But you’ll have redundancy. Beware. You will need to keep it from being a problem in your application code.</a:t>
            </a:r>
          </a:p>
          <a:p>
            <a:pPr>
              <a:spcBef>
                <a:spcPts val="2000"/>
              </a:spcBef>
            </a:pPr>
            <a:r>
              <a:rPr lang="en-US" altLang="en-US" dirty="0"/>
              <a:t>Note: even more </a:t>
            </a:r>
            <a:r>
              <a:rPr lang="en-US" altLang="en-US" i="1" dirty="0"/>
              <a:t>restrictive</a:t>
            </a:r>
            <a:r>
              <a:rPr lang="en-US" altLang="en-US" dirty="0"/>
              <a:t> Normal Forms exist</a:t>
            </a:r>
          </a:p>
          <a:p>
            <a:pPr lvl="1"/>
            <a:r>
              <a:rPr lang="en-US" altLang="en-US" dirty="0"/>
              <a:t>we don</a:t>
            </a:r>
            <a:r>
              <a:rPr lang="fr-FR" altLang="ja-JP" dirty="0"/>
              <a:t>'</a:t>
            </a:r>
            <a:r>
              <a:rPr lang="en-US" altLang="en-US" dirty="0"/>
              <a:t>t cover them in this course, but some are </a:t>
            </a:r>
            <a:br>
              <a:rPr lang="en-US" altLang="en-US" dirty="0"/>
            </a:br>
            <a:r>
              <a:rPr lang="en-US" altLang="en-US" dirty="0"/>
              <a:t>in the book</a:t>
            </a:r>
          </a:p>
        </p:txBody>
      </p:sp>
    </p:spTree>
    <p:extLst>
      <p:ext uri="{BB962C8B-B14F-4D97-AF65-F5344CB8AC3E}">
        <p14:creationId xmlns:p14="http://schemas.microsoft.com/office/powerpoint/2010/main" val="128287852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Custom 3">
      <a:dk1>
        <a:sysClr val="windowText" lastClr="000000"/>
      </a:dk1>
      <a:lt1>
        <a:sysClr val="window" lastClr="FFFFFF"/>
      </a:lt1>
      <a:dk2>
        <a:srgbClr val="541B27"/>
      </a:dk2>
      <a:lt2>
        <a:srgbClr val="AACDCA"/>
      </a:lt2>
      <a:accent1>
        <a:srgbClr val="D72C2F"/>
      </a:accent1>
      <a:accent2>
        <a:srgbClr val="44516F"/>
      </a:accent2>
      <a:accent3>
        <a:srgbClr val="79C6C1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COE updated template" id="{E7FA4F46-C946-B543-8CAA-6C2DD81F0FF0}" vid="{07066D9F-7382-EB44-B453-DDAD9AB5CA43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COE updated template" id="{E7FA4F46-C946-B543-8CAA-6C2DD81F0FF0}" vid="{CEBAC97C-41B9-7340-8D0A-3D484B4F5702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BRCOE updated template</Template>
  <TotalTime>644</TotalTime>
  <Words>3064</Words>
  <Application>Microsoft Macintosh PowerPoint</Application>
  <PresentationFormat>On-screen Show (16:9)</PresentationFormat>
  <Paragraphs>420</Paragraphs>
  <Slides>53</Slides>
  <Notes>42</Notes>
  <HiddenSlides>5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53</vt:i4>
      </vt:variant>
    </vt:vector>
  </HeadingPairs>
  <TitlesOfParts>
    <vt:vector size="72" baseType="lpstr">
      <vt:lpstr>ＭＳ Ｐゴシック</vt:lpstr>
      <vt:lpstr>Osaka</vt:lpstr>
      <vt:lpstr>Arial</vt:lpstr>
      <vt:lpstr>Book Antiqua</vt:lpstr>
      <vt:lpstr>Calibri</vt:lpstr>
      <vt:lpstr>Calibri Light</vt:lpstr>
      <vt:lpstr>Century Gothic</vt:lpstr>
      <vt:lpstr>Helvetica</vt:lpstr>
      <vt:lpstr>Helvetica Neue</vt:lpstr>
      <vt:lpstr>Helvetica Neue Light</vt:lpstr>
      <vt:lpstr>Helvetica Neue Regular</vt:lpstr>
      <vt:lpstr>Mangal</vt:lpstr>
      <vt:lpstr>Symbol</vt:lpstr>
      <vt:lpstr>Times New Roman</vt:lpstr>
      <vt:lpstr>Wingdings</vt:lpstr>
      <vt:lpstr>Office Theme</vt:lpstr>
      <vt:lpstr>Custom Design</vt:lpstr>
      <vt:lpstr>Document</vt:lpstr>
      <vt:lpstr>Equation</vt:lpstr>
      <vt:lpstr>Functional Dependencies and Schema Refinement</vt:lpstr>
      <vt:lpstr>Steps in Database Design, cont</vt:lpstr>
      <vt:lpstr>An Overview</vt:lpstr>
      <vt:lpstr>An Overview cont </vt:lpstr>
      <vt:lpstr>Functional Dependencies (FDs)</vt:lpstr>
      <vt:lpstr>FD’s Continued</vt:lpstr>
      <vt:lpstr>Important: key terminology</vt:lpstr>
      <vt:lpstr>Example: Constraints on Entity Set</vt:lpstr>
      <vt:lpstr>PowerPoint Presentation</vt:lpstr>
      <vt:lpstr>So What??</vt:lpstr>
      <vt:lpstr>Problem 1 Due to R → W</vt:lpstr>
      <vt:lpstr>Problem 2 Due to R → W</vt:lpstr>
      <vt:lpstr>Problem 3 Due to R → W</vt:lpstr>
      <vt:lpstr>Detecting Redundancy</vt:lpstr>
      <vt:lpstr>Decomposing a Relation</vt:lpstr>
      <vt:lpstr>Reasoning About FDs: Examples</vt:lpstr>
      <vt:lpstr>Reasoning About FDs: General</vt:lpstr>
      <vt:lpstr>Rules of Inference</vt:lpstr>
      <vt:lpstr>Example</vt:lpstr>
      <vt:lpstr>Attribute Closure</vt:lpstr>
      <vt:lpstr>Attribute Closure (example)</vt:lpstr>
      <vt:lpstr>PowerPoint Presentation</vt:lpstr>
      <vt:lpstr>Thanks for that…</vt:lpstr>
      <vt:lpstr>The Notion of Normal Forms</vt:lpstr>
      <vt:lpstr>Basic Normal Forms</vt:lpstr>
      <vt:lpstr>Boyce-Codd Normal Form  (BCNF)</vt:lpstr>
      <vt:lpstr>Why is BCNF Useful?</vt:lpstr>
      <vt:lpstr>PowerPoint Presentation</vt:lpstr>
      <vt:lpstr>Decomposition of a Relation Scheme</vt:lpstr>
      <vt:lpstr> Example (same as before)</vt:lpstr>
      <vt:lpstr>Decomposing a Relation, Part 2</vt:lpstr>
      <vt:lpstr>Problems with Decompositions</vt:lpstr>
      <vt:lpstr>PowerPoint Presentation</vt:lpstr>
      <vt:lpstr>Lossless Decomposition (example)</vt:lpstr>
      <vt:lpstr>Lossy Decomposition (example)</vt:lpstr>
      <vt:lpstr>Lossless Join Decompositions</vt:lpstr>
      <vt:lpstr>More on Lossless Decomposition</vt:lpstr>
      <vt:lpstr>Lossless Decomposition? Yes, but…</vt:lpstr>
      <vt:lpstr>PowerPoint Presentation</vt:lpstr>
      <vt:lpstr>Dependency Preserving Decomposition</vt:lpstr>
      <vt:lpstr>Dependency Preserving Decompositions: Definition</vt:lpstr>
      <vt:lpstr>Dependency Preservation: Notes</vt:lpstr>
      <vt:lpstr>Decomposition into BCNF</vt:lpstr>
      <vt:lpstr>BCNF and Dependency Preservation</vt:lpstr>
      <vt:lpstr>PowerPoint Presentation</vt:lpstr>
      <vt:lpstr>Third Normal Form  (3NF)</vt:lpstr>
      <vt:lpstr>Upshot on Third Normal Form</vt:lpstr>
      <vt:lpstr>What Does 3NF Achieve?</vt:lpstr>
      <vt:lpstr>Decomposition into 3NF</vt:lpstr>
      <vt:lpstr>Minimal Cover for a Set of FDs</vt:lpstr>
      <vt:lpstr>PowerPoint Presentation</vt:lpstr>
      <vt:lpstr>Summary of Schema Refinement</vt:lpstr>
      <vt:lpstr>Summary of Schema Refinement, cont</vt:lpstr>
    </vt:vector>
  </TitlesOfParts>
  <Manager/>
  <Company/>
  <LinksUpToDate>false</LinksUpToDate>
  <SharedDoc>false</SharedDoc>
  <HyperlinkBase/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Name of Course</dc:subject>
  <dc:creator>Daphne Nhuch</dc:creator>
  <cp:keywords/>
  <dc:description/>
  <cp:lastModifiedBy>Benjamin Kha</cp:lastModifiedBy>
  <cp:revision>61</cp:revision>
  <dcterms:created xsi:type="dcterms:W3CDTF">2018-03-13T04:30:50Z</dcterms:created>
  <dcterms:modified xsi:type="dcterms:W3CDTF">2019-02-21T08:28:53Z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nguage">
    <vt:lpwstr>English</vt:lpwstr>
  </property>
</Properties>
</file>