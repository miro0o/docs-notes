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tiff" ContentType="image/tiff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  <p:sldMasterId id="2147483699" r:id="rId2"/>
  </p:sldMasterIdLst>
  <p:notesMasterIdLst>
    <p:notesMasterId r:id="rId42"/>
  </p:notesMasterIdLst>
  <p:sldIdLst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D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23" autoAdjust="0"/>
    <p:restoredTop sz="94708" autoAdjust="0"/>
  </p:normalViewPr>
  <p:slideViewPr>
    <p:cSldViewPr>
      <p:cViewPr>
        <p:scale>
          <a:sx n="80" d="100"/>
          <a:sy n="80" d="100"/>
        </p:scale>
        <p:origin x="928" y="696"/>
      </p:cViewPr>
      <p:guideLst>
        <p:guide orient="horz" pos="2700"/>
        <p:guide pos="518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E7B2F-76B0-4CCC-83FA-00CA85CD8DA2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A6495-08A5-4780-AF01-64577BB69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9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9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28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90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19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The slides for this text are organized into chapters. This lecture covers Chapter 20.</a:t>
            </a:r>
          </a:p>
          <a:p>
            <a:endParaRPr lang="en-US" altLang="en-US">
              <a:latin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</a:rPr>
              <a:t>Chapter 1: Introduction to Database Systems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2: The Entity-Relationship Model	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3: The Relational Model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4 (Part A): Relational Algebra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4 (Part B): Relational Calculus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5: SQL: Queries, Programming, Triggers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6: Query-by-Example (QBE)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7: Storing Data: Disks and Files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8: File Organizations and Indexing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9: Tree-Structured Indexing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10: Hash-Based Indexing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11: External Sorting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12 (Part A): Evaluation of Relational Operators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12 (Part B): Evaluation of Relational Operators: Other Techniques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13: Introduction to Query Optimization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14: A Typical Relational Optimizer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15: Schema Refinement and Normal Forms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16 (Part A): Physical Database Design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16 (Part B): Database Tuning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17: Security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18: Transaction Management Overview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19: Concurrency Control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20: Crash Recovery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21: Parallel and Distributed Databases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22: Internet Databases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23: Decision Support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24: Data Mining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25: Object-Database Systems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26: Spatial Data Management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27: Deductive Databases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Chapter 28: Additional Topics</a:t>
            </a: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8313" y="725488"/>
            <a:ext cx="6367462" cy="3582987"/>
          </a:xfrm>
          <a:ln cap="flat"/>
        </p:spPr>
      </p:sp>
    </p:spTree>
    <p:extLst>
      <p:ext uri="{BB962C8B-B14F-4D97-AF65-F5344CB8AC3E}">
        <p14:creationId xmlns:p14="http://schemas.microsoft.com/office/powerpoint/2010/main" val="19801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7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8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2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3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0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7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charset="0"/>
              </a:defRPr>
            </a:lvl1pPr>
          </a:lstStyle>
          <a:p>
            <a:pPr lvl="0"/>
            <a:r>
              <a:rPr lang="en-US" dirty="0"/>
              <a:t>Lecture Name</a:t>
            </a:r>
          </a:p>
        </p:txBody>
      </p:sp>
      <p:pic>
        <p:nvPicPr>
          <p:cNvPr id="6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791200" y="3257550"/>
            <a:ext cx="3132137" cy="172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2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942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Shape 105"/>
          <p:cNvSpPr>
            <a:spLocks noGrp="1"/>
          </p:cNvSpPr>
          <p:nvPr>
            <p:ph type="sldNum" sz="quarter" idx="2"/>
          </p:nvPr>
        </p:nvSpPr>
        <p:spPr>
          <a:xfrm>
            <a:off x="6553200" y="4627563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F5F66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16924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285750"/>
            <a:ext cx="6534912" cy="1340358"/>
          </a:xfrm>
        </p:spPr>
        <p:txBody>
          <a:bodyPr anchor="t">
            <a:no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246888" y="1962150"/>
            <a:ext cx="8741664" cy="2743200"/>
          </a:xfr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186942" y="285750"/>
            <a:ext cx="1830918" cy="1009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1740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144512" cy="768096"/>
          </a:xfrm>
        </p:spPr>
        <p:txBody>
          <a:bodyPr anchor="t">
            <a:no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078992"/>
            <a:ext cx="4343400" cy="3017520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078992"/>
            <a:ext cx="4224528" cy="304495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7293" y="32073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05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068312" cy="667512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Click3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>
                <a:solidFill>
                  <a:schemeClr val="bg1"/>
                </a:solidFill>
                <a:latin typeface="Century Gothic" charset="0"/>
                <a:cs typeface="Century Gothic" charset="0"/>
              </a:rPr>
              <a:t>Slide Deck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31089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50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525512" cy="1143000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28600" y="1536192"/>
            <a:ext cx="8668512" cy="2615184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54552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29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-lined Content and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449312" cy="1161288"/>
          </a:xfrm>
          <a:solidFill>
            <a:schemeClr val="bg1"/>
          </a:solidFill>
        </p:spPr>
        <p:txBody>
          <a:bodyPr anchor="t">
            <a:norm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554480"/>
            <a:ext cx="4343400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554480"/>
            <a:ext cx="4224528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0153" y="444147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37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charset="0"/>
              </a:defRPr>
            </a:lvl1pPr>
          </a:lstStyle>
          <a:p>
            <a:pPr lvl="0"/>
            <a:r>
              <a:rPr lang="en-US" dirty="0"/>
              <a:t>Lecture Name</a:t>
            </a:r>
          </a:p>
        </p:txBody>
      </p:sp>
      <p:pic>
        <p:nvPicPr>
          <p:cNvPr id="6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791200" y="3257550"/>
            <a:ext cx="3132137" cy="1727200"/>
          </a:xfrm>
          <a:prstGeom prst="rect">
            <a:avLst/>
          </a:prstGeom>
          <a:noFill/>
          <a:ln>
            <a:noFill/>
          </a:ln>
        </p:spPr>
      </p:pic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285750"/>
            <a:ext cx="6534912" cy="1340358"/>
          </a:xfrm>
        </p:spPr>
        <p:txBody>
          <a:bodyPr anchor="t">
            <a:no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246888" y="1962150"/>
            <a:ext cx="8741664" cy="2743200"/>
          </a:xfr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186942" y="285750"/>
            <a:ext cx="1830918" cy="1009650"/>
          </a:xfrm>
          <a:prstGeom prst="rect">
            <a:avLst/>
          </a:prstGeom>
          <a:noFill/>
          <a:ln>
            <a:noFill/>
          </a:ln>
        </p:spPr>
      </p:pic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144512" cy="768096"/>
          </a:xfrm>
        </p:spPr>
        <p:txBody>
          <a:bodyPr anchor="t">
            <a:no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078992"/>
            <a:ext cx="4343400" cy="3017520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078992"/>
            <a:ext cx="4224528" cy="304495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7293" y="320736"/>
            <a:ext cx="1377815" cy="76206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068312" cy="667512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Click3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>
                <a:solidFill>
                  <a:prstClr val="white"/>
                </a:solidFill>
                <a:latin typeface="Century Gothic" charset="0"/>
                <a:cs typeface="Century Gothic" charset="0"/>
              </a:rPr>
              <a:t>Slide Deck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310896"/>
            <a:ext cx="1377815" cy="76206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525512" cy="1143000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28600" y="1536192"/>
            <a:ext cx="8668512" cy="2615184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545526"/>
            <a:ext cx="1377815" cy="76206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-lined Content and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449312" cy="1161288"/>
          </a:xfrm>
          <a:solidFill>
            <a:schemeClr val="bg1"/>
          </a:solidFill>
        </p:spPr>
        <p:txBody>
          <a:bodyPr anchor="t">
            <a:norm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554480"/>
            <a:ext cx="4343400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554480"/>
            <a:ext cx="4224528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0153" y="444147"/>
            <a:ext cx="1377815" cy="762066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84267-D271-3C43-A608-FB4A870E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53C55-16AE-2F46-B7EB-EE6C9FC1DF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71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965FB-FFF8-BC45-B748-FC3BC7DBD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41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22405-2E08-4242-8FD0-A2A778523DA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41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kitched-3-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4" y="2933700"/>
            <a:ext cx="31321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36675"/>
            <a:ext cx="7620000" cy="857250"/>
          </a:xfrm>
        </p:spPr>
        <p:txBody>
          <a:bodyPr/>
          <a:lstStyle>
            <a:lvl1pPr algn="l"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48000"/>
            <a:ext cx="4572000" cy="1047750"/>
          </a:xfrm>
        </p:spPr>
        <p:txBody>
          <a:bodyPr anchor="b" anchorCtr="0"/>
          <a:lstStyle>
            <a:lvl1pPr marL="0" indent="0" algn="r">
              <a:buFontTx/>
              <a:buNone/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fld id="{59B8027A-901F-8D4B-BEEB-5E526ED1FF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5" descr="skitched-3-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4" y="2933700"/>
            <a:ext cx="31321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2667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783B0-C189-9248-9374-C3851D12A000}" type="datetimeFigureOut">
              <a:rPr lang="en-US" smtClean="0"/>
              <a:t>11/29/18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6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6" r:id="rId12"/>
    <p:sldLayoutId id="2147483697" r:id="rId13"/>
    <p:sldLayoutId id="2147483698" r:id="rId14"/>
    <p:sldLayoutId id="2147483660" r:id="rId15"/>
    <p:sldLayoutId id="2147483668" r:id="rId16"/>
    <p:sldLayoutId id="2147483673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FFD81-3213-4789-B5DF-194594E817C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11/29/18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FCA20-D3C1-4D02-835D-77BA55FE14B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574971" y="3692071"/>
            <a:ext cx="2569029" cy="1451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1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 Neue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2.emf"/><Relationship Id="rId3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4.jpeg"/><Relationship Id="rId3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jpeg"/><Relationship Id="rId3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9.jpeg"/><Relationship Id="rId3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4" Type="http://schemas.openxmlformats.org/officeDocument/2006/relationships/image" Target="../media/image33.jpeg"/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4.png"/><Relationship Id="rId3" Type="http://schemas.openxmlformats.org/officeDocument/2006/relationships/image" Target="../media/image3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5" Type="http://schemas.openxmlformats.org/officeDocument/2006/relationships/image" Target="../media/image39.emf"/><Relationship Id="rId6" Type="http://schemas.openxmlformats.org/officeDocument/2006/relationships/image" Target="../media/image40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hyperlink" Target="https://dato.com/" TargetMode="External"/><Relationship Id="rId3" Type="http://schemas.openxmlformats.org/officeDocument/2006/relationships/image" Target="../media/image41.tif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4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Closing Thoughts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6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Administrative Announcements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500" dirty="0"/>
              <a:t>Final Exam</a:t>
            </a:r>
          </a:p>
          <a:p>
            <a:pPr lvl="1"/>
            <a:r>
              <a:rPr lang="en-US" altLang="en-US" sz="1500" dirty="0" smtClean="0"/>
              <a:t>Thursday 12/13 </a:t>
            </a:r>
            <a:r>
              <a:rPr lang="en-US" altLang="en-US" sz="1500" dirty="0"/>
              <a:t>11:30-2:30 </a:t>
            </a:r>
            <a:r>
              <a:rPr lang="en-US" altLang="en-US" sz="1500" dirty="0" smtClean="0"/>
              <a:t>(F295 Haas)</a:t>
            </a:r>
            <a:endParaRPr lang="en-US" altLang="en-US" sz="1500" dirty="0"/>
          </a:p>
          <a:p>
            <a:pPr lvl="1"/>
            <a:r>
              <a:rPr lang="en-US" altLang="en-US" sz="1500" dirty="0"/>
              <a:t>Cumulative, but focus on HW topics and post-MT2 topics</a:t>
            </a:r>
          </a:p>
          <a:p>
            <a:pPr lvl="1"/>
            <a:r>
              <a:rPr lang="en-US" altLang="en-US" sz="1500" dirty="0"/>
              <a:t>2 Pages (front and back) of cheat sheet material</a:t>
            </a:r>
          </a:p>
          <a:p>
            <a:endParaRPr lang="en-US" altLang="en-US" sz="1500" dirty="0"/>
          </a:p>
          <a:p>
            <a:r>
              <a:rPr lang="en-US" altLang="en-US" sz="1500" dirty="0"/>
              <a:t>Review Sessions</a:t>
            </a:r>
          </a:p>
          <a:p>
            <a:pPr lvl="1"/>
            <a:r>
              <a:rPr lang="en-US" altLang="en-US" sz="1400" dirty="0" smtClean="0"/>
              <a:t>Next </a:t>
            </a:r>
            <a:r>
              <a:rPr lang="en-US" altLang="en-US" sz="1400" dirty="0"/>
              <a:t>Tues/Thurs class time </a:t>
            </a:r>
            <a:r>
              <a:rPr lang="en-US" altLang="en-US" sz="1400" dirty="0" smtClean="0"/>
              <a:t>(</a:t>
            </a:r>
            <a:r>
              <a:rPr lang="en-US" altLang="en-US" sz="1400" dirty="0"/>
              <a:t>here in </a:t>
            </a:r>
            <a:r>
              <a:rPr lang="en-US" altLang="en-US" sz="1400" dirty="0" smtClean="0"/>
              <a:t>Pimentel</a:t>
            </a:r>
            <a:r>
              <a:rPr lang="en-US" altLang="en-US" sz="1400" dirty="0" smtClean="0"/>
              <a:t>)\</a:t>
            </a:r>
          </a:p>
          <a:p>
            <a:pPr lvl="1"/>
            <a:endParaRPr lang="en-US" altLang="en-US" sz="1400" dirty="0"/>
          </a:p>
          <a:p>
            <a:r>
              <a:rPr lang="en-US" altLang="en-US" sz="1600" dirty="0" smtClean="0"/>
              <a:t>Office Hours</a:t>
            </a:r>
          </a:p>
          <a:p>
            <a:pPr lvl="1"/>
            <a:r>
              <a:rPr lang="en-US" altLang="en-US" sz="1400" dirty="0" smtClean="0"/>
              <a:t>Prof H will hold OH Fridays as usual </a:t>
            </a:r>
            <a:br>
              <a:rPr lang="en-US" altLang="en-US" sz="1400" dirty="0" smtClean="0"/>
            </a:br>
            <a:r>
              <a:rPr lang="en-US" altLang="en-US" sz="1400" dirty="0" smtClean="0"/>
              <a:t>this week and RRR</a:t>
            </a:r>
          </a:p>
          <a:p>
            <a:pPr lvl="1"/>
            <a:r>
              <a:rPr lang="en-US" altLang="en-US" sz="1400" dirty="0" smtClean="0"/>
              <a:t>TA OH info will be posted to Piazza shortly</a:t>
            </a:r>
            <a:endParaRPr lang="en-US" altLang="en-US" sz="1400" dirty="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21757"/>
            <a:ext cx="3249684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60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Looking back at what we learned</a:t>
            </a:r>
          </a:p>
          <a:p>
            <a:endParaRPr lang="en-US" dirty="0"/>
          </a:p>
          <a:p>
            <a:r>
              <a:rPr lang="en-US" dirty="0"/>
              <a:t>Looking forward to what it unlocks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889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-128"/>
              </a:rPr>
              <a:t>What did we learn?</a:t>
            </a:r>
          </a:p>
        </p:txBody>
      </p:sp>
      <p:sp>
        <p:nvSpPr>
          <p:cNvPr id="18435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30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/>
          </p:cNvSpPr>
          <p:nvPr>
            <p:ph type="title"/>
          </p:nvPr>
        </p:nvSpPr>
        <p:spPr>
          <a:xfrm>
            <a:off x="1570435" y="152401"/>
            <a:ext cx="5915025" cy="9941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Data is at the center of everything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787" y="1286138"/>
            <a:ext cx="2060372" cy="1566201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1946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698" y="1365647"/>
            <a:ext cx="1883569" cy="1737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1" name="Group 16"/>
          <p:cNvGrpSpPr>
            <a:grpSpLocks/>
          </p:cNvGrpSpPr>
          <p:nvPr/>
        </p:nvGrpSpPr>
        <p:grpSpPr bwMode="auto">
          <a:xfrm>
            <a:off x="1543050" y="3200400"/>
            <a:ext cx="2302669" cy="1428750"/>
            <a:chOff x="1576039" y="1185746"/>
            <a:chExt cx="7040717" cy="4367561"/>
          </a:xfrm>
        </p:grpSpPr>
        <p:pic>
          <p:nvPicPr>
            <p:cNvPr id="19466" name="Picture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039" y="1356577"/>
              <a:ext cx="4519961" cy="402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7" name="Picture 1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814" y="1185746"/>
              <a:ext cx="2565942" cy="4367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462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541" y="2987279"/>
            <a:ext cx="1365647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469" y="3014663"/>
            <a:ext cx="2057400" cy="189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960" y="1429941"/>
            <a:ext cx="1560909" cy="1301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60" y="1078706"/>
            <a:ext cx="1062038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26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5"/>
          <p:cNvSpPr>
            <a:spLocks noGrp="1"/>
          </p:cNvSpPr>
          <p:nvPr>
            <p:ph type="title"/>
          </p:nvPr>
        </p:nvSpPr>
        <p:spPr>
          <a:xfrm>
            <a:off x="1570435" y="152401"/>
            <a:ext cx="5915025" cy="9941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Data is at the center of everything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5787" y="1286138"/>
            <a:ext cx="2060372" cy="1566201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ContrastingRightFacing"/>
            <a:lightRig rig="threePt" dir="t"/>
          </a:scene3d>
        </p:spPr>
      </p:pic>
      <p:pic>
        <p:nvPicPr>
          <p:cNvPr id="20484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698" y="1365647"/>
            <a:ext cx="1883569" cy="1737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85" name="Group 16"/>
          <p:cNvGrpSpPr>
            <a:grpSpLocks/>
          </p:cNvGrpSpPr>
          <p:nvPr/>
        </p:nvGrpSpPr>
        <p:grpSpPr bwMode="auto">
          <a:xfrm>
            <a:off x="1543050" y="3200400"/>
            <a:ext cx="2302669" cy="1428750"/>
            <a:chOff x="1576039" y="1185746"/>
            <a:chExt cx="7040717" cy="4367561"/>
          </a:xfrm>
        </p:grpSpPr>
        <p:pic>
          <p:nvPicPr>
            <p:cNvPr id="20491" name="Picture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6039" y="1356577"/>
              <a:ext cx="4519961" cy="402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2" name="Picture 1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814" y="1185746"/>
              <a:ext cx="2565942" cy="4367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486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541" y="2987279"/>
            <a:ext cx="1365647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469" y="3014663"/>
            <a:ext cx="2057400" cy="189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960" y="1429941"/>
            <a:ext cx="1560909" cy="1301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60" y="1078706"/>
            <a:ext cx="1062038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56210" y="971550"/>
            <a:ext cx="5143500" cy="3829050"/>
          </a:xfrm>
          <a:prstGeom prst="rect">
            <a:avLst/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Redefining what it means to be a</a:t>
            </a:r>
            <a:b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</a:br>
            <a:r>
              <a:rPr lang="en-US" altLang="en-US" sz="2400" i="1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computer scientist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:</a:t>
            </a:r>
          </a:p>
          <a:p>
            <a:pPr algn="ctr">
              <a:defRPr/>
            </a:pPr>
            <a:endParaRPr lang="en-US" altLang="en-US" sz="2400" dirty="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  <a:p>
            <a:pPr algn="ctr">
              <a:defRPr/>
            </a:pPr>
            <a:r>
              <a:rPr lang="en-US" altLang="en-US" sz="2400" i="1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Study of Computation </a:t>
            </a:r>
            <a:r>
              <a:rPr lang="en-US" altLang="en-US" sz="2400" b="1" i="1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and Data</a:t>
            </a:r>
          </a:p>
          <a:p>
            <a:pPr algn="ctr">
              <a:defRPr/>
            </a:pPr>
            <a:endParaRPr lang="en-US" altLang="en-US" sz="2400" b="1" i="1" dirty="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  <a:p>
            <a:pPr algn="ctr"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Mastering the concepts in </a:t>
            </a:r>
            <a:b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</a:br>
            <a:r>
              <a:rPr lang="en-US" altLang="en-US" sz="2400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CS186 has made you a better </a:t>
            </a:r>
            <a:r>
              <a:rPr lang="en-US" altLang="en-US" sz="2400" b="1" dirty="0">
                <a:solidFill>
                  <a:schemeClr val="tx1"/>
                </a:solidFill>
                <a:latin typeface="+mn-lt"/>
                <a:ea typeface="Gill Sans"/>
                <a:cs typeface="Gill Sans"/>
              </a:rPr>
              <a:t>Computer Scientist</a:t>
            </a:r>
          </a:p>
        </p:txBody>
      </p:sp>
    </p:spTree>
    <p:extLst>
      <p:ext uri="{BB962C8B-B14F-4D97-AF65-F5344CB8AC3E}">
        <p14:creationId xmlns:p14="http://schemas.microsoft.com/office/powerpoint/2010/main" val="98937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6756763" y="0"/>
            <a:ext cx="1244237" cy="8001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pic>
        <p:nvPicPr>
          <p:cNvPr id="2150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71512"/>
            <a:ext cx="925116" cy="120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693069" y="1903810"/>
            <a:ext cx="123944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50" dirty="0">
                <a:ea typeface="ＭＳ Ｐゴシック" charset="-128"/>
              </a:rPr>
              <a:t>John von Neumann</a:t>
            </a:r>
          </a:p>
        </p:txBody>
      </p:sp>
      <p:sp>
        <p:nvSpPr>
          <p:cNvPr id="11" name="Right Arrow 10"/>
          <p:cNvSpPr>
            <a:spLocks noChangeArrowheads="1"/>
          </p:cNvSpPr>
          <p:nvPr/>
        </p:nvSpPr>
        <p:spPr bwMode="auto">
          <a:xfrm>
            <a:off x="3600450" y="1051323"/>
            <a:ext cx="1257300" cy="548878"/>
          </a:xfrm>
          <a:prstGeom prst="rightArrow">
            <a:avLst>
              <a:gd name="adj1" fmla="val 50000"/>
              <a:gd name="adj2" fmla="val 49998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Double Brace 11"/>
          <p:cNvSpPr/>
          <p:nvPr/>
        </p:nvSpPr>
        <p:spPr>
          <a:xfrm>
            <a:off x="5251847" y="800100"/>
            <a:ext cx="2228850" cy="108585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/>
              <a:t>Unordered</a:t>
            </a:r>
          </a:p>
          <a:p>
            <a:pPr algn="ctr">
              <a:defRPr/>
            </a:pPr>
            <a:r>
              <a:rPr lang="en-US" sz="1350" dirty="0"/>
              <a:t>Collections</a:t>
            </a:r>
          </a:p>
        </p:txBody>
      </p:sp>
      <p:sp>
        <p:nvSpPr>
          <p:cNvPr id="14" name="Down Arrow 13"/>
          <p:cNvSpPr>
            <a:spLocks noChangeArrowheads="1"/>
          </p:cNvSpPr>
          <p:nvPr/>
        </p:nvSpPr>
        <p:spPr bwMode="auto">
          <a:xfrm rot="2927466">
            <a:off x="4504135" y="2340769"/>
            <a:ext cx="519113" cy="914400"/>
          </a:xfrm>
          <a:prstGeom prst="downArrow">
            <a:avLst>
              <a:gd name="adj1" fmla="val 50000"/>
              <a:gd name="adj2" fmla="val 49998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1512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174206"/>
            <a:ext cx="2252663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TextBox 15"/>
          <p:cNvSpPr txBox="1">
            <a:spLocks noChangeArrowheads="1"/>
          </p:cNvSpPr>
          <p:nvPr/>
        </p:nvSpPr>
        <p:spPr bwMode="auto">
          <a:xfrm>
            <a:off x="1683544" y="4674394"/>
            <a:ext cx="273408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chemeClr val="tx1"/>
                </a:solidFill>
                <a:latin typeface="Calibri" panose="020F0502020204030204" pitchFamily="34" charset="0"/>
              </a:rPr>
              <a:t>Out-of-Core Algorithms</a:t>
            </a:r>
          </a:p>
        </p:txBody>
      </p:sp>
      <p:sp>
        <p:nvSpPr>
          <p:cNvPr id="17" name="Down Arrow 16"/>
          <p:cNvSpPr>
            <a:spLocks noChangeArrowheads="1"/>
          </p:cNvSpPr>
          <p:nvPr/>
        </p:nvSpPr>
        <p:spPr bwMode="auto">
          <a:xfrm>
            <a:off x="6129337" y="2283619"/>
            <a:ext cx="519113" cy="563166"/>
          </a:xfrm>
          <a:prstGeom prst="down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1515" name="Picture 15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191" y="3030141"/>
            <a:ext cx="2000250" cy="143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TextBox 158"/>
          <p:cNvSpPr txBox="1">
            <a:spLocks noChangeArrowheads="1"/>
          </p:cNvSpPr>
          <p:nvPr/>
        </p:nvSpPr>
        <p:spPr bwMode="auto">
          <a:xfrm>
            <a:off x="4954192" y="4635103"/>
            <a:ext cx="26620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chemeClr val="tx1"/>
                </a:solidFill>
                <a:latin typeface="Calibri" panose="020F0502020204030204" pitchFamily="34" charset="0"/>
              </a:rPr>
              <a:t>Distributed Algorithms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3234" y="448178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Helvetica Neue" charset="0"/>
                <a:ea typeface="Helvetica Neue" charset="0"/>
                <a:cs typeface="Helvetica Neue" charset="0"/>
              </a:rPr>
              <a:t>HW3!</a:t>
            </a:r>
            <a:endParaRPr lang="en-US" dirty="0">
              <a:solidFill>
                <a:srgbClr val="C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57788" y="228600"/>
            <a:ext cx="132882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dirty="0">
                <a:ea typeface="ＭＳ Ｐゴシック" charset="-128"/>
              </a:rPr>
              <a:t>Computation on</a:t>
            </a:r>
          </a:p>
        </p:txBody>
      </p:sp>
    </p:spTree>
    <p:extLst>
      <p:ext uri="{BB962C8B-B14F-4D97-AF65-F5344CB8AC3E}">
        <p14:creationId xmlns:p14="http://schemas.microsoft.com/office/powerpoint/2010/main" val="53551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521619" y="141685"/>
            <a:ext cx="5450681" cy="9941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Scaling across the memory hierarchy: to Pluto and beyond</a:t>
            </a:r>
          </a:p>
        </p:txBody>
      </p:sp>
      <p:grpSp>
        <p:nvGrpSpPr>
          <p:cNvPr id="1640" name="Group 1639"/>
          <p:cNvGrpSpPr>
            <a:grpSpLocks/>
          </p:cNvGrpSpPr>
          <p:nvPr/>
        </p:nvGrpSpPr>
        <p:grpSpPr bwMode="auto">
          <a:xfrm>
            <a:off x="1727597" y="1268016"/>
            <a:ext cx="5423297" cy="3400425"/>
            <a:chOff x="491" y="1065"/>
            <a:chExt cx="4555" cy="2856"/>
          </a:xfrm>
        </p:grpSpPr>
        <p:sp>
          <p:nvSpPr>
            <p:cNvPr id="1641" name="Freeform 1640"/>
            <p:cNvSpPr>
              <a:spLocks/>
            </p:cNvSpPr>
            <p:nvPr/>
          </p:nvSpPr>
          <p:spPr bwMode="auto">
            <a:xfrm>
              <a:off x="2521" y="2394"/>
              <a:ext cx="86" cy="50"/>
            </a:xfrm>
            <a:custGeom>
              <a:avLst/>
              <a:gdLst>
                <a:gd name="T0" fmla="*/ 0 w 86"/>
                <a:gd name="T1" fmla="*/ 22 h 50"/>
                <a:gd name="T2" fmla="*/ 55 w 86"/>
                <a:gd name="T3" fmla="*/ 0 h 50"/>
                <a:gd name="T4" fmla="*/ 86 w 86"/>
                <a:gd name="T5" fmla="*/ 0 h 50"/>
                <a:gd name="T6" fmla="*/ 86 w 86"/>
                <a:gd name="T7" fmla="*/ 29 h 50"/>
                <a:gd name="T8" fmla="*/ 31 w 86"/>
                <a:gd name="T9" fmla="*/ 50 h 50"/>
                <a:gd name="T10" fmla="*/ 0 w 86"/>
                <a:gd name="T11" fmla="*/ 50 h 50"/>
                <a:gd name="T12" fmla="*/ 0 w 86"/>
                <a:gd name="T13" fmla="*/ 22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50"/>
                <a:gd name="T23" fmla="*/ 86 w 86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50">
                  <a:moveTo>
                    <a:pt x="0" y="22"/>
                  </a:moveTo>
                  <a:lnTo>
                    <a:pt x="55" y="0"/>
                  </a:lnTo>
                  <a:lnTo>
                    <a:pt x="86" y="0"/>
                  </a:lnTo>
                  <a:lnTo>
                    <a:pt x="86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2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2" name="Freeform 1641"/>
            <p:cNvSpPr>
              <a:spLocks/>
            </p:cNvSpPr>
            <p:nvPr/>
          </p:nvSpPr>
          <p:spPr bwMode="auto">
            <a:xfrm>
              <a:off x="2459" y="2416"/>
              <a:ext cx="93" cy="56"/>
            </a:xfrm>
            <a:custGeom>
              <a:avLst/>
              <a:gdLst>
                <a:gd name="T0" fmla="*/ 0 w 93"/>
                <a:gd name="T1" fmla="*/ 28 h 56"/>
                <a:gd name="T2" fmla="*/ 62 w 93"/>
                <a:gd name="T3" fmla="*/ 0 h 56"/>
                <a:gd name="T4" fmla="*/ 93 w 93"/>
                <a:gd name="T5" fmla="*/ 0 h 56"/>
                <a:gd name="T6" fmla="*/ 93 w 93"/>
                <a:gd name="T7" fmla="*/ 28 h 56"/>
                <a:gd name="T8" fmla="*/ 31 w 93"/>
                <a:gd name="T9" fmla="*/ 56 h 56"/>
                <a:gd name="T10" fmla="*/ 0 w 93"/>
                <a:gd name="T11" fmla="*/ 56 h 56"/>
                <a:gd name="T12" fmla="*/ 0 w 93"/>
                <a:gd name="T13" fmla="*/ 2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"/>
                <a:gd name="T22" fmla="*/ 0 h 56"/>
                <a:gd name="T23" fmla="*/ 93 w 93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" h="56">
                  <a:moveTo>
                    <a:pt x="0" y="28"/>
                  </a:moveTo>
                  <a:lnTo>
                    <a:pt x="62" y="0"/>
                  </a:lnTo>
                  <a:lnTo>
                    <a:pt x="93" y="0"/>
                  </a:lnTo>
                  <a:lnTo>
                    <a:pt x="93" y="28"/>
                  </a:lnTo>
                  <a:lnTo>
                    <a:pt x="31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3" name="Freeform 1642"/>
            <p:cNvSpPr>
              <a:spLocks/>
            </p:cNvSpPr>
            <p:nvPr/>
          </p:nvSpPr>
          <p:spPr bwMode="auto">
            <a:xfrm>
              <a:off x="2404" y="2444"/>
              <a:ext cx="86" cy="49"/>
            </a:xfrm>
            <a:custGeom>
              <a:avLst/>
              <a:gdLst>
                <a:gd name="T0" fmla="*/ 0 w 86"/>
                <a:gd name="T1" fmla="*/ 21 h 49"/>
                <a:gd name="T2" fmla="*/ 55 w 86"/>
                <a:gd name="T3" fmla="*/ 0 h 49"/>
                <a:gd name="T4" fmla="*/ 86 w 86"/>
                <a:gd name="T5" fmla="*/ 0 h 49"/>
                <a:gd name="T6" fmla="*/ 86 w 86"/>
                <a:gd name="T7" fmla="*/ 28 h 49"/>
                <a:gd name="T8" fmla="*/ 31 w 86"/>
                <a:gd name="T9" fmla="*/ 49 h 49"/>
                <a:gd name="T10" fmla="*/ 0 w 86"/>
                <a:gd name="T11" fmla="*/ 49 h 49"/>
                <a:gd name="T12" fmla="*/ 0 w 86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49"/>
                <a:gd name="T23" fmla="*/ 86 w 86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49">
                  <a:moveTo>
                    <a:pt x="0" y="21"/>
                  </a:moveTo>
                  <a:lnTo>
                    <a:pt x="55" y="0"/>
                  </a:lnTo>
                  <a:lnTo>
                    <a:pt x="86" y="0"/>
                  </a:lnTo>
                  <a:lnTo>
                    <a:pt x="86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4" name="Freeform 1643"/>
            <p:cNvSpPr>
              <a:spLocks/>
            </p:cNvSpPr>
            <p:nvPr/>
          </p:nvSpPr>
          <p:spPr bwMode="auto">
            <a:xfrm>
              <a:off x="2357" y="2465"/>
              <a:ext cx="78" cy="49"/>
            </a:xfrm>
            <a:custGeom>
              <a:avLst/>
              <a:gdLst>
                <a:gd name="T0" fmla="*/ 0 w 78"/>
                <a:gd name="T1" fmla="*/ 21 h 49"/>
                <a:gd name="T2" fmla="*/ 47 w 78"/>
                <a:gd name="T3" fmla="*/ 0 h 49"/>
                <a:gd name="T4" fmla="*/ 78 w 78"/>
                <a:gd name="T5" fmla="*/ 0 h 49"/>
                <a:gd name="T6" fmla="*/ 78 w 78"/>
                <a:gd name="T7" fmla="*/ 28 h 49"/>
                <a:gd name="T8" fmla="*/ 32 w 78"/>
                <a:gd name="T9" fmla="*/ 49 h 49"/>
                <a:gd name="T10" fmla="*/ 0 w 78"/>
                <a:gd name="T11" fmla="*/ 49 h 49"/>
                <a:gd name="T12" fmla="*/ 0 w 78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49"/>
                <a:gd name="T23" fmla="*/ 78 w 78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49">
                  <a:moveTo>
                    <a:pt x="0" y="21"/>
                  </a:moveTo>
                  <a:lnTo>
                    <a:pt x="47" y="0"/>
                  </a:lnTo>
                  <a:lnTo>
                    <a:pt x="78" y="0"/>
                  </a:lnTo>
                  <a:lnTo>
                    <a:pt x="78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5" name="Freeform 1644"/>
            <p:cNvSpPr>
              <a:spLocks/>
            </p:cNvSpPr>
            <p:nvPr/>
          </p:nvSpPr>
          <p:spPr bwMode="auto">
            <a:xfrm>
              <a:off x="2310" y="2486"/>
              <a:ext cx="79" cy="49"/>
            </a:xfrm>
            <a:custGeom>
              <a:avLst/>
              <a:gdLst>
                <a:gd name="T0" fmla="*/ 0 w 79"/>
                <a:gd name="T1" fmla="*/ 21 h 49"/>
                <a:gd name="T2" fmla="*/ 47 w 79"/>
                <a:gd name="T3" fmla="*/ 0 h 49"/>
                <a:gd name="T4" fmla="*/ 79 w 79"/>
                <a:gd name="T5" fmla="*/ 0 h 49"/>
                <a:gd name="T6" fmla="*/ 79 w 79"/>
                <a:gd name="T7" fmla="*/ 28 h 49"/>
                <a:gd name="T8" fmla="*/ 32 w 79"/>
                <a:gd name="T9" fmla="*/ 49 h 49"/>
                <a:gd name="T10" fmla="*/ 0 w 79"/>
                <a:gd name="T11" fmla="*/ 49 h 49"/>
                <a:gd name="T12" fmla="*/ 0 w 79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9"/>
                <a:gd name="T22" fmla="*/ 0 h 49"/>
                <a:gd name="T23" fmla="*/ 79 w 7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9" h="49">
                  <a:moveTo>
                    <a:pt x="0" y="21"/>
                  </a:moveTo>
                  <a:lnTo>
                    <a:pt x="47" y="0"/>
                  </a:lnTo>
                  <a:lnTo>
                    <a:pt x="79" y="0"/>
                  </a:lnTo>
                  <a:lnTo>
                    <a:pt x="79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6" name="Freeform 1645"/>
            <p:cNvSpPr>
              <a:spLocks/>
            </p:cNvSpPr>
            <p:nvPr/>
          </p:nvSpPr>
          <p:spPr bwMode="auto">
            <a:xfrm>
              <a:off x="2279" y="2507"/>
              <a:ext cx="63" cy="49"/>
            </a:xfrm>
            <a:custGeom>
              <a:avLst/>
              <a:gdLst>
                <a:gd name="T0" fmla="*/ 0 w 63"/>
                <a:gd name="T1" fmla="*/ 21 h 49"/>
                <a:gd name="T2" fmla="*/ 31 w 63"/>
                <a:gd name="T3" fmla="*/ 0 h 49"/>
                <a:gd name="T4" fmla="*/ 63 w 63"/>
                <a:gd name="T5" fmla="*/ 0 h 49"/>
                <a:gd name="T6" fmla="*/ 63 w 63"/>
                <a:gd name="T7" fmla="*/ 28 h 49"/>
                <a:gd name="T8" fmla="*/ 31 w 63"/>
                <a:gd name="T9" fmla="*/ 49 h 49"/>
                <a:gd name="T10" fmla="*/ 0 w 63"/>
                <a:gd name="T11" fmla="*/ 49 h 49"/>
                <a:gd name="T12" fmla="*/ 0 w 63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49"/>
                <a:gd name="T23" fmla="*/ 63 w 63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49">
                  <a:moveTo>
                    <a:pt x="0" y="21"/>
                  </a:moveTo>
                  <a:lnTo>
                    <a:pt x="31" y="0"/>
                  </a:lnTo>
                  <a:lnTo>
                    <a:pt x="63" y="0"/>
                  </a:lnTo>
                  <a:lnTo>
                    <a:pt x="63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7" name="Freeform 1646"/>
            <p:cNvSpPr>
              <a:spLocks/>
            </p:cNvSpPr>
            <p:nvPr/>
          </p:nvSpPr>
          <p:spPr bwMode="auto">
            <a:xfrm>
              <a:off x="2256" y="2528"/>
              <a:ext cx="54" cy="42"/>
            </a:xfrm>
            <a:custGeom>
              <a:avLst/>
              <a:gdLst>
                <a:gd name="T0" fmla="*/ 0 w 54"/>
                <a:gd name="T1" fmla="*/ 14 h 42"/>
                <a:gd name="T2" fmla="*/ 23 w 54"/>
                <a:gd name="T3" fmla="*/ 0 h 42"/>
                <a:gd name="T4" fmla="*/ 54 w 54"/>
                <a:gd name="T5" fmla="*/ 0 h 42"/>
                <a:gd name="T6" fmla="*/ 54 w 54"/>
                <a:gd name="T7" fmla="*/ 28 h 42"/>
                <a:gd name="T8" fmla="*/ 31 w 54"/>
                <a:gd name="T9" fmla="*/ 42 h 42"/>
                <a:gd name="T10" fmla="*/ 0 w 54"/>
                <a:gd name="T11" fmla="*/ 42 h 42"/>
                <a:gd name="T12" fmla="*/ 0 w 54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2"/>
                <a:gd name="T23" fmla="*/ 54 w 54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2">
                  <a:moveTo>
                    <a:pt x="0" y="14"/>
                  </a:moveTo>
                  <a:lnTo>
                    <a:pt x="23" y="0"/>
                  </a:lnTo>
                  <a:lnTo>
                    <a:pt x="54" y="0"/>
                  </a:lnTo>
                  <a:lnTo>
                    <a:pt x="54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8" name="Freeform 1647"/>
            <p:cNvSpPr>
              <a:spLocks/>
            </p:cNvSpPr>
            <p:nvPr/>
          </p:nvSpPr>
          <p:spPr bwMode="auto">
            <a:xfrm>
              <a:off x="2225" y="2542"/>
              <a:ext cx="62" cy="49"/>
            </a:xfrm>
            <a:custGeom>
              <a:avLst/>
              <a:gdLst>
                <a:gd name="T0" fmla="*/ 0 w 62"/>
                <a:gd name="T1" fmla="*/ 21 h 49"/>
                <a:gd name="T2" fmla="*/ 31 w 62"/>
                <a:gd name="T3" fmla="*/ 0 h 49"/>
                <a:gd name="T4" fmla="*/ 62 w 62"/>
                <a:gd name="T5" fmla="*/ 0 h 49"/>
                <a:gd name="T6" fmla="*/ 62 w 62"/>
                <a:gd name="T7" fmla="*/ 28 h 49"/>
                <a:gd name="T8" fmla="*/ 31 w 62"/>
                <a:gd name="T9" fmla="*/ 49 h 49"/>
                <a:gd name="T10" fmla="*/ 0 w 62"/>
                <a:gd name="T11" fmla="*/ 49 h 49"/>
                <a:gd name="T12" fmla="*/ 0 w 62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9"/>
                <a:gd name="T23" fmla="*/ 62 w 62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9">
                  <a:moveTo>
                    <a:pt x="0" y="21"/>
                  </a:moveTo>
                  <a:lnTo>
                    <a:pt x="31" y="0"/>
                  </a:lnTo>
                  <a:lnTo>
                    <a:pt x="62" y="0"/>
                  </a:lnTo>
                  <a:lnTo>
                    <a:pt x="62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49" name="Freeform 1648"/>
            <p:cNvSpPr>
              <a:spLocks/>
            </p:cNvSpPr>
            <p:nvPr/>
          </p:nvSpPr>
          <p:spPr bwMode="auto">
            <a:xfrm>
              <a:off x="2209" y="2563"/>
              <a:ext cx="47" cy="43"/>
            </a:xfrm>
            <a:custGeom>
              <a:avLst/>
              <a:gdLst>
                <a:gd name="T0" fmla="*/ 0 w 47"/>
                <a:gd name="T1" fmla="*/ 14 h 43"/>
                <a:gd name="T2" fmla="*/ 16 w 47"/>
                <a:gd name="T3" fmla="*/ 0 h 43"/>
                <a:gd name="T4" fmla="*/ 47 w 47"/>
                <a:gd name="T5" fmla="*/ 0 h 43"/>
                <a:gd name="T6" fmla="*/ 47 w 47"/>
                <a:gd name="T7" fmla="*/ 28 h 43"/>
                <a:gd name="T8" fmla="*/ 31 w 47"/>
                <a:gd name="T9" fmla="*/ 43 h 43"/>
                <a:gd name="T10" fmla="*/ 0 w 47"/>
                <a:gd name="T11" fmla="*/ 43 h 43"/>
                <a:gd name="T12" fmla="*/ 0 w 47"/>
                <a:gd name="T13" fmla="*/ 1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3"/>
                <a:gd name="T23" fmla="*/ 47 w 47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3">
                  <a:moveTo>
                    <a:pt x="0" y="14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3"/>
                  </a:lnTo>
                  <a:lnTo>
                    <a:pt x="0" y="43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0" name="Freeform 1649"/>
            <p:cNvSpPr>
              <a:spLocks/>
            </p:cNvSpPr>
            <p:nvPr/>
          </p:nvSpPr>
          <p:spPr bwMode="auto">
            <a:xfrm>
              <a:off x="2186" y="2577"/>
              <a:ext cx="54" cy="50"/>
            </a:xfrm>
            <a:custGeom>
              <a:avLst/>
              <a:gdLst>
                <a:gd name="T0" fmla="*/ 0 w 54"/>
                <a:gd name="T1" fmla="*/ 21 h 50"/>
                <a:gd name="T2" fmla="*/ 23 w 54"/>
                <a:gd name="T3" fmla="*/ 0 h 50"/>
                <a:gd name="T4" fmla="*/ 54 w 54"/>
                <a:gd name="T5" fmla="*/ 0 h 50"/>
                <a:gd name="T6" fmla="*/ 54 w 54"/>
                <a:gd name="T7" fmla="*/ 29 h 50"/>
                <a:gd name="T8" fmla="*/ 31 w 54"/>
                <a:gd name="T9" fmla="*/ 50 h 50"/>
                <a:gd name="T10" fmla="*/ 0 w 54"/>
                <a:gd name="T11" fmla="*/ 50 h 50"/>
                <a:gd name="T12" fmla="*/ 0 w 54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50"/>
                <a:gd name="T23" fmla="*/ 54 w 54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50">
                  <a:moveTo>
                    <a:pt x="0" y="21"/>
                  </a:moveTo>
                  <a:lnTo>
                    <a:pt x="23" y="0"/>
                  </a:lnTo>
                  <a:lnTo>
                    <a:pt x="54" y="0"/>
                  </a:lnTo>
                  <a:lnTo>
                    <a:pt x="54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1" name="Freeform 1650"/>
            <p:cNvSpPr>
              <a:spLocks/>
            </p:cNvSpPr>
            <p:nvPr/>
          </p:nvSpPr>
          <p:spPr bwMode="auto">
            <a:xfrm>
              <a:off x="2178" y="2598"/>
              <a:ext cx="39" cy="36"/>
            </a:xfrm>
            <a:custGeom>
              <a:avLst/>
              <a:gdLst>
                <a:gd name="T0" fmla="*/ 0 w 39"/>
                <a:gd name="T1" fmla="*/ 8 h 36"/>
                <a:gd name="T2" fmla="*/ 8 w 39"/>
                <a:gd name="T3" fmla="*/ 0 h 36"/>
                <a:gd name="T4" fmla="*/ 39 w 39"/>
                <a:gd name="T5" fmla="*/ 0 h 36"/>
                <a:gd name="T6" fmla="*/ 39 w 39"/>
                <a:gd name="T7" fmla="*/ 29 h 36"/>
                <a:gd name="T8" fmla="*/ 31 w 39"/>
                <a:gd name="T9" fmla="*/ 36 h 36"/>
                <a:gd name="T10" fmla="*/ 0 w 39"/>
                <a:gd name="T11" fmla="*/ 36 h 36"/>
                <a:gd name="T12" fmla="*/ 0 w 39"/>
                <a:gd name="T13" fmla="*/ 8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6"/>
                <a:gd name="T23" fmla="*/ 39 w 3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6">
                  <a:moveTo>
                    <a:pt x="0" y="8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1" y="36"/>
                  </a:lnTo>
                  <a:lnTo>
                    <a:pt x="0" y="36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2" name="Freeform 1651"/>
            <p:cNvSpPr>
              <a:spLocks/>
            </p:cNvSpPr>
            <p:nvPr/>
          </p:nvSpPr>
          <p:spPr bwMode="auto">
            <a:xfrm>
              <a:off x="2170" y="2606"/>
              <a:ext cx="39" cy="49"/>
            </a:xfrm>
            <a:custGeom>
              <a:avLst/>
              <a:gdLst>
                <a:gd name="T0" fmla="*/ 0 w 39"/>
                <a:gd name="T1" fmla="*/ 21 h 49"/>
                <a:gd name="T2" fmla="*/ 8 w 39"/>
                <a:gd name="T3" fmla="*/ 0 h 49"/>
                <a:gd name="T4" fmla="*/ 39 w 39"/>
                <a:gd name="T5" fmla="*/ 0 h 49"/>
                <a:gd name="T6" fmla="*/ 39 w 39"/>
                <a:gd name="T7" fmla="*/ 28 h 49"/>
                <a:gd name="T8" fmla="*/ 31 w 39"/>
                <a:gd name="T9" fmla="*/ 49 h 49"/>
                <a:gd name="T10" fmla="*/ 0 w 39"/>
                <a:gd name="T11" fmla="*/ 49 h 49"/>
                <a:gd name="T12" fmla="*/ 0 w 39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21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3" name="Rectangle 1652"/>
            <p:cNvSpPr>
              <a:spLocks noChangeArrowheads="1"/>
            </p:cNvSpPr>
            <p:nvPr/>
          </p:nvSpPr>
          <p:spPr bwMode="auto">
            <a:xfrm>
              <a:off x="2170" y="2627"/>
              <a:ext cx="31" cy="4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4" name="Freeform 1653"/>
            <p:cNvSpPr>
              <a:spLocks/>
            </p:cNvSpPr>
            <p:nvPr/>
          </p:nvSpPr>
          <p:spPr bwMode="auto">
            <a:xfrm>
              <a:off x="2170" y="2641"/>
              <a:ext cx="39" cy="42"/>
            </a:xfrm>
            <a:custGeom>
              <a:avLst/>
              <a:gdLst>
                <a:gd name="T0" fmla="*/ 0 w 39"/>
                <a:gd name="T1" fmla="*/ 0 h 42"/>
                <a:gd name="T2" fmla="*/ 31 w 39"/>
                <a:gd name="T3" fmla="*/ 0 h 42"/>
                <a:gd name="T4" fmla="*/ 39 w 39"/>
                <a:gd name="T5" fmla="*/ 14 h 42"/>
                <a:gd name="T6" fmla="*/ 39 w 39"/>
                <a:gd name="T7" fmla="*/ 42 h 42"/>
                <a:gd name="T8" fmla="*/ 8 w 39"/>
                <a:gd name="T9" fmla="*/ 42 h 42"/>
                <a:gd name="T10" fmla="*/ 0 w 39"/>
                <a:gd name="T11" fmla="*/ 28 h 42"/>
                <a:gd name="T12" fmla="*/ 0 w 39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0"/>
                  </a:moveTo>
                  <a:lnTo>
                    <a:pt x="31" y="0"/>
                  </a:lnTo>
                  <a:lnTo>
                    <a:pt x="39" y="14"/>
                  </a:lnTo>
                  <a:lnTo>
                    <a:pt x="39" y="42"/>
                  </a:lnTo>
                  <a:lnTo>
                    <a:pt x="8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5" name="Freeform 1654"/>
            <p:cNvSpPr>
              <a:spLocks/>
            </p:cNvSpPr>
            <p:nvPr/>
          </p:nvSpPr>
          <p:spPr bwMode="auto">
            <a:xfrm>
              <a:off x="2178" y="2655"/>
              <a:ext cx="39" cy="35"/>
            </a:xfrm>
            <a:custGeom>
              <a:avLst/>
              <a:gdLst>
                <a:gd name="T0" fmla="*/ 0 w 39"/>
                <a:gd name="T1" fmla="*/ 0 h 35"/>
                <a:gd name="T2" fmla="*/ 31 w 39"/>
                <a:gd name="T3" fmla="*/ 0 h 35"/>
                <a:gd name="T4" fmla="*/ 39 w 39"/>
                <a:gd name="T5" fmla="*/ 7 h 35"/>
                <a:gd name="T6" fmla="*/ 39 w 39"/>
                <a:gd name="T7" fmla="*/ 35 h 35"/>
                <a:gd name="T8" fmla="*/ 8 w 39"/>
                <a:gd name="T9" fmla="*/ 35 h 35"/>
                <a:gd name="T10" fmla="*/ 0 w 39"/>
                <a:gd name="T11" fmla="*/ 28 h 35"/>
                <a:gd name="T12" fmla="*/ 0 w 39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0"/>
                  </a:moveTo>
                  <a:lnTo>
                    <a:pt x="31" y="0"/>
                  </a:lnTo>
                  <a:lnTo>
                    <a:pt x="39" y="7"/>
                  </a:lnTo>
                  <a:lnTo>
                    <a:pt x="39" y="35"/>
                  </a:lnTo>
                  <a:lnTo>
                    <a:pt x="8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6" name="Freeform 1655"/>
            <p:cNvSpPr>
              <a:spLocks/>
            </p:cNvSpPr>
            <p:nvPr/>
          </p:nvSpPr>
          <p:spPr bwMode="auto">
            <a:xfrm>
              <a:off x="2186" y="2662"/>
              <a:ext cx="39" cy="35"/>
            </a:xfrm>
            <a:custGeom>
              <a:avLst/>
              <a:gdLst>
                <a:gd name="T0" fmla="*/ 0 w 39"/>
                <a:gd name="T1" fmla="*/ 0 h 35"/>
                <a:gd name="T2" fmla="*/ 31 w 39"/>
                <a:gd name="T3" fmla="*/ 0 h 35"/>
                <a:gd name="T4" fmla="*/ 39 w 39"/>
                <a:gd name="T5" fmla="*/ 7 h 35"/>
                <a:gd name="T6" fmla="*/ 39 w 39"/>
                <a:gd name="T7" fmla="*/ 35 h 35"/>
                <a:gd name="T8" fmla="*/ 7 w 39"/>
                <a:gd name="T9" fmla="*/ 35 h 35"/>
                <a:gd name="T10" fmla="*/ 0 w 39"/>
                <a:gd name="T11" fmla="*/ 28 h 35"/>
                <a:gd name="T12" fmla="*/ 0 w 39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0"/>
                  </a:moveTo>
                  <a:lnTo>
                    <a:pt x="31" y="0"/>
                  </a:lnTo>
                  <a:lnTo>
                    <a:pt x="39" y="7"/>
                  </a:lnTo>
                  <a:lnTo>
                    <a:pt x="39" y="35"/>
                  </a:lnTo>
                  <a:lnTo>
                    <a:pt x="7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7" name="Freeform 1656"/>
            <p:cNvSpPr>
              <a:spLocks/>
            </p:cNvSpPr>
            <p:nvPr/>
          </p:nvSpPr>
          <p:spPr bwMode="auto">
            <a:xfrm>
              <a:off x="2193" y="2669"/>
              <a:ext cx="55" cy="42"/>
            </a:xfrm>
            <a:custGeom>
              <a:avLst/>
              <a:gdLst>
                <a:gd name="T0" fmla="*/ 0 w 55"/>
                <a:gd name="T1" fmla="*/ 0 h 42"/>
                <a:gd name="T2" fmla="*/ 32 w 55"/>
                <a:gd name="T3" fmla="*/ 0 h 42"/>
                <a:gd name="T4" fmla="*/ 55 w 55"/>
                <a:gd name="T5" fmla="*/ 14 h 42"/>
                <a:gd name="T6" fmla="*/ 55 w 55"/>
                <a:gd name="T7" fmla="*/ 42 h 42"/>
                <a:gd name="T8" fmla="*/ 24 w 55"/>
                <a:gd name="T9" fmla="*/ 42 h 42"/>
                <a:gd name="T10" fmla="*/ 0 w 55"/>
                <a:gd name="T11" fmla="*/ 28 h 42"/>
                <a:gd name="T12" fmla="*/ 0 w 55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2"/>
                <a:gd name="T23" fmla="*/ 55 w 55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2">
                  <a:moveTo>
                    <a:pt x="0" y="0"/>
                  </a:moveTo>
                  <a:lnTo>
                    <a:pt x="32" y="0"/>
                  </a:lnTo>
                  <a:lnTo>
                    <a:pt x="55" y="14"/>
                  </a:lnTo>
                  <a:lnTo>
                    <a:pt x="55" y="42"/>
                  </a:lnTo>
                  <a:lnTo>
                    <a:pt x="24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8" name="Freeform 1657"/>
            <p:cNvSpPr>
              <a:spLocks/>
            </p:cNvSpPr>
            <p:nvPr/>
          </p:nvSpPr>
          <p:spPr bwMode="auto">
            <a:xfrm>
              <a:off x="2217" y="2683"/>
              <a:ext cx="62" cy="49"/>
            </a:xfrm>
            <a:custGeom>
              <a:avLst/>
              <a:gdLst>
                <a:gd name="T0" fmla="*/ 0 w 62"/>
                <a:gd name="T1" fmla="*/ 0 h 49"/>
                <a:gd name="T2" fmla="*/ 31 w 62"/>
                <a:gd name="T3" fmla="*/ 0 h 49"/>
                <a:gd name="T4" fmla="*/ 62 w 62"/>
                <a:gd name="T5" fmla="*/ 21 h 49"/>
                <a:gd name="T6" fmla="*/ 62 w 62"/>
                <a:gd name="T7" fmla="*/ 49 h 49"/>
                <a:gd name="T8" fmla="*/ 31 w 62"/>
                <a:gd name="T9" fmla="*/ 49 h 49"/>
                <a:gd name="T10" fmla="*/ 0 w 62"/>
                <a:gd name="T11" fmla="*/ 28 h 49"/>
                <a:gd name="T12" fmla="*/ 0 w 62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9"/>
                <a:gd name="T23" fmla="*/ 62 w 62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9">
                  <a:moveTo>
                    <a:pt x="0" y="0"/>
                  </a:moveTo>
                  <a:lnTo>
                    <a:pt x="31" y="0"/>
                  </a:lnTo>
                  <a:lnTo>
                    <a:pt x="62" y="21"/>
                  </a:lnTo>
                  <a:lnTo>
                    <a:pt x="62" y="49"/>
                  </a:lnTo>
                  <a:lnTo>
                    <a:pt x="31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59" name="Freeform 1658"/>
            <p:cNvSpPr>
              <a:spLocks/>
            </p:cNvSpPr>
            <p:nvPr/>
          </p:nvSpPr>
          <p:spPr bwMode="auto">
            <a:xfrm>
              <a:off x="2248" y="2704"/>
              <a:ext cx="47" cy="42"/>
            </a:xfrm>
            <a:custGeom>
              <a:avLst/>
              <a:gdLst>
                <a:gd name="T0" fmla="*/ 0 w 47"/>
                <a:gd name="T1" fmla="*/ 0 h 42"/>
                <a:gd name="T2" fmla="*/ 31 w 47"/>
                <a:gd name="T3" fmla="*/ 0 h 42"/>
                <a:gd name="T4" fmla="*/ 47 w 47"/>
                <a:gd name="T5" fmla="*/ 14 h 42"/>
                <a:gd name="T6" fmla="*/ 47 w 47"/>
                <a:gd name="T7" fmla="*/ 42 h 42"/>
                <a:gd name="T8" fmla="*/ 16 w 47"/>
                <a:gd name="T9" fmla="*/ 42 h 42"/>
                <a:gd name="T10" fmla="*/ 0 w 47"/>
                <a:gd name="T11" fmla="*/ 28 h 42"/>
                <a:gd name="T12" fmla="*/ 0 w 4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0"/>
                  </a:moveTo>
                  <a:lnTo>
                    <a:pt x="31" y="0"/>
                  </a:lnTo>
                  <a:lnTo>
                    <a:pt x="47" y="14"/>
                  </a:lnTo>
                  <a:lnTo>
                    <a:pt x="47" y="42"/>
                  </a:lnTo>
                  <a:lnTo>
                    <a:pt x="16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0" name="Freeform 1659"/>
            <p:cNvSpPr>
              <a:spLocks/>
            </p:cNvSpPr>
            <p:nvPr/>
          </p:nvSpPr>
          <p:spPr bwMode="auto">
            <a:xfrm>
              <a:off x="2264" y="2718"/>
              <a:ext cx="62" cy="42"/>
            </a:xfrm>
            <a:custGeom>
              <a:avLst/>
              <a:gdLst>
                <a:gd name="T0" fmla="*/ 0 w 62"/>
                <a:gd name="T1" fmla="*/ 0 h 42"/>
                <a:gd name="T2" fmla="*/ 31 w 62"/>
                <a:gd name="T3" fmla="*/ 0 h 42"/>
                <a:gd name="T4" fmla="*/ 62 w 62"/>
                <a:gd name="T5" fmla="*/ 14 h 42"/>
                <a:gd name="T6" fmla="*/ 62 w 62"/>
                <a:gd name="T7" fmla="*/ 42 h 42"/>
                <a:gd name="T8" fmla="*/ 31 w 62"/>
                <a:gd name="T9" fmla="*/ 42 h 42"/>
                <a:gd name="T10" fmla="*/ 0 w 62"/>
                <a:gd name="T11" fmla="*/ 28 h 42"/>
                <a:gd name="T12" fmla="*/ 0 w 62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2"/>
                <a:gd name="T23" fmla="*/ 62 w 62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2">
                  <a:moveTo>
                    <a:pt x="0" y="0"/>
                  </a:moveTo>
                  <a:lnTo>
                    <a:pt x="31" y="0"/>
                  </a:lnTo>
                  <a:lnTo>
                    <a:pt x="62" y="14"/>
                  </a:lnTo>
                  <a:lnTo>
                    <a:pt x="62" y="42"/>
                  </a:lnTo>
                  <a:lnTo>
                    <a:pt x="31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1" name="Freeform 1660"/>
            <p:cNvSpPr>
              <a:spLocks/>
            </p:cNvSpPr>
            <p:nvPr/>
          </p:nvSpPr>
          <p:spPr bwMode="auto">
            <a:xfrm>
              <a:off x="2295" y="2732"/>
              <a:ext cx="54" cy="42"/>
            </a:xfrm>
            <a:custGeom>
              <a:avLst/>
              <a:gdLst>
                <a:gd name="T0" fmla="*/ 0 w 54"/>
                <a:gd name="T1" fmla="*/ 0 h 42"/>
                <a:gd name="T2" fmla="*/ 31 w 54"/>
                <a:gd name="T3" fmla="*/ 0 h 42"/>
                <a:gd name="T4" fmla="*/ 54 w 54"/>
                <a:gd name="T5" fmla="*/ 14 h 42"/>
                <a:gd name="T6" fmla="*/ 54 w 54"/>
                <a:gd name="T7" fmla="*/ 42 h 42"/>
                <a:gd name="T8" fmla="*/ 23 w 54"/>
                <a:gd name="T9" fmla="*/ 42 h 42"/>
                <a:gd name="T10" fmla="*/ 0 w 54"/>
                <a:gd name="T11" fmla="*/ 28 h 42"/>
                <a:gd name="T12" fmla="*/ 0 w 54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2"/>
                <a:gd name="T23" fmla="*/ 54 w 54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2">
                  <a:moveTo>
                    <a:pt x="0" y="0"/>
                  </a:moveTo>
                  <a:lnTo>
                    <a:pt x="31" y="0"/>
                  </a:lnTo>
                  <a:lnTo>
                    <a:pt x="54" y="14"/>
                  </a:lnTo>
                  <a:lnTo>
                    <a:pt x="54" y="42"/>
                  </a:lnTo>
                  <a:lnTo>
                    <a:pt x="23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2" name="Freeform 1661"/>
            <p:cNvSpPr>
              <a:spLocks/>
            </p:cNvSpPr>
            <p:nvPr/>
          </p:nvSpPr>
          <p:spPr bwMode="auto">
            <a:xfrm>
              <a:off x="2318" y="2746"/>
              <a:ext cx="55" cy="42"/>
            </a:xfrm>
            <a:custGeom>
              <a:avLst/>
              <a:gdLst>
                <a:gd name="T0" fmla="*/ 0 w 55"/>
                <a:gd name="T1" fmla="*/ 0 h 42"/>
                <a:gd name="T2" fmla="*/ 31 w 55"/>
                <a:gd name="T3" fmla="*/ 0 h 42"/>
                <a:gd name="T4" fmla="*/ 55 w 55"/>
                <a:gd name="T5" fmla="*/ 14 h 42"/>
                <a:gd name="T6" fmla="*/ 55 w 55"/>
                <a:gd name="T7" fmla="*/ 42 h 42"/>
                <a:gd name="T8" fmla="*/ 24 w 55"/>
                <a:gd name="T9" fmla="*/ 42 h 42"/>
                <a:gd name="T10" fmla="*/ 0 w 55"/>
                <a:gd name="T11" fmla="*/ 28 h 42"/>
                <a:gd name="T12" fmla="*/ 0 w 55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2"/>
                <a:gd name="T23" fmla="*/ 55 w 55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2">
                  <a:moveTo>
                    <a:pt x="0" y="0"/>
                  </a:moveTo>
                  <a:lnTo>
                    <a:pt x="31" y="0"/>
                  </a:lnTo>
                  <a:lnTo>
                    <a:pt x="55" y="14"/>
                  </a:lnTo>
                  <a:lnTo>
                    <a:pt x="55" y="42"/>
                  </a:lnTo>
                  <a:lnTo>
                    <a:pt x="24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3" name="Freeform 1662"/>
            <p:cNvSpPr>
              <a:spLocks/>
            </p:cNvSpPr>
            <p:nvPr/>
          </p:nvSpPr>
          <p:spPr bwMode="auto">
            <a:xfrm>
              <a:off x="2342" y="2760"/>
              <a:ext cx="54" cy="35"/>
            </a:xfrm>
            <a:custGeom>
              <a:avLst/>
              <a:gdLst>
                <a:gd name="T0" fmla="*/ 0 w 54"/>
                <a:gd name="T1" fmla="*/ 0 h 35"/>
                <a:gd name="T2" fmla="*/ 31 w 54"/>
                <a:gd name="T3" fmla="*/ 0 h 35"/>
                <a:gd name="T4" fmla="*/ 54 w 54"/>
                <a:gd name="T5" fmla="*/ 7 h 35"/>
                <a:gd name="T6" fmla="*/ 54 w 54"/>
                <a:gd name="T7" fmla="*/ 35 h 35"/>
                <a:gd name="T8" fmla="*/ 23 w 54"/>
                <a:gd name="T9" fmla="*/ 35 h 35"/>
                <a:gd name="T10" fmla="*/ 0 w 54"/>
                <a:gd name="T11" fmla="*/ 28 h 35"/>
                <a:gd name="T12" fmla="*/ 0 w 54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35"/>
                <a:gd name="T23" fmla="*/ 54 w 54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35">
                  <a:moveTo>
                    <a:pt x="0" y="0"/>
                  </a:moveTo>
                  <a:lnTo>
                    <a:pt x="31" y="0"/>
                  </a:lnTo>
                  <a:lnTo>
                    <a:pt x="54" y="7"/>
                  </a:lnTo>
                  <a:lnTo>
                    <a:pt x="54" y="35"/>
                  </a:lnTo>
                  <a:lnTo>
                    <a:pt x="23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4" name="Freeform 1663"/>
            <p:cNvSpPr>
              <a:spLocks/>
            </p:cNvSpPr>
            <p:nvPr/>
          </p:nvSpPr>
          <p:spPr bwMode="auto">
            <a:xfrm>
              <a:off x="2365" y="2767"/>
              <a:ext cx="47" cy="35"/>
            </a:xfrm>
            <a:custGeom>
              <a:avLst/>
              <a:gdLst>
                <a:gd name="T0" fmla="*/ 0 w 47"/>
                <a:gd name="T1" fmla="*/ 0 h 35"/>
                <a:gd name="T2" fmla="*/ 31 w 47"/>
                <a:gd name="T3" fmla="*/ 0 h 35"/>
                <a:gd name="T4" fmla="*/ 47 w 47"/>
                <a:gd name="T5" fmla="*/ 7 h 35"/>
                <a:gd name="T6" fmla="*/ 47 w 47"/>
                <a:gd name="T7" fmla="*/ 35 h 35"/>
                <a:gd name="T8" fmla="*/ 16 w 47"/>
                <a:gd name="T9" fmla="*/ 35 h 35"/>
                <a:gd name="T10" fmla="*/ 0 w 47"/>
                <a:gd name="T11" fmla="*/ 28 h 35"/>
                <a:gd name="T12" fmla="*/ 0 w 47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35"/>
                <a:gd name="T23" fmla="*/ 47 w 47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35">
                  <a:moveTo>
                    <a:pt x="0" y="0"/>
                  </a:moveTo>
                  <a:lnTo>
                    <a:pt x="31" y="0"/>
                  </a:lnTo>
                  <a:lnTo>
                    <a:pt x="47" y="7"/>
                  </a:lnTo>
                  <a:lnTo>
                    <a:pt x="47" y="35"/>
                  </a:lnTo>
                  <a:lnTo>
                    <a:pt x="16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5" name="Rectangle 1664"/>
            <p:cNvSpPr>
              <a:spLocks noChangeArrowheads="1"/>
            </p:cNvSpPr>
            <p:nvPr/>
          </p:nvSpPr>
          <p:spPr bwMode="auto">
            <a:xfrm>
              <a:off x="2381" y="2774"/>
              <a:ext cx="31" cy="2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6" name="Freeform 1665"/>
            <p:cNvSpPr>
              <a:spLocks/>
            </p:cNvSpPr>
            <p:nvPr/>
          </p:nvSpPr>
          <p:spPr bwMode="auto">
            <a:xfrm>
              <a:off x="2381" y="2774"/>
              <a:ext cx="47" cy="36"/>
            </a:xfrm>
            <a:custGeom>
              <a:avLst/>
              <a:gdLst>
                <a:gd name="T0" fmla="*/ 0 w 47"/>
                <a:gd name="T1" fmla="*/ 0 h 36"/>
                <a:gd name="T2" fmla="*/ 31 w 47"/>
                <a:gd name="T3" fmla="*/ 0 h 36"/>
                <a:gd name="T4" fmla="*/ 47 w 47"/>
                <a:gd name="T5" fmla="*/ 7 h 36"/>
                <a:gd name="T6" fmla="*/ 47 w 47"/>
                <a:gd name="T7" fmla="*/ 36 h 36"/>
                <a:gd name="T8" fmla="*/ 15 w 47"/>
                <a:gd name="T9" fmla="*/ 36 h 36"/>
                <a:gd name="T10" fmla="*/ 0 w 47"/>
                <a:gd name="T11" fmla="*/ 28 h 36"/>
                <a:gd name="T12" fmla="*/ 0 w 47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36"/>
                <a:gd name="T23" fmla="*/ 47 w 47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36">
                  <a:moveTo>
                    <a:pt x="0" y="0"/>
                  </a:moveTo>
                  <a:lnTo>
                    <a:pt x="31" y="0"/>
                  </a:lnTo>
                  <a:lnTo>
                    <a:pt x="47" y="7"/>
                  </a:lnTo>
                  <a:lnTo>
                    <a:pt x="47" y="36"/>
                  </a:lnTo>
                  <a:lnTo>
                    <a:pt x="15" y="3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7" name="Freeform 1666"/>
            <p:cNvSpPr>
              <a:spLocks/>
            </p:cNvSpPr>
            <p:nvPr/>
          </p:nvSpPr>
          <p:spPr bwMode="auto">
            <a:xfrm>
              <a:off x="2396" y="2781"/>
              <a:ext cx="63" cy="43"/>
            </a:xfrm>
            <a:custGeom>
              <a:avLst/>
              <a:gdLst>
                <a:gd name="T0" fmla="*/ 0 w 63"/>
                <a:gd name="T1" fmla="*/ 0 h 43"/>
                <a:gd name="T2" fmla="*/ 32 w 63"/>
                <a:gd name="T3" fmla="*/ 0 h 43"/>
                <a:gd name="T4" fmla="*/ 63 w 63"/>
                <a:gd name="T5" fmla="*/ 14 h 43"/>
                <a:gd name="T6" fmla="*/ 63 w 63"/>
                <a:gd name="T7" fmla="*/ 43 h 43"/>
                <a:gd name="T8" fmla="*/ 32 w 63"/>
                <a:gd name="T9" fmla="*/ 43 h 43"/>
                <a:gd name="T10" fmla="*/ 0 w 63"/>
                <a:gd name="T11" fmla="*/ 29 h 43"/>
                <a:gd name="T12" fmla="*/ 0 w 63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43"/>
                <a:gd name="T23" fmla="*/ 63 w 63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43">
                  <a:moveTo>
                    <a:pt x="0" y="0"/>
                  </a:moveTo>
                  <a:lnTo>
                    <a:pt x="32" y="0"/>
                  </a:lnTo>
                  <a:lnTo>
                    <a:pt x="63" y="14"/>
                  </a:lnTo>
                  <a:lnTo>
                    <a:pt x="63" y="43"/>
                  </a:lnTo>
                  <a:lnTo>
                    <a:pt x="32" y="43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8" name="Freeform 1667"/>
            <p:cNvSpPr>
              <a:spLocks/>
            </p:cNvSpPr>
            <p:nvPr/>
          </p:nvSpPr>
          <p:spPr bwMode="auto">
            <a:xfrm>
              <a:off x="2428" y="2795"/>
              <a:ext cx="46" cy="43"/>
            </a:xfrm>
            <a:custGeom>
              <a:avLst/>
              <a:gdLst>
                <a:gd name="T0" fmla="*/ 0 w 46"/>
                <a:gd name="T1" fmla="*/ 0 h 43"/>
                <a:gd name="T2" fmla="*/ 31 w 46"/>
                <a:gd name="T3" fmla="*/ 0 h 43"/>
                <a:gd name="T4" fmla="*/ 46 w 46"/>
                <a:gd name="T5" fmla="*/ 15 h 43"/>
                <a:gd name="T6" fmla="*/ 46 w 46"/>
                <a:gd name="T7" fmla="*/ 43 h 43"/>
                <a:gd name="T8" fmla="*/ 15 w 46"/>
                <a:gd name="T9" fmla="*/ 43 h 43"/>
                <a:gd name="T10" fmla="*/ 0 w 46"/>
                <a:gd name="T11" fmla="*/ 29 h 43"/>
                <a:gd name="T12" fmla="*/ 0 w 46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3"/>
                <a:gd name="T23" fmla="*/ 46 w 46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3">
                  <a:moveTo>
                    <a:pt x="0" y="0"/>
                  </a:moveTo>
                  <a:lnTo>
                    <a:pt x="31" y="0"/>
                  </a:lnTo>
                  <a:lnTo>
                    <a:pt x="46" y="15"/>
                  </a:lnTo>
                  <a:lnTo>
                    <a:pt x="46" y="43"/>
                  </a:lnTo>
                  <a:lnTo>
                    <a:pt x="15" y="43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69" name="Freeform 1668"/>
            <p:cNvSpPr>
              <a:spLocks/>
            </p:cNvSpPr>
            <p:nvPr/>
          </p:nvSpPr>
          <p:spPr bwMode="auto">
            <a:xfrm>
              <a:off x="2443" y="2810"/>
              <a:ext cx="47" cy="56"/>
            </a:xfrm>
            <a:custGeom>
              <a:avLst/>
              <a:gdLst>
                <a:gd name="T0" fmla="*/ 0 w 47"/>
                <a:gd name="T1" fmla="*/ 0 h 56"/>
                <a:gd name="T2" fmla="*/ 31 w 47"/>
                <a:gd name="T3" fmla="*/ 0 h 56"/>
                <a:gd name="T4" fmla="*/ 47 w 47"/>
                <a:gd name="T5" fmla="*/ 28 h 56"/>
                <a:gd name="T6" fmla="*/ 47 w 47"/>
                <a:gd name="T7" fmla="*/ 56 h 56"/>
                <a:gd name="T8" fmla="*/ 16 w 47"/>
                <a:gd name="T9" fmla="*/ 56 h 56"/>
                <a:gd name="T10" fmla="*/ 0 w 47"/>
                <a:gd name="T11" fmla="*/ 28 h 56"/>
                <a:gd name="T12" fmla="*/ 0 w 47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56"/>
                <a:gd name="T23" fmla="*/ 47 w 47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56">
                  <a:moveTo>
                    <a:pt x="0" y="0"/>
                  </a:moveTo>
                  <a:lnTo>
                    <a:pt x="31" y="0"/>
                  </a:lnTo>
                  <a:lnTo>
                    <a:pt x="47" y="28"/>
                  </a:lnTo>
                  <a:lnTo>
                    <a:pt x="47" y="56"/>
                  </a:lnTo>
                  <a:lnTo>
                    <a:pt x="16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0" name="Freeform 1669"/>
            <p:cNvSpPr>
              <a:spLocks/>
            </p:cNvSpPr>
            <p:nvPr/>
          </p:nvSpPr>
          <p:spPr bwMode="auto">
            <a:xfrm>
              <a:off x="2459" y="2838"/>
              <a:ext cx="39" cy="49"/>
            </a:xfrm>
            <a:custGeom>
              <a:avLst/>
              <a:gdLst>
                <a:gd name="T0" fmla="*/ 0 w 39"/>
                <a:gd name="T1" fmla="*/ 0 h 49"/>
                <a:gd name="T2" fmla="*/ 31 w 39"/>
                <a:gd name="T3" fmla="*/ 0 h 49"/>
                <a:gd name="T4" fmla="*/ 39 w 39"/>
                <a:gd name="T5" fmla="*/ 21 h 49"/>
                <a:gd name="T6" fmla="*/ 39 w 39"/>
                <a:gd name="T7" fmla="*/ 49 h 49"/>
                <a:gd name="T8" fmla="*/ 8 w 39"/>
                <a:gd name="T9" fmla="*/ 49 h 49"/>
                <a:gd name="T10" fmla="*/ 0 w 39"/>
                <a:gd name="T11" fmla="*/ 28 h 49"/>
                <a:gd name="T12" fmla="*/ 0 w 39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0"/>
                  </a:moveTo>
                  <a:lnTo>
                    <a:pt x="31" y="0"/>
                  </a:lnTo>
                  <a:lnTo>
                    <a:pt x="39" y="21"/>
                  </a:lnTo>
                  <a:lnTo>
                    <a:pt x="39" y="49"/>
                  </a:lnTo>
                  <a:lnTo>
                    <a:pt x="8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1" name="Rectangle 1670"/>
            <p:cNvSpPr>
              <a:spLocks noChangeArrowheads="1"/>
            </p:cNvSpPr>
            <p:nvPr/>
          </p:nvSpPr>
          <p:spPr bwMode="auto">
            <a:xfrm>
              <a:off x="2467" y="2859"/>
              <a:ext cx="31" cy="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2" name="Freeform 1671"/>
            <p:cNvSpPr>
              <a:spLocks/>
            </p:cNvSpPr>
            <p:nvPr/>
          </p:nvSpPr>
          <p:spPr bwMode="auto">
            <a:xfrm>
              <a:off x="2467" y="2866"/>
              <a:ext cx="39" cy="56"/>
            </a:xfrm>
            <a:custGeom>
              <a:avLst/>
              <a:gdLst>
                <a:gd name="T0" fmla="*/ 0 w 39"/>
                <a:gd name="T1" fmla="*/ 0 h 56"/>
                <a:gd name="T2" fmla="*/ 31 w 39"/>
                <a:gd name="T3" fmla="*/ 0 h 56"/>
                <a:gd name="T4" fmla="*/ 39 w 39"/>
                <a:gd name="T5" fmla="*/ 28 h 56"/>
                <a:gd name="T6" fmla="*/ 39 w 39"/>
                <a:gd name="T7" fmla="*/ 56 h 56"/>
                <a:gd name="T8" fmla="*/ 7 w 39"/>
                <a:gd name="T9" fmla="*/ 56 h 56"/>
                <a:gd name="T10" fmla="*/ 0 w 39"/>
                <a:gd name="T11" fmla="*/ 28 h 56"/>
                <a:gd name="T12" fmla="*/ 0 w 39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6"/>
                <a:gd name="T23" fmla="*/ 39 w 39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6">
                  <a:moveTo>
                    <a:pt x="0" y="0"/>
                  </a:moveTo>
                  <a:lnTo>
                    <a:pt x="31" y="0"/>
                  </a:lnTo>
                  <a:lnTo>
                    <a:pt x="39" y="28"/>
                  </a:lnTo>
                  <a:lnTo>
                    <a:pt x="39" y="56"/>
                  </a:lnTo>
                  <a:lnTo>
                    <a:pt x="7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3" name="Freeform 1672"/>
            <p:cNvSpPr>
              <a:spLocks/>
            </p:cNvSpPr>
            <p:nvPr/>
          </p:nvSpPr>
          <p:spPr bwMode="auto">
            <a:xfrm>
              <a:off x="2467" y="2894"/>
              <a:ext cx="39" cy="42"/>
            </a:xfrm>
            <a:custGeom>
              <a:avLst/>
              <a:gdLst>
                <a:gd name="T0" fmla="*/ 0 w 39"/>
                <a:gd name="T1" fmla="*/ 14 h 42"/>
                <a:gd name="T2" fmla="*/ 7 w 39"/>
                <a:gd name="T3" fmla="*/ 0 h 42"/>
                <a:gd name="T4" fmla="*/ 39 w 39"/>
                <a:gd name="T5" fmla="*/ 0 h 42"/>
                <a:gd name="T6" fmla="*/ 39 w 39"/>
                <a:gd name="T7" fmla="*/ 28 h 42"/>
                <a:gd name="T8" fmla="*/ 31 w 39"/>
                <a:gd name="T9" fmla="*/ 42 h 42"/>
                <a:gd name="T10" fmla="*/ 0 w 39"/>
                <a:gd name="T11" fmla="*/ 42 h 42"/>
                <a:gd name="T12" fmla="*/ 0 w 39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14"/>
                  </a:moveTo>
                  <a:lnTo>
                    <a:pt x="7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4" name="Freeform 1673"/>
            <p:cNvSpPr>
              <a:spLocks/>
            </p:cNvSpPr>
            <p:nvPr/>
          </p:nvSpPr>
          <p:spPr bwMode="auto">
            <a:xfrm>
              <a:off x="2459" y="2908"/>
              <a:ext cx="39" cy="49"/>
            </a:xfrm>
            <a:custGeom>
              <a:avLst/>
              <a:gdLst>
                <a:gd name="T0" fmla="*/ 0 w 39"/>
                <a:gd name="T1" fmla="*/ 21 h 49"/>
                <a:gd name="T2" fmla="*/ 8 w 39"/>
                <a:gd name="T3" fmla="*/ 0 h 49"/>
                <a:gd name="T4" fmla="*/ 39 w 39"/>
                <a:gd name="T5" fmla="*/ 0 h 49"/>
                <a:gd name="T6" fmla="*/ 39 w 39"/>
                <a:gd name="T7" fmla="*/ 28 h 49"/>
                <a:gd name="T8" fmla="*/ 31 w 39"/>
                <a:gd name="T9" fmla="*/ 49 h 49"/>
                <a:gd name="T10" fmla="*/ 0 w 39"/>
                <a:gd name="T11" fmla="*/ 49 h 49"/>
                <a:gd name="T12" fmla="*/ 0 w 39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21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5" name="Freeform 1674"/>
            <p:cNvSpPr>
              <a:spLocks/>
            </p:cNvSpPr>
            <p:nvPr/>
          </p:nvSpPr>
          <p:spPr bwMode="auto">
            <a:xfrm>
              <a:off x="2451" y="2929"/>
              <a:ext cx="39" cy="42"/>
            </a:xfrm>
            <a:custGeom>
              <a:avLst/>
              <a:gdLst>
                <a:gd name="T0" fmla="*/ 0 w 39"/>
                <a:gd name="T1" fmla="*/ 14 h 42"/>
                <a:gd name="T2" fmla="*/ 8 w 39"/>
                <a:gd name="T3" fmla="*/ 0 h 42"/>
                <a:gd name="T4" fmla="*/ 39 w 39"/>
                <a:gd name="T5" fmla="*/ 0 h 42"/>
                <a:gd name="T6" fmla="*/ 39 w 39"/>
                <a:gd name="T7" fmla="*/ 28 h 42"/>
                <a:gd name="T8" fmla="*/ 31 w 39"/>
                <a:gd name="T9" fmla="*/ 42 h 42"/>
                <a:gd name="T10" fmla="*/ 0 w 39"/>
                <a:gd name="T11" fmla="*/ 42 h 42"/>
                <a:gd name="T12" fmla="*/ 0 w 39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14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6" name="Freeform 1675"/>
            <p:cNvSpPr>
              <a:spLocks/>
            </p:cNvSpPr>
            <p:nvPr/>
          </p:nvSpPr>
          <p:spPr bwMode="auto">
            <a:xfrm>
              <a:off x="2435" y="2943"/>
              <a:ext cx="47" cy="49"/>
            </a:xfrm>
            <a:custGeom>
              <a:avLst/>
              <a:gdLst>
                <a:gd name="T0" fmla="*/ 0 w 47"/>
                <a:gd name="T1" fmla="*/ 21 h 49"/>
                <a:gd name="T2" fmla="*/ 16 w 47"/>
                <a:gd name="T3" fmla="*/ 0 h 49"/>
                <a:gd name="T4" fmla="*/ 47 w 47"/>
                <a:gd name="T5" fmla="*/ 0 h 49"/>
                <a:gd name="T6" fmla="*/ 47 w 47"/>
                <a:gd name="T7" fmla="*/ 28 h 49"/>
                <a:gd name="T8" fmla="*/ 32 w 47"/>
                <a:gd name="T9" fmla="*/ 49 h 49"/>
                <a:gd name="T10" fmla="*/ 0 w 47"/>
                <a:gd name="T11" fmla="*/ 49 h 49"/>
                <a:gd name="T12" fmla="*/ 0 w 47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9"/>
                <a:gd name="T23" fmla="*/ 47 w 47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9">
                  <a:moveTo>
                    <a:pt x="0" y="21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7" name="Freeform 1676"/>
            <p:cNvSpPr>
              <a:spLocks/>
            </p:cNvSpPr>
            <p:nvPr/>
          </p:nvSpPr>
          <p:spPr bwMode="auto">
            <a:xfrm>
              <a:off x="2412" y="2964"/>
              <a:ext cx="55" cy="50"/>
            </a:xfrm>
            <a:custGeom>
              <a:avLst/>
              <a:gdLst>
                <a:gd name="T0" fmla="*/ 0 w 55"/>
                <a:gd name="T1" fmla="*/ 21 h 50"/>
                <a:gd name="T2" fmla="*/ 23 w 55"/>
                <a:gd name="T3" fmla="*/ 0 h 50"/>
                <a:gd name="T4" fmla="*/ 55 w 55"/>
                <a:gd name="T5" fmla="*/ 0 h 50"/>
                <a:gd name="T6" fmla="*/ 55 w 55"/>
                <a:gd name="T7" fmla="*/ 28 h 50"/>
                <a:gd name="T8" fmla="*/ 31 w 55"/>
                <a:gd name="T9" fmla="*/ 50 h 50"/>
                <a:gd name="T10" fmla="*/ 0 w 55"/>
                <a:gd name="T11" fmla="*/ 50 h 50"/>
                <a:gd name="T12" fmla="*/ 0 w 55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50"/>
                <a:gd name="T23" fmla="*/ 55 w 55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50">
                  <a:moveTo>
                    <a:pt x="0" y="21"/>
                  </a:moveTo>
                  <a:lnTo>
                    <a:pt x="23" y="0"/>
                  </a:lnTo>
                  <a:lnTo>
                    <a:pt x="55" y="0"/>
                  </a:lnTo>
                  <a:lnTo>
                    <a:pt x="55" y="28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8" name="Freeform 1677"/>
            <p:cNvSpPr>
              <a:spLocks/>
            </p:cNvSpPr>
            <p:nvPr/>
          </p:nvSpPr>
          <p:spPr bwMode="auto">
            <a:xfrm>
              <a:off x="2381" y="2985"/>
              <a:ext cx="62" cy="50"/>
            </a:xfrm>
            <a:custGeom>
              <a:avLst/>
              <a:gdLst>
                <a:gd name="T0" fmla="*/ 0 w 62"/>
                <a:gd name="T1" fmla="*/ 21 h 50"/>
                <a:gd name="T2" fmla="*/ 31 w 62"/>
                <a:gd name="T3" fmla="*/ 0 h 50"/>
                <a:gd name="T4" fmla="*/ 62 w 62"/>
                <a:gd name="T5" fmla="*/ 0 h 50"/>
                <a:gd name="T6" fmla="*/ 62 w 62"/>
                <a:gd name="T7" fmla="*/ 29 h 50"/>
                <a:gd name="T8" fmla="*/ 31 w 62"/>
                <a:gd name="T9" fmla="*/ 50 h 50"/>
                <a:gd name="T10" fmla="*/ 0 w 62"/>
                <a:gd name="T11" fmla="*/ 50 h 50"/>
                <a:gd name="T12" fmla="*/ 0 w 62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50"/>
                <a:gd name="T23" fmla="*/ 62 w 62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50">
                  <a:moveTo>
                    <a:pt x="0" y="21"/>
                  </a:moveTo>
                  <a:lnTo>
                    <a:pt x="31" y="0"/>
                  </a:lnTo>
                  <a:lnTo>
                    <a:pt x="62" y="0"/>
                  </a:lnTo>
                  <a:lnTo>
                    <a:pt x="62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79" name="Freeform 1678"/>
            <p:cNvSpPr>
              <a:spLocks/>
            </p:cNvSpPr>
            <p:nvPr/>
          </p:nvSpPr>
          <p:spPr bwMode="auto">
            <a:xfrm>
              <a:off x="2373" y="3006"/>
              <a:ext cx="39" cy="36"/>
            </a:xfrm>
            <a:custGeom>
              <a:avLst/>
              <a:gdLst>
                <a:gd name="T0" fmla="*/ 0 w 39"/>
                <a:gd name="T1" fmla="*/ 8 h 36"/>
                <a:gd name="T2" fmla="*/ 8 w 39"/>
                <a:gd name="T3" fmla="*/ 0 h 36"/>
                <a:gd name="T4" fmla="*/ 39 w 39"/>
                <a:gd name="T5" fmla="*/ 0 h 36"/>
                <a:gd name="T6" fmla="*/ 39 w 39"/>
                <a:gd name="T7" fmla="*/ 29 h 36"/>
                <a:gd name="T8" fmla="*/ 31 w 39"/>
                <a:gd name="T9" fmla="*/ 36 h 36"/>
                <a:gd name="T10" fmla="*/ 0 w 39"/>
                <a:gd name="T11" fmla="*/ 36 h 36"/>
                <a:gd name="T12" fmla="*/ 0 w 39"/>
                <a:gd name="T13" fmla="*/ 8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6"/>
                <a:gd name="T23" fmla="*/ 39 w 39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6">
                  <a:moveTo>
                    <a:pt x="0" y="8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1" y="36"/>
                  </a:lnTo>
                  <a:lnTo>
                    <a:pt x="0" y="36"/>
                  </a:lnTo>
                  <a:lnTo>
                    <a:pt x="0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0" name="Freeform 1679"/>
            <p:cNvSpPr>
              <a:spLocks/>
            </p:cNvSpPr>
            <p:nvPr/>
          </p:nvSpPr>
          <p:spPr bwMode="auto">
            <a:xfrm>
              <a:off x="2365" y="3014"/>
              <a:ext cx="39" cy="35"/>
            </a:xfrm>
            <a:custGeom>
              <a:avLst/>
              <a:gdLst>
                <a:gd name="T0" fmla="*/ 0 w 39"/>
                <a:gd name="T1" fmla="*/ 7 h 35"/>
                <a:gd name="T2" fmla="*/ 8 w 39"/>
                <a:gd name="T3" fmla="*/ 0 h 35"/>
                <a:gd name="T4" fmla="*/ 39 w 39"/>
                <a:gd name="T5" fmla="*/ 0 h 35"/>
                <a:gd name="T6" fmla="*/ 39 w 39"/>
                <a:gd name="T7" fmla="*/ 28 h 35"/>
                <a:gd name="T8" fmla="*/ 31 w 39"/>
                <a:gd name="T9" fmla="*/ 35 h 35"/>
                <a:gd name="T10" fmla="*/ 0 w 39"/>
                <a:gd name="T11" fmla="*/ 35 h 35"/>
                <a:gd name="T12" fmla="*/ 0 w 39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7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1" name="Freeform 1680"/>
            <p:cNvSpPr>
              <a:spLocks/>
            </p:cNvSpPr>
            <p:nvPr/>
          </p:nvSpPr>
          <p:spPr bwMode="auto">
            <a:xfrm>
              <a:off x="2357" y="3021"/>
              <a:ext cx="39" cy="35"/>
            </a:xfrm>
            <a:custGeom>
              <a:avLst/>
              <a:gdLst>
                <a:gd name="T0" fmla="*/ 0 w 39"/>
                <a:gd name="T1" fmla="*/ 7 h 35"/>
                <a:gd name="T2" fmla="*/ 8 w 39"/>
                <a:gd name="T3" fmla="*/ 0 h 35"/>
                <a:gd name="T4" fmla="*/ 39 w 39"/>
                <a:gd name="T5" fmla="*/ 0 h 35"/>
                <a:gd name="T6" fmla="*/ 39 w 39"/>
                <a:gd name="T7" fmla="*/ 28 h 35"/>
                <a:gd name="T8" fmla="*/ 32 w 39"/>
                <a:gd name="T9" fmla="*/ 35 h 35"/>
                <a:gd name="T10" fmla="*/ 0 w 39"/>
                <a:gd name="T11" fmla="*/ 35 h 35"/>
                <a:gd name="T12" fmla="*/ 0 w 39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7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2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2" name="Freeform 1681"/>
            <p:cNvSpPr>
              <a:spLocks/>
            </p:cNvSpPr>
            <p:nvPr/>
          </p:nvSpPr>
          <p:spPr bwMode="auto">
            <a:xfrm>
              <a:off x="2349" y="3028"/>
              <a:ext cx="40" cy="35"/>
            </a:xfrm>
            <a:custGeom>
              <a:avLst/>
              <a:gdLst>
                <a:gd name="T0" fmla="*/ 0 w 40"/>
                <a:gd name="T1" fmla="*/ 7 h 35"/>
                <a:gd name="T2" fmla="*/ 8 w 40"/>
                <a:gd name="T3" fmla="*/ 0 h 35"/>
                <a:gd name="T4" fmla="*/ 40 w 40"/>
                <a:gd name="T5" fmla="*/ 0 h 35"/>
                <a:gd name="T6" fmla="*/ 40 w 40"/>
                <a:gd name="T7" fmla="*/ 28 h 35"/>
                <a:gd name="T8" fmla="*/ 32 w 40"/>
                <a:gd name="T9" fmla="*/ 35 h 35"/>
                <a:gd name="T10" fmla="*/ 0 w 40"/>
                <a:gd name="T11" fmla="*/ 35 h 35"/>
                <a:gd name="T12" fmla="*/ 0 w 40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35"/>
                <a:gd name="T23" fmla="*/ 40 w 40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35">
                  <a:moveTo>
                    <a:pt x="0" y="7"/>
                  </a:moveTo>
                  <a:lnTo>
                    <a:pt x="8" y="0"/>
                  </a:lnTo>
                  <a:lnTo>
                    <a:pt x="40" y="0"/>
                  </a:lnTo>
                  <a:lnTo>
                    <a:pt x="40" y="28"/>
                  </a:lnTo>
                  <a:lnTo>
                    <a:pt x="32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3" name="Freeform 1682"/>
            <p:cNvSpPr>
              <a:spLocks/>
            </p:cNvSpPr>
            <p:nvPr/>
          </p:nvSpPr>
          <p:spPr bwMode="auto">
            <a:xfrm>
              <a:off x="2342" y="3035"/>
              <a:ext cx="39" cy="49"/>
            </a:xfrm>
            <a:custGeom>
              <a:avLst/>
              <a:gdLst>
                <a:gd name="T0" fmla="*/ 0 w 39"/>
                <a:gd name="T1" fmla="*/ 21 h 49"/>
                <a:gd name="T2" fmla="*/ 7 w 39"/>
                <a:gd name="T3" fmla="*/ 0 h 49"/>
                <a:gd name="T4" fmla="*/ 39 w 39"/>
                <a:gd name="T5" fmla="*/ 0 h 49"/>
                <a:gd name="T6" fmla="*/ 39 w 39"/>
                <a:gd name="T7" fmla="*/ 28 h 49"/>
                <a:gd name="T8" fmla="*/ 31 w 39"/>
                <a:gd name="T9" fmla="*/ 49 h 49"/>
                <a:gd name="T10" fmla="*/ 0 w 39"/>
                <a:gd name="T11" fmla="*/ 49 h 49"/>
                <a:gd name="T12" fmla="*/ 0 w 39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21"/>
                  </a:moveTo>
                  <a:lnTo>
                    <a:pt x="7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4" name="Freeform 1683"/>
            <p:cNvSpPr>
              <a:spLocks/>
            </p:cNvSpPr>
            <p:nvPr/>
          </p:nvSpPr>
          <p:spPr bwMode="auto">
            <a:xfrm>
              <a:off x="2342" y="3056"/>
              <a:ext cx="39" cy="35"/>
            </a:xfrm>
            <a:custGeom>
              <a:avLst/>
              <a:gdLst>
                <a:gd name="T0" fmla="*/ 0 w 39"/>
                <a:gd name="T1" fmla="*/ 0 h 35"/>
                <a:gd name="T2" fmla="*/ 31 w 39"/>
                <a:gd name="T3" fmla="*/ 0 h 35"/>
                <a:gd name="T4" fmla="*/ 39 w 39"/>
                <a:gd name="T5" fmla="*/ 7 h 35"/>
                <a:gd name="T6" fmla="*/ 39 w 39"/>
                <a:gd name="T7" fmla="*/ 35 h 35"/>
                <a:gd name="T8" fmla="*/ 7 w 39"/>
                <a:gd name="T9" fmla="*/ 35 h 35"/>
                <a:gd name="T10" fmla="*/ 0 w 39"/>
                <a:gd name="T11" fmla="*/ 28 h 35"/>
                <a:gd name="T12" fmla="*/ 0 w 39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0"/>
                  </a:moveTo>
                  <a:lnTo>
                    <a:pt x="31" y="0"/>
                  </a:lnTo>
                  <a:lnTo>
                    <a:pt x="39" y="7"/>
                  </a:lnTo>
                  <a:lnTo>
                    <a:pt x="39" y="35"/>
                  </a:lnTo>
                  <a:lnTo>
                    <a:pt x="7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5" name="Rectangle 1684"/>
            <p:cNvSpPr>
              <a:spLocks noChangeArrowheads="1"/>
            </p:cNvSpPr>
            <p:nvPr/>
          </p:nvSpPr>
          <p:spPr bwMode="auto">
            <a:xfrm>
              <a:off x="2349" y="3063"/>
              <a:ext cx="32" cy="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6" name="Freeform 1685"/>
            <p:cNvSpPr>
              <a:spLocks/>
            </p:cNvSpPr>
            <p:nvPr/>
          </p:nvSpPr>
          <p:spPr bwMode="auto">
            <a:xfrm>
              <a:off x="2349" y="3070"/>
              <a:ext cx="40" cy="35"/>
            </a:xfrm>
            <a:custGeom>
              <a:avLst/>
              <a:gdLst>
                <a:gd name="T0" fmla="*/ 0 w 40"/>
                <a:gd name="T1" fmla="*/ 0 h 35"/>
                <a:gd name="T2" fmla="*/ 32 w 40"/>
                <a:gd name="T3" fmla="*/ 0 h 35"/>
                <a:gd name="T4" fmla="*/ 40 w 40"/>
                <a:gd name="T5" fmla="*/ 7 h 35"/>
                <a:gd name="T6" fmla="*/ 40 w 40"/>
                <a:gd name="T7" fmla="*/ 35 h 35"/>
                <a:gd name="T8" fmla="*/ 8 w 40"/>
                <a:gd name="T9" fmla="*/ 35 h 35"/>
                <a:gd name="T10" fmla="*/ 0 w 40"/>
                <a:gd name="T11" fmla="*/ 28 h 35"/>
                <a:gd name="T12" fmla="*/ 0 w 40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35"/>
                <a:gd name="T23" fmla="*/ 40 w 40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35">
                  <a:moveTo>
                    <a:pt x="0" y="0"/>
                  </a:moveTo>
                  <a:lnTo>
                    <a:pt x="32" y="0"/>
                  </a:lnTo>
                  <a:lnTo>
                    <a:pt x="40" y="7"/>
                  </a:lnTo>
                  <a:lnTo>
                    <a:pt x="40" y="35"/>
                  </a:lnTo>
                  <a:lnTo>
                    <a:pt x="8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7" name="Freeform 1686"/>
            <p:cNvSpPr>
              <a:spLocks/>
            </p:cNvSpPr>
            <p:nvPr/>
          </p:nvSpPr>
          <p:spPr bwMode="auto">
            <a:xfrm>
              <a:off x="2357" y="3077"/>
              <a:ext cx="47" cy="42"/>
            </a:xfrm>
            <a:custGeom>
              <a:avLst/>
              <a:gdLst>
                <a:gd name="T0" fmla="*/ 0 w 47"/>
                <a:gd name="T1" fmla="*/ 0 h 42"/>
                <a:gd name="T2" fmla="*/ 32 w 47"/>
                <a:gd name="T3" fmla="*/ 0 h 42"/>
                <a:gd name="T4" fmla="*/ 47 w 47"/>
                <a:gd name="T5" fmla="*/ 14 h 42"/>
                <a:gd name="T6" fmla="*/ 47 w 47"/>
                <a:gd name="T7" fmla="*/ 42 h 42"/>
                <a:gd name="T8" fmla="*/ 16 w 47"/>
                <a:gd name="T9" fmla="*/ 42 h 42"/>
                <a:gd name="T10" fmla="*/ 0 w 47"/>
                <a:gd name="T11" fmla="*/ 28 h 42"/>
                <a:gd name="T12" fmla="*/ 0 w 4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0"/>
                  </a:moveTo>
                  <a:lnTo>
                    <a:pt x="32" y="0"/>
                  </a:lnTo>
                  <a:lnTo>
                    <a:pt x="47" y="14"/>
                  </a:lnTo>
                  <a:lnTo>
                    <a:pt x="47" y="42"/>
                  </a:lnTo>
                  <a:lnTo>
                    <a:pt x="16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8" name="Freeform 1687"/>
            <p:cNvSpPr>
              <a:spLocks/>
            </p:cNvSpPr>
            <p:nvPr/>
          </p:nvSpPr>
          <p:spPr bwMode="auto">
            <a:xfrm>
              <a:off x="2373" y="3091"/>
              <a:ext cx="47" cy="42"/>
            </a:xfrm>
            <a:custGeom>
              <a:avLst/>
              <a:gdLst>
                <a:gd name="T0" fmla="*/ 0 w 47"/>
                <a:gd name="T1" fmla="*/ 0 h 42"/>
                <a:gd name="T2" fmla="*/ 31 w 47"/>
                <a:gd name="T3" fmla="*/ 0 h 42"/>
                <a:gd name="T4" fmla="*/ 47 w 47"/>
                <a:gd name="T5" fmla="*/ 14 h 42"/>
                <a:gd name="T6" fmla="*/ 47 w 47"/>
                <a:gd name="T7" fmla="*/ 42 h 42"/>
                <a:gd name="T8" fmla="*/ 16 w 47"/>
                <a:gd name="T9" fmla="*/ 42 h 42"/>
                <a:gd name="T10" fmla="*/ 0 w 47"/>
                <a:gd name="T11" fmla="*/ 28 h 42"/>
                <a:gd name="T12" fmla="*/ 0 w 4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0"/>
                  </a:moveTo>
                  <a:lnTo>
                    <a:pt x="31" y="0"/>
                  </a:lnTo>
                  <a:lnTo>
                    <a:pt x="47" y="14"/>
                  </a:lnTo>
                  <a:lnTo>
                    <a:pt x="47" y="42"/>
                  </a:lnTo>
                  <a:lnTo>
                    <a:pt x="16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89" name="Freeform 1688"/>
            <p:cNvSpPr>
              <a:spLocks/>
            </p:cNvSpPr>
            <p:nvPr/>
          </p:nvSpPr>
          <p:spPr bwMode="auto">
            <a:xfrm>
              <a:off x="2389" y="3105"/>
              <a:ext cx="62" cy="42"/>
            </a:xfrm>
            <a:custGeom>
              <a:avLst/>
              <a:gdLst>
                <a:gd name="T0" fmla="*/ 0 w 62"/>
                <a:gd name="T1" fmla="*/ 0 h 42"/>
                <a:gd name="T2" fmla="*/ 31 w 62"/>
                <a:gd name="T3" fmla="*/ 0 h 42"/>
                <a:gd name="T4" fmla="*/ 62 w 62"/>
                <a:gd name="T5" fmla="*/ 14 h 42"/>
                <a:gd name="T6" fmla="*/ 62 w 62"/>
                <a:gd name="T7" fmla="*/ 42 h 42"/>
                <a:gd name="T8" fmla="*/ 31 w 62"/>
                <a:gd name="T9" fmla="*/ 42 h 42"/>
                <a:gd name="T10" fmla="*/ 0 w 62"/>
                <a:gd name="T11" fmla="*/ 28 h 42"/>
                <a:gd name="T12" fmla="*/ 0 w 62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2"/>
                <a:gd name="T23" fmla="*/ 62 w 62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2">
                  <a:moveTo>
                    <a:pt x="0" y="0"/>
                  </a:moveTo>
                  <a:lnTo>
                    <a:pt x="31" y="0"/>
                  </a:lnTo>
                  <a:lnTo>
                    <a:pt x="62" y="14"/>
                  </a:lnTo>
                  <a:lnTo>
                    <a:pt x="62" y="42"/>
                  </a:lnTo>
                  <a:lnTo>
                    <a:pt x="31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0" name="Freeform 1689"/>
            <p:cNvSpPr>
              <a:spLocks/>
            </p:cNvSpPr>
            <p:nvPr/>
          </p:nvSpPr>
          <p:spPr bwMode="auto">
            <a:xfrm>
              <a:off x="2420" y="3119"/>
              <a:ext cx="54" cy="42"/>
            </a:xfrm>
            <a:custGeom>
              <a:avLst/>
              <a:gdLst>
                <a:gd name="T0" fmla="*/ 0 w 54"/>
                <a:gd name="T1" fmla="*/ 0 h 42"/>
                <a:gd name="T2" fmla="*/ 31 w 54"/>
                <a:gd name="T3" fmla="*/ 0 h 42"/>
                <a:gd name="T4" fmla="*/ 54 w 54"/>
                <a:gd name="T5" fmla="*/ 14 h 42"/>
                <a:gd name="T6" fmla="*/ 54 w 54"/>
                <a:gd name="T7" fmla="*/ 42 h 42"/>
                <a:gd name="T8" fmla="*/ 23 w 54"/>
                <a:gd name="T9" fmla="*/ 42 h 42"/>
                <a:gd name="T10" fmla="*/ 0 w 54"/>
                <a:gd name="T11" fmla="*/ 28 h 42"/>
                <a:gd name="T12" fmla="*/ 0 w 54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2"/>
                <a:gd name="T23" fmla="*/ 54 w 54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2">
                  <a:moveTo>
                    <a:pt x="0" y="0"/>
                  </a:moveTo>
                  <a:lnTo>
                    <a:pt x="31" y="0"/>
                  </a:lnTo>
                  <a:lnTo>
                    <a:pt x="54" y="14"/>
                  </a:lnTo>
                  <a:lnTo>
                    <a:pt x="54" y="42"/>
                  </a:lnTo>
                  <a:lnTo>
                    <a:pt x="23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1" name="Freeform 1690"/>
            <p:cNvSpPr>
              <a:spLocks/>
            </p:cNvSpPr>
            <p:nvPr/>
          </p:nvSpPr>
          <p:spPr bwMode="auto">
            <a:xfrm>
              <a:off x="2443" y="3133"/>
              <a:ext cx="47" cy="35"/>
            </a:xfrm>
            <a:custGeom>
              <a:avLst/>
              <a:gdLst>
                <a:gd name="T0" fmla="*/ 0 w 47"/>
                <a:gd name="T1" fmla="*/ 0 h 35"/>
                <a:gd name="T2" fmla="*/ 31 w 47"/>
                <a:gd name="T3" fmla="*/ 0 h 35"/>
                <a:gd name="T4" fmla="*/ 47 w 47"/>
                <a:gd name="T5" fmla="*/ 7 h 35"/>
                <a:gd name="T6" fmla="*/ 47 w 47"/>
                <a:gd name="T7" fmla="*/ 35 h 35"/>
                <a:gd name="T8" fmla="*/ 16 w 47"/>
                <a:gd name="T9" fmla="*/ 35 h 35"/>
                <a:gd name="T10" fmla="*/ 0 w 47"/>
                <a:gd name="T11" fmla="*/ 28 h 35"/>
                <a:gd name="T12" fmla="*/ 0 w 47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35"/>
                <a:gd name="T23" fmla="*/ 47 w 47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35">
                  <a:moveTo>
                    <a:pt x="0" y="0"/>
                  </a:moveTo>
                  <a:lnTo>
                    <a:pt x="31" y="0"/>
                  </a:lnTo>
                  <a:lnTo>
                    <a:pt x="47" y="7"/>
                  </a:lnTo>
                  <a:lnTo>
                    <a:pt x="47" y="35"/>
                  </a:lnTo>
                  <a:lnTo>
                    <a:pt x="16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2" name="Freeform 1691"/>
            <p:cNvSpPr>
              <a:spLocks/>
            </p:cNvSpPr>
            <p:nvPr/>
          </p:nvSpPr>
          <p:spPr bwMode="auto">
            <a:xfrm>
              <a:off x="2459" y="3140"/>
              <a:ext cx="70" cy="42"/>
            </a:xfrm>
            <a:custGeom>
              <a:avLst/>
              <a:gdLst>
                <a:gd name="T0" fmla="*/ 0 w 70"/>
                <a:gd name="T1" fmla="*/ 0 h 42"/>
                <a:gd name="T2" fmla="*/ 31 w 70"/>
                <a:gd name="T3" fmla="*/ 0 h 42"/>
                <a:gd name="T4" fmla="*/ 70 w 70"/>
                <a:gd name="T5" fmla="*/ 14 h 42"/>
                <a:gd name="T6" fmla="*/ 70 w 70"/>
                <a:gd name="T7" fmla="*/ 42 h 42"/>
                <a:gd name="T8" fmla="*/ 39 w 70"/>
                <a:gd name="T9" fmla="*/ 42 h 42"/>
                <a:gd name="T10" fmla="*/ 0 w 70"/>
                <a:gd name="T11" fmla="*/ 28 h 42"/>
                <a:gd name="T12" fmla="*/ 0 w 70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42"/>
                <a:gd name="T23" fmla="*/ 70 w 70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42">
                  <a:moveTo>
                    <a:pt x="0" y="0"/>
                  </a:moveTo>
                  <a:lnTo>
                    <a:pt x="31" y="0"/>
                  </a:lnTo>
                  <a:lnTo>
                    <a:pt x="70" y="14"/>
                  </a:lnTo>
                  <a:lnTo>
                    <a:pt x="70" y="42"/>
                  </a:lnTo>
                  <a:lnTo>
                    <a:pt x="39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3" name="Freeform 1692"/>
            <p:cNvSpPr>
              <a:spLocks/>
            </p:cNvSpPr>
            <p:nvPr/>
          </p:nvSpPr>
          <p:spPr bwMode="auto">
            <a:xfrm>
              <a:off x="2498" y="3154"/>
              <a:ext cx="62" cy="42"/>
            </a:xfrm>
            <a:custGeom>
              <a:avLst/>
              <a:gdLst>
                <a:gd name="T0" fmla="*/ 0 w 62"/>
                <a:gd name="T1" fmla="*/ 0 h 42"/>
                <a:gd name="T2" fmla="*/ 31 w 62"/>
                <a:gd name="T3" fmla="*/ 0 h 42"/>
                <a:gd name="T4" fmla="*/ 62 w 62"/>
                <a:gd name="T5" fmla="*/ 14 h 42"/>
                <a:gd name="T6" fmla="*/ 62 w 62"/>
                <a:gd name="T7" fmla="*/ 42 h 42"/>
                <a:gd name="T8" fmla="*/ 31 w 62"/>
                <a:gd name="T9" fmla="*/ 42 h 42"/>
                <a:gd name="T10" fmla="*/ 0 w 62"/>
                <a:gd name="T11" fmla="*/ 28 h 42"/>
                <a:gd name="T12" fmla="*/ 0 w 62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2"/>
                <a:gd name="T23" fmla="*/ 62 w 62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2">
                  <a:moveTo>
                    <a:pt x="0" y="0"/>
                  </a:moveTo>
                  <a:lnTo>
                    <a:pt x="31" y="0"/>
                  </a:lnTo>
                  <a:lnTo>
                    <a:pt x="62" y="14"/>
                  </a:lnTo>
                  <a:lnTo>
                    <a:pt x="62" y="42"/>
                  </a:lnTo>
                  <a:lnTo>
                    <a:pt x="31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4" name="Freeform 1693"/>
            <p:cNvSpPr>
              <a:spLocks/>
            </p:cNvSpPr>
            <p:nvPr/>
          </p:nvSpPr>
          <p:spPr bwMode="auto">
            <a:xfrm>
              <a:off x="2529" y="3168"/>
              <a:ext cx="78" cy="42"/>
            </a:xfrm>
            <a:custGeom>
              <a:avLst/>
              <a:gdLst>
                <a:gd name="T0" fmla="*/ 0 w 78"/>
                <a:gd name="T1" fmla="*/ 0 h 42"/>
                <a:gd name="T2" fmla="*/ 31 w 78"/>
                <a:gd name="T3" fmla="*/ 0 h 42"/>
                <a:gd name="T4" fmla="*/ 78 w 78"/>
                <a:gd name="T5" fmla="*/ 14 h 42"/>
                <a:gd name="T6" fmla="*/ 78 w 78"/>
                <a:gd name="T7" fmla="*/ 42 h 42"/>
                <a:gd name="T8" fmla="*/ 47 w 78"/>
                <a:gd name="T9" fmla="*/ 42 h 42"/>
                <a:gd name="T10" fmla="*/ 0 w 78"/>
                <a:gd name="T11" fmla="*/ 28 h 42"/>
                <a:gd name="T12" fmla="*/ 0 w 78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42"/>
                <a:gd name="T23" fmla="*/ 78 w 7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42">
                  <a:moveTo>
                    <a:pt x="0" y="0"/>
                  </a:moveTo>
                  <a:lnTo>
                    <a:pt x="31" y="0"/>
                  </a:lnTo>
                  <a:lnTo>
                    <a:pt x="78" y="14"/>
                  </a:lnTo>
                  <a:lnTo>
                    <a:pt x="78" y="42"/>
                  </a:lnTo>
                  <a:lnTo>
                    <a:pt x="47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5" name="Freeform 1694"/>
            <p:cNvSpPr>
              <a:spLocks/>
            </p:cNvSpPr>
            <p:nvPr/>
          </p:nvSpPr>
          <p:spPr bwMode="auto">
            <a:xfrm>
              <a:off x="2576" y="3182"/>
              <a:ext cx="78" cy="43"/>
            </a:xfrm>
            <a:custGeom>
              <a:avLst/>
              <a:gdLst>
                <a:gd name="T0" fmla="*/ 0 w 78"/>
                <a:gd name="T1" fmla="*/ 0 h 43"/>
                <a:gd name="T2" fmla="*/ 31 w 78"/>
                <a:gd name="T3" fmla="*/ 0 h 43"/>
                <a:gd name="T4" fmla="*/ 78 w 78"/>
                <a:gd name="T5" fmla="*/ 14 h 43"/>
                <a:gd name="T6" fmla="*/ 78 w 78"/>
                <a:gd name="T7" fmla="*/ 43 h 43"/>
                <a:gd name="T8" fmla="*/ 47 w 78"/>
                <a:gd name="T9" fmla="*/ 43 h 43"/>
                <a:gd name="T10" fmla="*/ 0 w 78"/>
                <a:gd name="T11" fmla="*/ 28 h 43"/>
                <a:gd name="T12" fmla="*/ 0 w 78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43"/>
                <a:gd name="T23" fmla="*/ 78 w 78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43">
                  <a:moveTo>
                    <a:pt x="0" y="0"/>
                  </a:moveTo>
                  <a:lnTo>
                    <a:pt x="31" y="0"/>
                  </a:lnTo>
                  <a:lnTo>
                    <a:pt x="78" y="14"/>
                  </a:lnTo>
                  <a:lnTo>
                    <a:pt x="78" y="43"/>
                  </a:lnTo>
                  <a:lnTo>
                    <a:pt x="47" y="43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6" name="Freeform 1695"/>
            <p:cNvSpPr>
              <a:spLocks/>
            </p:cNvSpPr>
            <p:nvPr/>
          </p:nvSpPr>
          <p:spPr bwMode="auto">
            <a:xfrm>
              <a:off x="2623" y="3196"/>
              <a:ext cx="54" cy="36"/>
            </a:xfrm>
            <a:custGeom>
              <a:avLst/>
              <a:gdLst>
                <a:gd name="T0" fmla="*/ 0 w 54"/>
                <a:gd name="T1" fmla="*/ 0 h 36"/>
                <a:gd name="T2" fmla="*/ 31 w 54"/>
                <a:gd name="T3" fmla="*/ 0 h 36"/>
                <a:gd name="T4" fmla="*/ 54 w 54"/>
                <a:gd name="T5" fmla="*/ 7 h 36"/>
                <a:gd name="T6" fmla="*/ 54 w 54"/>
                <a:gd name="T7" fmla="*/ 36 h 36"/>
                <a:gd name="T8" fmla="*/ 23 w 54"/>
                <a:gd name="T9" fmla="*/ 36 h 36"/>
                <a:gd name="T10" fmla="*/ 0 w 54"/>
                <a:gd name="T11" fmla="*/ 29 h 36"/>
                <a:gd name="T12" fmla="*/ 0 w 5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36"/>
                <a:gd name="T23" fmla="*/ 54 w 54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36">
                  <a:moveTo>
                    <a:pt x="0" y="0"/>
                  </a:moveTo>
                  <a:lnTo>
                    <a:pt x="31" y="0"/>
                  </a:lnTo>
                  <a:lnTo>
                    <a:pt x="54" y="7"/>
                  </a:lnTo>
                  <a:lnTo>
                    <a:pt x="54" y="36"/>
                  </a:lnTo>
                  <a:lnTo>
                    <a:pt x="23" y="36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7" name="Freeform 1696"/>
            <p:cNvSpPr>
              <a:spLocks/>
            </p:cNvSpPr>
            <p:nvPr/>
          </p:nvSpPr>
          <p:spPr bwMode="auto">
            <a:xfrm>
              <a:off x="2623" y="3063"/>
              <a:ext cx="546" cy="267"/>
            </a:xfrm>
            <a:custGeom>
              <a:avLst/>
              <a:gdLst>
                <a:gd name="T0" fmla="*/ 15 w 546"/>
                <a:gd name="T1" fmla="*/ 14 h 267"/>
                <a:gd name="T2" fmla="*/ 54 w 546"/>
                <a:gd name="T3" fmla="*/ 42 h 267"/>
                <a:gd name="T4" fmla="*/ 101 w 546"/>
                <a:gd name="T5" fmla="*/ 70 h 267"/>
                <a:gd name="T6" fmla="*/ 140 w 546"/>
                <a:gd name="T7" fmla="*/ 84 h 267"/>
                <a:gd name="T8" fmla="*/ 179 w 546"/>
                <a:gd name="T9" fmla="*/ 91 h 267"/>
                <a:gd name="T10" fmla="*/ 320 w 546"/>
                <a:gd name="T11" fmla="*/ 105 h 267"/>
                <a:gd name="T12" fmla="*/ 374 w 546"/>
                <a:gd name="T13" fmla="*/ 105 h 267"/>
                <a:gd name="T14" fmla="*/ 414 w 546"/>
                <a:gd name="T15" fmla="*/ 112 h 267"/>
                <a:gd name="T16" fmla="*/ 421 w 546"/>
                <a:gd name="T17" fmla="*/ 119 h 267"/>
                <a:gd name="T18" fmla="*/ 390 w 546"/>
                <a:gd name="T19" fmla="*/ 133 h 267"/>
                <a:gd name="T20" fmla="*/ 359 w 546"/>
                <a:gd name="T21" fmla="*/ 140 h 267"/>
                <a:gd name="T22" fmla="*/ 281 w 546"/>
                <a:gd name="T23" fmla="*/ 155 h 267"/>
                <a:gd name="T24" fmla="*/ 218 w 546"/>
                <a:gd name="T25" fmla="*/ 155 h 267"/>
                <a:gd name="T26" fmla="*/ 156 w 546"/>
                <a:gd name="T27" fmla="*/ 162 h 267"/>
                <a:gd name="T28" fmla="*/ 93 w 546"/>
                <a:gd name="T29" fmla="*/ 169 h 267"/>
                <a:gd name="T30" fmla="*/ 78 w 546"/>
                <a:gd name="T31" fmla="*/ 169 h 267"/>
                <a:gd name="T32" fmla="*/ 62 w 546"/>
                <a:gd name="T33" fmla="*/ 183 h 267"/>
                <a:gd name="T34" fmla="*/ 86 w 546"/>
                <a:gd name="T35" fmla="*/ 197 h 267"/>
                <a:gd name="T36" fmla="*/ 140 w 546"/>
                <a:gd name="T37" fmla="*/ 211 h 267"/>
                <a:gd name="T38" fmla="*/ 179 w 546"/>
                <a:gd name="T39" fmla="*/ 218 h 267"/>
                <a:gd name="T40" fmla="*/ 265 w 546"/>
                <a:gd name="T41" fmla="*/ 239 h 267"/>
                <a:gd name="T42" fmla="*/ 304 w 546"/>
                <a:gd name="T43" fmla="*/ 253 h 267"/>
                <a:gd name="T44" fmla="*/ 335 w 546"/>
                <a:gd name="T45" fmla="*/ 260 h 267"/>
                <a:gd name="T46" fmla="*/ 374 w 546"/>
                <a:gd name="T47" fmla="*/ 267 h 267"/>
                <a:gd name="T48" fmla="*/ 390 w 546"/>
                <a:gd name="T49" fmla="*/ 253 h 267"/>
                <a:gd name="T50" fmla="*/ 382 w 546"/>
                <a:gd name="T51" fmla="*/ 225 h 267"/>
                <a:gd name="T52" fmla="*/ 351 w 546"/>
                <a:gd name="T53" fmla="*/ 211 h 267"/>
                <a:gd name="T54" fmla="*/ 335 w 546"/>
                <a:gd name="T55" fmla="*/ 204 h 267"/>
                <a:gd name="T56" fmla="*/ 320 w 546"/>
                <a:gd name="T57" fmla="*/ 197 h 267"/>
                <a:gd name="T58" fmla="*/ 335 w 546"/>
                <a:gd name="T59" fmla="*/ 176 h 267"/>
                <a:gd name="T60" fmla="*/ 382 w 546"/>
                <a:gd name="T61" fmla="*/ 162 h 267"/>
                <a:gd name="T62" fmla="*/ 421 w 546"/>
                <a:gd name="T63" fmla="*/ 155 h 267"/>
                <a:gd name="T64" fmla="*/ 468 w 546"/>
                <a:gd name="T65" fmla="*/ 147 h 267"/>
                <a:gd name="T66" fmla="*/ 515 w 546"/>
                <a:gd name="T67" fmla="*/ 133 h 267"/>
                <a:gd name="T68" fmla="*/ 538 w 546"/>
                <a:gd name="T69" fmla="*/ 119 h 267"/>
                <a:gd name="T70" fmla="*/ 538 w 546"/>
                <a:gd name="T71" fmla="*/ 105 h 267"/>
                <a:gd name="T72" fmla="*/ 499 w 546"/>
                <a:gd name="T73" fmla="*/ 91 h 267"/>
                <a:gd name="T74" fmla="*/ 453 w 546"/>
                <a:gd name="T75" fmla="*/ 84 h 267"/>
                <a:gd name="T76" fmla="*/ 382 w 546"/>
                <a:gd name="T77" fmla="*/ 77 h 267"/>
                <a:gd name="T78" fmla="*/ 312 w 546"/>
                <a:gd name="T79" fmla="*/ 70 h 267"/>
                <a:gd name="T80" fmla="*/ 242 w 546"/>
                <a:gd name="T81" fmla="*/ 63 h 267"/>
                <a:gd name="T82" fmla="*/ 156 w 546"/>
                <a:gd name="T83" fmla="*/ 49 h 267"/>
                <a:gd name="T84" fmla="*/ 93 w 546"/>
                <a:gd name="T85" fmla="*/ 35 h 267"/>
                <a:gd name="T86" fmla="*/ 23 w 546"/>
                <a:gd name="T87" fmla="*/ 14 h 267"/>
                <a:gd name="T88" fmla="*/ 0 w 546"/>
                <a:gd name="T89" fmla="*/ 0 h 26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46"/>
                <a:gd name="T136" fmla="*/ 0 h 267"/>
                <a:gd name="T137" fmla="*/ 546 w 546"/>
                <a:gd name="T138" fmla="*/ 267 h 26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46" h="267">
                  <a:moveTo>
                    <a:pt x="0" y="0"/>
                  </a:moveTo>
                  <a:lnTo>
                    <a:pt x="15" y="14"/>
                  </a:lnTo>
                  <a:lnTo>
                    <a:pt x="31" y="28"/>
                  </a:lnTo>
                  <a:lnTo>
                    <a:pt x="54" y="42"/>
                  </a:lnTo>
                  <a:lnTo>
                    <a:pt x="78" y="56"/>
                  </a:lnTo>
                  <a:lnTo>
                    <a:pt x="101" y="70"/>
                  </a:lnTo>
                  <a:lnTo>
                    <a:pt x="125" y="77"/>
                  </a:lnTo>
                  <a:lnTo>
                    <a:pt x="140" y="84"/>
                  </a:lnTo>
                  <a:lnTo>
                    <a:pt x="172" y="91"/>
                  </a:lnTo>
                  <a:lnTo>
                    <a:pt x="179" y="91"/>
                  </a:lnTo>
                  <a:lnTo>
                    <a:pt x="226" y="98"/>
                  </a:lnTo>
                  <a:lnTo>
                    <a:pt x="320" y="105"/>
                  </a:lnTo>
                  <a:lnTo>
                    <a:pt x="367" y="105"/>
                  </a:lnTo>
                  <a:lnTo>
                    <a:pt x="374" y="105"/>
                  </a:lnTo>
                  <a:lnTo>
                    <a:pt x="398" y="105"/>
                  </a:lnTo>
                  <a:lnTo>
                    <a:pt x="414" y="112"/>
                  </a:lnTo>
                  <a:lnTo>
                    <a:pt x="421" y="112"/>
                  </a:lnTo>
                  <a:lnTo>
                    <a:pt x="421" y="119"/>
                  </a:lnTo>
                  <a:lnTo>
                    <a:pt x="406" y="126"/>
                  </a:lnTo>
                  <a:lnTo>
                    <a:pt x="390" y="133"/>
                  </a:lnTo>
                  <a:lnTo>
                    <a:pt x="382" y="133"/>
                  </a:lnTo>
                  <a:lnTo>
                    <a:pt x="359" y="140"/>
                  </a:lnTo>
                  <a:lnTo>
                    <a:pt x="320" y="147"/>
                  </a:lnTo>
                  <a:lnTo>
                    <a:pt x="281" y="155"/>
                  </a:lnTo>
                  <a:lnTo>
                    <a:pt x="242" y="155"/>
                  </a:lnTo>
                  <a:lnTo>
                    <a:pt x="218" y="155"/>
                  </a:lnTo>
                  <a:lnTo>
                    <a:pt x="203" y="155"/>
                  </a:lnTo>
                  <a:lnTo>
                    <a:pt x="156" y="162"/>
                  </a:lnTo>
                  <a:lnTo>
                    <a:pt x="132" y="162"/>
                  </a:lnTo>
                  <a:lnTo>
                    <a:pt x="93" y="169"/>
                  </a:lnTo>
                  <a:lnTo>
                    <a:pt x="86" y="169"/>
                  </a:lnTo>
                  <a:lnTo>
                    <a:pt x="78" y="169"/>
                  </a:lnTo>
                  <a:lnTo>
                    <a:pt x="62" y="176"/>
                  </a:lnTo>
                  <a:lnTo>
                    <a:pt x="62" y="183"/>
                  </a:lnTo>
                  <a:lnTo>
                    <a:pt x="70" y="190"/>
                  </a:lnTo>
                  <a:lnTo>
                    <a:pt x="86" y="197"/>
                  </a:lnTo>
                  <a:lnTo>
                    <a:pt x="125" y="211"/>
                  </a:lnTo>
                  <a:lnTo>
                    <a:pt x="140" y="211"/>
                  </a:lnTo>
                  <a:lnTo>
                    <a:pt x="148" y="211"/>
                  </a:lnTo>
                  <a:lnTo>
                    <a:pt x="179" y="218"/>
                  </a:lnTo>
                  <a:lnTo>
                    <a:pt x="218" y="225"/>
                  </a:lnTo>
                  <a:lnTo>
                    <a:pt x="265" y="239"/>
                  </a:lnTo>
                  <a:lnTo>
                    <a:pt x="289" y="246"/>
                  </a:lnTo>
                  <a:lnTo>
                    <a:pt x="304" y="253"/>
                  </a:lnTo>
                  <a:lnTo>
                    <a:pt x="328" y="260"/>
                  </a:lnTo>
                  <a:lnTo>
                    <a:pt x="335" y="260"/>
                  </a:lnTo>
                  <a:lnTo>
                    <a:pt x="359" y="267"/>
                  </a:lnTo>
                  <a:lnTo>
                    <a:pt x="374" y="267"/>
                  </a:lnTo>
                  <a:lnTo>
                    <a:pt x="390" y="260"/>
                  </a:lnTo>
                  <a:lnTo>
                    <a:pt x="390" y="253"/>
                  </a:lnTo>
                  <a:lnTo>
                    <a:pt x="390" y="239"/>
                  </a:lnTo>
                  <a:lnTo>
                    <a:pt x="382" y="225"/>
                  </a:lnTo>
                  <a:lnTo>
                    <a:pt x="374" y="218"/>
                  </a:lnTo>
                  <a:lnTo>
                    <a:pt x="351" y="211"/>
                  </a:lnTo>
                  <a:lnTo>
                    <a:pt x="343" y="204"/>
                  </a:lnTo>
                  <a:lnTo>
                    <a:pt x="335" y="204"/>
                  </a:lnTo>
                  <a:lnTo>
                    <a:pt x="328" y="197"/>
                  </a:lnTo>
                  <a:lnTo>
                    <a:pt x="320" y="197"/>
                  </a:lnTo>
                  <a:lnTo>
                    <a:pt x="328" y="183"/>
                  </a:lnTo>
                  <a:lnTo>
                    <a:pt x="335" y="176"/>
                  </a:lnTo>
                  <a:lnTo>
                    <a:pt x="359" y="169"/>
                  </a:lnTo>
                  <a:lnTo>
                    <a:pt x="382" y="162"/>
                  </a:lnTo>
                  <a:lnTo>
                    <a:pt x="398" y="162"/>
                  </a:lnTo>
                  <a:lnTo>
                    <a:pt x="421" y="155"/>
                  </a:lnTo>
                  <a:lnTo>
                    <a:pt x="437" y="155"/>
                  </a:lnTo>
                  <a:lnTo>
                    <a:pt x="468" y="147"/>
                  </a:lnTo>
                  <a:lnTo>
                    <a:pt x="492" y="140"/>
                  </a:lnTo>
                  <a:lnTo>
                    <a:pt x="515" y="133"/>
                  </a:lnTo>
                  <a:lnTo>
                    <a:pt x="531" y="126"/>
                  </a:lnTo>
                  <a:lnTo>
                    <a:pt x="538" y="119"/>
                  </a:lnTo>
                  <a:lnTo>
                    <a:pt x="546" y="112"/>
                  </a:lnTo>
                  <a:lnTo>
                    <a:pt x="538" y="105"/>
                  </a:lnTo>
                  <a:lnTo>
                    <a:pt x="523" y="98"/>
                  </a:lnTo>
                  <a:lnTo>
                    <a:pt x="499" y="91"/>
                  </a:lnTo>
                  <a:lnTo>
                    <a:pt x="484" y="91"/>
                  </a:lnTo>
                  <a:lnTo>
                    <a:pt x="453" y="84"/>
                  </a:lnTo>
                  <a:lnTo>
                    <a:pt x="414" y="77"/>
                  </a:lnTo>
                  <a:lnTo>
                    <a:pt x="382" y="77"/>
                  </a:lnTo>
                  <a:lnTo>
                    <a:pt x="335" y="70"/>
                  </a:lnTo>
                  <a:lnTo>
                    <a:pt x="312" y="70"/>
                  </a:lnTo>
                  <a:lnTo>
                    <a:pt x="289" y="70"/>
                  </a:lnTo>
                  <a:lnTo>
                    <a:pt x="242" y="63"/>
                  </a:lnTo>
                  <a:lnTo>
                    <a:pt x="195" y="56"/>
                  </a:lnTo>
                  <a:lnTo>
                    <a:pt x="156" y="49"/>
                  </a:lnTo>
                  <a:lnTo>
                    <a:pt x="117" y="42"/>
                  </a:lnTo>
                  <a:lnTo>
                    <a:pt x="93" y="35"/>
                  </a:lnTo>
                  <a:lnTo>
                    <a:pt x="47" y="21"/>
                  </a:lnTo>
                  <a:lnTo>
                    <a:pt x="23" y="14"/>
                  </a:lnTo>
                  <a:lnTo>
                    <a:pt x="8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33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8" name="Line 61"/>
            <p:cNvSpPr>
              <a:spLocks noChangeShapeType="1"/>
            </p:cNvSpPr>
            <p:nvPr/>
          </p:nvSpPr>
          <p:spPr bwMode="auto">
            <a:xfrm flipH="1">
              <a:off x="2490" y="2887"/>
              <a:ext cx="7" cy="6"/>
            </a:xfrm>
            <a:prstGeom prst="line">
              <a:avLst/>
            </a:prstGeom>
            <a:noFill/>
            <a:ln w="25400">
              <a:solidFill>
                <a:srgbClr val="0A0A0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699" name="Line 62"/>
            <p:cNvSpPr>
              <a:spLocks noChangeShapeType="1"/>
            </p:cNvSpPr>
            <p:nvPr/>
          </p:nvSpPr>
          <p:spPr bwMode="auto">
            <a:xfrm flipH="1">
              <a:off x="2490" y="2887"/>
              <a:ext cx="22" cy="20"/>
            </a:xfrm>
            <a:prstGeom prst="line">
              <a:avLst/>
            </a:prstGeom>
            <a:noFill/>
            <a:ln w="25400">
              <a:solidFill>
                <a:srgbClr val="0C0C0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0" name="Line 63"/>
            <p:cNvSpPr>
              <a:spLocks noChangeShapeType="1"/>
            </p:cNvSpPr>
            <p:nvPr/>
          </p:nvSpPr>
          <p:spPr bwMode="auto">
            <a:xfrm flipH="1">
              <a:off x="2490" y="2887"/>
              <a:ext cx="22" cy="20"/>
            </a:xfrm>
            <a:prstGeom prst="line">
              <a:avLst/>
            </a:prstGeom>
            <a:noFill/>
            <a:ln w="25400">
              <a:solidFill>
                <a:srgbClr val="0E0E0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1" name="Line 64"/>
            <p:cNvSpPr>
              <a:spLocks noChangeShapeType="1"/>
            </p:cNvSpPr>
            <p:nvPr/>
          </p:nvSpPr>
          <p:spPr bwMode="auto">
            <a:xfrm flipH="1">
              <a:off x="2490" y="2887"/>
              <a:ext cx="38" cy="34"/>
            </a:xfrm>
            <a:prstGeom prst="line">
              <a:avLst/>
            </a:prstGeom>
            <a:noFill/>
            <a:ln w="25400">
              <a:solidFill>
                <a:srgbClr val="10101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2" name="Line 65"/>
            <p:cNvSpPr>
              <a:spLocks noChangeShapeType="1"/>
            </p:cNvSpPr>
            <p:nvPr/>
          </p:nvSpPr>
          <p:spPr bwMode="auto">
            <a:xfrm flipH="1">
              <a:off x="2490" y="2887"/>
              <a:ext cx="53" cy="48"/>
            </a:xfrm>
            <a:prstGeom prst="line">
              <a:avLst/>
            </a:prstGeom>
            <a:noFill/>
            <a:ln w="25400">
              <a:solidFill>
                <a:srgbClr val="12121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3" name="Line 66"/>
            <p:cNvSpPr>
              <a:spLocks noChangeShapeType="1"/>
            </p:cNvSpPr>
            <p:nvPr/>
          </p:nvSpPr>
          <p:spPr bwMode="auto">
            <a:xfrm flipH="1">
              <a:off x="2490" y="2887"/>
              <a:ext cx="69" cy="62"/>
            </a:xfrm>
            <a:prstGeom prst="line">
              <a:avLst/>
            </a:prstGeom>
            <a:noFill/>
            <a:ln w="25400">
              <a:solidFill>
                <a:srgbClr val="14141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4" name="Line 67"/>
            <p:cNvSpPr>
              <a:spLocks noChangeShapeType="1"/>
            </p:cNvSpPr>
            <p:nvPr/>
          </p:nvSpPr>
          <p:spPr bwMode="auto">
            <a:xfrm flipH="1">
              <a:off x="2490" y="2887"/>
              <a:ext cx="69" cy="62"/>
            </a:xfrm>
            <a:prstGeom prst="line">
              <a:avLst/>
            </a:prstGeom>
            <a:noFill/>
            <a:ln w="25400">
              <a:solidFill>
                <a:srgbClr val="16161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5" name="Line 68"/>
            <p:cNvSpPr>
              <a:spLocks noChangeShapeType="1"/>
            </p:cNvSpPr>
            <p:nvPr/>
          </p:nvSpPr>
          <p:spPr bwMode="auto">
            <a:xfrm flipH="1">
              <a:off x="2490" y="2887"/>
              <a:ext cx="84" cy="76"/>
            </a:xfrm>
            <a:prstGeom prst="line">
              <a:avLst/>
            </a:prstGeom>
            <a:noFill/>
            <a:ln w="25400">
              <a:solidFill>
                <a:srgbClr val="18181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6" name="Line 69"/>
            <p:cNvSpPr>
              <a:spLocks noChangeShapeType="1"/>
            </p:cNvSpPr>
            <p:nvPr/>
          </p:nvSpPr>
          <p:spPr bwMode="auto">
            <a:xfrm flipH="1">
              <a:off x="2490" y="2887"/>
              <a:ext cx="99" cy="90"/>
            </a:xfrm>
            <a:prstGeom prst="line">
              <a:avLst/>
            </a:prstGeom>
            <a:noFill/>
            <a:ln w="25400">
              <a:solidFill>
                <a:srgbClr val="1A1A1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7" name="Line 70"/>
            <p:cNvSpPr>
              <a:spLocks noChangeShapeType="1"/>
            </p:cNvSpPr>
            <p:nvPr/>
          </p:nvSpPr>
          <p:spPr bwMode="auto">
            <a:xfrm flipH="1">
              <a:off x="2490" y="2887"/>
              <a:ext cx="99" cy="90"/>
            </a:xfrm>
            <a:prstGeom prst="line">
              <a:avLst/>
            </a:prstGeom>
            <a:noFill/>
            <a:ln w="25400">
              <a:solidFill>
                <a:srgbClr val="1C1C1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8" name="Line 71"/>
            <p:cNvSpPr>
              <a:spLocks noChangeShapeType="1"/>
            </p:cNvSpPr>
            <p:nvPr/>
          </p:nvSpPr>
          <p:spPr bwMode="auto">
            <a:xfrm flipH="1">
              <a:off x="2490" y="2887"/>
              <a:ext cx="115" cy="104"/>
            </a:xfrm>
            <a:prstGeom prst="line">
              <a:avLst/>
            </a:prstGeom>
            <a:noFill/>
            <a:ln w="25400">
              <a:solidFill>
                <a:srgbClr val="1E1E1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09" name="Line 72"/>
            <p:cNvSpPr>
              <a:spLocks noChangeShapeType="1"/>
            </p:cNvSpPr>
            <p:nvPr/>
          </p:nvSpPr>
          <p:spPr bwMode="auto">
            <a:xfrm flipH="1">
              <a:off x="2490" y="2887"/>
              <a:ext cx="132" cy="120"/>
            </a:xfrm>
            <a:prstGeom prst="line">
              <a:avLst/>
            </a:prstGeom>
            <a:noFill/>
            <a:ln w="25400">
              <a:solidFill>
                <a:srgbClr val="20202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0" name="Line 73"/>
            <p:cNvSpPr>
              <a:spLocks noChangeShapeType="1"/>
            </p:cNvSpPr>
            <p:nvPr/>
          </p:nvSpPr>
          <p:spPr bwMode="auto">
            <a:xfrm flipH="1">
              <a:off x="2490" y="2887"/>
              <a:ext cx="146" cy="132"/>
            </a:xfrm>
            <a:prstGeom prst="line">
              <a:avLst/>
            </a:prstGeom>
            <a:noFill/>
            <a:ln w="25400">
              <a:solidFill>
                <a:srgbClr val="22222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1" name="Line 74"/>
            <p:cNvSpPr>
              <a:spLocks noChangeShapeType="1"/>
            </p:cNvSpPr>
            <p:nvPr/>
          </p:nvSpPr>
          <p:spPr bwMode="auto">
            <a:xfrm flipH="1">
              <a:off x="2490" y="2887"/>
              <a:ext cx="146" cy="132"/>
            </a:xfrm>
            <a:prstGeom prst="line">
              <a:avLst/>
            </a:prstGeom>
            <a:noFill/>
            <a:ln w="25400">
              <a:solidFill>
                <a:srgbClr val="24242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2" name="Line 75"/>
            <p:cNvSpPr>
              <a:spLocks noChangeShapeType="1"/>
            </p:cNvSpPr>
            <p:nvPr/>
          </p:nvSpPr>
          <p:spPr bwMode="auto">
            <a:xfrm flipH="1">
              <a:off x="2490" y="2887"/>
              <a:ext cx="162" cy="147"/>
            </a:xfrm>
            <a:prstGeom prst="line">
              <a:avLst/>
            </a:prstGeom>
            <a:noFill/>
            <a:ln w="25400">
              <a:solidFill>
                <a:srgbClr val="26262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3" name="Line 76"/>
            <p:cNvSpPr>
              <a:spLocks noChangeShapeType="1"/>
            </p:cNvSpPr>
            <p:nvPr/>
          </p:nvSpPr>
          <p:spPr bwMode="auto">
            <a:xfrm flipH="1">
              <a:off x="2490" y="2887"/>
              <a:ext cx="178" cy="162"/>
            </a:xfrm>
            <a:prstGeom prst="line">
              <a:avLst/>
            </a:prstGeom>
            <a:noFill/>
            <a:ln w="25400">
              <a:solidFill>
                <a:srgbClr val="28282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4" name="Line 77"/>
            <p:cNvSpPr>
              <a:spLocks noChangeShapeType="1"/>
            </p:cNvSpPr>
            <p:nvPr/>
          </p:nvSpPr>
          <p:spPr bwMode="auto">
            <a:xfrm flipH="1">
              <a:off x="2490" y="2887"/>
              <a:ext cx="178" cy="162"/>
            </a:xfrm>
            <a:prstGeom prst="line">
              <a:avLst/>
            </a:prstGeom>
            <a:noFill/>
            <a:ln w="25400">
              <a:solidFill>
                <a:srgbClr val="2B2B2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5" name="Line 78"/>
            <p:cNvSpPr>
              <a:spLocks noChangeShapeType="1"/>
            </p:cNvSpPr>
            <p:nvPr/>
          </p:nvSpPr>
          <p:spPr bwMode="auto">
            <a:xfrm flipH="1">
              <a:off x="2490" y="2887"/>
              <a:ext cx="193" cy="175"/>
            </a:xfrm>
            <a:prstGeom prst="line">
              <a:avLst/>
            </a:prstGeom>
            <a:noFill/>
            <a:ln w="25400">
              <a:solidFill>
                <a:srgbClr val="2D2D2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6" name="Line 79"/>
            <p:cNvSpPr>
              <a:spLocks noChangeShapeType="1"/>
            </p:cNvSpPr>
            <p:nvPr/>
          </p:nvSpPr>
          <p:spPr bwMode="auto">
            <a:xfrm flipH="1">
              <a:off x="2499" y="2887"/>
              <a:ext cx="200" cy="183"/>
            </a:xfrm>
            <a:prstGeom prst="line">
              <a:avLst/>
            </a:prstGeom>
            <a:noFill/>
            <a:ln w="25400">
              <a:solidFill>
                <a:srgbClr val="2F2F2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7" name="Line 80"/>
            <p:cNvSpPr>
              <a:spLocks noChangeShapeType="1"/>
            </p:cNvSpPr>
            <p:nvPr/>
          </p:nvSpPr>
          <p:spPr bwMode="auto">
            <a:xfrm flipH="1">
              <a:off x="2506" y="2887"/>
              <a:ext cx="200" cy="183"/>
            </a:xfrm>
            <a:prstGeom prst="line">
              <a:avLst/>
            </a:prstGeom>
            <a:noFill/>
            <a:ln w="25400">
              <a:solidFill>
                <a:srgbClr val="31313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8" name="Line 81"/>
            <p:cNvSpPr>
              <a:spLocks noChangeShapeType="1"/>
            </p:cNvSpPr>
            <p:nvPr/>
          </p:nvSpPr>
          <p:spPr bwMode="auto">
            <a:xfrm flipH="1">
              <a:off x="2513" y="2887"/>
              <a:ext cx="200" cy="183"/>
            </a:xfrm>
            <a:prstGeom prst="line">
              <a:avLst/>
            </a:prstGeom>
            <a:noFill/>
            <a:ln w="254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19" name="Line 82"/>
            <p:cNvSpPr>
              <a:spLocks noChangeShapeType="1"/>
            </p:cNvSpPr>
            <p:nvPr/>
          </p:nvSpPr>
          <p:spPr bwMode="auto">
            <a:xfrm flipH="1">
              <a:off x="2529" y="2887"/>
              <a:ext cx="200" cy="183"/>
            </a:xfrm>
            <a:prstGeom prst="line">
              <a:avLst/>
            </a:prstGeom>
            <a:noFill/>
            <a:ln w="25400">
              <a:solidFill>
                <a:srgbClr val="35353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0" name="Line 83"/>
            <p:cNvSpPr>
              <a:spLocks noChangeShapeType="1"/>
            </p:cNvSpPr>
            <p:nvPr/>
          </p:nvSpPr>
          <p:spPr bwMode="auto">
            <a:xfrm flipH="1">
              <a:off x="2545" y="2887"/>
              <a:ext cx="200" cy="183"/>
            </a:xfrm>
            <a:prstGeom prst="line">
              <a:avLst/>
            </a:prstGeom>
            <a:noFill/>
            <a:ln w="25400">
              <a:solidFill>
                <a:srgbClr val="37373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1" name="Line 84"/>
            <p:cNvSpPr>
              <a:spLocks noChangeShapeType="1"/>
            </p:cNvSpPr>
            <p:nvPr/>
          </p:nvSpPr>
          <p:spPr bwMode="auto">
            <a:xfrm flipH="1">
              <a:off x="2545" y="2887"/>
              <a:ext cx="200" cy="183"/>
            </a:xfrm>
            <a:prstGeom prst="line">
              <a:avLst/>
            </a:prstGeom>
            <a:noFill/>
            <a:ln w="25400">
              <a:solidFill>
                <a:srgbClr val="39393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2" name="Line 85"/>
            <p:cNvSpPr>
              <a:spLocks noChangeShapeType="1"/>
            </p:cNvSpPr>
            <p:nvPr/>
          </p:nvSpPr>
          <p:spPr bwMode="auto">
            <a:xfrm flipH="1">
              <a:off x="2561" y="2887"/>
              <a:ext cx="200" cy="183"/>
            </a:xfrm>
            <a:prstGeom prst="line">
              <a:avLst/>
            </a:prstGeom>
            <a:noFill/>
            <a:ln w="25400">
              <a:solidFill>
                <a:srgbClr val="3B3B3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3" name="Line 86"/>
            <p:cNvSpPr>
              <a:spLocks noChangeShapeType="1"/>
            </p:cNvSpPr>
            <p:nvPr/>
          </p:nvSpPr>
          <p:spPr bwMode="auto">
            <a:xfrm flipH="1">
              <a:off x="2576" y="2887"/>
              <a:ext cx="200" cy="183"/>
            </a:xfrm>
            <a:prstGeom prst="line">
              <a:avLst/>
            </a:prstGeom>
            <a:noFill/>
            <a:ln w="25400">
              <a:solidFill>
                <a:srgbClr val="3D3D3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4" name="Line 87"/>
            <p:cNvSpPr>
              <a:spLocks noChangeShapeType="1"/>
            </p:cNvSpPr>
            <p:nvPr/>
          </p:nvSpPr>
          <p:spPr bwMode="auto">
            <a:xfrm flipH="1">
              <a:off x="2583" y="2887"/>
              <a:ext cx="200" cy="183"/>
            </a:xfrm>
            <a:prstGeom prst="line">
              <a:avLst/>
            </a:prstGeom>
            <a:noFill/>
            <a:ln w="25400">
              <a:solidFill>
                <a:srgbClr val="3F3F3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5" name="Line 88"/>
            <p:cNvSpPr>
              <a:spLocks noChangeShapeType="1"/>
            </p:cNvSpPr>
            <p:nvPr/>
          </p:nvSpPr>
          <p:spPr bwMode="auto">
            <a:xfrm flipH="1">
              <a:off x="2591" y="2887"/>
              <a:ext cx="200" cy="183"/>
            </a:xfrm>
            <a:prstGeom prst="line">
              <a:avLst/>
            </a:prstGeom>
            <a:noFill/>
            <a:ln w="25400">
              <a:solidFill>
                <a:srgbClr val="41414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6" name="Line 89"/>
            <p:cNvSpPr>
              <a:spLocks noChangeShapeType="1"/>
            </p:cNvSpPr>
            <p:nvPr/>
          </p:nvSpPr>
          <p:spPr bwMode="auto">
            <a:xfrm flipH="1">
              <a:off x="2606" y="2887"/>
              <a:ext cx="200" cy="183"/>
            </a:xfrm>
            <a:prstGeom prst="line">
              <a:avLst/>
            </a:prstGeom>
            <a:noFill/>
            <a:ln w="25400">
              <a:solidFill>
                <a:srgbClr val="43434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7" name="Line 90"/>
            <p:cNvSpPr>
              <a:spLocks noChangeShapeType="1"/>
            </p:cNvSpPr>
            <p:nvPr/>
          </p:nvSpPr>
          <p:spPr bwMode="auto">
            <a:xfrm flipH="1">
              <a:off x="2622" y="2887"/>
              <a:ext cx="200" cy="183"/>
            </a:xfrm>
            <a:prstGeom prst="line">
              <a:avLst/>
            </a:prstGeom>
            <a:noFill/>
            <a:ln w="25400">
              <a:solidFill>
                <a:srgbClr val="45454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8" name="Line 91"/>
            <p:cNvSpPr>
              <a:spLocks noChangeShapeType="1"/>
            </p:cNvSpPr>
            <p:nvPr/>
          </p:nvSpPr>
          <p:spPr bwMode="auto">
            <a:xfrm flipH="1">
              <a:off x="2622" y="2887"/>
              <a:ext cx="200" cy="183"/>
            </a:xfrm>
            <a:prstGeom prst="line">
              <a:avLst/>
            </a:prstGeom>
            <a:noFill/>
            <a:ln w="25400">
              <a:solidFill>
                <a:srgbClr val="47474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29" name="Line 92"/>
            <p:cNvSpPr>
              <a:spLocks noChangeShapeType="1"/>
            </p:cNvSpPr>
            <p:nvPr/>
          </p:nvSpPr>
          <p:spPr bwMode="auto">
            <a:xfrm flipH="1">
              <a:off x="2638" y="2887"/>
              <a:ext cx="200" cy="183"/>
            </a:xfrm>
            <a:prstGeom prst="line">
              <a:avLst/>
            </a:prstGeom>
            <a:noFill/>
            <a:ln w="25400">
              <a:solidFill>
                <a:srgbClr val="49494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0" name="Line 93"/>
            <p:cNvSpPr>
              <a:spLocks noChangeShapeType="1"/>
            </p:cNvSpPr>
            <p:nvPr/>
          </p:nvSpPr>
          <p:spPr bwMode="auto">
            <a:xfrm flipH="1">
              <a:off x="2654" y="2887"/>
              <a:ext cx="200" cy="183"/>
            </a:xfrm>
            <a:prstGeom prst="line">
              <a:avLst/>
            </a:prstGeom>
            <a:noFill/>
            <a:ln w="25400">
              <a:solidFill>
                <a:srgbClr val="4B4B4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1" name="Line 94"/>
            <p:cNvSpPr>
              <a:spLocks noChangeShapeType="1"/>
            </p:cNvSpPr>
            <p:nvPr/>
          </p:nvSpPr>
          <p:spPr bwMode="auto">
            <a:xfrm flipH="1">
              <a:off x="2661" y="2887"/>
              <a:ext cx="200" cy="183"/>
            </a:xfrm>
            <a:prstGeom prst="line">
              <a:avLst/>
            </a:prstGeom>
            <a:noFill/>
            <a:ln w="2540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2" name="Line 95"/>
            <p:cNvSpPr>
              <a:spLocks noChangeShapeType="1"/>
            </p:cNvSpPr>
            <p:nvPr/>
          </p:nvSpPr>
          <p:spPr bwMode="auto">
            <a:xfrm flipH="1">
              <a:off x="2688" y="2880"/>
              <a:ext cx="200" cy="183"/>
            </a:xfrm>
            <a:prstGeom prst="line">
              <a:avLst/>
            </a:prstGeom>
            <a:noFill/>
            <a:ln w="25400">
              <a:solidFill>
                <a:srgbClr val="4F4F4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3" name="Line 96"/>
            <p:cNvSpPr>
              <a:spLocks noChangeShapeType="1"/>
            </p:cNvSpPr>
            <p:nvPr/>
          </p:nvSpPr>
          <p:spPr bwMode="auto">
            <a:xfrm flipH="1">
              <a:off x="2684" y="2887"/>
              <a:ext cx="200" cy="183"/>
            </a:xfrm>
            <a:prstGeom prst="line">
              <a:avLst/>
            </a:prstGeom>
            <a:noFill/>
            <a:ln w="25400">
              <a:solidFill>
                <a:srgbClr val="51515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4" name="Line 97"/>
            <p:cNvSpPr>
              <a:spLocks noChangeShapeType="1"/>
            </p:cNvSpPr>
            <p:nvPr/>
          </p:nvSpPr>
          <p:spPr bwMode="auto">
            <a:xfrm flipH="1">
              <a:off x="2692" y="2887"/>
              <a:ext cx="200" cy="183"/>
            </a:xfrm>
            <a:prstGeom prst="line">
              <a:avLst/>
            </a:prstGeom>
            <a:noFill/>
            <a:ln w="25400">
              <a:solidFill>
                <a:srgbClr val="53535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5" name="Line 98"/>
            <p:cNvSpPr>
              <a:spLocks noChangeShapeType="1"/>
            </p:cNvSpPr>
            <p:nvPr/>
          </p:nvSpPr>
          <p:spPr bwMode="auto">
            <a:xfrm flipH="1">
              <a:off x="2700" y="2887"/>
              <a:ext cx="200" cy="183"/>
            </a:xfrm>
            <a:prstGeom prst="line">
              <a:avLst/>
            </a:prstGeom>
            <a:noFill/>
            <a:ln w="25400">
              <a:solidFill>
                <a:srgbClr val="56565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6" name="Line 99"/>
            <p:cNvSpPr>
              <a:spLocks noChangeShapeType="1"/>
            </p:cNvSpPr>
            <p:nvPr/>
          </p:nvSpPr>
          <p:spPr bwMode="auto">
            <a:xfrm flipH="1">
              <a:off x="2716" y="2887"/>
              <a:ext cx="200" cy="183"/>
            </a:xfrm>
            <a:prstGeom prst="line">
              <a:avLst/>
            </a:prstGeom>
            <a:noFill/>
            <a:ln w="25400">
              <a:solidFill>
                <a:srgbClr val="58585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7" name="Line 100"/>
            <p:cNvSpPr>
              <a:spLocks noChangeShapeType="1"/>
            </p:cNvSpPr>
            <p:nvPr/>
          </p:nvSpPr>
          <p:spPr bwMode="auto">
            <a:xfrm flipH="1">
              <a:off x="2731" y="2887"/>
              <a:ext cx="200" cy="183"/>
            </a:xfrm>
            <a:prstGeom prst="line">
              <a:avLst/>
            </a:prstGeom>
            <a:noFill/>
            <a:ln w="25400">
              <a:solidFill>
                <a:srgbClr val="5A5A5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8" name="Line 101"/>
            <p:cNvSpPr>
              <a:spLocks noChangeShapeType="1"/>
            </p:cNvSpPr>
            <p:nvPr/>
          </p:nvSpPr>
          <p:spPr bwMode="auto">
            <a:xfrm flipH="1">
              <a:off x="2739" y="2887"/>
              <a:ext cx="200" cy="183"/>
            </a:xfrm>
            <a:prstGeom prst="line">
              <a:avLst/>
            </a:prstGeom>
            <a:noFill/>
            <a:ln w="25400">
              <a:solidFill>
                <a:srgbClr val="5C5C5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39" name="Line 102"/>
            <p:cNvSpPr>
              <a:spLocks noChangeShapeType="1"/>
            </p:cNvSpPr>
            <p:nvPr/>
          </p:nvSpPr>
          <p:spPr bwMode="auto">
            <a:xfrm flipH="1">
              <a:off x="2747" y="2887"/>
              <a:ext cx="200" cy="183"/>
            </a:xfrm>
            <a:prstGeom prst="line">
              <a:avLst/>
            </a:prstGeom>
            <a:noFill/>
            <a:ln w="25400">
              <a:solidFill>
                <a:srgbClr val="5E5E5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0" name="Line 103"/>
            <p:cNvSpPr>
              <a:spLocks noChangeShapeType="1"/>
            </p:cNvSpPr>
            <p:nvPr/>
          </p:nvSpPr>
          <p:spPr bwMode="auto">
            <a:xfrm flipH="1">
              <a:off x="2763" y="2887"/>
              <a:ext cx="200" cy="183"/>
            </a:xfrm>
            <a:prstGeom prst="line">
              <a:avLst/>
            </a:prstGeom>
            <a:noFill/>
            <a:ln w="25400">
              <a:solidFill>
                <a:srgbClr val="60606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1" name="Line 104"/>
            <p:cNvSpPr>
              <a:spLocks noChangeShapeType="1"/>
            </p:cNvSpPr>
            <p:nvPr/>
          </p:nvSpPr>
          <p:spPr bwMode="auto">
            <a:xfrm flipH="1">
              <a:off x="2771" y="2887"/>
              <a:ext cx="200" cy="183"/>
            </a:xfrm>
            <a:prstGeom prst="line">
              <a:avLst/>
            </a:prstGeom>
            <a:noFill/>
            <a:ln w="25400">
              <a:solidFill>
                <a:srgbClr val="62626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2" name="Line 105"/>
            <p:cNvSpPr>
              <a:spLocks noChangeShapeType="1"/>
            </p:cNvSpPr>
            <p:nvPr/>
          </p:nvSpPr>
          <p:spPr bwMode="auto">
            <a:xfrm flipH="1">
              <a:off x="2778" y="2887"/>
              <a:ext cx="200" cy="183"/>
            </a:xfrm>
            <a:prstGeom prst="line">
              <a:avLst/>
            </a:prstGeom>
            <a:noFill/>
            <a:ln w="25400">
              <a:solidFill>
                <a:srgbClr val="64646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3" name="Line 106"/>
            <p:cNvSpPr>
              <a:spLocks noChangeShapeType="1"/>
            </p:cNvSpPr>
            <p:nvPr/>
          </p:nvSpPr>
          <p:spPr bwMode="auto">
            <a:xfrm flipH="1">
              <a:off x="2793" y="2887"/>
              <a:ext cx="200" cy="183"/>
            </a:xfrm>
            <a:prstGeom prst="line">
              <a:avLst/>
            </a:prstGeom>
            <a:noFill/>
            <a:ln w="2540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4" name="Line 107"/>
            <p:cNvSpPr>
              <a:spLocks noChangeShapeType="1"/>
            </p:cNvSpPr>
            <p:nvPr/>
          </p:nvSpPr>
          <p:spPr bwMode="auto">
            <a:xfrm flipH="1">
              <a:off x="2809" y="2887"/>
              <a:ext cx="200" cy="183"/>
            </a:xfrm>
            <a:prstGeom prst="line">
              <a:avLst/>
            </a:prstGeom>
            <a:noFill/>
            <a:ln w="25400">
              <a:solidFill>
                <a:srgbClr val="68686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5" name="Line 108"/>
            <p:cNvSpPr>
              <a:spLocks noChangeShapeType="1"/>
            </p:cNvSpPr>
            <p:nvPr/>
          </p:nvSpPr>
          <p:spPr bwMode="auto">
            <a:xfrm flipH="1">
              <a:off x="2817" y="2887"/>
              <a:ext cx="200" cy="183"/>
            </a:xfrm>
            <a:prstGeom prst="line">
              <a:avLst/>
            </a:prstGeom>
            <a:noFill/>
            <a:ln w="25400">
              <a:solidFill>
                <a:srgbClr val="6A6A6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6" name="Line 109"/>
            <p:cNvSpPr>
              <a:spLocks noChangeShapeType="1"/>
            </p:cNvSpPr>
            <p:nvPr/>
          </p:nvSpPr>
          <p:spPr bwMode="auto">
            <a:xfrm flipH="1">
              <a:off x="2825" y="2887"/>
              <a:ext cx="200" cy="183"/>
            </a:xfrm>
            <a:prstGeom prst="line">
              <a:avLst/>
            </a:prstGeom>
            <a:noFill/>
            <a:ln w="25400">
              <a:solidFill>
                <a:srgbClr val="6C6C6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7" name="Line 110"/>
            <p:cNvSpPr>
              <a:spLocks noChangeShapeType="1"/>
            </p:cNvSpPr>
            <p:nvPr/>
          </p:nvSpPr>
          <p:spPr bwMode="auto">
            <a:xfrm flipH="1">
              <a:off x="2840" y="2887"/>
              <a:ext cx="200" cy="183"/>
            </a:xfrm>
            <a:prstGeom prst="line">
              <a:avLst/>
            </a:prstGeom>
            <a:noFill/>
            <a:ln w="25400">
              <a:solidFill>
                <a:srgbClr val="6E6E6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8" name="Line 111"/>
            <p:cNvSpPr>
              <a:spLocks noChangeShapeType="1"/>
            </p:cNvSpPr>
            <p:nvPr/>
          </p:nvSpPr>
          <p:spPr bwMode="auto">
            <a:xfrm flipH="1">
              <a:off x="2848" y="2887"/>
              <a:ext cx="200" cy="183"/>
            </a:xfrm>
            <a:prstGeom prst="line">
              <a:avLst/>
            </a:prstGeom>
            <a:noFill/>
            <a:ln w="25400">
              <a:solidFill>
                <a:srgbClr val="70707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49" name="Line 112"/>
            <p:cNvSpPr>
              <a:spLocks noChangeShapeType="1"/>
            </p:cNvSpPr>
            <p:nvPr/>
          </p:nvSpPr>
          <p:spPr bwMode="auto">
            <a:xfrm flipH="1">
              <a:off x="2856" y="2887"/>
              <a:ext cx="200" cy="183"/>
            </a:xfrm>
            <a:prstGeom prst="line">
              <a:avLst/>
            </a:prstGeom>
            <a:noFill/>
            <a:ln w="25400">
              <a:solidFill>
                <a:srgbClr val="7272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0" name="Line 113"/>
            <p:cNvSpPr>
              <a:spLocks noChangeShapeType="1"/>
            </p:cNvSpPr>
            <p:nvPr/>
          </p:nvSpPr>
          <p:spPr bwMode="auto">
            <a:xfrm flipH="1">
              <a:off x="2871" y="2887"/>
              <a:ext cx="200" cy="183"/>
            </a:xfrm>
            <a:prstGeom prst="line">
              <a:avLst/>
            </a:prstGeom>
            <a:noFill/>
            <a:ln w="25400">
              <a:solidFill>
                <a:srgbClr val="74747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1" name="Line 114"/>
            <p:cNvSpPr>
              <a:spLocks noChangeShapeType="1"/>
            </p:cNvSpPr>
            <p:nvPr/>
          </p:nvSpPr>
          <p:spPr bwMode="auto">
            <a:xfrm flipH="1">
              <a:off x="2879" y="2887"/>
              <a:ext cx="200" cy="183"/>
            </a:xfrm>
            <a:prstGeom prst="line">
              <a:avLst/>
            </a:prstGeom>
            <a:noFill/>
            <a:ln w="25400">
              <a:solidFill>
                <a:srgbClr val="76767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2" name="Line 115"/>
            <p:cNvSpPr>
              <a:spLocks noChangeShapeType="1"/>
            </p:cNvSpPr>
            <p:nvPr/>
          </p:nvSpPr>
          <p:spPr bwMode="auto">
            <a:xfrm flipH="1">
              <a:off x="2895" y="2887"/>
              <a:ext cx="200" cy="183"/>
            </a:xfrm>
            <a:prstGeom prst="line">
              <a:avLst/>
            </a:prstGeom>
            <a:noFill/>
            <a:ln w="25400">
              <a:solidFill>
                <a:srgbClr val="78787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3" name="Line 116"/>
            <p:cNvSpPr>
              <a:spLocks noChangeShapeType="1"/>
            </p:cNvSpPr>
            <p:nvPr/>
          </p:nvSpPr>
          <p:spPr bwMode="auto">
            <a:xfrm flipH="1">
              <a:off x="2903" y="2887"/>
              <a:ext cx="200" cy="183"/>
            </a:xfrm>
            <a:prstGeom prst="line">
              <a:avLst/>
            </a:prstGeom>
            <a:noFill/>
            <a:ln w="25400">
              <a:solidFill>
                <a:srgbClr val="7A7A7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4" name="Line 117"/>
            <p:cNvSpPr>
              <a:spLocks noChangeShapeType="1"/>
            </p:cNvSpPr>
            <p:nvPr/>
          </p:nvSpPr>
          <p:spPr bwMode="auto">
            <a:xfrm flipH="1">
              <a:off x="2917" y="2887"/>
              <a:ext cx="200" cy="183"/>
            </a:xfrm>
            <a:prstGeom prst="line">
              <a:avLst/>
            </a:prstGeom>
            <a:noFill/>
            <a:ln w="25400">
              <a:solidFill>
                <a:srgbClr val="7C7C7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5" name="Line 118"/>
            <p:cNvSpPr>
              <a:spLocks noChangeShapeType="1"/>
            </p:cNvSpPr>
            <p:nvPr/>
          </p:nvSpPr>
          <p:spPr bwMode="auto">
            <a:xfrm flipH="1">
              <a:off x="2925" y="2887"/>
              <a:ext cx="200" cy="183"/>
            </a:xfrm>
            <a:prstGeom prst="line">
              <a:avLst/>
            </a:prstGeom>
            <a:noFill/>
            <a:ln w="25400">
              <a:solidFill>
                <a:srgbClr val="7E7E7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6" name="Line 119"/>
            <p:cNvSpPr>
              <a:spLocks noChangeShapeType="1"/>
            </p:cNvSpPr>
            <p:nvPr/>
          </p:nvSpPr>
          <p:spPr bwMode="auto">
            <a:xfrm flipH="1">
              <a:off x="2933" y="2887"/>
              <a:ext cx="200" cy="183"/>
            </a:xfrm>
            <a:prstGeom prst="line">
              <a:avLst/>
            </a:prstGeom>
            <a:noFill/>
            <a:ln w="25400">
              <a:solidFill>
                <a:srgbClr val="81818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7" name="Line 120"/>
            <p:cNvSpPr>
              <a:spLocks noChangeShapeType="1"/>
            </p:cNvSpPr>
            <p:nvPr/>
          </p:nvSpPr>
          <p:spPr bwMode="auto">
            <a:xfrm flipH="1">
              <a:off x="2949" y="2887"/>
              <a:ext cx="200" cy="183"/>
            </a:xfrm>
            <a:prstGeom prst="line">
              <a:avLst/>
            </a:prstGeom>
            <a:noFill/>
            <a:ln w="25400">
              <a:solidFill>
                <a:srgbClr val="83838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8" name="Line 121"/>
            <p:cNvSpPr>
              <a:spLocks noChangeShapeType="1"/>
            </p:cNvSpPr>
            <p:nvPr/>
          </p:nvSpPr>
          <p:spPr bwMode="auto">
            <a:xfrm flipH="1">
              <a:off x="2957" y="2887"/>
              <a:ext cx="200" cy="183"/>
            </a:xfrm>
            <a:prstGeom prst="line">
              <a:avLst/>
            </a:prstGeom>
            <a:noFill/>
            <a:ln w="25400">
              <a:solidFill>
                <a:srgbClr val="85858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59" name="Line 122"/>
            <p:cNvSpPr>
              <a:spLocks noChangeShapeType="1"/>
            </p:cNvSpPr>
            <p:nvPr/>
          </p:nvSpPr>
          <p:spPr bwMode="auto">
            <a:xfrm flipH="1">
              <a:off x="2973" y="2887"/>
              <a:ext cx="200" cy="183"/>
            </a:xfrm>
            <a:prstGeom prst="line">
              <a:avLst/>
            </a:prstGeom>
            <a:noFill/>
            <a:ln w="25400">
              <a:solidFill>
                <a:srgbClr val="8787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0" name="Line 123"/>
            <p:cNvSpPr>
              <a:spLocks noChangeShapeType="1"/>
            </p:cNvSpPr>
            <p:nvPr/>
          </p:nvSpPr>
          <p:spPr bwMode="auto">
            <a:xfrm flipH="1">
              <a:off x="2980" y="2887"/>
              <a:ext cx="200" cy="183"/>
            </a:xfrm>
            <a:prstGeom prst="line">
              <a:avLst/>
            </a:prstGeom>
            <a:noFill/>
            <a:ln w="25400">
              <a:solidFill>
                <a:srgbClr val="89898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1" name="Line 124"/>
            <p:cNvSpPr>
              <a:spLocks noChangeShapeType="1"/>
            </p:cNvSpPr>
            <p:nvPr/>
          </p:nvSpPr>
          <p:spPr bwMode="auto">
            <a:xfrm flipH="1">
              <a:off x="2995" y="2887"/>
              <a:ext cx="200" cy="183"/>
            </a:xfrm>
            <a:prstGeom prst="line">
              <a:avLst/>
            </a:prstGeom>
            <a:noFill/>
            <a:ln w="25400">
              <a:solidFill>
                <a:srgbClr val="8B8B8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2" name="Line 125"/>
            <p:cNvSpPr>
              <a:spLocks noChangeShapeType="1"/>
            </p:cNvSpPr>
            <p:nvPr/>
          </p:nvSpPr>
          <p:spPr bwMode="auto">
            <a:xfrm flipH="1">
              <a:off x="3003" y="2887"/>
              <a:ext cx="200" cy="183"/>
            </a:xfrm>
            <a:prstGeom prst="line">
              <a:avLst/>
            </a:prstGeom>
            <a:noFill/>
            <a:ln w="25400">
              <a:solidFill>
                <a:srgbClr val="8D8D8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3" name="Line 126"/>
            <p:cNvSpPr>
              <a:spLocks noChangeShapeType="1"/>
            </p:cNvSpPr>
            <p:nvPr/>
          </p:nvSpPr>
          <p:spPr bwMode="auto">
            <a:xfrm flipH="1">
              <a:off x="3010" y="2887"/>
              <a:ext cx="200" cy="183"/>
            </a:xfrm>
            <a:prstGeom prst="line">
              <a:avLst/>
            </a:prstGeom>
            <a:noFill/>
            <a:ln w="25400">
              <a:solidFill>
                <a:srgbClr val="8F8F8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4" name="Line 127"/>
            <p:cNvSpPr>
              <a:spLocks noChangeShapeType="1"/>
            </p:cNvSpPr>
            <p:nvPr/>
          </p:nvSpPr>
          <p:spPr bwMode="auto">
            <a:xfrm flipH="1">
              <a:off x="3026" y="2887"/>
              <a:ext cx="200" cy="183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5" name="Line 128"/>
            <p:cNvSpPr>
              <a:spLocks noChangeShapeType="1"/>
            </p:cNvSpPr>
            <p:nvPr/>
          </p:nvSpPr>
          <p:spPr bwMode="auto">
            <a:xfrm flipH="1">
              <a:off x="3034" y="2887"/>
              <a:ext cx="200" cy="183"/>
            </a:xfrm>
            <a:prstGeom prst="line">
              <a:avLst/>
            </a:prstGeom>
            <a:noFill/>
            <a:ln w="25400">
              <a:solidFill>
                <a:srgbClr val="93939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6" name="Line 129"/>
            <p:cNvSpPr>
              <a:spLocks noChangeShapeType="1"/>
            </p:cNvSpPr>
            <p:nvPr/>
          </p:nvSpPr>
          <p:spPr bwMode="auto">
            <a:xfrm flipH="1">
              <a:off x="3050" y="2887"/>
              <a:ext cx="200" cy="183"/>
            </a:xfrm>
            <a:prstGeom prst="line">
              <a:avLst/>
            </a:prstGeom>
            <a:noFill/>
            <a:ln w="25400">
              <a:solidFill>
                <a:srgbClr val="95959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7" name="Line 130"/>
            <p:cNvSpPr>
              <a:spLocks noChangeShapeType="1"/>
            </p:cNvSpPr>
            <p:nvPr/>
          </p:nvSpPr>
          <p:spPr bwMode="auto">
            <a:xfrm flipH="1">
              <a:off x="3058" y="2887"/>
              <a:ext cx="200" cy="183"/>
            </a:xfrm>
            <a:prstGeom prst="line">
              <a:avLst/>
            </a:prstGeom>
            <a:noFill/>
            <a:ln w="25400">
              <a:solidFill>
                <a:srgbClr val="9797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8" name="Line 131"/>
            <p:cNvSpPr>
              <a:spLocks noChangeShapeType="1"/>
            </p:cNvSpPr>
            <p:nvPr/>
          </p:nvSpPr>
          <p:spPr bwMode="auto">
            <a:xfrm flipH="1">
              <a:off x="3064" y="2887"/>
              <a:ext cx="200" cy="183"/>
            </a:xfrm>
            <a:prstGeom prst="line">
              <a:avLst/>
            </a:prstGeom>
            <a:noFill/>
            <a:ln w="25400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69" name="Line 132"/>
            <p:cNvSpPr>
              <a:spLocks noChangeShapeType="1"/>
            </p:cNvSpPr>
            <p:nvPr/>
          </p:nvSpPr>
          <p:spPr bwMode="auto">
            <a:xfrm flipH="1">
              <a:off x="3080" y="2887"/>
              <a:ext cx="200" cy="183"/>
            </a:xfrm>
            <a:prstGeom prst="line">
              <a:avLst/>
            </a:prstGeom>
            <a:noFill/>
            <a:ln w="25400">
              <a:solidFill>
                <a:srgbClr val="9B9B9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0" name="Line 133"/>
            <p:cNvSpPr>
              <a:spLocks noChangeShapeType="1"/>
            </p:cNvSpPr>
            <p:nvPr/>
          </p:nvSpPr>
          <p:spPr bwMode="auto">
            <a:xfrm flipH="1">
              <a:off x="3088" y="2887"/>
              <a:ext cx="200" cy="183"/>
            </a:xfrm>
            <a:prstGeom prst="line">
              <a:avLst/>
            </a:prstGeom>
            <a:noFill/>
            <a:ln w="25400">
              <a:solidFill>
                <a:srgbClr val="9D9D9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1" name="Line 134"/>
            <p:cNvSpPr>
              <a:spLocks noChangeShapeType="1"/>
            </p:cNvSpPr>
            <p:nvPr/>
          </p:nvSpPr>
          <p:spPr bwMode="auto">
            <a:xfrm flipH="1">
              <a:off x="3104" y="2887"/>
              <a:ext cx="200" cy="183"/>
            </a:xfrm>
            <a:prstGeom prst="line">
              <a:avLst/>
            </a:prstGeom>
            <a:noFill/>
            <a:ln w="25400">
              <a:solidFill>
                <a:srgbClr val="9F9F9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2" name="Line 135"/>
            <p:cNvSpPr>
              <a:spLocks noChangeShapeType="1"/>
            </p:cNvSpPr>
            <p:nvPr/>
          </p:nvSpPr>
          <p:spPr bwMode="auto">
            <a:xfrm flipH="1">
              <a:off x="3112" y="2887"/>
              <a:ext cx="200" cy="183"/>
            </a:xfrm>
            <a:prstGeom prst="line">
              <a:avLst/>
            </a:prstGeom>
            <a:noFill/>
            <a:ln w="25400">
              <a:solidFill>
                <a:srgbClr val="A1A1A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3" name="Line 136"/>
            <p:cNvSpPr>
              <a:spLocks noChangeShapeType="1"/>
            </p:cNvSpPr>
            <p:nvPr/>
          </p:nvSpPr>
          <p:spPr bwMode="auto">
            <a:xfrm flipH="1">
              <a:off x="3127" y="2887"/>
              <a:ext cx="200" cy="183"/>
            </a:xfrm>
            <a:prstGeom prst="line">
              <a:avLst/>
            </a:prstGeom>
            <a:noFill/>
            <a:ln w="25400">
              <a:solidFill>
                <a:srgbClr val="A3A3A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4" name="Line 137"/>
            <p:cNvSpPr>
              <a:spLocks noChangeShapeType="1"/>
            </p:cNvSpPr>
            <p:nvPr/>
          </p:nvSpPr>
          <p:spPr bwMode="auto">
            <a:xfrm flipH="1">
              <a:off x="3135" y="2887"/>
              <a:ext cx="200" cy="183"/>
            </a:xfrm>
            <a:prstGeom prst="line">
              <a:avLst/>
            </a:prstGeom>
            <a:noFill/>
            <a:ln w="25400">
              <a:solidFill>
                <a:srgbClr val="A5A5A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5" name="Line 138"/>
            <p:cNvSpPr>
              <a:spLocks noChangeShapeType="1"/>
            </p:cNvSpPr>
            <p:nvPr/>
          </p:nvSpPr>
          <p:spPr bwMode="auto">
            <a:xfrm flipH="1">
              <a:off x="3142" y="2887"/>
              <a:ext cx="200" cy="183"/>
            </a:xfrm>
            <a:prstGeom prst="line">
              <a:avLst/>
            </a:prstGeom>
            <a:noFill/>
            <a:ln w="25400">
              <a:solidFill>
                <a:srgbClr val="A7A7A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6" name="Line 139"/>
            <p:cNvSpPr>
              <a:spLocks noChangeShapeType="1"/>
            </p:cNvSpPr>
            <p:nvPr/>
          </p:nvSpPr>
          <p:spPr bwMode="auto">
            <a:xfrm flipH="1">
              <a:off x="3158" y="2887"/>
              <a:ext cx="200" cy="183"/>
            </a:xfrm>
            <a:prstGeom prst="line">
              <a:avLst/>
            </a:prstGeom>
            <a:noFill/>
            <a:ln w="2540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7" name="Line 140"/>
            <p:cNvSpPr>
              <a:spLocks noChangeShapeType="1"/>
            </p:cNvSpPr>
            <p:nvPr/>
          </p:nvSpPr>
          <p:spPr bwMode="auto">
            <a:xfrm flipH="1">
              <a:off x="3165" y="2887"/>
              <a:ext cx="200" cy="183"/>
            </a:xfrm>
            <a:prstGeom prst="line">
              <a:avLst/>
            </a:prstGeom>
            <a:noFill/>
            <a:ln w="25400">
              <a:solidFill>
                <a:srgbClr val="ACACA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8" name="Line 141"/>
            <p:cNvSpPr>
              <a:spLocks noChangeShapeType="1"/>
            </p:cNvSpPr>
            <p:nvPr/>
          </p:nvSpPr>
          <p:spPr bwMode="auto">
            <a:xfrm flipH="1">
              <a:off x="3182" y="2887"/>
              <a:ext cx="200" cy="183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79" name="Line 142"/>
            <p:cNvSpPr>
              <a:spLocks noChangeShapeType="1"/>
            </p:cNvSpPr>
            <p:nvPr/>
          </p:nvSpPr>
          <p:spPr bwMode="auto">
            <a:xfrm flipH="1">
              <a:off x="3189" y="2887"/>
              <a:ext cx="200" cy="183"/>
            </a:xfrm>
            <a:prstGeom prst="line">
              <a:avLst/>
            </a:prstGeom>
            <a:noFill/>
            <a:ln w="25400">
              <a:solidFill>
                <a:srgbClr val="B0B0B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0" name="Line 143"/>
            <p:cNvSpPr>
              <a:spLocks noChangeShapeType="1"/>
            </p:cNvSpPr>
            <p:nvPr/>
          </p:nvSpPr>
          <p:spPr bwMode="auto">
            <a:xfrm flipH="1">
              <a:off x="3205" y="2887"/>
              <a:ext cx="200" cy="183"/>
            </a:xfrm>
            <a:prstGeom prst="line">
              <a:avLst/>
            </a:prstGeom>
            <a:noFill/>
            <a:ln w="25400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1" name="Line 144"/>
            <p:cNvSpPr>
              <a:spLocks noChangeShapeType="1"/>
            </p:cNvSpPr>
            <p:nvPr/>
          </p:nvSpPr>
          <p:spPr bwMode="auto">
            <a:xfrm flipH="1">
              <a:off x="3213" y="2887"/>
              <a:ext cx="200" cy="183"/>
            </a:xfrm>
            <a:prstGeom prst="line">
              <a:avLst/>
            </a:prstGeom>
            <a:noFill/>
            <a:ln w="25400">
              <a:solidFill>
                <a:srgbClr val="B4B4B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2" name="Line 145"/>
            <p:cNvSpPr>
              <a:spLocks noChangeShapeType="1"/>
            </p:cNvSpPr>
            <p:nvPr/>
          </p:nvSpPr>
          <p:spPr bwMode="auto">
            <a:xfrm flipH="1">
              <a:off x="3221" y="2887"/>
              <a:ext cx="200" cy="183"/>
            </a:xfrm>
            <a:prstGeom prst="line">
              <a:avLst/>
            </a:prstGeom>
            <a:noFill/>
            <a:ln w="25400">
              <a:solidFill>
                <a:srgbClr val="B6B6B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3" name="Line 146"/>
            <p:cNvSpPr>
              <a:spLocks noChangeShapeType="1"/>
            </p:cNvSpPr>
            <p:nvPr/>
          </p:nvSpPr>
          <p:spPr bwMode="auto">
            <a:xfrm flipH="1">
              <a:off x="3236" y="2887"/>
              <a:ext cx="200" cy="183"/>
            </a:xfrm>
            <a:prstGeom prst="line">
              <a:avLst/>
            </a:prstGeom>
            <a:noFill/>
            <a:ln w="25400">
              <a:solidFill>
                <a:srgbClr val="B8B8B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4" name="Line 147"/>
            <p:cNvSpPr>
              <a:spLocks noChangeShapeType="1"/>
            </p:cNvSpPr>
            <p:nvPr/>
          </p:nvSpPr>
          <p:spPr bwMode="auto">
            <a:xfrm flipH="1">
              <a:off x="3244" y="2887"/>
              <a:ext cx="200" cy="183"/>
            </a:xfrm>
            <a:prstGeom prst="line">
              <a:avLst/>
            </a:prstGeom>
            <a:noFill/>
            <a:ln w="25400">
              <a:solidFill>
                <a:srgbClr val="BABAB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5" name="Line 148"/>
            <p:cNvSpPr>
              <a:spLocks noChangeShapeType="1"/>
            </p:cNvSpPr>
            <p:nvPr/>
          </p:nvSpPr>
          <p:spPr bwMode="auto">
            <a:xfrm flipH="1">
              <a:off x="3252" y="2887"/>
              <a:ext cx="200" cy="183"/>
            </a:xfrm>
            <a:prstGeom prst="line">
              <a:avLst/>
            </a:prstGeom>
            <a:noFill/>
            <a:ln w="25400">
              <a:solidFill>
                <a:srgbClr val="BCBCB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6" name="Line 149"/>
            <p:cNvSpPr>
              <a:spLocks noChangeShapeType="1"/>
            </p:cNvSpPr>
            <p:nvPr/>
          </p:nvSpPr>
          <p:spPr bwMode="auto">
            <a:xfrm flipH="1">
              <a:off x="3267" y="2887"/>
              <a:ext cx="200" cy="183"/>
            </a:xfrm>
            <a:prstGeom prst="line">
              <a:avLst/>
            </a:prstGeom>
            <a:noFill/>
            <a:ln w="25400">
              <a:solidFill>
                <a:srgbClr val="BEBEB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7" name="Line 150"/>
            <p:cNvSpPr>
              <a:spLocks noChangeShapeType="1"/>
            </p:cNvSpPr>
            <p:nvPr/>
          </p:nvSpPr>
          <p:spPr bwMode="auto">
            <a:xfrm flipH="1">
              <a:off x="3282" y="2887"/>
              <a:ext cx="200" cy="183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8" name="Line 151"/>
            <p:cNvSpPr>
              <a:spLocks noChangeShapeType="1"/>
            </p:cNvSpPr>
            <p:nvPr/>
          </p:nvSpPr>
          <p:spPr bwMode="auto">
            <a:xfrm flipH="1">
              <a:off x="3290" y="2887"/>
              <a:ext cx="200" cy="183"/>
            </a:xfrm>
            <a:prstGeom prst="line">
              <a:avLst/>
            </a:prstGeom>
            <a:noFill/>
            <a:ln w="25400">
              <a:solidFill>
                <a:srgbClr val="C2C2C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89" name="Line 152"/>
            <p:cNvSpPr>
              <a:spLocks noChangeShapeType="1"/>
            </p:cNvSpPr>
            <p:nvPr/>
          </p:nvSpPr>
          <p:spPr bwMode="auto">
            <a:xfrm flipH="1">
              <a:off x="3298" y="2887"/>
              <a:ext cx="200" cy="183"/>
            </a:xfrm>
            <a:prstGeom prst="line">
              <a:avLst/>
            </a:prstGeom>
            <a:noFill/>
            <a:ln w="25400">
              <a:solidFill>
                <a:srgbClr val="C4C4C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0" name="Line 153"/>
            <p:cNvSpPr>
              <a:spLocks noChangeShapeType="1"/>
            </p:cNvSpPr>
            <p:nvPr/>
          </p:nvSpPr>
          <p:spPr bwMode="auto">
            <a:xfrm flipH="1">
              <a:off x="3314" y="2887"/>
              <a:ext cx="200" cy="183"/>
            </a:xfrm>
            <a:prstGeom prst="line">
              <a:avLst/>
            </a:prstGeom>
            <a:noFill/>
            <a:ln w="25400">
              <a:solidFill>
                <a:srgbClr val="C6C6C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1" name="Line 154"/>
            <p:cNvSpPr>
              <a:spLocks noChangeShapeType="1"/>
            </p:cNvSpPr>
            <p:nvPr/>
          </p:nvSpPr>
          <p:spPr bwMode="auto">
            <a:xfrm flipH="1">
              <a:off x="3321" y="2887"/>
              <a:ext cx="200" cy="183"/>
            </a:xfrm>
            <a:prstGeom prst="line">
              <a:avLst/>
            </a:prstGeom>
            <a:noFill/>
            <a:ln w="25400">
              <a:solidFill>
                <a:srgbClr val="C8C8C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2" name="Line 155"/>
            <p:cNvSpPr>
              <a:spLocks noChangeShapeType="1"/>
            </p:cNvSpPr>
            <p:nvPr/>
          </p:nvSpPr>
          <p:spPr bwMode="auto">
            <a:xfrm flipH="1">
              <a:off x="3329" y="2887"/>
              <a:ext cx="200" cy="183"/>
            </a:xfrm>
            <a:prstGeom prst="line">
              <a:avLst/>
            </a:prstGeom>
            <a:noFill/>
            <a:ln w="25400">
              <a:solidFill>
                <a:srgbClr val="CACAC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3" name="Line 156"/>
            <p:cNvSpPr>
              <a:spLocks noChangeShapeType="1"/>
            </p:cNvSpPr>
            <p:nvPr/>
          </p:nvSpPr>
          <p:spPr bwMode="auto">
            <a:xfrm flipH="1">
              <a:off x="3345" y="2887"/>
              <a:ext cx="200" cy="183"/>
            </a:xfrm>
            <a:prstGeom prst="line">
              <a:avLst/>
            </a:prstGeom>
            <a:noFill/>
            <a:ln w="25400">
              <a:solidFill>
                <a:srgbClr val="CCCCC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4" name="Line 157"/>
            <p:cNvSpPr>
              <a:spLocks noChangeShapeType="1"/>
            </p:cNvSpPr>
            <p:nvPr/>
          </p:nvSpPr>
          <p:spPr bwMode="auto">
            <a:xfrm flipH="1">
              <a:off x="3360" y="2887"/>
              <a:ext cx="200" cy="183"/>
            </a:xfrm>
            <a:prstGeom prst="line">
              <a:avLst/>
            </a:prstGeom>
            <a:noFill/>
            <a:ln w="25400">
              <a:solidFill>
                <a:srgbClr val="CECEC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5" name="Line 158"/>
            <p:cNvSpPr>
              <a:spLocks noChangeShapeType="1"/>
            </p:cNvSpPr>
            <p:nvPr/>
          </p:nvSpPr>
          <p:spPr bwMode="auto">
            <a:xfrm flipH="1">
              <a:off x="3368" y="2887"/>
              <a:ext cx="200" cy="183"/>
            </a:xfrm>
            <a:prstGeom prst="line">
              <a:avLst/>
            </a:prstGeom>
            <a:noFill/>
            <a:ln w="25400">
              <a:solidFill>
                <a:srgbClr val="D0D0D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6" name="Line 159"/>
            <p:cNvSpPr>
              <a:spLocks noChangeShapeType="1"/>
            </p:cNvSpPr>
            <p:nvPr/>
          </p:nvSpPr>
          <p:spPr bwMode="auto">
            <a:xfrm flipH="1">
              <a:off x="3376" y="2887"/>
              <a:ext cx="200" cy="183"/>
            </a:xfrm>
            <a:prstGeom prst="line">
              <a:avLst/>
            </a:prstGeom>
            <a:noFill/>
            <a:ln w="25400">
              <a:solidFill>
                <a:srgbClr val="D2D2D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7" name="Line 160"/>
            <p:cNvSpPr>
              <a:spLocks noChangeShapeType="1"/>
            </p:cNvSpPr>
            <p:nvPr/>
          </p:nvSpPr>
          <p:spPr bwMode="auto">
            <a:xfrm flipH="1">
              <a:off x="3391" y="2887"/>
              <a:ext cx="200" cy="183"/>
            </a:xfrm>
            <a:prstGeom prst="line">
              <a:avLst/>
            </a:prstGeom>
            <a:noFill/>
            <a:ln w="25400">
              <a:solidFill>
                <a:srgbClr val="D4D4D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8" name="Line 161"/>
            <p:cNvSpPr>
              <a:spLocks noChangeShapeType="1"/>
            </p:cNvSpPr>
            <p:nvPr/>
          </p:nvSpPr>
          <p:spPr bwMode="auto">
            <a:xfrm flipH="1">
              <a:off x="3399" y="2887"/>
              <a:ext cx="200" cy="183"/>
            </a:xfrm>
            <a:prstGeom prst="line">
              <a:avLst/>
            </a:prstGeom>
            <a:noFill/>
            <a:ln w="25400">
              <a:solidFill>
                <a:srgbClr val="D7D7D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799" name="Line 162"/>
            <p:cNvSpPr>
              <a:spLocks noChangeShapeType="1"/>
            </p:cNvSpPr>
            <p:nvPr/>
          </p:nvSpPr>
          <p:spPr bwMode="auto">
            <a:xfrm flipH="1">
              <a:off x="3406" y="2887"/>
              <a:ext cx="200" cy="183"/>
            </a:xfrm>
            <a:prstGeom prst="line">
              <a:avLst/>
            </a:prstGeom>
            <a:noFill/>
            <a:ln w="25400">
              <a:solidFill>
                <a:srgbClr val="D9D9D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0" name="Line 163"/>
            <p:cNvSpPr>
              <a:spLocks noChangeShapeType="1"/>
            </p:cNvSpPr>
            <p:nvPr/>
          </p:nvSpPr>
          <p:spPr bwMode="auto">
            <a:xfrm flipH="1">
              <a:off x="3422" y="2902"/>
              <a:ext cx="184" cy="168"/>
            </a:xfrm>
            <a:prstGeom prst="line">
              <a:avLst/>
            </a:prstGeom>
            <a:noFill/>
            <a:ln w="25400">
              <a:solidFill>
                <a:srgbClr val="DBDBD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1" name="Line 164"/>
            <p:cNvSpPr>
              <a:spLocks noChangeShapeType="1"/>
            </p:cNvSpPr>
            <p:nvPr/>
          </p:nvSpPr>
          <p:spPr bwMode="auto">
            <a:xfrm flipH="1">
              <a:off x="3436" y="2915"/>
              <a:ext cx="170" cy="155"/>
            </a:xfrm>
            <a:prstGeom prst="line">
              <a:avLst/>
            </a:prstGeom>
            <a:noFill/>
            <a:ln w="25400">
              <a:solidFill>
                <a:srgbClr val="DDDDD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2" name="Line 165"/>
            <p:cNvSpPr>
              <a:spLocks noChangeShapeType="1"/>
            </p:cNvSpPr>
            <p:nvPr/>
          </p:nvSpPr>
          <p:spPr bwMode="auto">
            <a:xfrm flipH="1">
              <a:off x="3436" y="2915"/>
              <a:ext cx="170" cy="155"/>
            </a:xfrm>
            <a:prstGeom prst="line">
              <a:avLst/>
            </a:prstGeom>
            <a:noFill/>
            <a:ln w="25400">
              <a:solidFill>
                <a:srgbClr val="DFDFD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3" name="Line 166"/>
            <p:cNvSpPr>
              <a:spLocks noChangeShapeType="1"/>
            </p:cNvSpPr>
            <p:nvPr/>
          </p:nvSpPr>
          <p:spPr bwMode="auto">
            <a:xfrm flipH="1">
              <a:off x="3453" y="2930"/>
              <a:ext cx="153" cy="140"/>
            </a:xfrm>
            <a:prstGeom prst="line">
              <a:avLst/>
            </a:prstGeom>
            <a:noFill/>
            <a:ln w="25400">
              <a:solidFill>
                <a:srgbClr val="E1E1E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4" name="Line 167"/>
            <p:cNvSpPr>
              <a:spLocks noChangeShapeType="1"/>
            </p:cNvSpPr>
            <p:nvPr/>
          </p:nvSpPr>
          <p:spPr bwMode="auto">
            <a:xfrm flipH="1">
              <a:off x="3468" y="2944"/>
              <a:ext cx="138" cy="126"/>
            </a:xfrm>
            <a:prstGeom prst="line">
              <a:avLst/>
            </a:prstGeom>
            <a:noFill/>
            <a:ln w="25400">
              <a:solidFill>
                <a:srgbClr val="E3E3E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5" name="Line 168"/>
            <p:cNvSpPr>
              <a:spLocks noChangeShapeType="1"/>
            </p:cNvSpPr>
            <p:nvPr/>
          </p:nvSpPr>
          <p:spPr bwMode="auto">
            <a:xfrm flipH="1">
              <a:off x="3476" y="2951"/>
              <a:ext cx="130" cy="119"/>
            </a:xfrm>
            <a:prstGeom prst="line">
              <a:avLst/>
            </a:prstGeom>
            <a:noFill/>
            <a:ln w="25400">
              <a:solidFill>
                <a:srgbClr val="E5E5E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6" name="Line 169"/>
            <p:cNvSpPr>
              <a:spLocks noChangeShapeType="1"/>
            </p:cNvSpPr>
            <p:nvPr/>
          </p:nvSpPr>
          <p:spPr bwMode="auto">
            <a:xfrm flipH="1">
              <a:off x="3484" y="2958"/>
              <a:ext cx="122" cy="112"/>
            </a:xfrm>
            <a:prstGeom prst="line">
              <a:avLst/>
            </a:prstGeom>
            <a:noFill/>
            <a:ln w="25400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7" name="Line 170"/>
            <p:cNvSpPr>
              <a:spLocks noChangeShapeType="1"/>
            </p:cNvSpPr>
            <p:nvPr/>
          </p:nvSpPr>
          <p:spPr bwMode="auto">
            <a:xfrm flipH="1">
              <a:off x="3499" y="2972"/>
              <a:ext cx="107" cy="98"/>
            </a:xfrm>
            <a:prstGeom prst="line">
              <a:avLst/>
            </a:prstGeom>
            <a:noFill/>
            <a:ln w="25400">
              <a:solidFill>
                <a:srgbClr val="E9E9E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8" name="Line 171"/>
            <p:cNvSpPr>
              <a:spLocks noChangeShapeType="1"/>
            </p:cNvSpPr>
            <p:nvPr/>
          </p:nvSpPr>
          <p:spPr bwMode="auto">
            <a:xfrm flipH="1">
              <a:off x="3514" y="2986"/>
              <a:ext cx="92" cy="84"/>
            </a:xfrm>
            <a:prstGeom prst="line">
              <a:avLst/>
            </a:prstGeom>
            <a:noFill/>
            <a:ln w="25400">
              <a:solidFill>
                <a:srgbClr val="EBEBE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09" name="Line 172"/>
            <p:cNvSpPr>
              <a:spLocks noChangeShapeType="1"/>
            </p:cNvSpPr>
            <p:nvPr/>
          </p:nvSpPr>
          <p:spPr bwMode="auto">
            <a:xfrm flipH="1">
              <a:off x="3514" y="2986"/>
              <a:ext cx="92" cy="84"/>
            </a:xfrm>
            <a:prstGeom prst="line">
              <a:avLst/>
            </a:prstGeom>
            <a:noFill/>
            <a:ln w="25400">
              <a:solidFill>
                <a:srgbClr val="EDEDE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0" name="Line 173"/>
            <p:cNvSpPr>
              <a:spLocks noChangeShapeType="1"/>
            </p:cNvSpPr>
            <p:nvPr/>
          </p:nvSpPr>
          <p:spPr bwMode="auto">
            <a:xfrm flipH="1">
              <a:off x="3530" y="3000"/>
              <a:ext cx="76" cy="70"/>
            </a:xfrm>
            <a:prstGeom prst="line">
              <a:avLst/>
            </a:prstGeom>
            <a:noFill/>
            <a:ln w="25400">
              <a:solidFill>
                <a:srgbClr val="EFEFE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1" name="Line 174"/>
            <p:cNvSpPr>
              <a:spLocks noChangeShapeType="1"/>
            </p:cNvSpPr>
            <p:nvPr/>
          </p:nvSpPr>
          <p:spPr bwMode="auto">
            <a:xfrm flipH="1">
              <a:off x="3545" y="3014"/>
              <a:ext cx="61" cy="56"/>
            </a:xfrm>
            <a:prstGeom prst="line">
              <a:avLst/>
            </a:prstGeom>
            <a:noFill/>
            <a:ln w="25400">
              <a:solidFill>
                <a:srgbClr val="F1F1F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2" name="Line 175"/>
            <p:cNvSpPr>
              <a:spLocks noChangeShapeType="1"/>
            </p:cNvSpPr>
            <p:nvPr/>
          </p:nvSpPr>
          <p:spPr bwMode="auto">
            <a:xfrm flipH="1">
              <a:off x="3553" y="3021"/>
              <a:ext cx="53" cy="49"/>
            </a:xfrm>
            <a:prstGeom prst="line">
              <a:avLst/>
            </a:prstGeom>
            <a:noFill/>
            <a:ln w="25400">
              <a:solidFill>
                <a:srgbClr val="F3F3F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3" name="Line 176"/>
            <p:cNvSpPr>
              <a:spLocks noChangeShapeType="1"/>
            </p:cNvSpPr>
            <p:nvPr/>
          </p:nvSpPr>
          <p:spPr bwMode="auto">
            <a:xfrm flipH="1">
              <a:off x="3560" y="3028"/>
              <a:ext cx="46" cy="42"/>
            </a:xfrm>
            <a:prstGeom prst="line">
              <a:avLst/>
            </a:prstGeom>
            <a:noFill/>
            <a:ln w="25400">
              <a:solidFill>
                <a:srgbClr val="F5F5F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4" name="Line 177"/>
            <p:cNvSpPr>
              <a:spLocks noChangeShapeType="1"/>
            </p:cNvSpPr>
            <p:nvPr/>
          </p:nvSpPr>
          <p:spPr bwMode="auto">
            <a:xfrm flipH="1">
              <a:off x="3577" y="3043"/>
              <a:ext cx="29" cy="27"/>
            </a:xfrm>
            <a:prstGeom prst="line">
              <a:avLst/>
            </a:prstGeom>
            <a:noFill/>
            <a:ln w="25400">
              <a:solidFill>
                <a:srgbClr val="F7F7F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5" name="Line 178"/>
            <p:cNvSpPr>
              <a:spLocks noChangeShapeType="1"/>
            </p:cNvSpPr>
            <p:nvPr/>
          </p:nvSpPr>
          <p:spPr bwMode="auto">
            <a:xfrm flipH="1">
              <a:off x="3591" y="3056"/>
              <a:ext cx="15" cy="14"/>
            </a:xfrm>
            <a:prstGeom prst="line">
              <a:avLst/>
            </a:prstGeom>
            <a:noFill/>
            <a:ln w="25400">
              <a:solidFill>
                <a:srgbClr val="F9F9F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6" name="Line 179"/>
            <p:cNvSpPr>
              <a:spLocks noChangeShapeType="1"/>
            </p:cNvSpPr>
            <p:nvPr/>
          </p:nvSpPr>
          <p:spPr bwMode="auto">
            <a:xfrm flipH="1">
              <a:off x="3591" y="3056"/>
              <a:ext cx="15" cy="14"/>
            </a:xfrm>
            <a:prstGeom prst="line">
              <a:avLst/>
            </a:prstGeom>
            <a:noFill/>
            <a:ln w="25400">
              <a:solidFill>
                <a:srgbClr val="FBFBF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7" name="Rectangle 1816"/>
            <p:cNvSpPr>
              <a:spLocks noChangeArrowheads="1"/>
            </p:cNvSpPr>
            <p:nvPr/>
          </p:nvSpPr>
          <p:spPr bwMode="auto">
            <a:xfrm>
              <a:off x="2494" y="2891"/>
              <a:ext cx="1108" cy="175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8" name="Line 181"/>
            <p:cNvSpPr>
              <a:spLocks noChangeShapeType="1"/>
            </p:cNvSpPr>
            <p:nvPr/>
          </p:nvSpPr>
          <p:spPr bwMode="auto">
            <a:xfrm>
              <a:off x="2623" y="3063"/>
              <a:ext cx="15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19" name="Line 182"/>
            <p:cNvSpPr>
              <a:spLocks noChangeShapeType="1"/>
            </p:cNvSpPr>
            <p:nvPr/>
          </p:nvSpPr>
          <p:spPr bwMode="auto">
            <a:xfrm>
              <a:off x="2639" y="3077"/>
              <a:ext cx="15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0" name="Line 183"/>
            <p:cNvSpPr>
              <a:spLocks noChangeShapeType="1"/>
            </p:cNvSpPr>
            <p:nvPr/>
          </p:nvSpPr>
          <p:spPr bwMode="auto">
            <a:xfrm>
              <a:off x="2655" y="3091"/>
              <a:ext cx="22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1" name="Line 184"/>
            <p:cNvSpPr>
              <a:spLocks noChangeShapeType="1"/>
            </p:cNvSpPr>
            <p:nvPr/>
          </p:nvSpPr>
          <p:spPr bwMode="auto">
            <a:xfrm>
              <a:off x="2678" y="3105"/>
              <a:ext cx="23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2" name="Line 185"/>
            <p:cNvSpPr>
              <a:spLocks noChangeShapeType="1"/>
            </p:cNvSpPr>
            <p:nvPr/>
          </p:nvSpPr>
          <p:spPr bwMode="auto">
            <a:xfrm>
              <a:off x="2701" y="3119"/>
              <a:ext cx="23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3" name="Line 186"/>
            <p:cNvSpPr>
              <a:spLocks noChangeShapeType="1"/>
            </p:cNvSpPr>
            <p:nvPr/>
          </p:nvSpPr>
          <p:spPr bwMode="auto">
            <a:xfrm>
              <a:off x="2727" y="3133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4" name="Line 187"/>
            <p:cNvSpPr>
              <a:spLocks noChangeShapeType="1"/>
            </p:cNvSpPr>
            <p:nvPr/>
          </p:nvSpPr>
          <p:spPr bwMode="auto">
            <a:xfrm>
              <a:off x="2748" y="3140"/>
              <a:ext cx="15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5" name="Line 188"/>
            <p:cNvSpPr>
              <a:spLocks noChangeShapeType="1"/>
            </p:cNvSpPr>
            <p:nvPr/>
          </p:nvSpPr>
          <p:spPr bwMode="auto">
            <a:xfrm>
              <a:off x="2767" y="3147"/>
              <a:ext cx="28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6" name="Line 189"/>
            <p:cNvSpPr>
              <a:spLocks noChangeShapeType="1"/>
            </p:cNvSpPr>
            <p:nvPr/>
          </p:nvSpPr>
          <p:spPr bwMode="auto">
            <a:xfrm>
              <a:off x="2795" y="3154"/>
              <a:ext cx="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7" name="Line 190"/>
            <p:cNvSpPr>
              <a:spLocks noChangeShapeType="1"/>
            </p:cNvSpPr>
            <p:nvPr/>
          </p:nvSpPr>
          <p:spPr bwMode="auto">
            <a:xfrm>
              <a:off x="2802" y="3154"/>
              <a:ext cx="47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8" name="Line 191"/>
            <p:cNvSpPr>
              <a:spLocks noChangeShapeType="1"/>
            </p:cNvSpPr>
            <p:nvPr/>
          </p:nvSpPr>
          <p:spPr bwMode="auto">
            <a:xfrm>
              <a:off x="2849" y="3161"/>
              <a:ext cx="94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29" name="Line 192"/>
            <p:cNvSpPr>
              <a:spLocks noChangeShapeType="1"/>
            </p:cNvSpPr>
            <p:nvPr/>
          </p:nvSpPr>
          <p:spPr bwMode="auto">
            <a:xfrm>
              <a:off x="2943" y="3168"/>
              <a:ext cx="4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0" name="Line 193"/>
            <p:cNvSpPr>
              <a:spLocks noChangeShapeType="1"/>
            </p:cNvSpPr>
            <p:nvPr/>
          </p:nvSpPr>
          <p:spPr bwMode="auto">
            <a:xfrm>
              <a:off x="2990" y="3168"/>
              <a:ext cx="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1" name="Line 194"/>
            <p:cNvSpPr>
              <a:spLocks noChangeShapeType="1"/>
            </p:cNvSpPr>
            <p:nvPr/>
          </p:nvSpPr>
          <p:spPr bwMode="auto">
            <a:xfrm>
              <a:off x="2997" y="3168"/>
              <a:ext cx="24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2" name="Line 195"/>
            <p:cNvSpPr>
              <a:spLocks noChangeShapeType="1"/>
            </p:cNvSpPr>
            <p:nvPr/>
          </p:nvSpPr>
          <p:spPr bwMode="auto">
            <a:xfrm>
              <a:off x="3021" y="3168"/>
              <a:ext cx="16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3" name="Line 196"/>
            <p:cNvSpPr>
              <a:spLocks noChangeShapeType="1"/>
            </p:cNvSpPr>
            <p:nvPr/>
          </p:nvSpPr>
          <p:spPr bwMode="auto">
            <a:xfrm>
              <a:off x="3037" y="3175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4" name="Line 197"/>
            <p:cNvSpPr>
              <a:spLocks noChangeShapeType="1"/>
            </p:cNvSpPr>
            <p:nvPr/>
          </p:nvSpPr>
          <p:spPr bwMode="auto">
            <a:xfrm>
              <a:off x="3037" y="3175"/>
              <a:ext cx="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5" name="Line 198"/>
            <p:cNvSpPr>
              <a:spLocks noChangeShapeType="1"/>
            </p:cNvSpPr>
            <p:nvPr/>
          </p:nvSpPr>
          <p:spPr bwMode="auto">
            <a:xfrm>
              <a:off x="3044" y="3175"/>
              <a:ext cx="1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6" name="Line 199"/>
            <p:cNvSpPr>
              <a:spLocks noChangeShapeType="1"/>
            </p:cNvSpPr>
            <p:nvPr/>
          </p:nvSpPr>
          <p:spPr bwMode="auto">
            <a:xfrm flipH="1">
              <a:off x="3029" y="3182"/>
              <a:ext cx="15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7" name="Line 200"/>
            <p:cNvSpPr>
              <a:spLocks noChangeShapeType="1"/>
            </p:cNvSpPr>
            <p:nvPr/>
          </p:nvSpPr>
          <p:spPr bwMode="auto">
            <a:xfrm flipH="1">
              <a:off x="3013" y="3189"/>
              <a:ext cx="14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8" name="Line 201"/>
            <p:cNvSpPr>
              <a:spLocks noChangeShapeType="1"/>
            </p:cNvSpPr>
            <p:nvPr/>
          </p:nvSpPr>
          <p:spPr bwMode="auto">
            <a:xfrm flipH="1">
              <a:off x="3005" y="3196"/>
              <a:ext cx="8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39" name="Line 202"/>
            <p:cNvSpPr>
              <a:spLocks noChangeShapeType="1"/>
            </p:cNvSpPr>
            <p:nvPr/>
          </p:nvSpPr>
          <p:spPr bwMode="auto">
            <a:xfrm flipH="1">
              <a:off x="2982" y="3196"/>
              <a:ext cx="23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0" name="Line 203"/>
            <p:cNvSpPr>
              <a:spLocks noChangeShapeType="1"/>
            </p:cNvSpPr>
            <p:nvPr/>
          </p:nvSpPr>
          <p:spPr bwMode="auto">
            <a:xfrm flipH="1">
              <a:off x="2943" y="3203"/>
              <a:ext cx="39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1" name="Line 204"/>
            <p:cNvSpPr>
              <a:spLocks noChangeShapeType="1"/>
            </p:cNvSpPr>
            <p:nvPr/>
          </p:nvSpPr>
          <p:spPr bwMode="auto">
            <a:xfrm flipH="1">
              <a:off x="2904" y="3210"/>
              <a:ext cx="39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2" name="Line 205"/>
            <p:cNvSpPr>
              <a:spLocks noChangeShapeType="1"/>
            </p:cNvSpPr>
            <p:nvPr/>
          </p:nvSpPr>
          <p:spPr bwMode="auto">
            <a:xfrm flipH="1">
              <a:off x="2865" y="3218"/>
              <a:ext cx="39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3" name="Line 206"/>
            <p:cNvSpPr>
              <a:spLocks noChangeShapeType="1"/>
            </p:cNvSpPr>
            <p:nvPr/>
          </p:nvSpPr>
          <p:spPr bwMode="auto">
            <a:xfrm flipH="1">
              <a:off x="2841" y="3218"/>
              <a:ext cx="24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4" name="Line 207"/>
            <p:cNvSpPr>
              <a:spLocks noChangeShapeType="1"/>
            </p:cNvSpPr>
            <p:nvPr/>
          </p:nvSpPr>
          <p:spPr bwMode="auto">
            <a:xfrm flipH="1">
              <a:off x="2826" y="3218"/>
              <a:ext cx="15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5" name="Line 208"/>
            <p:cNvSpPr>
              <a:spLocks noChangeShapeType="1"/>
            </p:cNvSpPr>
            <p:nvPr/>
          </p:nvSpPr>
          <p:spPr bwMode="auto">
            <a:xfrm flipH="1">
              <a:off x="2779" y="3218"/>
              <a:ext cx="4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6" name="Line 209"/>
            <p:cNvSpPr>
              <a:spLocks noChangeShapeType="1"/>
            </p:cNvSpPr>
            <p:nvPr/>
          </p:nvSpPr>
          <p:spPr bwMode="auto">
            <a:xfrm flipH="1">
              <a:off x="2755" y="3225"/>
              <a:ext cx="24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7" name="Line 210"/>
            <p:cNvSpPr>
              <a:spLocks noChangeShapeType="1"/>
            </p:cNvSpPr>
            <p:nvPr/>
          </p:nvSpPr>
          <p:spPr bwMode="auto">
            <a:xfrm flipH="1">
              <a:off x="2716" y="3225"/>
              <a:ext cx="39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8" name="Line 211"/>
            <p:cNvSpPr>
              <a:spLocks noChangeShapeType="1"/>
            </p:cNvSpPr>
            <p:nvPr/>
          </p:nvSpPr>
          <p:spPr bwMode="auto">
            <a:xfrm flipH="1">
              <a:off x="2709" y="3232"/>
              <a:ext cx="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49" name="Line 212"/>
            <p:cNvSpPr>
              <a:spLocks noChangeShapeType="1"/>
            </p:cNvSpPr>
            <p:nvPr/>
          </p:nvSpPr>
          <p:spPr bwMode="auto">
            <a:xfrm flipH="1">
              <a:off x="2701" y="3232"/>
              <a:ext cx="8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0" name="Line 213"/>
            <p:cNvSpPr>
              <a:spLocks noChangeShapeType="1"/>
            </p:cNvSpPr>
            <p:nvPr/>
          </p:nvSpPr>
          <p:spPr bwMode="auto">
            <a:xfrm flipH="1">
              <a:off x="2685" y="3232"/>
              <a:ext cx="14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1" name="Line 214"/>
            <p:cNvSpPr>
              <a:spLocks noChangeShapeType="1"/>
            </p:cNvSpPr>
            <p:nvPr/>
          </p:nvSpPr>
          <p:spPr bwMode="auto">
            <a:xfrm>
              <a:off x="2685" y="3239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2" name="Line 215"/>
            <p:cNvSpPr>
              <a:spLocks noChangeShapeType="1"/>
            </p:cNvSpPr>
            <p:nvPr/>
          </p:nvSpPr>
          <p:spPr bwMode="auto">
            <a:xfrm>
              <a:off x="2685" y="3239"/>
              <a:ext cx="1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3" name="Line 216"/>
            <p:cNvSpPr>
              <a:spLocks noChangeShapeType="1"/>
            </p:cNvSpPr>
            <p:nvPr/>
          </p:nvSpPr>
          <p:spPr bwMode="auto">
            <a:xfrm>
              <a:off x="2685" y="3246"/>
              <a:ext cx="8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4" name="Line 217"/>
            <p:cNvSpPr>
              <a:spLocks noChangeShapeType="1"/>
            </p:cNvSpPr>
            <p:nvPr/>
          </p:nvSpPr>
          <p:spPr bwMode="auto">
            <a:xfrm>
              <a:off x="2693" y="3253"/>
              <a:ext cx="16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5" name="Line 218"/>
            <p:cNvSpPr>
              <a:spLocks noChangeShapeType="1"/>
            </p:cNvSpPr>
            <p:nvPr/>
          </p:nvSpPr>
          <p:spPr bwMode="auto">
            <a:xfrm>
              <a:off x="2709" y="3260"/>
              <a:ext cx="39" cy="14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6" name="Line 219"/>
            <p:cNvSpPr>
              <a:spLocks noChangeShapeType="1"/>
            </p:cNvSpPr>
            <p:nvPr/>
          </p:nvSpPr>
          <p:spPr bwMode="auto">
            <a:xfrm>
              <a:off x="2748" y="3274"/>
              <a:ext cx="15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7" name="Line 220"/>
            <p:cNvSpPr>
              <a:spLocks noChangeShapeType="1"/>
            </p:cNvSpPr>
            <p:nvPr/>
          </p:nvSpPr>
          <p:spPr bwMode="auto">
            <a:xfrm>
              <a:off x="2763" y="3274"/>
              <a:ext cx="8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8" name="Line 221"/>
            <p:cNvSpPr>
              <a:spLocks noChangeShapeType="1"/>
            </p:cNvSpPr>
            <p:nvPr/>
          </p:nvSpPr>
          <p:spPr bwMode="auto">
            <a:xfrm>
              <a:off x="2775" y="3274"/>
              <a:ext cx="2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59" name="Line 222"/>
            <p:cNvSpPr>
              <a:spLocks noChangeShapeType="1"/>
            </p:cNvSpPr>
            <p:nvPr/>
          </p:nvSpPr>
          <p:spPr bwMode="auto">
            <a:xfrm>
              <a:off x="2802" y="3281"/>
              <a:ext cx="39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0" name="Line 223"/>
            <p:cNvSpPr>
              <a:spLocks noChangeShapeType="1"/>
            </p:cNvSpPr>
            <p:nvPr/>
          </p:nvSpPr>
          <p:spPr bwMode="auto">
            <a:xfrm>
              <a:off x="2844" y="3288"/>
              <a:ext cx="44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1" name="Line 224"/>
            <p:cNvSpPr>
              <a:spLocks noChangeShapeType="1"/>
            </p:cNvSpPr>
            <p:nvPr/>
          </p:nvSpPr>
          <p:spPr bwMode="auto">
            <a:xfrm>
              <a:off x="2891" y="3302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2" name="Line 225"/>
            <p:cNvSpPr>
              <a:spLocks noChangeShapeType="1"/>
            </p:cNvSpPr>
            <p:nvPr/>
          </p:nvSpPr>
          <p:spPr bwMode="auto">
            <a:xfrm>
              <a:off x="2912" y="3309"/>
              <a:ext cx="15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3" name="Line 226"/>
            <p:cNvSpPr>
              <a:spLocks noChangeShapeType="1"/>
            </p:cNvSpPr>
            <p:nvPr/>
          </p:nvSpPr>
          <p:spPr bwMode="auto">
            <a:xfrm>
              <a:off x="2930" y="3316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4" name="Line 227"/>
            <p:cNvSpPr>
              <a:spLocks noChangeShapeType="1"/>
            </p:cNvSpPr>
            <p:nvPr/>
          </p:nvSpPr>
          <p:spPr bwMode="auto">
            <a:xfrm>
              <a:off x="2951" y="3323"/>
              <a:ext cx="7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5" name="Line 228"/>
            <p:cNvSpPr>
              <a:spLocks noChangeShapeType="1"/>
            </p:cNvSpPr>
            <p:nvPr/>
          </p:nvSpPr>
          <p:spPr bwMode="auto">
            <a:xfrm>
              <a:off x="2961" y="3323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6" name="Line 229"/>
            <p:cNvSpPr>
              <a:spLocks noChangeShapeType="1"/>
            </p:cNvSpPr>
            <p:nvPr/>
          </p:nvSpPr>
          <p:spPr bwMode="auto">
            <a:xfrm>
              <a:off x="2982" y="3330"/>
              <a:ext cx="15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7" name="Line 230"/>
            <p:cNvSpPr>
              <a:spLocks noChangeShapeType="1"/>
            </p:cNvSpPr>
            <p:nvPr/>
          </p:nvSpPr>
          <p:spPr bwMode="auto">
            <a:xfrm>
              <a:off x="2997" y="3330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8" name="Line 231"/>
            <p:cNvSpPr>
              <a:spLocks noChangeShapeType="1"/>
            </p:cNvSpPr>
            <p:nvPr/>
          </p:nvSpPr>
          <p:spPr bwMode="auto">
            <a:xfrm flipV="1">
              <a:off x="2999" y="3324"/>
              <a:ext cx="14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69" name="Line 232"/>
            <p:cNvSpPr>
              <a:spLocks noChangeShapeType="1"/>
            </p:cNvSpPr>
            <p:nvPr/>
          </p:nvSpPr>
          <p:spPr bwMode="auto">
            <a:xfrm>
              <a:off x="3013" y="3323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0" name="Line 233"/>
            <p:cNvSpPr>
              <a:spLocks noChangeShapeType="1"/>
            </p:cNvSpPr>
            <p:nvPr/>
          </p:nvSpPr>
          <p:spPr bwMode="auto">
            <a:xfrm flipV="1">
              <a:off x="3013" y="3316"/>
              <a:ext cx="1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1" name="Line 234"/>
            <p:cNvSpPr>
              <a:spLocks noChangeShapeType="1"/>
            </p:cNvSpPr>
            <p:nvPr/>
          </p:nvSpPr>
          <p:spPr bwMode="auto">
            <a:xfrm>
              <a:off x="3013" y="3316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2" name="Line 235"/>
            <p:cNvSpPr>
              <a:spLocks noChangeShapeType="1"/>
            </p:cNvSpPr>
            <p:nvPr/>
          </p:nvSpPr>
          <p:spPr bwMode="auto">
            <a:xfrm flipV="1">
              <a:off x="3013" y="3302"/>
              <a:ext cx="1" cy="14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3" name="Line 236"/>
            <p:cNvSpPr>
              <a:spLocks noChangeShapeType="1"/>
            </p:cNvSpPr>
            <p:nvPr/>
          </p:nvSpPr>
          <p:spPr bwMode="auto">
            <a:xfrm>
              <a:off x="3013" y="3302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4" name="Line 237"/>
            <p:cNvSpPr>
              <a:spLocks noChangeShapeType="1"/>
            </p:cNvSpPr>
            <p:nvPr/>
          </p:nvSpPr>
          <p:spPr bwMode="auto">
            <a:xfrm flipH="1" flipV="1">
              <a:off x="3005" y="3288"/>
              <a:ext cx="8" cy="14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5" name="Line 238"/>
            <p:cNvSpPr>
              <a:spLocks noChangeShapeType="1"/>
            </p:cNvSpPr>
            <p:nvPr/>
          </p:nvSpPr>
          <p:spPr bwMode="auto">
            <a:xfrm>
              <a:off x="3005" y="3288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6" name="Line 239"/>
            <p:cNvSpPr>
              <a:spLocks noChangeShapeType="1"/>
            </p:cNvSpPr>
            <p:nvPr/>
          </p:nvSpPr>
          <p:spPr bwMode="auto">
            <a:xfrm flipH="1" flipV="1">
              <a:off x="2997" y="3281"/>
              <a:ext cx="8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7" name="Line 240"/>
            <p:cNvSpPr>
              <a:spLocks noChangeShapeType="1"/>
            </p:cNvSpPr>
            <p:nvPr/>
          </p:nvSpPr>
          <p:spPr bwMode="auto">
            <a:xfrm flipH="1" flipV="1">
              <a:off x="2974" y="3275"/>
              <a:ext cx="23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8" name="Line 241"/>
            <p:cNvSpPr>
              <a:spLocks noChangeShapeType="1"/>
            </p:cNvSpPr>
            <p:nvPr/>
          </p:nvSpPr>
          <p:spPr bwMode="auto">
            <a:xfrm flipH="1" flipV="1">
              <a:off x="2966" y="3267"/>
              <a:ext cx="8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79" name="Line 242"/>
            <p:cNvSpPr>
              <a:spLocks noChangeShapeType="1"/>
            </p:cNvSpPr>
            <p:nvPr/>
          </p:nvSpPr>
          <p:spPr bwMode="auto">
            <a:xfrm flipH="1">
              <a:off x="2958" y="3267"/>
              <a:ext cx="8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0" name="Line 243"/>
            <p:cNvSpPr>
              <a:spLocks noChangeShapeType="1"/>
            </p:cNvSpPr>
            <p:nvPr/>
          </p:nvSpPr>
          <p:spPr bwMode="auto">
            <a:xfrm>
              <a:off x="2958" y="3267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1" name="Line 244"/>
            <p:cNvSpPr>
              <a:spLocks noChangeShapeType="1"/>
            </p:cNvSpPr>
            <p:nvPr/>
          </p:nvSpPr>
          <p:spPr bwMode="auto">
            <a:xfrm flipH="1" flipV="1">
              <a:off x="2951" y="3261"/>
              <a:ext cx="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2" name="Line 245"/>
            <p:cNvSpPr>
              <a:spLocks noChangeShapeType="1"/>
            </p:cNvSpPr>
            <p:nvPr/>
          </p:nvSpPr>
          <p:spPr bwMode="auto">
            <a:xfrm flipH="1">
              <a:off x="2943" y="3260"/>
              <a:ext cx="8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3" name="Line 246"/>
            <p:cNvSpPr>
              <a:spLocks noChangeShapeType="1"/>
            </p:cNvSpPr>
            <p:nvPr/>
          </p:nvSpPr>
          <p:spPr bwMode="auto">
            <a:xfrm flipV="1">
              <a:off x="2943" y="3246"/>
              <a:ext cx="8" cy="14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4" name="Line 247"/>
            <p:cNvSpPr>
              <a:spLocks noChangeShapeType="1"/>
            </p:cNvSpPr>
            <p:nvPr/>
          </p:nvSpPr>
          <p:spPr bwMode="auto">
            <a:xfrm flipV="1">
              <a:off x="2951" y="3240"/>
              <a:ext cx="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5" name="Line 248"/>
            <p:cNvSpPr>
              <a:spLocks noChangeShapeType="1"/>
            </p:cNvSpPr>
            <p:nvPr/>
          </p:nvSpPr>
          <p:spPr bwMode="auto">
            <a:xfrm flipV="1">
              <a:off x="2961" y="3233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6" name="Line 249"/>
            <p:cNvSpPr>
              <a:spLocks noChangeShapeType="1"/>
            </p:cNvSpPr>
            <p:nvPr/>
          </p:nvSpPr>
          <p:spPr bwMode="auto">
            <a:xfrm flipV="1">
              <a:off x="2982" y="3226"/>
              <a:ext cx="23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7" name="Line 250"/>
            <p:cNvSpPr>
              <a:spLocks noChangeShapeType="1"/>
            </p:cNvSpPr>
            <p:nvPr/>
          </p:nvSpPr>
          <p:spPr bwMode="auto">
            <a:xfrm>
              <a:off x="3005" y="3225"/>
              <a:ext cx="16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8" name="Line 251"/>
            <p:cNvSpPr>
              <a:spLocks noChangeShapeType="1"/>
            </p:cNvSpPr>
            <p:nvPr/>
          </p:nvSpPr>
          <p:spPr bwMode="auto">
            <a:xfrm flipV="1">
              <a:off x="3021" y="3218"/>
              <a:ext cx="23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89" name="Line 252"/>
            <p:cNvSpPr>
              <a:spLocks noChangeShapeType="1"/>
            </p:cNvSpPr>
            <p:nvPr/>
          </p:nvSpPr>
          <p:spPr bwMode="auto">
            <a:xfrm>
              <a:off x="3044" y="3218"/>
              <a:ext cx="16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0" name="Line 253"/>
            <p:cNvSpPr>
              <a:spLocks noChangeShapeType="1"/>
            </p:cNvSpPr>
            <p:nvPr/>
          </p:nvSpPr>
          <p:spPr bwMode="auto">
            <a:xfrm flipV="1">
              <a:off x="3060" y="3211"/>
              <a:ext cx="31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1" name="Line 254"/>
            <p:cNvSpPr>
              <a:spLocks noChangeShapeType="1"/>
            </p:cNvSpPr>
            <p:nvPr/>
          </p:nvSpPr>
          <p:spPr bwMode="auto">
            <a:xfrm flipV="1">
              <a:off x="3094" y="3204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2" name="Line 255"/>
            <p:cNvSpPr>
              <a:spLocks noChangeShapeType="1"/>
            </p:cNvSpPr>
            <p:nvPr/>
          </p:nvSpPr>
          <p:spPr bwMode="auto">
            <a:xfrm flipV="1">
              <a:off x="3115" y="3197"/>
              <a:ext cx="23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3" name="Line 256"/>
            <p:cNvSpPr>
              <a:spLocks noChangeShapeType="1"/>
            </p:cNvSpPr>
            <p:nvPr/>
          </p:nvSpPr>
          <p:spPr bwMode="auto">
            <a:xfrm flipV="1">
              <a:off x="3138" y="3189"/>
              <a:ext cx="16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4" name="Line 257"/>
            <p:cNvSpPr>
              <a:spLocks noChangeShapeType="1"/>
            </p:cNvSpPr>
            <p:nvPr/>
          </p:nvSpPr>
          <p:spPr bwMode="auto">
            <a:xfrm flipV="1">
              <a:off x="3154" y="3183"/>
              <a:ext cx="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5" name="Line 258"/>
            <p:cNvSpPr>
              <a:spLocks noChangeShapeType="1"/>
            </p:cNvSpPr>
            <p:nvPr/>
          </p:nvSpPr>
          <p:spPr bwMode="auto">
            <a:xfrm flipV="1">
              <a:off x="3162" y="3176"/>
              <a:ext cx="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6" name="Line 259"/>
            <p:cNvSpPr>
              <a:spLocks noChangeShapeType="1"/>
            </p:cNvSpPr>
            <p:nvPr/>
          </p:nvSpPr>
          <p:spPr bwMode="auto">
            <a:xfrm>
              <a:off x="3169" y="3175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7" name="Line 260"/>
            <p:cNvSpPr>
              <a:spLocks noChangeShapeType="1"/>
            </p:cNvSpPr>
            <p:nvPr/>
          </p:nvSpPr>
          <p:spPr bwMode="auto">
            <a:xfrm flipH="1" flipV="1">
              <a:off x="3161" y="3168"/>
              <a:ext cx="8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8" name="Line 261"/>
            <p:cNvSpPr>
              <a:spLocks noChangeShapeType="1"/>
            </p:cNvSpPr>
            <p:nvPr/>
          </p:nvSpPr>
          <p:spPr bwMode="auto">
            <a:xfrm>
              <a:off x="3161" y="3168"/>
              <a:ext cx="1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899" name="Line 262"/>
            <p:cNvSpPr>
              <a:spLocks noChangeShapeType="1"/>
            </p:cNvSpPr>
            <p:nvPr/>
          </p:nvSpPr>
          <p:spPr bwMode="auto">
            <a:xfrm flipH="1" flipV="1">
              <a:off x="3146" y="3162"/>
              <a:ext cx="15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0" name="Line 263"/>
            <p:cNvSpPr>
              <a:spLocks noChangeShapeType="1"/>
            </p:cNvSpPr>
            <p:nvPr/>
          </p:nvSpPr>
          <p:spPr bwMode="auto">
            <a:xfrm flipH="1" flipV="1">
              <a:off x="3122" y="3155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1" name="Line 264"/>
            <p:cNvSpPr>
              <a:spLocks noChangeShapeType="1"/>
            </p:cNvSpPr>
            <p:nvPr/>
          </p:nvSpPr>
          <p:spPr bwMode="auto">
            <a:xfrm flipH="1">
              <a:off x="3107" y="3154"/>
              <a:ext cx="15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2" name="Line 265"/>
            <p:cNvSpPr>
              <a:spLocks noChangeShapeType="1"/>
            </p:cNvSpPr>
            <p:nvPr/>
          </p:nvSpPr>
          <p:spPr bwMode="auto">
            <a:xfrm flipH="1" flipV="1">
              <a:off x="3076" y="3148"/>
              <a:ext cx="27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3" name="Line 266"/>
            <p:cNvSpPr>
              <a:spLocks noChangeShapeType="1"/>
            </p:cNvSpPr>
            <p:nvPr/>
          </p:nvSpPr>
          <p:spPr bwMode="auto">
            <a:xfrm flipH="1" flipV="1">
              <a:off x="3037" y="3141"/>
              <a:ext cx="34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4" name="Line 267"/>
            <p:cNvSpPr>
              <a:spLocks noChangeShapeType="1"/>
            </p:cNvSpPr>
            <p:nvPr/>
          </p:nvSpPr>
          <p:spPr bwMode="auto">
            <a:xfrm flipH="1">
              <a:off x="3005" y="3140"/>
              <a:ext cx="32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5" name="Line 268"/>
            <p:cNvSpPr>
              <a:spLocks noChangeShapeType="1"/>
            </p:cNvSpPr>
            <p:nvPr/>
          </p:nvSpPr>
          <p:spPr bwMode="auto">
            <a:xfrm flipH="1" flipV="1">
              <a:off x="2958" y="3133"/>
              <a:ext cx="47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6" name="Line 269"/>
            <p:cNvSpPr>
              <a:spLocks noChangeShapeType="1"/>
            </p:cNvSpPr>
            <p:nvPr/>
          </p:nvSpPr>
          <p:spPr bwMode="auto">
            <a:xfrm flipH="1">
              <a:off x="2935" y="3133"/>
              <a:ext cx="23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7" name="Line 270"/>
            <p:cNvSpPr>
              <a:spLocks noChangeShapeType="1"/>
            </p:cNvSpPr>
            <p:nvPr/>
          </p:nvSpPr>
          <p:spPr bwMode="auto">
            <a:xfrm flipH="1">
              <a:off x="2912" y="3133"/>
              <a:ext cx="23" cy="1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8" name="Line 271"/>
            <p:cNvSpPr>
              <a:spLocks noChangeShapeType="1"/>
            </p:cNvSpPr>
            <p:nvPr/>
          </p:nvSpPr>
          <p:spPr bwMode="auto">
            <a:xfrm flipH="1" flipV="1">
              <a:off x="2865" y="3127"/>
              <a:ext cx="4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09" name="Line 272"/>
            <p:cNvSpPr>
              <a:spLocks noChangeShapeType="1"/>
            </p:cNvSpPr>
            <p:nvPr/>
          </p:nvSpPr>
          <p:spPr bwMode="auto">
            <a:xfrm flipH="1" flipV="1">
              <a:off x="2818" y="3119"/>
              <a:ext cx="47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0" name="Line 273"/>
            <p:cNvSpPr>
              <a:spLocks noChangeShapeType="1"/>
            </p:cNvSpPr>
            <p:nvPr/>
          </p:nvSpPr>
          <p:spPr bwMode="auto">
            <a:xfrm flipH="1" flipV="1">
              <a:off x="2779" y="3112"/>
              <a:ext cx="39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1" name="Line 274"/>
            <p:cNvSpPr>
              <a:spLocks noChangeShapeType="1"/>
            </p:cNvSpPr>
            <p:nvPr/>
          </p:nvSpPr>
          <p:spPr bwMode="auto">
            <a:xfrm flipH="1" flipV="1">
              <a:off x="2740" y="3105"/>
              <a:ext cx="39" cy="7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2" name="Line 275"/>
            <p:cNvSpPr>
              <a:spLocks noChangeShapeType="1"/>
            </p:cNvSpPr>
            <p:nvPr/>
          </p:nvSpPr>
          <p:spPr bwMode="auto">
            <a:xfrm flipH="1" flipV="1">
              <a:off x="2716" y="3099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3" name="Line 276"/>
            <p:cNvSpPr>
              <a:spLocks noChangeShapeType="1"/>
            </p:cNvSpPr>
            <p:nvPr/>
          </p:nvSpPr>
          <p:spPr bwMode="auto">
            <a:xfrm flipH="1" flipV="1">
              <a:off x="2670" y="3085"/>
              <a:ext cx="46" cy="13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4" name="Line 277"/>
            <p:cNvSpPr>
              <a:spLocks noChangeShapeType="1"/>
            </p:cNvSpPr>
            <p:nvPr/>
          </p:nvSpPr>
          <p:spPr bwMode="auto">
            <a:xfrm flipH="1" flipV="1">
              <a:off x="2646" y="3078"/>
              <a:ext cx="21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5" name="Line 278"/>
            <p:cNvSpPr>
              <a:spLocks noChangeShapeType="1"/>
            </p:cNvSpPr>
            <p:nvPr/>
          </p:nvSpPr>
          <p:spPr bwMode="auto">
            <a:xfrm flipH="1" flipV="1">
              <a:off x="2631" y="3071"/>
              <a:ext cx="15" cy="6"/>
            </a:xfrm>
            <a:prstGeom prst="line">
              <a:avLst/>
            </a:prstGeom>
            <a:noFill/>
            <a:ln w="12700">
              <a:solidFill>
                <a:srgbClr val="664C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16" name="Rectangle 1915"/>
            <p:cNvSpPr>
              <a:spLocks noChangeArrowheads="1"/>
            </p:cNvSpPr>
            <p:nvPr/>
          </p:nvSpPr>
          <p:spPr bwMode="auto">
            <a:xfrm>
              <a:off x="1038" y="3682"/>
              <a:ext cx="71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Registers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17" name="Rectangle 1916"/>
            <p:cNvSpPr>
              <a:spLocks noChangeArrowheads="1"/>
            </p:cNvSpPr>
            <p:nvPr/>
          </p:nvSpPr>
          <p:spPr bwMode="auto">
            <a:xfrm>
              <a:off x="1038" y="3485"/>
              <a:ext cx="116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On Chip Cache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18" name="Rectangle 1917"/>
            <p:cNvSpPr>
              <a:spLocks noChangeArrowheads="1"/>
            </p:cNvSpPr>
            <p:nvPr/>
          </p:nvSpPr>
          <p:spPr bwMode="auto">
            <a:xfrm>
              <a:off x="1030" y="3316"/>
              <a:ext cx="131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On Board  Cache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19" name="Rectangle 1918"/>
            <p:cNvSpPr>
              <a:spLocks noChangeArrowheads="1"/>
            </p:cNvSpPr>
            <p:nvPr/>
          </p:nvSpPr>
          <p:spPr bwMode="auto">
            <a:xfrm>
              <a:off x="1030" y="2971"/>
              <a:ext cx="66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Memory 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0" name="Rectangle 1919"/>
            <p:cNvSpPr>
              <a:spLocks noChangeArrowheads="1"/>
            </p:cNvSpPr>
            <p:nvPr/>
          </p:nvSpPr>
          <p:spPr bwMode="auto">
            <a:xfrm>
              <a:off x="1069" y="1993"/>
              <a:ext cx="33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Disk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1" name="Rectangle 1920"/>
            <p:cNvSpPr>
              <a:spLocks noChangeArrowheads="1"/>
            </p:cNvSpPr>
            <p:nvPr/>
          </p:nvSpPr>
          <p:spPr bwMode="auto">
            <a:xfrm>
              <a:off x="718" y="3682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2" name="Rectangle 1921"/>
            <p:cNvSpPr>
              <a:spLocks noChangeArrowheads="1"/>
            </p:cNvSpPr>
            <p:nvPr/>
          </p:nvSpPr>
          <p:spPr bwMode="auto">
            <a:xfrm>
              <a:off x="702" y="3485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2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3" name="Rectangle 1922"/>
            <p:cNvSpPr>
              <a:spLocks noChangeArrowheads="1"/>
            </p:cNvSpPr>
            <p:nvPr/>
          </p:nvSpPr>
          <p:spPr bwMode="auto">
            <a:xfrm>
              <a:off x="593" y="3302"/>
              <a:ext cx="18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10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4" name="Rectangle 1923"/>
            <p:cNvSpPr>
              <a:spLocks noChangeArrowheads="1"/>
            </p:cNvSpPr>
            <p:nvPr/>
          </p:nvSpPr>
          <p:spPr bwMode="auto">
            <a:xfrm>
              <a:off x="491" y="2971"/>
              <a:ext cx="28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100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5" name="Rectangle 1924"/>
            <p:cNvSpPr>
              <a:spLocks noChangeArrowheads="1"/>
            </p:cNvSpPr>
            <p:nvPr/>
          </p:nvSpPr>
          <p:spPr bwMode="auto">
            <a:xfrm>
              <a:off x="1053" y="1290"/>
              <a:ext cx="105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Tape /Optical 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6" name="Rectangle 1925"/>
            <p:cNvSpPr>
              <a:spLocks noChangeArrowheads="1"/>
            </p:cNvSpPr>
            <p:nvPr/>
          </p:nvSpPr>
          <p:spPr bwMode="auto">
            <a:xfrm>
              <a:off x="1053" y="1466"/>
              <a:ext cx="512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 Robot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7" name="Rectangle 1926"/>
            <p:cNvSpPr>
              <a:spLocks noChangeArrowheads="1"/>
            </p:cNvSpPr>
            <p:nvPr/>
          </p:nvSpPr>
          <p:spPr bwMode="auto">
            <a:xfrm>
              <a:off x="523" y="1290"/>
              <a:ext cx="18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10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8" name="Rectangle 1927"/>
            <p:cNvSpPr>
              <a:spLocks noChangeArrowheads="1"/>
            </p:cNvSpPr>
            <p:nvPr/>
          </p:nvSpPr>
          <p:spPr bwMode="auto">
            <a:xfrm>
              <a:off x="733" y="1212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9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29" name="Rectangle 1928"/>
            <p:cNvSpPr>
              <a:spLocks noChangeArrowheads="1"/>
            </p:cNvSpPr>
            <p:nvPr/>
          </p:nvSpPr>
          <p:spPr bwMode="auto">
            <a:xfrm>
              <a:off x="608" y="2014"/>
              <a:ext cx="18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10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0" name="Rectangle 1929"/>
            <p:cNvSpPr>
              <a:spLocks noChangeArrowheads="1"/>
            </p:cNvSpPr>
            <p:nvPr/>
          </p:nvSpPr>
          <p:spPr bwMode="auto">
            <a:xfrm>
              <a:off x="819" y="1937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6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1" name="Rectangle 1930"/>
            <p:cNvSpPr>
              <a:spLocks noChangeArrowheads="1"/>
            </p:cNvSpPr>
            <p:nvPr/>
          </p:nvSpPr>
          <p:spPr bwMode="auto">
            <a:xfrm>
              <a:off x="2640" y="2880"/>
              <a:ext cx="922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solidFill>
                    <a:srgbClr val="FCF305"/>
                  </a:solidFill>
                  <a:latin typeface="Helvetica Neue"/>
                </a:rPr>
                <a:t>Sacramento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2" name="Freeform 1931"/>
            <p:cNvSpPr>
              <a:spLocks/>
            </p:cNvSpPr>
            <p:nvPr/>
          </p:nvSpPr>
          <p:spPr bwMode="auto">
            <a:xfrm>
              <a:off x="2400" y="3312"/>
              <a:ext cx="2108" cy="183"/>
            </a:xfrm>
            <a:custGeom>
              <a:avLst/>
              <a:gdLst>
                <a:gd name="T0" fmla="*/ 0 w 2108"/>
                <a:gd name="T1" fmla="*/ 0 h 183"/>
                <a:gd name="T2" fmla="*/ 1632 w 2108"/>
                <a:gd name="T3" fmla="*/ 7 h 183"/>
                <a:gd name="T4" fmla="*/ 2108 w 2108"/>
                <a:gd name="T5" fmla="*/ 183 h 183"/>
                <a:gd name="T6" fmla="*/ 578 w 2108"/>
                <a:gd name="T7" fmla="*/ 183 h 183"/>
                <a:gd name="T8" fmla="*/ 0 w 2108"/>
                <a:gd name="T9" fmla="*/ 0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08"/>
                <a:gd name="T16" fmla="*/ 0 h 183"/>
                <a:gd name="T17" fmla="*/ 2108 w 2108"/>
                <a:gd name="T18" fmla="*/ 183 h 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08" h="183">
                  <a:moveTo>
                    <a:pt x="0" y="0"/>
                  </a:moveTo>
                  <a:lnTo>
                    <a:pt x="1632" y="7"/>
                  </a:lnTo>
                  <a:lnTo>
                    <a:pt x="2108" y="183"/>
                  </a:lnTo>
                  <a:lnTo>
                    <a:pt x="578" y="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1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33" name="Rectangle 1932"/>
            <p:cNvSpPr>
              <a:spLocks noChangeArrowheads="1"/>
            </p:cNvSpPr>
            <p:nvPr/>
          </p:nvSpPr>
          <p:spPr bwMode="auto">
            <a:xfrm>
              <a:off x="2810" y="3266"/>
              <a:ext cx="976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solidFill>
                    <a:srgbClr val="FFFFFF"/>
                  </a:solidFill>
                  <a:latin typeface="Helvetica Neue"/>
                </a:rPr>
                <a:t>This Building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4" name="Line 297"/>
            <p:cNvSpPr>
              <a:spLocks noChangeShapeType="1"/>
            </p:cNvSpPr>
            <p:nvPr/>
          </p:nvSpPr>
          <p:spPr bwMode="auto">
            <a:xfrm>
              <a:off x="3185" y="3633"/>
              <a:ext cx="29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35" name="Freeform 1934"/>
            <p:cNvSpPr>
              <a:spLocks/>
            </p:cNvSpPr>
            <p:nvPr/>
          </p:nvSpPr>
          <p:spPr bwMode="auto">
            <a:xfrm>
              <a:off x="2958" y="3604"/>
              <a:ext cx="695" cy="78"/>
            </a:xfrm>
            <a:custGeom>
              <a:avLst/>
              <a:gdLst>
                <a:gd name="T0" fmla="*/ 0 w 695"/>
                <a:gd name="T1" fmla="*/ 0 h 78"/>
                <a:gd name="T2" fmla="*/ 539 w 695"/>
                <a:gd name="T3" fmla="*/ 0 h 78"/>
                <a:gd name="T4" fmla="*/ 695 w 695"/>
                <a:gd name="T5" fmla="*/ 78 h 78"/>
                <a:gd name="T6" fmla="*/ 188 w 695"/>
                <a:gd name="T7" fmla="*/ 78 h 78"/>
                <a:gd name="T8" fmla="*/ 0 w 695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5"/>
                <a:gd name="T16" fmla="*/ 0 h 78"/>
                <a:gd name="T17" fmla="*/ 695 w 695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5" h="78">
                  <a:moveTo>
                    <a:pt x="0" y="0"/>
                  </a:moveTo>
                  <a:lnTo>
                    <a:pt x="539" y="0"/>
                  </a:lnTo>
                  <a:lnTo>
                    <a:pt x="695" y="78"/>
                  </a:lnTo>
                  <a:lnTo>
                    <a:pt x="188" y="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0806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36" name="Rectangle 1935"/>
            <p:cNvSpPr>
              <a:spLocks noChangeArrowheads="1"/>
            </p:cNvSpPr>
            <p:nvPr/>
          </p:nvSpPr>
          <p:spPr bwMode="auto">
            <a:xfrm>
              <a:off x="2928" y="3504"/>
              <a:ext cx="81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This Room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7" name="Rectangle 1936"/>
            <p:cNvSpPr>
              <a:spLocks noChangeArrowheads="1"/>
            </p:cNvSpPr>
            <p:nvPr/>
          </p:nvSpPr>
          <p:spPr bwMode="auto">
            <a:xfrm>
              <a:off x="3685" y="3682"/>
              <a:ext cx="6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My Head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38" name="Oval 1937"/>
            <p:cNvSpPr>
              <a:spLocks noChangeArrowheads="1"/>
            </p:cNvSpPr>
            <p:nvPr/>
          </p:nvSpPr>
          <p:spPr bwMode="auto">
            <a:xfrm>
              <a:off x="3501" y="3686"/>
              <a:ext cx="148" cy="83"/>
            </a:xfrm>
            <a:prstGeom prst="ellipse">
              <a:avLst/>
            </a:prstGeom>
            <a:solidFill>
              <a:srgbClr val="FFCC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39" name="Line 302"/>
            <p:cNvSpPr>
              <a:spLocks noChangeShapeType="1"/>
            </p:cNvSpPr>
            <p:nvPr/>
          </p:nvSpPr>
          <p:spPr bwMode="auto">
            <a:xfrm>
              <a:off x="3575" y="3773"/>
              <a:ext cx="1" cy="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0" name="Line 303"/>
            <p:cNvSpPr>
              <a:spLocks noChangeShapeType="1"/>
            </p:cNvSpPr>
            <p:nvPr/>
          </p:nvSpPr>
          <p:spPr bwMode="auto">
            <a:xfrm flipH="1">
              <a:off x="3544" y="3872"/>
              <a:ext cx="31" cy="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1" name="Line 304"/>
            <p:cNvSpPr>
              <a:spLocks noChangeShapeType="1"/>
            </p:cNvSpPr>
            <p:nvPr/>
          </p:nvSpPr>
          <p:spPr bwMode="auto">
            <a:xfrm>
              <a:off x="3568" y="3872"/>
              <a:ext cx="46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2" name="Line 305"/>
            <p:cNvSpPr>
              <a:spLocks noChangeShapeType="1"/>
            </p:cNvSpPr>
            <p:nvPr/>
          </p:nvSpPr>
          <p:spPr bwMode="auto">
            <a:xfrm flipH="1">
              <a:off x="3513" y="3893"/>
              <a:ext cx="31" cy="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3" name="Line 306"/>
            <p:cNvSpPr>
              <a:spLocks noChangeShapeType="1"/>
            </p:cNvSpPr>
            <p:nvPr/>
          </p:nvSpPr>
          <p:spPr bwMode="auto">
            <a:xfrm>
              <a:off x="3567" y="3794"/>
              <a:ext cx="32" cy="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4" name="Line 307"/>
            <p:cNvSpPr>
              <a:spLocks noChangeShapeType="1"/>
            </p:cNvSpPr>
            <p:nvPr/>
          </p:nvSpPr>
          <p:spPr bwMode="auto">
            <a:xfrm flipH="1">
              <a:off x="3536" y="3794"/>
              <a:ext cx="31" cy="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45" name="Rectangle 1944"/>
            <p:cNvSpPr>
              <a:spLocks noChangeArrowheads="1"/>
            </p:cNvSpPr>
            <p:nvPr/>
          </p:nvSpPr>
          <p:spPr bwMode="auto">
            <a:xfrm>
              <a:off x="4512" y="3302"/>
              <a:ext cx="512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10 min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46" name="Rectangle 1945"/>
            <p:cNvSpPr>
              <a:spLocks noChangeArrowheads="1"/>
            </p:cNvSpPr>
            <p:nvPr/>
          </p:nvSpPr>
          <p:spPr bwMode="auto">
            <a:xfrm>
              <a:off x="4567" y="2858"/>
              <a:ext cx="43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1.5 </a:t>
              </a:r>
              <a:r>
                <a:rPr lang="en-US" sz="1575" dirty="0" err="1">
                  <a:latin typeface="Helvetica Neue"/>
                </a:rPr>
                <a:t>hr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47" name="Rectangle 1946"/>
            <p:cNvSpPr>
              <a:spLocks noChangeArrowheads="1"/>
            </p:cNvSpPr>
            <p:nvPr/>
          </p:nvSpPr>
          <p:spPr bwMode="auto">
            <a:xfrm>
              <a:off x="4457" y="2000"/>
              <a:ext cx="55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2 Years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48" name="Rectangle 1947"/>
            <p:cNvSpPr>
              <a:spLocks noChangeArrowheads="1"/>
            </p:cNvSpPr>
            <p:nvPr/>
          </p:nvSpPr>
          <p:spPr bwMode="auto">
            <a:xfrm>
              <a:off x="4629" y="3682"/>
              <a:ext cx="41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1 min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49" name="Line 312"/>
            <p:cNvSpPr>
              <a:spLocks noChangeShapeType="1"/>
            </p:cNvSpPr>
            <p:nvPr/>
          </p:nvSpPr>
          <p:spPr bwMode="auto">
            <a:xfrm>
              <a:off x="2490" y="2887"/>
              <a:ext cx="1" cy="1"/>
            </a:xfrm>
            <a:prstGeom prst="line">
              <a:avLst/>
            </a:prstGeom>
            <a:noFill/>
            <a:ln w="12700">
              <a:solidFill>
                <a:srgbClr val="DD080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0" name="Line 313"/>
            <p:cNvSpPr>
              <a:spLocks noChangeShapeType="1"/>
            </p:cNvSpPr>
            <p:nvPr/>
          </p:nvSpPr>
          <p:spPr bwMode="auto">
            <a:xfrm>
              <a:off x="2490" y="2887"/>
              <a:ext cx="110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1" name="Line 314"/>
            <p:cNvSpPr>
              <a:spLocks noChangeShapeType="1"/>
            </p:cNvSpPr>
            <p:nvPr/>
          </p:nvSpPr>
          <p:spPr bwMode="auto">
            <a:xfrm flipV="1">
              <a:off x="3599" y="2838"/>
              <a:ext cx="148" cy="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2" name="Line 315"/>
            <p:cNvSpPr>
              <a:spLocks noChangeShapeType="1"/>
            </p:cNvSpPr>
            <p:nvPr/>
          </p:nvSpPr>
          <p:spPr bwMode="auto">
            <a:xfrm flipH="1">
              <a:off x="2662" y="2838"/>
              <a:ext cx="108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3" name="Line 316"/>
            <p:cNvSpPr>
              <a:spLocks noChangeShapeType="1"/>
            </p:cNvSpPr>
            <p:nvPr/>
          </p:nvSpPr>
          <p:spPr bwMode="auto">
            <a:xfrm flipH="1">
              <a:off x="2490" y="2838"/>
              <a:ext cx="169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4" name="Freeform 1953"/>
            <p:cNvSpPr>
              <a:spLocks/>
            </p:cNvSpPr>
            <p:nvPr/>
          </p:nvSpPr>
          <p:spPr bwMode="auto">
            <a:xfrm>
              <a:off x="3044" y="2627"/>
              <a:ext cx="24" cy="105"/>
            </a:xfrm>
            <a:custGeom>
              <a:avLst/>
              <a:gdLst>
                <a:gd name="T0" fmla="*/ 0 w 24"/>
                <a:gd name="T1" fmla="*/ 105 h 105"/>
                <a:gd name="T2" fmla="*/ 16 w 24"/>
                <a:gd name="T3" fmla="*/ 0 h 105"/>
                <a:gd name="T4" fmla="*/ 24 w 24"/>
                <a:gd name="T5" fmla="*/ 105 h 105"/>
                <a:gd name="T6" fmla="*/ 0 w 2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"/>
                <a:gd name="T13" fmla="*/ 0 h 105"/>
                <a:gd name="T14" fmla="*/ 24 w 2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" h="105">
                  <a:moveTo>
                    <a:pt x="0" y="105"/>
                  </a:moveTo>
                  <a:lnTo>
                    <a:pt x="16" y="0"/>
                  </a:lnTo>
                  <a:lnTo>
                    <a:pt x="24" y="105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5" name="Line 318"/>
            <p:cNvSpPr>
              <a:spLocks noChangeShapeType="1"/>
            </p:cNvSpPr>
            <p:nvPr/>
          </p:nvSpPr>
          <p:spPr bwMode="auto">
            <a:xfrm flipV="1">
              <a:off x="3044" y="2627"/>
              <a:ext cx="15" cy="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6" name="Line 319"/>
            <p:cNvSpPr>
              <a:spLocks noChangeShapeType="1"/>
            </p:cNvSpPr>
            <p:nvPr/>
          </p:nvSpPr>
          <p:spPr bwMode="auto">
            <a:xfrm>
              <a:off x="3060" y="2627"/>
              <a:ext cx="8" cy="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7" name="Rectangle 1956"/>
            <p:cNvSpPr>
              <a:spLocks noChangeArrowheads="1"/>
            </p:cNvSpPr>
            <p:nvPr/>
          </p:nvSpPr>
          <p:spPr bwMode="auto">
            <a:xfrm>
              <a:off x="2724" y="1965"/>
              <a:ext cx="39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Pluto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58" name="Line 321"/>
            <p:cNvSpPr>
              <a:spLocks noChangeShapeType="1"/>
            </p:cNvSpPr>
            <p:nvPr/>
          </p:nvSpPr>
          <p:spPr bwMode="auto">
            <a:xfrm>
              <a:off x="3747" y="2838"/>
              <a:ext cx="1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59" name="Line 322"/>
            <p:cNvSpPr>
              <a:spLocks noChangeShapeType="1"/>
            </p:cNvSpPr>
            <p:nvPr/>
          </p:nvSpPr>
          <p:spPr bwMode="auto">
            <a:xfrm flipH="1">
              <a:off x="3591" y="2985"/>
              <a:ext cx="156" cy="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0" name="Rectangle 1959"/>
            <p:cNvSpPr>
              <a:spLocks noChangeArrowheads="1"/>
            </p:cNvSpPr>
            <p:nvPr/>
          </p:nvSpPr>
          <p:spPr bwMode="auto">
            <a:xfrm>
              <a:off x="4114" y="1297"/>
              <a:ext cx="8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2,000 Years</a:t>
              </a:r>
              <a:endParaRPr lang="en-US" sz="1350" b="1" dirty="0">
                <a:latin typeface="Century Gothic" charset="0"/>
              </a:endParaRPr>
            </a:p>
          </p:txBody>
        </p:sp>
        <p:sp>
          <p:nvSpPr>
            <p:cNvPr id="1961" name="Freeform 1960"/>
            <p:cNvSpPr>
              <a:spLocks/>
            </p:cNvSpPr>
            <p:nvPr/>
          </p:nvSpPr>
          <p:spPr bwMode="auto">
            <a:xfrm>
              <a:off x="2693" y="1121"/>
              <a:ext cx="773" cy="401"/>
            </a:xfrm>
            <a:custGeom>
              <a:avLst/>
              <a:gdLst>
                <a:gd name="T0" fmla="*/ 0 w 773"/>
                <a:gd name="T1" fmla="*/ 0 h 401"/>
                <a:gd name="T2" fmla="*/ 23 w 773"/>
                <a:gd name="T3" fmla="*/ 0 h 401"/>
                <a:gd name="T4" fmla="*/ 31 w 773"/>
                <a:gd name="T5" fmla="*/ 0 h 401"/>
                <a:gd name="T6" fmla="*/ 47 w 773"/>
                <a:gd name="T7" fmla="*/ 7 h 401"/>
                <a:gd name="T8" fmla="*/ 62 w 773"/>
                <a:gd name="T9" fmla="*/ 7 h 401"/>
                <a:gd name="T10" fmla="*/ 94 w 773"/>
                <a:gd name="T11" fmla="*/ 21 h 401"/>
                <a:gd name="T12" fmla="*/ 117 w 773"/>
                <a:gd name="T13" fmla="*/ 28 h 401"/>
                <a:gd name="T14" fmla="*/ 133 w 773"/>
                <a:gd name="T15" fmla="*/ 35 h 401"/>
                <a:gd name="T16" fmla="*/ 164 w 773"/>
                <a:gd name="T17" fmla="*/ 49 h 401"/>
                <a:gd name="T18" fmla="*/ 226 w 773"/>
                <a:gd name="T19" fmla="*/ 78 h 401"/>
                <a:gd name="T20" fmla="*/ 289 w 773"/>
                <a:gd name="T21" fmla="*/ 106 h 401"/>
                <a:gd name="T22" fmla="*/ 367 w 773"/>
                <a:gd name="T23" fmla="*/ 141 h 401"/>
                <a:gd name="T24" fmla="*/ 406 w 773"/>
                <a:gd name="T25" fmla="*/ 162 h 401"/>
                <a:gd name="T26" fmla="*/ 445 w 773"/>
                <a:gd name="T27" fmla="*/ 183 h 401"/>
                <a:gd name="T28" fmla="*/ 523 w 773"/>
                <a:gd name="T29" fmla="*/ 225 h 401"/>
                <a:gd name="T30" fmla="*/ 586 w 773"/>
                <a:gd name="T31" fmla="*/ 261 h 401"/>
                <a:gd name="T32" fmla="*/ 656 w 773"/>
                <a:gd name="T33" fmla="*/ 303 h 401"/>
                <a:gd name="T34" fmla="*/ 679 w 773"/>
                <a:gd name="T35" fmla="*/ 317 h 401"/>
                <a:gd name="T36" fmla="*/ 687 w 773"/>
                <a:gd name="T37" fmla="*/ 324 h 401"/>
                <a:gd name="T38" fmla="*/ 710 w 773"/>
                <a:gd name="T39" fmla="*/ 338 h 401"/>
                <a:gd name="T40" fmla="*/ 726 w 773"/>
                <a:gd name="T41" fmla="*/ 352 h 401"/>
                <a:gd name="T42" fmla="*/ 750 w 773"/>
                <a:gd name="T43" fmla="*/ 366 h 401"/>
                <a:gd name="T44" fmla="*/ 757 w 773"/>
                <a:gd name="T45" fmla="*/ 373 h 401"/>
                <a:gd name="T46" fmla="*/ 765 w 773"/>
                <a:gd name="T47" fmla="*/ 380 h 401"/>
                <a:gd name="T48" fmla="*/ 773 w 773"/>
                <a:gd name="T49" fmla="*/ 394 h 401"/>
                <a:gd name="T50" fmla="*/ 773 w 773"/>
                <a:gd name="T51" fmla="*/ 401 h 401"/>
                <a:gd name="T52" fmla="*/ 750 w 773"/>
                <a:gd name="T53" fmla="*/ 401 h 401"/>
                <a:gd name="T54" fmla="*/ 742 w 773"/>
                <a:gd name="T55" fmla="*/ 401 h 401"/>
                <a:gd name="T56" fmla="*/ 726 w 773"/>
                <a:gd name="T57" fmla="*/ 394 h 401"/>
                <a:gd name="T58" fmla="*/ 710 w 773"/>
                <a:gd name="T59" fmla="*/ 394 h 401"/>
                <a:gd name="T60" fmla="*/ 679 w 773"/>
                <a:gd name="T61" fmla="*/ 380 h 401"/>
                <a:gd name="T62" fmla="*/ 656 w 773"/>
                <a:gd name="T63" fmla="*/ 373 h 401"/>
                <a:gd name="T64" fmla="*/ 640 w 773"/>
                <a:gd name="T65" fmla="*/ 366 h 401"/>
                <a:gd name="T66" fmla="*/ 609 w 773"/>
                <a:gd name="T67" fmla="*/ 352 h 401"/>
                <a:gd name="T68" fmla="*/ 547 w 773"/>
                <a:gd name="T69" fmla="*/ 324 h 401"/>
                <a:gd name="T70" fmla="*/ 484 w 773"/>
                <a:gd name="T71" fmla="*/ 296 h 401"/>
                <a:gd name="T72" fmla="*/ 406 w 773"/>
                <a:gd name="T73" fmla="*/ 261 h 401"/>
                <a:gd name="T74" fmla="*/ 367 w 773"/>
                <a:gd name="T75" fmla="*/ 239 h 401"/>
                <a:gd name="T76" fmla="*/ 328 w 773"/>
                <a:gd name="T77" fmla="*/ 218 h 401"/>
                <a:gd name="T78" fmla="*/ 250 w 773"/>
                <a:gd name="T79" fmla="*/ 176 h 401"/>
                <a:gd name="T80" fmla="*/ 187 w 773"/>
                <a:gd name="T81" fmla="*/ 141 h 401"/>
                <a:gd name="T82" fmla="*/ 125 w 773"/>
                <a:gd name="T83" fmla="*/ 106 h 401"/>
                <a:gd name="T84" fmla="*/ 94 w 773"/>
                <a:gd name="T85" fmla="*/ 85 h 401"/>
                <a:gd name="T86" fmla="*/ 86 w 773"/>
                <a:gd name="T87" fmla="*/ 78 h 401"/>
                <a:gd name="T88" fmla="*/ 62 w 773"/>
                <a:gd name="T89" fmla="*/ 64 h 401"/>
                <a:gd name="T90" fmla="*/ 47 w 773"/>
                <a:gd name="T91" fmla="*/ 49 h 401"/>
                <a:gd name="T92" fmla="*/ 23 w 773"/>
                <a:gd name="T93" fmla="*/ 35 h 401"/>
                <a:gd name="T94" fmla="*/ 16 w 773"/>
                <a:gd name="T95" fmla="*/ 28 h 401"/>
                <a:gd name="T96" fmla="*/ 8 w 773"/>
                <a:gd name="T97" fmla="*/ 21 h 401"/>
                <a:gd name="T98" fmla="*/ 0 w 773"/>
                <a:gd name="T99" fmla="*/ 7 h 401"/>
                <a:gd name="T100" fmla="*/ 0 w 773"/>
                <a:gd name="T101" fmla="*/ 0 h 40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73"/>
                <a:gd name="T154" fmla="*/ 0 h 401"/>
                <a:gd name="T155" fmla="*/ 773 w 773"/>
                <a:gd name="T156" fmla="*/ 401 h 40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73" h="401">
                  <a:moveTo>
                    <a:pt x="0" y="0"/>
                  </a:moveTo>
                  <a:lnTo>
                    <a:pt x="23" y="0"/>
                  </a:lnTo>
                  <a:lnTo>
                    <a:pt x="31" y="0"/>
                  </a:lnTo>
                  <a:lnTo>
                    <a:pt x="47" y="7"/>
                  </a:lnTo>
                  <a:lnTo>
                    <a:pt x="62" y="7"/>
                  </a:lnTo>
                  <a:lnTo>
                    <a:pt x="94" y="21"/>
                  </a:lnTo>
                  <a:lnTo>
                    <a:pt x="117" y="28"/>
                  </a:lnTo>
                  <a:lnTo>
                    <a:pt x="133" y="35"/>
                  </a:lnTo>
                  <a:lnTo>
                    <a:pt x="164" y="49"/>
                  </a:lnTo>
                  <a:lnTo>
                    <a:pt x="226" y="78"/>
                  </a:lnTo>
                  <a:lnTo>
                    <a:pt x="289" y="106"/>
                  </a:lnTo>
                  <a:lnTo>
                    <a:pt x="367" y="141"/>
                  </a:lnTo>
                  <a:lnTo>
                    <a:pt x="406" y="162"/>
                  </a:lnTo>
                  <a:lnTo>
                    <a:pt x="445" y="183"/>
                  </a:lnTo>
                  <a:lnTo>
                    <a:pt x="523" y="225"/>
                  </a:lnTo>
                  <a:lnTo>
                    <a:pt x="586" y="261"/>
                  </a:lnTo>
                  <a:lnTo>
                    <a:pt x="656" y="303"/>
                  </a:lnTo>
                  <a:lnTo>
                    <a:pt x="679" y="317"/>
                  </a:lnTo>
                  <a:lnTo>
                    <a:pt x="687" y="324"/>
                  </a:lnTo>
                  <a:lnTo>
                    <a:pt x="710" y="338"/>
                  </a:lnTo>
                  <a:lnTo>
                    <a:pt x="726" y="352"/>
                  </a:lnTo>
                  <a:lnTo>
                    <a:pt x="750" y="366"/>
                  </a:lnTo>
                  <a:lnTo>
                    <a:pt x="757" y="373"/>
                  </a:lnTo>
                  <a:lnTo>
                    <a:pt x="765" y="380"/>
                  </a:lnTo>
                  <a:lnTo>
                    <a:pt x="773" y="394"/>
                  </a:lnTo>
                  <a:lnTo>
                    <a:pt x="773" y="401"/>
                  </a:lnTo>
                  <a:lnTo>
                    <a:pt x="750" y="401"/>
                  </a:lnTo>
                  <a:lnTo>
                    <a:pt x="742" y="401"/>
                  </a:lnTo>
                  <a:lnTo>
                    <a:pt x="726" y="394"/>
                  </a:lnTo>
                  <a:lnTo>
                    <a:pt x="710" y="394"/>
                  </a:lnTo>
                  <a:lnTo>
                    <a:pt x="679" y="380"/>
                  </a:lnTo>
                  <a:lnTo>
                    <a:pt x="656" y="373"/>
                  </a:lnTo>
                  <a:lnTo>
                    <a:pt x="640" y="366"/>
                  </a:lnTo>
                  <a:lnTo>
                    <a:pt x="609" y="352"/>
                  </a:lnTo>
                  <a:lnTo>
                    <a:pt x="547" y="324"/>
                  </a:lnTo>
                  <a:lnTo>
                    <a:pt x="484" y="296"/>
                  </a:lnTo>
                  <a:lnTo>
                    <a:pt x="406" y="261"/>
                  </a:lnTo>
                  <a:lnTo>
                    <a:pt x="367" y="239"/>
                  </a:lnTo>
                  <a:lnTo>
                    <a:pt x="328" y="218"/>
                  </a:lnTo>
                  <a:lnTo>
                    <a:pt x="250" y="176"/>
                  </a:lnTo>
                  <a:lnTo>
                    <a:pt x="187" y="141"/>
                  </a:lnTo>
                  <a:lnTo>
                    <a:pt x="125" y="106"/>
                  </a:lnTo>
                  <a:lnTo>
                    <a:pt x="94" y="85"/>
                  </a:lnTo>
                  <a:lnTo>
                    <a:pt x="86" y="78"/>
                  </a:lnTo>
                  <a:lnTo>
                    <a:pt x="62" y="64"/>
                  </a:lnTo>
                  <a:lnTo>
                    <a:pt x="47" y="49"/>
                  </a:lnTo>
                  <a:lnTo>
                    <a:pt x="23" y="35"/>
                  </a:lnTo>
                  <a:lnTo>
                    <a:pt x="16" y="28"/>
                  </a:lnTo>
                  <a:lnTo>
                    <a:pt x="8" y="21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2" name="Freeform 1961"/>
            <p:cNvSpPr>
              <a:spLocks/>
            </p:cNvSpPr>
            <p:nvPr/>
          </p:nvSpPr>
          <p:spPr bwMode="auto">
            <a:xfrm>
              <a:off x="3013" y="1255"/>
              <a:ext cx="156" cy="141"/>
            </a:xfrm>
            <a:custGeom>
              <a:avLst/>
              <a:gdLst>
                <a:gd name="T0" fmla="*/ 8 w 156"/>
                <a:gd name="T1" fmla="*/ 35 h 141"/>
                <a:gd name="T2" fmla="*/ 16 w 156"/>
                <a:gd name="T3" fmla="*/ 28 h 141"/>
                <a:gd name="T4" fmla="*/ 24 w 156"/>
                <a:gd name="T5" fmla="*/ 14 h 141"/>
                <a:gd name="T6" fmla="*/ 39 w 156"/>
                <a:gd name="T7" fmla="*/ 7 h 141"/>
                <a:gd name="T8" fmla="*/ 47 w 156"/>
                <a:gd name="T9" fmla="*/ 0 h 141"/>
                <a:gd name="T10" fmla="*/ 55 w 156"/>
                <a:gd name="T11" fmla="*/ 0 h 141"/>
                <a:gd name="T12" fmla="*/ 63 w 156"/>
                <a:gd name="T13" fmla="*/ 0 h 141"/>
                <a:gd name="T14" fmla="*/ 78 w 156"/>
                <a:gd name="T15" fmla="*/ 0 h 141"/>
                <a:gd name="T16" fmla="*/ 94 w 156"/>
                <a:gd name="T17" fmla="*/ 0 h 141"/>
                <a:gd name="T18" fmla="*/ 109 w 156"/>
                <a:gd name="T19" fmla="*/ 7 h 141"/>
                <a:gd name="T20" fmla="*/ 117 w 156"/>
                <a:gd name="T21" fmla="*/ 14 h 141"/>
                <a:gd name="T22" fmla="*/ 125 w 156"/>
                <a:gd name="T23" fmla="*/ 21 h 141"/>
                <a:gd name="T24" fmla="*/ 141 w 156"/>
                <a:gd name="T25" fmla="*/ 28 h 141"/>
                <a:gd name="T26" fmla="*/ 148 w 156"/>
                <a:gd name="T27" fmla="*/ 42 h 141"/>
                <a:gd name="T28" fmla="*/ 156 w 156"/>
                <a:gd name="T29" fmla="*/ 49 h 141"/>
                <a:gd name="T30" fmla="*/ 156 w 156"/>
                <a:gd name="T31" fmla="*/ 56 h 141"/>
                <a:gd name="T32" fmla="*/ 156 w 156"/>
                <a:gd name="T33" fmla="*/ 63 h 141"/>
                <a:gd name="T34" fmla="*/ 156 w 156"/>
                <a:gd name="T35" fmla="*/ 70 h 141"/>
                <a:gd name="T36" fmla="*/ 156 w 156"/>
                <a:gd name="T37" fmla="*/ 91 h 141"/>
                <a:gd name="T38" fmla="*/ 156 w 156"/>
                <a:gd name="T39" fmla="*/ 98 h 141"/>
                <a:gd name="T40" fmla="*/ 148 w 156"/>
                <a:gd name="T41" fmla="*/ 105 h 141"/>
                <a:gd name="T42" fmla="*/ 148 w 156"/>
                <a:gd name="T43" fmla="*/ 112 h 141"/>
                <a:gd name="T44" fmla="*/ 133 w 156"/>
                <a:gd name="T45" fmla="*/ 127 h 141"/>
                <a:gd name="T46" fmla="*/ 117 w 156"/>
                <a:gd name="T47" fmla="*/ 134 h 141"/>
                <a:gd name="T48" fmla="*/ 109 w 156"/>
                <a:gd name="T49" fmla="*/ 141 h 141"/>
                <a:gd name="T50" fmla="*/ 102 w 156"/>
                <a:gd name="T51" fmla="*/ 141 h 141"/>
                <a:gd name="T52" fmla="*/ 94 w 156"/>
                <a:gd name="T53" fmla="*/ 141 h 141"/>
                <a:gd name="T54" fmla="*/ 78 w 156"/>
                <a:gd name="T55" fmla="*/ 141 h 141"/>
                <a:gd name="T56" fmla="*/ 63 w 156"/>
                <a:gd name="T57" fmla="*/ 141 h 141"/>
                <a:gd name="T58" fmla="*/ 47 w 156"/>
                <a:gd name="T59" fmla="*/ 141 h 141"/>
                <a:gd name="T60" fmla="*/ 39 w 156"/>
                <a:gd name="T61" fmla="*/ 134 h 141"/>
                <a:gd name="T62" fmla="*/ 31 w 156"/>
                <a:gd name="T63" fmla="*/ 134 h 141"/>
                <a:gd name="T64" fmla="*/ 16 w 156"/>
                <a:gd name="T65" fmla="*/ 119 h 141"/>
                <a:gd name="T66" fmla="*/ 8 w 156"/>
                <a:gd name="T67" fmla="*/ 105 h 141"/>
                <a:gd name="T68" fmla="*/ 0 w 156"/>
                <a:gd name="T69" fmla="*/ 98 h 141"/>
                <a:gd name="T70" fmla="*/ 0 w 156"/>
                <a:gd name="T71" fmla="*/ 91 h 141"/>
                <a:gd name="T72" fmla="*/ 0 w 156"/>
                <a:gd name="T73" fmla="*/ 84 h 141"/>
                <a:gd name="T74" fmla="*/ 0 w 156"/>
                <a:gd name="T75" fmla="*/ 70 h 141"/>
                <a:gd name="T76" fmla="*/ 0 w 156"/>
                <a:gd name="T77" fmla="*/ 56 h 141"/>
                <a:gd name="T78" fmla="*/ 8 w 156"/>
                <a:gd name="T79" fmla="*/ 42 h 141"/>
                <a:gd name="T80" fmla="*/ 8 w 156"/>
                <a:gd name="T81" fmla="*/ 35 h 14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6"/>
                <a:gd name="T124" fmla="*/ 0 h 141"/>
                <a:gd name="T125" fmla="*/ 156 w 156"/>
                <a:gd name="T126" fmla="*/ 141 h 14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6" h="141">
                  <a:moveTo>
                    <a:pt x="8" y="35"/>
                  </a:moveTo>
                  <a:lnTo>
                    <a:pt x="16" y="28"/>
                  </a:lnTo>
                  <a:lnTo>
                    <a:pt x="24" y="14"/>
                  </a:lnTo>
                  <a:lnTo>
                    <a:pt x="39" y="7"/>
                  </a:lnTo>
                  <a:lnTo>
                    <a:pt x="47" y="0"/>
                  </a:lnTo>
                  <a:lnTo>
                    <a:pt x="55" y="0"/>
                  </a:lnTo>
                  <a:lnTo>
                    <a:pt x="63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9" y="7"/>
                  </a:lnTo>
                  <a:lnTo>
                    <a:pt x="117" y="14"/>
                  </a:lnTo>
                  <a:lnTo>
                    <a:pt x="125" y="21"/>
                  </a:lnTo>
                  <a:lnTo>
                    <a:pt x="141" y="28"/>
                  </a:lnTo>
                  <a:lnTo>
                    <a:pt x="148" y="42"/>
                  </a:lnTo>
                  <a:lnTo>
                    <a:pt x="156" y="49"/>
                  </a:lnTo>
                  <a:lnTo>
                    <a:pt x="156" y="56"/>
                  </a:lnTo>
                  <a:lnTo>
                    <a:pt x="156" y="63"/>
                  </a:lnTo>
                  <a:lnTo>
                    <a:pt x="156" y="70"/>
                  </a:lnTo>
                  <a:lnTo>
                    <a:pt x="156" y="91"/>
                  </a:lnTo>
                  <a:lnTo>
                    <a:pt x="156" y="98"/>
                  </a:lnTo>
                  <a:lnTo>
                    <a:pt x="148" y="105"/>
                  </a:lnTo>
                  <a:lnTo>
                    <a:pt x="148" y="112"/>
                  </a:lnTo>
                  <a:lnTo>
                    <a:pt x="133" y="127"/>
                  </a:lnTo>
                  <a:lnTo>
                    <a:pt x="117" y="134"/>
                  </a:lnTo>
                  <a:lnTo>
                    <a:pt x="109" y="141"/>
                  </a:lnTo>
                  <a:lnTo>
                    <a:pt x="102" y="141"/>
                  </a:lnTo>
                  <a:lnTo>
                    <a:pt x="94" y="141"/>
                  </a:lnTo>
                  <a:lnTo>
                    <a:pt x="78" y="141"/>
                  </a:lnTo>
                  <a:lnTo>
                    <a:pt x="63" y="141"/>
                  </a:lnTo>
                  <a:lnTo>
                    <a:pt x="47" y="141"/>
                  </a:lnTo>
                  <a:lnTo>
                    <a:pt x="39" y="134"/>
                  </a:lnTo>
                  <a:lnTo>
                    <a:pt x="31" y="134"/>
                  </a:lnTo>
                  <a:lnTo>
                    <a:pt x="16" y="119"/>
                  </a:lnTo>
                  <a:lnTo>
                    <a:pt x="8" y="105"/>
                  </a:lnTo>
                  <a:lnTo>
                    <a:pt x="0" y="98"/>
                  </a:lnTo>
                  <a:lnTo>
                    <a:pt x="0" y="91"/>
                  </a:lnTo>
                  <a:lnTo>
                    <a:pt x="0" y="84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8" y="42"/>
                  </a:lnTo>
                  <a:lnTo>
                    <a:pt x="8" y="35"/>
                  </a:lnTo>
                  <a:close/>
                </a:path>
              </a:pathLst>
            </a:cu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3" name="Freeform 1962"/>
            <p:cNvSpPr>
              <a:spLocks/>
            </p:cNvSpPr>
            <p:nvPr/>
          </p:nvSpPr>
          <p:spPr bwMode="auto">
            <a:xfrm>
              <a:off x="3076" y="1339"/>
              <a:ext cx="78" cy="28"/>
            </a:xfrm>
            <a:custGeom>
              <a:avLst/>
              <a:gdLst>
                <a:gd name="T0" fmla="*/ 78 w 78"/>
                <a:gd name="T1" fmla="*/ 28 h 28"/>
                <a:gd name="T2" fmla="*/ 54 w 78"/>
                <a:gd name="T3" fmla="*/ 21 h 28"/>
                <a:gd name="T4" fmla="*/ 46 w 78"/>
                <a:gd name="T5" fmla="*/ 21 h 28"/>
                <a:gd name="T6" fmla="*/ 15 w 78"/>
                <a:gd name="T7" fmla="*/ 7 h 28"/>
                <a:gd name="T8" fmla="*/ 0 w 78"/>
                <a:gd name="T9" fmla="*/ 0 h 28"/>
                <a:gd name="T10" fmla="*/ 78 w 78"/>
                <a:gd name="T11" fmla="*/ 2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"/>
                <a:gd name="T19" fmla="*/ 0 h 28"/>
                <a:gd name="T20" fmla="*/ 78 w 78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" h="28">
                  <a:moveTo>
                    <a:pt x="78" y="28"/>
                  </a:moveTo>
                  <a:lnTo>
                    <a:pt x="54" y="21"/>
                  </a:lnTo>
                  <a:lnTo>
                    <a:pt x="46" y="21"/>
                  </a:lnTo>
                  <a:lnTo>
                    <a:pt x="15" y="7"/>
                  </a:lnTo>
                  <a:lnTo>
                    <a:pt x="0" y="0"/>
                  </a:lnTo>
                  <a:lnTo>
                    <a:pt x="78" y="28"/>
                  </a:lnTo>
                  <a:close/>
                </a:path>
              </a:pathLst>
            </a:custGeom>
            <a:solidFill>
              <a:srgbClr val="FCF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4" name="Freeform 1963"/>
            <p:cNvSpPr>
              <a:spLocks/>
            </p:cNvSpPr>
            <p:nvPr/>
          </p:nvSpPr>
          <p:spPr bwMode="auto">
            <a:xfrm>
              <a:off x="3083" y="1346"/>
              <a:ext cx="78" cy="28"/>
            </a:xfrm>
            <a:custGeom>
              <a:avLst/>
              <a:gdLst>
                <a:gd name="T0" fmla="*/ 78 w 78"/>
                <a:gd name="T1" fmla="*/ 28 h 28"/>
                <a:gd name="T2" fmla="*/ 55 w 78"/>
                <a:gd name="T3" fmla="*/ 21 h 28"/>
                <a:gd name="T4" fmla="*/ 47 w 78"/>
                <a:gd name="T5" fmla="*/ 21 h 28"/>
                <a:gd name="T6" fmla="*/ 16 w 78"/>
                <a:gd name="T7" fmla="*/ 7 h 28"/>
                <a:gd name="T8" fmla="*/ 0 w 78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28"/>
                <a:gd name="T17" fmla="*/ 78 w 78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28">
                  <a:moveTo>
                    <a:pt x="78" y="28"/>
                  </a:moveTo>
                  <a:lnTo>
                    <a:pt x="55" y="21"/>
                  </a:lnTo>
                  <a:lnTo>
                    <a:pt x="47" y="21"/>
                  </a:lnTo>
                  <a:lnTo>
                    <a:pt x="16" y="7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DF98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5" name="Freeform 1964"/>
            <p:cNvSpPr>
              <a:spLocks/>
            </p:cNvSpPr>
            <p:nvPr/>
          </p:nvSpPr>
          <p:spPr bwMode="auto">
            <a:xfrm>
              <a:off x="3021" y="1290"/>
              <a:ext cx="62" cy="49"/>
            </a:xfrm>
            <a:custGeom>
              <a:avLst/>
              <a:gdLst>
                <a:gd name="T0" fmla="*/ 62 w 62"/>
                <a:gd name="T1" fmla="*/ 49 h 49"/>
                <a:gd name="T2" fmla="*/ 47 w 62"/>
                <a:gd name="T3" fmla="*/ 42 h 49"/>
                <a:gd name="T4" fmla="*/ 23 w 62"/>
                <a:gd name="T5" fmla="*/ 28 h 49"/>
                <a:gd name="T6" fmla="*/ 16 w 62"/>
                <a:gd name="T7" fmla="*/ 21 h 49"/>
                <a:gd name="T8" fmla="*/ 8 w 62"/>
                <a:gd name="T9" fmla="*/ 14 h 49"/>
                <a:gd name="T10" fmla="*/ 0 w 62"/>
                <a:gd name="T11" fmla="*/ 7 h 49"/>
                <a:gd name="T12" fmla="*/ 0 w 62"/>
                <a:gd name="T13" fmla="*/ 0 h 49"/>
                <a:gd name="T14" fmla="*/ 62 w 62"/>
                <a:gd name="T15" fmla="*/ 49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"/>
                <a:gd name="T25" fmla="*/ 0 h 49"/>
                <a:gd name="T26" fmla="*/ 62 w 62"/>
                <a:gd name="T27" fmla="*/ 49 h 4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" h="49">
                  <a:moveTo>
                    <a:pt x="62" y="49"/>
                  </a:moveTo>
                  <a:lnTo>
                    <a:pt x="47" y="42"/>
                  </a:lnTo>
                  <a:lnTo>
                    <a:pt x="23" y="28"/>
                  </a:lnTo>
                  <a:lnTo>
                    <a:pt x="16" y="21"/>
                  </a:lnTo>
                  <a:lnTo>
                    <a:pt x="8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62" y="49"/>
                  </a:lnTo>
                  <a:close/>
                </a:path>
              </a:pathLst>
            </a:custGeom>
            <a:solidFill>
              <a:srgbClr val="FCF30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6" name="Freeform 1965"/>
            <p:cNvSpPr>
              <a:spLocks/>
            </p:cNvSpPr>
            <p:nvPr/>
          </p:nvSpPr>
          <p:spPr bwMode="auto">
            <a:xfrm>
              <a:off x="3029" y="1297"/>
              <a:ext cx="62" cy="49"/>
            </a:xfrm>
            <a:custGeom>
              <a:avLst/>
              <a:gdLst>
                <a:gd name="T0" fmla="*/ 62 w 62"/>
                <a:gd name="T1" fmla="*/ 49 h 49"/>
                <a:gd name="T2" fmla="*/ 47 w 62"/>
                <a:gd name="T3" fmla="*/ 42 h 49"/>
                <a:gd name="T4" fmla="*/ 23 w 62"/>
                <a:gd name="T5" fmla="*/ 28 h 49"/>
                <a:gd name="T6" fmla="*/ 15 w 62"/>
                <a:gd name="T7" fmla="*/ 21 h 49"/>
                <a:gd name="T8" fmla="*/ 8 w 62"/>
                <a:gd name="T9" fmla="*/ 14 h 49"/>
                <a:gd name="T10" fmla="*/ 0 w 62"/>
                <a:gd name="T11" fmla="*/ 7 h 49"/>
                <a:gd name="T12" fmla="*/ 0 w 62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9"/>
                <a:gd name="T23" fmla="*/ 62 w 62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9">
                  <a:moveTo>
                    <a:pt x="62" y="49"/>
                  </a:moveTo>
                  <a:lnTo>
                    <a:pt x="47" y="42"/>
                  </a:lnTo>
                  <a:lnTo>
                    <a:pt x="23" y="28"/>
                  </a:lnTo>
                  <a:lnTo>
                    <a:pt x="15" y="21"/>
                  </a:lnTo>
                  <a:lnTo>
                    <a:pt x="8" y="14"/>
                  </a:lnTo>
                  <a:lnTo>
                    <a:pt x="0" y="7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FDF98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7" name="Freeform 1966"/>
            <p:cNvSpPr>
              <a:spLocks/>
            </p:cNvSpPr>
            <p:nvPr/>
          </p:nvSpPr>
          <p:spPr bwMode="auto">
            <a:xfrm>
              <a:off x="2716" y="1142"/>
              <a:ext cx="391" cy="232"/>
            </a:xfrm>
            <a:custGeom>
              <a:avLst/>
              <a:gdLst>
                <a:gd name="T0" fmla="*/ 375 w 391"/>
                <a:gd name="T1" fmla="*/ 232 h 232"/>
                <a:gd name="T2" fmla="*/ 336 w 391"/>
                <a:gd name="T3" fmla="*/ 211 h 232"/>
                <a:gd name="T4" fmla="*/ 258 w 391"/>
                <a:gd name="T5" fmla="*/ 169 h 232"/>
                <a:gd name="T6" fmla="*/ 196 w 391"/>
                <a:gd name="T7" fmla="*/ 134 h 232"/>
                <a:gd name="T8" fmla="*/ 133 w 391"/>
                <a:gd name="T9" fmla="*/ 99 h 232"/>
                <a:gd name="T10" fmla="*/ 102 w 391"/>
                <a:gd name="T11" fmla="*/ 78 h 232"/>
                <a:gd name="T12" fmla="*/ 94 w 391"/>
                <a:gd name="T13" fmla="*/ 71 h 232"/>
                <a:gd name="T14" fmla="*/ 71 w 391"/>
                <a:gd name="T15" fmla="*/ 57 h 232"/>
                <a:gd name="T16" fmla="*/ 39 w 391"/>
                <a:gd name="T17" fmla="*/ 43 h 232"/>
                <a:gd name="T18" fmla="*/ 24 w 391"/>
                <a:gd name="T19" fmla="*/ 28 h 232"/>
                <a:gd name="T20" fmla="*/ 8 w 391"/>
                <a:gd name="T21" fmla="*/ 21 h 232"/>
                <a:gd name="T22" fmla="*/ 8 w 391"/>
                <a:gd name="T23" fmla="*/ 14 h 232"/>
                <a:gd name="T24" fmla="*/ 0 w 391"/>
                <a:gd name="T25" fmla="*/ 0 h 232"/>
                <a:gd name="T26" fmla="*/ 0 w 391"/>
                <a:gd name="T27" fmla="*/ 7 h 232"/>
                <a:gd name="T28" fmla="*/ 0 w 391"/>
                <a:gd name="T29" fmla="*/ 0 h 232"/>
                <a:gd name="T30" fmla="*/ 391 w 391"/>
                <a:gd name="T31" fmla="*/ 204 h 232"/>
                <a:gd name="T32" fmla="*/ 375 w 391"/>
                <a:gd name="T33" fmla="*/ 232 h 2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91"/>
                <a:gd name="T52" fmla="*/ 0 h 232"/>
                <a:gd name="T53" fmla="*/ 391 w 391"/>
                <a:gd name="T54" fmla="*/ 232 h 23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91" h="232">
                  <a:moveTo>
                    <a:pt x="375" y="232"/>
                  </a:moveTo>
                  <a:lnTo>
                    <a:pt x="336" y="211"/>
                  </a:lnTo>
                  <a:lnTo>
                    <a:pt x="258" y="169"/>
                  </a:lnTo>
                  <a:lnTo>
                    <a:pt x="196" y="134"/>
                  </a:lnTo>
                  <a:lnTo>
                    <a:pt x="133" y="99"/>
                  </a:lnTo>
                  <a:lnTo>
                    <a:pt x="102" y="78"/>
                  </a:lnTo>
                  <a:lnTo>
                    <a:pt x="94" y="71"/>
                  </a:lnTo>
                  <a:lnTo>
                    <a:pt x="71" y="57"/>
                  </a:lnTo>
                  <a:lnTo>
                    <a:pt x="39" y="43"/>
                  </a:lnTo>
                  <a:lnTo>
                    <a:pt x="24" y="28"/>
                  </a:lnTo>
                  <a:lnTo>
                    <a:pt x="8" y="21"/>
                  </a:lnTo>
                  <a:lnTo>
                    <a:pt x="8" y="14"/>
                  </a:lnTo>
                  <a:lnTo>
                    <a:pt x="0" y="0"/>
                  </a:lnTo>
                  <a:lnTo>
                    <a:pt x="0" y="7"/>
                  </a:lnTo>
                  <a:lnTo>
                    <a:pt x="0" y="0"/>
                  </a:lnTo>
                  <a:lnTo>
                    <a:pt x="391" y="204"/>
                  </a:lnTo>
                  <a:lnTo>
                    <a:pt x="375" y="232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8" name="Freeform 1967"/>
            <p:cNvSpPr>
              <a:spLocks/>
            </p:cNvSpPr>
            <p:nvPr/>
          </p:nvSpPr>
          <p:spPr bwMode="auto">
            <a:xfrm>
              <a:off x="3037" y="1318"/>
              <a:ext cx="413" cy="204"/>
            </a:xfrm>
            <a:custGeom>
              <a:avLst/>
              <a:gdLst>
                <a:gd name="T0" fmla="*/ 413 w 413"/>
                <a:gd name="T1" fmla="*/ 204 h 204"/>
                <a:gd name="T2" fmla="*/ 406 w 413"/>
                <a:gd name="T3" fmla="*/ 204 h 204"/>
                <a:gd name="T4" fmla="*/ 398 w 413"/>
                <a:gd name="T5" fmla="*/ 204 h 204"/>
                <a:gd name="T6" fmla="*/ 382 w 413"/>
                <a:gd name="T7" fmla="*/ 197 h 204"/>
                <a:gd name="T8" fmla="*/ 374 w 413"/>
                <a:gd name="T9" fmla="*/ 197 h 204"/>
                <a:gd name="T10" fmla="*/ 351 w 413"/>
                <a:gd name="T11" fmla="*/ 190 h 204"/>
                <a:gd name="T12" fmla="*/ 320 w 413"/>
                <a:gd name="T13" fmla="*/ 176 h 204"/>
                <a:gd name="T14" fmla="*/ 296 w 413"/>
                <a:gd name="T15" fmla="*/ 169 h 204"/>
                <a:gd name="T16" fmla="*/ 281 w 413"/>
                <a:gd name="T17" fmla="*/ 162 h 204"/>
                <a:gd name="T18" fmla="*/ 249 w 413"/>
                <a:gd name="T19" fmla="*/ 148 h 204"/>
                <a:gd name="T20" fmla="*/ 187 w 413"/>
                <a:gd name="T21" fmla="*/ 120 h 204"/>
                <a:gd name="T22" fmla="*/ 117 w 413"/>
                <a:gd name="T23" fmla="*/ 85 h 204"/>
                <a:gd name="T24" fmla="*/ 39 w 413"/>
                <a:gd name="T25" fmla="*/ 49 h 204"/>
                <a:gd name="T26" fmla="*/ 0 w 413"/>
                <a:gd name="T27" fmla="*/ 28 h 204"/>
                <a:gd name="T28" fmla="*/ 15 w 413"/>
                <a:gd name="T29" fmla="*/ 0 h 204"/>
                <a:gd name="T30" fmla="*/ 413 w 413"/>
                <a:gd name="T31" fmla="*/ 204 h 20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3"/>
                <a:gd name="T49" fmla="*/ 0 h 204"/>
                <a:gd name="T50" fmla="*/ 413 w 413"/>
                <a:gd name="T51" fmla="*/ 204 h 20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3" h="204">
                  <a:moveTo>
                    <a:pt x="413" y="204"/>
                  </a:moveTo>
                  <a:lnTo>
                    <a:pt x="406" y="204"/>
                  </a:lnTo>
                  <a:lnTo>
                    <a:pt x="398" y="204"/>
                  </a:lnTo>
                  <a:lnTo>
                    <a:pt x="382" y="197"/>
                  </a:lnTo>
                  <a:lnTo>
                    <a:pt x="374" y="197"/>
                  </a:lnTo>
                  <a:lnTo>
                    <a:pt x="351" y="190"/>
                  </a:lnTo>
                  <a:lnTo>
                    <a:pt x="320" y="176"/>
                  </a:lnTo>
                  <a:lnTo>
                    <a:pt x="296" y="169"/>
                  </a:lnTo>
                  <a:lnTo>
                    <a:pt x="281" y="162"/>
                  </a:lnTo>
                  <a:lnTo>
                    <a:pt x="249" y="148"/>
                  </a:lnTo>
                  <a:lnTo>
                    <a:pt x="187" y="120"/>
                  </a:lnTo>
                  <a:lnTo>
                    <a:pt x="117" y="85"/>
                  </a:lnTo>
                  <a:lnTo>
                    <a:pt x="39" y="49"/>
                  </a:lnTo>
                  <a:lnTo>
                    <a:pt x="0" y="28"/>
                  </a:lnTo>
                  <a:lnTo>
                    <a:pt x="15" y="0"/>
                  </a:lnTo>
                  <a:lnTo>
                    <a:pt x="413" y="204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69" name="Freeform 1968"/>
            <p:cNvSpPr>
              <a:spLocks/>
            </p:cNvSpPr>
            <p:nvPr/>
          </p:nvSpPr>
          <p:spPr bwMode="auto">
            <a:xfrm>
              <a:off x="2997" y="1297"/>
              <a:ext cx="32" cy="28"/>
            </a:xfrm>
            <a:custGeom>
              <a:avLst/>
              <a:gdLst>
                <a:gd name="T0" fmla="*/ 8 w 32"/>
                <a:gd name="T1" fmla="*/ 0 h 28"/>
                <a:gd name="T2" fmla="*/ 32 w 32"/>
                <a:gd name="T3" fmla="*/ 14 h 28"/>
                <a:gd name="T4" fmla="*/ 24 w 32"/>
                <a:gd name="T5" fmla="*/ 28 h 28"/>
                <a:gd name="T6" fmla="*/ 0 w 32"/>
                <a:gd name="T7" fmla="*/ 21 h 28"/>
                <a:gd name="T8" fmla="*/ 8 w 32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28"/>
                <a:gd name="T17" fmla="*/ 32 w 32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28">
                  <a:moveTo>
                    <a:pt x="8" y="0"/>
                  </a:moveTo>
                  <a:lnTo>
                    <a:pt x="32" y="14"/>
                  </a:lnTo>
                  <a:lnTo>
                    <a:pt x="24" y="28"/>
                  </a:lnTo>
                  <a:lnTo>
                    <a:pt x="0" y="21"/>
                  </a:lnTo>
                  <a:lnTo>
                    <a:pt x="8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0" name="Freeform 1969"/>
            <p:cNvSpPr>
              <a:spLocks/>
            </p:cNvSpPr>
            <p:nvPr/>
          </p:nvSpPr>
          <p:spPr bwMode="auto">
            <a:xfrm>
              <a:off x="3005" y="1297"/>
              <a:ext cx="32" cy="21"/>
            </a:xfrm>
            <a:custGeom>
              <a:avLst/>
              <a:gdLst>
                <a:gd name="T0" fmla="*/ 0 w 32"/>
                <a:gd name="T1" fmla="*/ 0 h 21"/>
                <a:gd name="T2" fmla="*/ 8 w 32"/>
                <a:gd name="T3" fmla="*/ 0 h 21"/>
                <a:gd name="T4" fmla="*/ 32 w 32"/>
                <a:gd name="T5" fmla="*/ 14 h 21"/>
                <a:gd name="T6" fmla="*/ 32 w 32"/>
                <a:gd name="T7" fmla="*/ 21 h 21"/>
                <a:gd name="T8" fmla="*/ 24 w 32"/>
                <a:gd name="T9" fmla="*/ 21 h 21"/>
                <a:gd name="T10" fmla="*/ 0 w 32"/>
                <a:gd name="T11" fmla="*/ 7 h 21"/>
                <a:gd name="T12" fmla="*/ 0 w 32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21"/>
                <a:gd name="T23" fmla="*/ 32 w 32"/>
                <a:gd name="T24" fmla="*/ 21 h 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21">
                  <a:moveTo>
                    <a:pt x="0" y="0"/>
                  </a:moveTo>
                  <a:lnTo>
                    <a:pt x="8" y="0"/>
                  </a:lnTo>
                  <a:lnTo>
                    <a:pt x="32" y="14"/>
                  </a:lnTo>
                  <a:lnTo>
                    <a:pt x="32" y="21"/>
                  </a:lnTo>
                  <a:lnTo>
                    <a:pt x="24" y="21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1" name="Freeform 1970"/>
            <p:cNvSpPr>
              <a:spLocks/>
            </p:cNvSpPr>
            <p:nvPr/>
          </p:nvSpPr>
          <p:spPr bwMode="auto">
            <a:xfrm>
              <a:off x="3021" y="1311"/>
              <a:ext cx="16" cy="21"/>
            </a:xfrm>
            <a:custGeom>
              <a:avLst/>
              <a:gdLst>
                <a:gd name="T0" fmla="*/ 0 w 16"/>
                <a:gd name="T1" fmla="*/ 14 h 21"/>
                <a:gd name="T2" fmla="*/ 8 w 16"/>
                <a:gd name="T3" fmla="*/ 0 h 21"/>
                <a:gd name="T4" fmla="*/ 16 w 16"/>
                <a:gd name="T5" fmla="*/ 0 h 21"/>
                <a:gd name="T6" fmla="*/ 16 w 16"/>
                <a:gd name="T7" fmla="*/ 7 h 21"/>
                <a:gd name="T8" fmla="*/ 8 w 16"/>
                <a:gd name="T9" fmla="*/ 21 h 21"/>
                <a:gd name="T10" fmla="*/ 0 w 16"/>
                <a:gd name="T11" fmla="*/ 21 h 21"/>
                <a:gd name="T12" fmla="*/ 0 w 16"/>
                <a:gd name="T13" fmla="*/ 1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1"/>
                <a:gd name="T23" fmla="*/ 16 w 16"/>
                <a:gd name="T24" fmla="*/ 21 h 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1">
                  <a:moveTo>
                    <a:pt x="0" y="14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16" y="7"/>
                  </a:lnTo>
                  <a:lnTo>
                    <a:pt x="8" y="21"/>
                  </a:lnTo>
                  <a:lnTo>
                    <a:pt x="0" y="21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2" name="Freeform 1971"/>
            <p:cNvSpPr>
              <a:spLocks/>
            </p:cNvSpPr>
            <p:nvPr/>
          </p:nvSpPr>
          <p:spPr bwMode="auto">
            <a:xfrm>
              <a:off x="2997" y="1318"/>
              <a:ext cx="32" cy="14"/>
            </a:xfrm>
            <a:custGeom>
              <a:avLst/>
              <a:gdLst>
                <a:gd name="T0" fmla="*/ 0 w 32"/>
                <a:gd name="T1" fmla="*/ 0 h 14"/>
                <a:gd name="T2" fmla="*/ 8 w 32"/>
                <a:gd name="T3" fmla="*/ 0 h 14"/>
                <a:gd name="T4" fmla="*/ 32 w 32"/>
                <a:gd name="T5" fmla="*/ 7 h 14"/>
                <a:gd name="T6" fmla="*/ 32 w 32"/>
                <a:gd name="T7" fmla="*/ 14 h 14"/>
                <a:gd name="T8" fmla="*/ 24 w 32"/>
                <a:gd name="T9" fmla="*/ 14 h 14"/>
                <a:gd name="T10" fmla="*/ 0 w 32"/>
                <a:gd name="T11" fmla="*/ 7 h 14"/>
                <a:gd name="T12" fmla="*/ 0 w 32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"/>
                <a:gd name="T22" fmla="*/ 0 h 14"/>
                <a:gd name="T23" fmla="*/ 32 w 32"/>
                <a:gd name="T24" fmla="*/ 14 h 1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" h="14">
                  <a:moveTo>
                    <a:pt x="0" y="0"/>
                  </a:moveTo>
                  <a:lnTo>
                    <a:pt x="8" y="0"/>
                  </a:lnTo>
                  <a:lnTo>
                    <a:pt x="32" y="7"/>
                  </a:lnTo>
                  <a:lnTo>
                    <a:pt x="32" y="14"/>
                  </a:lnTo>
                  <a:lnTo>
                    <a:pt x="24" y="14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3" name="Freeform 1972"/>
            <p:cNvSpPr>
              <a:spLocks/>
            </p:cNvSpPr>
            <p:nvPr/>
          </p:nvSpPr>
          <p:spPr bwMode="auto">
            <a:xfrm>
              <a:off x="2997" y="1297"/>
              <a:ext cx="16" cy="28"/>
            </a:xfrm>
            <a:custGeom>
              <a:avLst/>
              <a:gdLst>
                <a:gd name="T0" fmla="*/ 0 w 16"/>
                <a:gd name="T1" fmla="*/ 21 h 28"/>
                <a:gd name="T2" fmla="*/ 8 w 16"/>
                <a:gd name="T3" fmla="*/ 0 h 28"/>
                <a:gd name="T4" fmla="*/ 16 w 16"/>
                <a:gd name="T5" fmla="*/ 0 h 28"/>
                <a:gd name="T6" fmla="*/ 16 w 16"/>
                <a:gd name="T7" fmla="*/ 7 h 28"/>
                <a:gd name="T8" fmla="*/ 8 w 16"/>
                <a:gd name="T9" fmla="*/ 28 h 28"/>
                <a:gd name="T10" fmla="*/ 0 w 16"/>
                <a:gd name="T11" fmla="*/ 28 h 28"/>
                <a:gd name="T12" fmla="*/ 0 w 16"/>
                <a:gd name="T13" fmla="*/ 21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28"/>
                <a:gd name="T23" fmla="*/ 16 w 16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28">
                  <a:moveTo>
                    <a:pt x="0" y="21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16" y="7"/>
                  </a:lnTo>
                  <a:lnTo>
                    <a:pt x="8" y="28"/>
                  </a:lnTo>
                  <a:lnTo>
                    <a:pt x="0" y="28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4" name="Freeform 1973"/>
            <p:cNvSpPr>
              <a:spLocks/>
            </p:cNvSpPr>
            <p:nvPr/>
          </p:nvSpPr>
          <p:spPr bwMode="auto">
            <a:xfrm>
              <a:off x="2451" y="1438"/>
              <a:ext cx="47" cy="35"/>
            </a:xfrm>
            <a:custGeom>
              <a:avLst/>
              <a:gdLst>
                <a:gd name="T0" fmla="*/ 0 w 47"/>
                <a:gd name="T1" fmla="*/ 7 h 35"/>
                <a:gd name="T2" fmla="*/ 16 w 47"/>
                <a:gd name="T3" fmla="*/ 0 h 35"/>
                <a:gd name="T4" fmla="*/ 47 w 47"/>
                <a:gd name="T5" fmla="*/ 0 h 35"/>
                <a:gd name="T6" fmla="*/ 47 w 47"/>
                <a:gd name="T7" fmla="*/ 28 h 35"/>
                <a:gd name="T8" fmla="*/ 31 w 47"/>
                <a:gd name="T9" fmla="*/ 35 h 35"/>
                <a:gd name="T10" fmla="*/ 0 w 47"/>
                <a:gd name="T11" fmla="*/ 35 h 35"/>
                <a:gd name="T12" fmla="*/ 0 w 47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35"/>
                <a:gd name="T23" fmla="*/ 47 w 47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35">
                  <a:moveTo>
                    <a:pt x="0" y="7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5" name="Freeform 1974"/>
            <p:cNvSpPr>
              <a:spLocks/>
            </p:cNvSpPr>
            <p:nvPr/>
          </p:nvSpPr>
          <p:spPr bwMode="auto">
            <a:xfrm>
              <a:off x="2404" y="1445"/>
              <a:ext cx="78" cy="49"/>
            </a:xfrm>
            <a:custGeom>
              <a:avLst/>
              <a:gdLst>
                <a:gd name="T0" fmla="*/ 0 w 78"/>
                <a:gd name="T1" fmla="*/ 21 h 49"/>
                <a:gd name="T2" fmla="*/ 47 w 78"/>
                <a:gd name="T3" fmla="*/ 0 h 49"/>
                <a:gd name="T4" fmla="*/ 78 w 78"/>
                <a:gd name="T5" fmla="*/ 0 h 49"/>
                <a:gd name="T6" fmla="*/ 78 w 78"/>
                <a:gd name="T7" fmla="*/ 28 h 49"/>
                <a:gd name="T8" fmla="*/ 31 w 78"/>
                <a:gd name="T9" fmla="*/ 49 h 49"/>
                <a:gd name="T10" fmla="*/ 0 w 78"/>
                <a:gd name="T11" fmla="*/ 49 h 49"/>
                <a:gd name="T12" fmla="*/ 0 w 78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49"/>
                <a:gd name="T23" fmla="*/ 78 w 78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49">
                  <a:moveTo>
                    <a:pt x="0" y="21"/>
                  </a:moveTo>
                  <a:lnTo>
                    <a:pt x="47" y="0"/>
                  </a:lnTo>
                  <a:lnTo>
                    <a:pt x="78" y="0"/>
                  </a:lnTo>
                  <a:lnTo>
                    <a:pt x="78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6" name="Freeform 1975"/>
            <p:cNvSpPr>
              <a:spLocks/>
            </p:cNvSpPr>
            <p:nvPr/>
          </p:nvSpPr>
          <p:spPr bwMode="auto">
            <a:xfrm>
              <a:off x="2357" y="1466"/>
              <a:ext cx="78" cy="49"/>
            </a:xfrm>
            <a:custGeom>
              <a:avLst/>
              <a:gdLst>
                <a:gd name="T0" fmla="*/ 0 w 78"/>
                <a:gd name="T1" fmla="*/ 21 h 49"/>
                <a:gd name="T2" fmla="*/ 47 w 78"/>
                <a:gd name="T3" fmla="*/ 0 h 49"/>
                <a:gd name="T4" fmla="*/ 78 w 78"/>
                <a:gd name="T5" fmla="*/ 0 h 49"/>
                <a:gd name="T6" fmla="*/ 78 w 78"/>
                <a:gd name="T7" fmla="*/ 28 h 49"/>
                <a:gd name="T8" fmla="*/ 32 w 78"/>
                <a:gd name="T9" fmla="*/ 49 h 49"/>
                <a:gd name="T10" fmla="*/ 0 w 78"/>
                <a:gd name="T11" fmla="*/ 49 h 49"/>
                <a:gd name="T12" fmla="*/ 0 w 78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49"/>
                <a:gd name="T23" fmla="*/ 78 w 78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49">
                  <a:moveTo>
                    <a:pt x="0" y="21"/>
                  </a:moveTo>
                  <a:lnTo>
                    <a:pt x="47" y="0"/>
                  </a:lnTo>
                  <a:lnTo>
                    <a:pt x="78" y="0"/>
                  </a:lnTo>
                  <a:lnTo>
                    <a:pt x="78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7" name="Freeform 1976"/>
            <p:cNvSpPr>
              <a:spLocks/>
            </p:cNvSpPr>
            <p:nvPr/>
          </p:nvSpPr>
          <p:spPr bwMode="auto">
            <a:xfrm>
              <a:off x="2318" y="1487"/>
              <a:ext cx="71" cy="49"/>
            </a:xfrm>
            <a:custGeom>
              <a:avLst/>
              <a:gdLst>
                <a:gd name="T0" fmla="*/ 0 w 71"/>
                <a:gd name="T1" fmla="*/ 21 h 49"/>
                <a:gd name="T2" fmla="*/ 39 w 71"/>
                <a:gd name="T3" fmla="*/ 0 h 49"/>
                <a:gd name="T4" fmla="*/ 71 w 71"/>
                <a:gd name="T5" fmla="*/ 0 h 49"/>
                <a:gd name="T6" fmla="*/ 71 w 71"/>
                <a:gd name="T7" fmla="*/ 28 h 49"/>
                <a:gd name="T8" fmla="*/ 31 w 71"/>
                <a:gd name="T9" fmla="*/ 49 h 49"/>
                <a:gd name="T10" fmla="*/ 0 w 71"/>
                <a:gd name="T11" fmla="*/ 49 h 49"/>
                <a:gd name="T12" fmla="*/ 0 w 71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"/>
                <a:gd name="T22" fmla="*/ 0 h 49"/>
                <a:gd name="T23" fmla="*/ 71 w 71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" h="49">
                  <a:moveTo>
                    <a:pt x="0" y="21"/>
                  </a:moveTo>
                  <a:lnTo>
                    <a:pt x="39" y="0"/>
                  </a:lnTo>
                  <a:lnTo>
                    <a:pt x="71" y="0"/>
                  </a:lnTo>
                  <a:lnTo>
                    <a:pt x="71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8" name="Freeform 1977"/>
            <p:cNvSpPr>
              <a:spLocks/>
            </p:cNvSpPr>
            <p:nvPr/>
          </p:nvSpPr>
          <p:spPr bwMode="auto">
            <a:xfrm>
              <a:off x="2295" y="1508"/>
              <a:ext cx="54" cy="42"/>
            </a:xfrm>
            <a:custGeom>
              <a:avLst/>
              <a:gdLst>
                <a:gd name="T0" fmla="*/ 0 w 54"/>
                <a:gd name="T1" fmla="*/ 14 h 42"/>
                <a:gd name="T2" fmla="*/ 23 w 54"/>
                <a:gd name="T3" fmla="*/ 0 h 42"/>
                <a:gd name="T4" fmla="*/ 54 w 54"/>
                <a:gd name="T5" fmla="*/ 0 h 42"/>
                <a:gd name="T6" fmla="*/ 54 w 54"/>
                <a:gd name="T7" fmla="*/ 28 h 42"/>
                <a:gd name="T8" fmla="*/ 31 w 54"/>
                <a:gd name="T9" fmla="*/ 42 h 42"/>
                <a:gd name="T10" fmla="*/ 0 w 54"/>
                <a:gd name="T11" fmla="*/ 42 h 42"/>
                <a:gd name="T12" fmla="*/ 0 w 54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2"/>
                <a:gd name="T23" fmla="*/ 54 w 54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2">
                  <a:moveTo>
                    <a:pt x="0" y="14"/>
                  </a:moveTo>
                  <a:lnTo>
                    <a:pt x="23" y="0"/>
                  </a:lnTo>
                  <a:lnTo>
                    <a:pt x="54" y="0"/>
                  </a:lnTo>
                  <a:lnTo>
                    <a:pt x="54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79" name="Freeform 1978"/>
            <p:cNvSpPr>
              <a:spLocks/>
            </p:cNvSpPr>
            <p:nvPr/>
          </p:nvSpPr>
          <p:spPr bwMode="auto">
            <a:xfrm>
              <a:off x="2256" y="1522"/>
              <a:ext cx="70" cy="49"/>
            </a:xfrm>
            <a:custGeom>
              <a:avLst/>
              <a:gdLst>
                <a:gd name="T0" fmla="*/ 0 w 70"/>
                <a:gd name="T1" fmla="*/ 21 h 49"/>
                <a:gd name="T2" fmla="*/ 39 w 70"/>
                <a:gd name="T3" fmla="*/ 0 h 49"/>
                <a:gd name="T4" fmla="*/ 70 w 70"/>
                <a:gd name="T5" fmla="*/ 0 h 49"/>
                <a:gd name="T6" fmla="*/ 70 w 70"/>
                <a:gd name="T7" fmla="*/ 28 h 49"/>
                <a:gd name="T8" fmla="*/ 31 w 70"/>
                <a:gd name="T9" fmla="*/ 49 h 49"/>
                <a:gd name="T10" fmla="*/ 0 w 70"/>
                <a:gd name="T11" fmla="*/ 49 h 49"/>
                <a:gd name="T12" fmla="*/ 0 w 70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49"/>
                <a:gd name="T23" fmla="*/ 70 w 70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49">
                  <a:moveTo>
                    <a:pt x="0" y="21"/>
                  </a:moveTo>
                  <a:lnTo>
                    <a:pt x="39" y="0"/>
                  </a:lnTo>
                  <a:lnTo>
                    <a:pt x="70" y="0"/>
                  </a:lnTo>
                  <a:lnTo>
                    <a:pt x="70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0" name="Freeform 1979"/>
            <p:cNvSpPr>
              <a:spLocks/>
            </p:cNvSpPr>
            <p:nvPr/>
          </p:nvSpPr>
          <p:spPr bwMode="auto">
            <a:xfrm>
              <a:off x="2217" y="1543"/>
              <a:ext cx="70" cy="50"/>
            </a:xfrm>
            <a:custGeom>
              <a:avLst/>
              <a:gdLst>
                <a:gd name="T0" fmla="*/ 0 w 70"/>
                <a:gd name="T1" fmla="*/ 21 h 50"/>
                <a:gd name="T2" fmla="*/ 39 w 70"/>
                <a:gd name="T3" fmla="*/ 0 h 50"/>
                <a:gd name="T4" fmla="*/ 70 w 70"/>
                <a:gd name="T5" fmla="*/ 0 h 50"/>
                <a:gd name="T6" fmla="*/ 70 w 70"/>
                <a:gd name="T7" fmla="*/ 28 h 50"/>
                <a:gd name="T8" fmla="*/ 31 w 70"/>
                <a:gd name="T9" fmla="*/ 50 h 50"/>
                <a:gd name="T10" fmla="*/ 0 w 70"/>
                <a:gd name="T11" fmla="*/ 50 h 50"/>
                <a:gd name="T12" fmla="*/ 0 w 70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0"/>
                <a:gd name="T23" fmla="*/ 70 w 70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0">
                  <a:moveTo>
                    <a:pt x="0" y="21"/>
                  </a:moveTo>
                  <a:lnTo>
                    <a:pt x="39" y="0"/>
                  </a:lnTo>
                  <a:lnTo>
                    <a:pt x="70" y="0"/>
                  </a:lnTo>
                  <a:lnTo>
                    <a:pt x="70" y="28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1" name="Freeform 1980"/>
            <p:cNvSpPr>
              <a:spLocks/>
            </p:cNvSpPr>
            <p:nvPr/>
          </p:nvSpPr>
          <p:spPr bwMode="auto">
            <a:xfrm>
              <a:off x="2193" y="1564"/>
              <a:ext cx="55" cy="43"/>
            </a:xfrm>
            <a:custGeom>
              <a:avLst/>
              <a:gdLst>
                <a:gd name="T0" fmla="*/ 0 w 55"/>
                <a:gd name="T1" fmla="*/ 14 h 43"/>
                <a:gd name="T2" fmla="*/ 24 w 55"/>
                <a:gd name="T3" fmla="*/ 0 h 43"/>
                <a:gd name="T4" fmla="*/ 55 w 55"/>
                <a:gd name="T5" fmla="*/ 0 h 43"/>
                <a:gd name="T6" fmla="*/ 55 w 55"/>
                <a:gd name="T7" fmla="*/ 29 h 43"/>
                <a:gd name="T8" fmla="*/ 32 w 55"/>
                <a:gd name="T9" fmla="*/ 43 h 43"/>
                <a:gd name="T10" fmla="*/ 0 w 55"/>
                <a:gd name="T11" fmla="*/ 43 h 43"/>
                <a:gd name="T12" fmla="*/ 0 w 55"/>
                <a:gd name="T13" fmla="*/ 1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3"/>
                <a:gd name="T23" fmla="*/ 55 w 55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3">
                  <a:moveTo>
                    <a:pt x="0" y="14"/>
                  </a:moveTo>
                  <a:lnTo>
                    <a:pt x="24" y="0"/>
                  </a:lnTo>
                  <a:lnTo>
                    <a:pt x="55" y="0"/>
                  </a:lnTo>
                  <a:lnTo>
                    <a:pt x="55" y="29"/>
                  </a:lnTo>
                  <a:lnTo>
                    <a:pt x="32" y="43"/>
                  </a:lnTo>
                  <a:lnTo>
                    <a:pt x="0" y="43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2" name="Freeform 1981"/>
            <p:cNvSpPr>
              <a:spLocks/>
            </p:cNvSpPr>
            <p:nvPr/>
          </p:nvSpPr>
          <p:spPr bwMode="auto">
            <a:xfrm>
              <a:off x="2162" y="1578"/>
              <a:ext cx="63" cy="50"/>
            </a:xfrm>
            <a:custGeom>
              <a:avLst/>
              <a:gdLst>
                <a:gd name="T0" fmla="*/ 0 w 63"/>
                <a:gd name="T1" fmla="*/ 22 h 50"/>
                <a:gd name="T2" fmla="*/ 31 w 63"/>
                <a:gd name="T3" fmla="*/ 0 h 50"/>
                <a:gd name="T4" fmla="*/ 63 w 63"/>
                <a:gd name="T5" fmla="*/ 0 h 50"/>
                <a:gd name="T6" fmla="*/ 63 w 63"/>
                <a:gd name="T7" fmla="*/ 29 h 50"/>
                <a:gd name="T8" fmla="*/ 31 w 63"/>
                <a:gd name="T9" fmla="*/ 50 h 50"/>
                <a:gd name="T10" fmla="*/ 0 w 63"/>
                <a:gd name="T11" fmla="*/ 50 h 50"/>
                <a:gd name="T12" fmla="*/ 0 w 63"/>
                <a:gd name="T13" fmla="*/ 22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50"/>
                <a:gd name="T23" fmla="*/ 63 w 63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50">
                  <a:moveTo>
                    <a:pt x="0" y="22"/>
                  </a:moveTo>
                  <a:lnTo>
                    <a:pt x="31" y="0"/>
                  </a:lnTo>
                  <a:lnTo>
                    <a:pt x="63" y="0"/>
                  </a:lnTo>
                  <a:lnTo>
                    <a:pt x="63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2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3" name="Freeform 1982"/>
            <p:cNvSpPr>
              <a:spLocks/>
            </p:cNvSpPr>
            <p:nvPr/>
          </p:nvSpPr>
          <p:spPr bwMode="auto">
            <a:xfrm>
              <a:off x="2139" y="1600"/>
              <a:ext cx="54" cy="42"/>
            </a:xfrm>
            <a:custGeom>
              <a:avLst/>
              <a:gdLst>
                <a:gd name="T0" fmla="*/ 0 w 54"/>
                <a:gd name="T1" fmla="*/ 14 h 42"/>
                <a:gd name="T2" fmla="*/ 23 w 54"/>
                <a:gd name="T3" fmla="*/ 0 h 42"/>
                <a:gd name="T4" fmla="*/ 54 w 54"/>
                <a:gd name="T5" fmla="*/ 0 h 42"/>
                <a:gd name="T6" fmla="*/ 54 w 54"/>
                <a:gd name="T7" fmla="*/ 28 h 42"/>
                <a:gd name="T8" fmla="*/ 31 w 54"/>
                <a:gd name="T9" fmla="*/ 42 h 42"/>
                <a:gd name="T10" fmla="*/ 0 w 54"/>
                <a:gd name="T11" fmla="*/ 42 h 42"/>
                <a:gd name="T12" fmla="*/ 0 w 54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2"/>
                <a:gd name="T23" fmla="*/ 54 w 54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2">
                  <a:moveTo>
                    <a:pt x="0" y="14"/>
                  </a:moveTo>
                  <a:lnTo>
                    <a:pt x="23" y="0"/>
                  </a:lnTo>
                  <a:lnTo>
                    <a:pt x="54" y="0"/>
                  </a:lnTo>
                  <a:lnTo>
                    <a:pt x="54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4" name="Freeform 1983"/>
            <p:cNvSpPr>
              <a:spLocks/>
            </p:cNvSpPr>
            <p:nvPr/>
          </p:nvSpPr>
          <p:spPr bwMode="auto">
            <a:xfrm>
              <a:off x="2107" y="1614"/>
              <a:ext cx="63" cy="49"/>
            </a:xfrm>
            <a:custGeom>
              <a:avLst/>
              <a:gdLst>
                <a:gd name="T0" fmla="*/ 0 w 63"/>
                <a:gd name="T1" fmla="*/ 21 h 49"/>
                <a:gd name="T2" fmla="*/ 32 w 63"/>
                <a:gd name="T3" fmla="*/ 0 h 49"/>
                <a:gd name="T4" fmla="*/ 63 w 63"/>
                <a:gd name="T5" fmla="*/ 0 h 49"/>
                <a:gd name="T6" fmla="*/ 63 w 63"/>
                <a:gd name="T7" fmla="*/ 28 h 49"/>
                <a:gd name="T8" fmla="*/ 32 w 63"/>
                <a:gd name="T9" fmla="*/ 49 h 49"/>
                <a:gd name="T10" fmla="*/ 0 w 63"/>
                <a:gd name="T11" fmla="*/ 49 h 49"/>
                <a:gd name="T12" fmla="*/ 0 w 63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49"/>
                <a:gd name="T23" fmla="*/ 63 w 63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49">
                  <a:moveTo>
                    <a:pt x="0" y="21"/>
                  </a:moveTo>
                  <a:lnTo>
                    <a:pt x="32" y="0"/>
                  </a:lnTo>
                  <a:lnTo>
                    <a:pt x="63" y="0"/>
                  </a:lnTo>
                  <a:lnTo>
                    <a:pt x="63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5" name="Freeform 1984"/>
            <p:cNvSpPr>
              <a:spLocks/>
            </p:cNvSpPr>
            <p:nvPr/>
          </p:nvSpPr>
          <p:spPr bwMode="auto">
            <a:xfrm>
              <a:off x="2092" y="1635"/>
              <a:ext cx="47" cy="42"/>
            </a:xfrm>
            <a:custGeom>
              <a:avLst/>
              <a:gdLst>
                <a:gd name="T0" fmla="*/ 0 w 47"/>
                <a:gd name="T1" fmla="*/ 14 h 42"/>
                <a:gd name="T2" fmla="*/ 15 w 47"/>
                <a:gd name="T3" fmla="*/ 0 h 42"/>
                <a:gd name="T4" fmla="*/ 47 w 47"/>
                <a:gd name="T5" fmla="*/ 0 h 42"/>
                <a:gd name="T6" fmla="*/ 47 w 47"/>
                <a:gd name="T7" fmla="*/ 28 h 42"/>
                <a:gd name="T8" fmla="*/ 31 w 47"/>
                <a:gd name="T9" fmla="*/ 42 h 42"/>
                <a:gd name="T10" fmla="*/ 0 w 47"/>
                <a:gd name="T11" fmla="*/ 42 h 42"/>
                <a:gd name="T12" fmla="*/ 0 w 47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14"/>
                  </a:moveTo>
                  <a:lnTo>
                    <a:pt x="15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6" name="Freeform 1985"/>
            <p:cNvSpPr>
              <a:spLocks/>
            </p:cNvSpPr>
            <p:nvPr/>
          </p:nvSpPr>
          <p:spPr bwMode="auto">
            <a:xfrm>
              <a:off x="2068" y="1649"/>
              <a:ext cx="55" cy="49"/>
            </a:xfrm>
            <a:custGeom>
              <a:avLst/>
              <a:gdLst>
                <a:gd name="T0" fmla="*/ 0 w 55"/>
                <a:gd name="T1" fmla="*/ 21 h 49"/>
                <a:gd name="T2" fmla="*/ 24 w 55"/>
                <a:gd name="T3" fmla="*/ 0 h 49"/>
                <a:gd name="T4" fmla="*/ 55 w 55"/>
                <a:gd name="T5" fmla="*/ 0 h 49"/>
                <a:gd name="T6" fmla="*/ 55 w 55"/>
                <a:gd name="T7" fmla="*/ 28 h 49"/>
                <a:gd name="T8" fmla="*/ 32 w 55"/>
                <a:gd name="T9" fmla="*/ 49 h 49"/>
                <a:gd name="T10" fmla="*/ 0 w 55"/>
                <a:gd name="T11" fmla="*/ 49 h 49"/>
                <a:gd name="T12" fmla="*/ 0 w 55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9"/>
                <a:gd name="T23" fmla="*/ 55 w 55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9">
                  <a:moveTo>
                    <a:pt x="0" y="21"/>
                  </a:moveTo>
                  <a:lnTo>
                    <a:pt x="24" y="0"/>
                  </a:lnTo>
                  <a:lnTo>
                    <a:pt x="55" y="0"/>
                  </a:lnTo>
                  <a:lnTo>
                    <a:pt x="55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7" name="Freeform 1986"/>
            <p:cNvSpPr>
              <a:spLocks/>
            </p:cNvSpPr>
            <p:nvPr/>
          </p:nvSpPr>
          <p:spPr bwMode="auto">
            <a:xfrm>
              <a:off x="2053" y="1670"/>
              <a:ext cx="47" cy="49"/>
            </a:xfrm>
            <a:custGeom>
              <a:avLst/>
              <a:gdLst>
                <a:gd name="T0" fmla="*/ 0 w 47"/>
                <a:gd name="T1" fmla="*/ 21 h 49"/>
                <a:gd name="T2" fmla="*/ 15 w 47"/>
                <a:gd name="T3" fmla="*/ 0 h 49"/>
                <a:gd name="T4" fmla="*/ 47 w 47"/>
                <a:gd name="T5" fmla="*/ 0 h 49"/>
                <a:gd name="T6" fmla="*/ 47 w 47"/>
                <a:gd name="T7" fmla="*/ 28 h 49"/>
                <a:gd name="T8" fmla="*/ 31 w 47"/>
                <a:gd name="T9" fmla="*/ 49 h 49"/>
                <a:gd name="T10" fmla="*/ 0 w 47"/>
                <a:gd name="T11" fmla="*/ 49 h 49"/>
                <a:gd name="T12" fmla="*/ 0 w 47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9"/>
                <a:gd name="T23" fmla="*/ 47 w 47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9">
                  <a:moveTo>
                    <a:pt x="0" y="21"/>
                  </a:moveTo>
                  <a:lnTo>
                    <a:pt x="15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8" name="Freeform 1987"/>
            <p:cNvSpPr>
              <a:spLocks/>
            </p:cNvSpPr>
            <p:nvPr/>
          </p:nvSpPr>
          <p:spPr bwMode="auto">
            <a:xfrm>
              <a:off x="2037" y="1691"/>
              <a:ext cx="47" cy="42"/>
            </a:xfrm>
            <a:custGeom>
              <a:avLst/>
              <a:gdLst>
                <a:gd name="T0" fmla="*/ 0 w 47"/>
                <a:gd name="T1" fmla="*/ 14 h 42"/>
                <a:gd name="T2" fmla="*/ 16 w 47"/>
                <a:gd name="T3" fmla="*/ 0 h 42"/>
                <a:gd name="T4" fmla="*/ 47 w 47"/>
                <a:gd name="T5" fmla="*/ 0 h 42"/>
                <a:gd name="T6" fmla="*/ 47 w 47"/>
                <a:gd name="T7" fmla="*/ 28 h 42"/>
                <a:gd name="T8" fmla="*/ 31 w 47"/>
                <a:gd name="T9" fmla="*/ 42 h 42"/>
                <a:gd name="T10" fmla="*/ 0 w 47"/>
                <a:gd name="T11" fmla="*/ 42 h 42"/>
                <a:gd name="T12" fmla="*/ 0 w 47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14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89" name="Freeform 1988"/>
            <p:cNvSpPr>
              <a:spLocks/>
            </p:cNvSpPr>
            <p:nvPr/>
          </p:nvSpPr>
          <p:spPr bwMode="auto">
            <a:xfrm>
              <a:off x="2022" y="1705"/>
              <a:ext cx="46" cy="49"/>
            </a:xfrm>
            <a:custGeom>
              <a:avLst/>
              <a:gdLst>
                <a:gd name="T0" fmla="*/ 0 w 46"/>
                <a:gd name="T1" fmla="*/ 21 h 49"/>
                <a:gd name="T2" fmla="*/ 15 w 46"/>
                <a:gd name="T3" fmla="*/ 0 h 49"/>
                <a:gd name="T4" fmla="*/ 46 w 46"/>
                <a:gd name="T5" fmla="*/ 0 h 49"/>
                <a:gd name="T6" fmla="*/ 46 w 46"/>
                <a:gd name="T7" fmla="*/ 28 h 49"/>
                <a:gd name="T8" fmla="*/ 31 w 46"/>
                <a:gd name="T9" fmla="*/ 49 h 49"/>
                <a:gd name="T10" fmla="*/ 0 w 46"/>
                <a:gd name="T11" fmla="*/ 49 h 49"/>
                <a:gd name="T12" fmla="*/ 0 w 46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9"/>
                <a:gd name="T23" fmla="*/ 46 w 46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9">
                  <a:moveTo>
                    <a:pt x="0" y="21"/>
                  </a:moveTo>
                  <a:lnTo>
                    <a:pt x="15" y="0"/>
                  </a:lnTo>
                  <a:lnTo>
                    <a:pt x="46" y="0"/>
                  </a:lnTo>
                  <a:lnTo>
                    <a:pt x="46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0" name="Freeform 1989"/>
            <p:cNvSpPr>
              <a:spLocks/>
            </p:cNvSpPr>
            <p:nvPr/>
          </p:nvSpPr>
          <p:spPr bwMode="auto">
            <a:xfrm>
              <a:off x="2014" y="1726"/>
              <a:ext cx="39" cy="35"/>
            </a:xfrm>
            <a:custGeom>
              <a:avLst/>
              <a:gdLst>
                <a:gd name="T0" fmla="*/ 0 w 39"/>
                <a:gd name="T1" fmla="*/ 7 h 35"/>
                <a:gd name="T2" fmla="*/ 8 w 39"/>
                <a:gd name="T3" fmla="*/ 0 h 35"/>
                <a:gd name="T4" fmla="*/ 39 w 39"/>
                <a:gd name="T5" fmla="*/ 0 h 35"/>
                <a:gd name="T6" fmla="*/ 39 w 39"/>
                <a:gd name="T7" fmla="*/ 28 h 35"/>
                <a:gd name="T8" fmla="*/ 31 w 39"/>
                <a:gd name="T9" fmla="*/ 35 h 35"/>
                <a:gd name="T10" fmla="*/ 0 w 39"/>
                <a:gd name="T11" fmla="*/ 35 h 35"/>
                <a:gd name="T12" fmla="*/ 0 w 39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7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1" name="Freeform 1990"/>
            <p:cNvSpPr>
              <a:spLocks/>
            </p:cNvSpPr>
            <p:nvPr/>
          </p:nvSpPr>
          <p:spPr bwMode="auto">
            <a:xfrm>
              <a:off x="2006" y="1733"/>
              <a:ext cx="39" cy="42"/>
            </a:xfrm>
            <a:custGeom>
              <a:avLst/>
              <a:gdLst>
                <a:gd name="T0" fmla="*/ 0 w 39"/>
                <a:gd name="T1" fmla="*/ 14 h 42"/>
                <a:gd name="T2" fmla="*/ 8 w 39"/>
                <a:gd name="T3" fmla="*/ 0 h 42"/>
                <a:gd name="T4" fmla="*/ 39 w 39"/>
                <a:gd name="T5" fmla="*/ 0 h 42"/>
                <a:gd name="T6" fmla="*/ 39 w 39"/>
                <a:gd name="T7" fmla="*/ 28 h 42"/>
                <a:gd name="T8" fmla="*/ 31 w 39"/>
                <a:gd name="T9" fmla="*/ 42 h 42"/>
                <a:gd name="T10" fmla="*/ 0 w 39"/>
                <a:gd name="T11" fmla="*/ 42 h 42"/>
                <a:gd name="T12" fmla="*/ 0 w 39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14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2" name="Freeform 1991"/>
            <p:cNvSpPr>
              <a:spLocks/>
            </p:cNvSpPr>
            <p:nvPr/>
          </p:nvSpPr>
          <p:spPr bwMode="auto">
            <a:xfrm>
              <a:off x="1998" y="1747"/>
              <a:ext cx="39" cy="50"/>
            </a:xfrm>
            <a:custGeom>
              <a:avLst/>
              <a:gdLst>
                <a:gd name="T0" fmla="*/ 0 w 39"/>
                <a:gd name="T1" fmla="*/ 21 h 50"/>
                <a:gd name="T2" fmla="*/ 8 w 39"/>
                <a:gd name="T3" fmla="*/ 0 h 50"/>
                <a:gd name="T4" fmla="*/ 39 w 39"/>
                <a:gd name="T5" fmla="*/ 0 h 50"/>
                <a:gd name="T6" fmla="*/ 39 w 39"/>
                <a:gd name="T7" fmla="*/ 28 h 50"/>
                <a:gd name="T8" fmla="*/ 31 w 39"/>
                <a:gd name="T9" fmla="*/ 50 h 50"/>
                <a:gd name="T10" fmla="*/ 0 w 39"/>
                <a:gd name="T11" fmla="*/ 50 h 50"/>
                <a:gd name="T12" fmla="*/ 0 w 39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0"/>
                <a:gd name="T23" fmla="*/ 39 w 39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0">
                  <a:moveTo>
                    <a:pt x="0" y="21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3" name="Freeform 1992"/>
            <p:cNvSpPr>
              <a:spLocks/>
            </p:cNvSpPr>
            <p:nvPr/>
          </p:nvSpPr>
          <p:spPr bwMode="auto">
            <a:xfrm>
              <a:off x="1990" y="1768"/>
              <a:ext cx="39" cy="43"/>
            </a:xfrm>
            <a:custGeom>
              <a:avLst/>
              <a:gdLst>
                <a:gd name="T0" fmla="*/ 0 w 39"/>
                <a:gd name="T1" fmla="*/ 14 h 43"/>
                <a:gd name="T2" fmla="*/ 8 w 39"/>
                <a:gd name="T3" fmla="*/ 0 h 43"/>
                <a:gd name="T4" fmla="*/ 39 w 39"/>
                <a:gd name="T5" fmla="*/ 0 h 43"/>
                <a:gd name="T6" fmla="*/ 39 w 39"/>
                <a:gd name="T7" fmla="*/ 29 h 43"/>
                <a:gd name="T8" fmla="*/ 32 w 39"/>
                <a:gd name="T9" fmla="*/ 43 h 43"/>
                <a:gd name="T10" fmla="*/ 0 w 39"/>
                <a:gd name="T11" fmla="*/ 43 h 43"/>
                <a:gd name="T12" fmla="*/ 0 w 39"/>
                <a:gd name="T13" fmla="*/ 14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3"/>
                <a:gd name="T23" fmla="*/ 39 w 39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3">
                  <a:moveTo>
                    <a:pt x="0" y="14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2" y="43"/>
                  </a:lnTo>
                  <a:lnTo>
                    <a:pt x="0" y="43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4" name="Freeform 1993"/>
            <p:cNvSpPr>
              <a:spLocks/>
            </p:cNvSpPr>
            <p:nvPr/>
          </p:nvSpPr>
          <p:spPr bwMode="auto">
            <a:xfrm>
              <a:off x="1983" y="1782"/>
              <a:ext cx="39" cy="50"/>
            </a:xfrm>
            <a:custGeom>
              <a:avLst/>
              <a:gdLst>
                <a:gd name="T0" fmla="*/ 0 w 39"/>
                <a:gd name="T1" fmla="*/ 22 h 50"/>
                <a:gd name="T2" fmla="*/ 7 w 39"/>
                <a:gd name="T3" fmla="*/ 0 h 50"/>
                <a:gd name="T4" fmla="*/ 39 w 39"/>
                <a:gd name="T5" fmla="*/ 0 h 50"/>
                <a:gd name="T6" fmla="*/ 39 w 39"/>
                <a:gd name="T7" fmla="*/ 29 h 50"/>
                <a:gd name="T8" fmla="*/ 31 w 39"/>
                <a:gd name="T9" fmla="*/ 50 h 50"/>
                <a:gd name="T10" fmla="*/ 0 w 39"/>
                <a:gd name="T11" fmla="*/ 50 h 50"/>
                <a:gd name="T12" fmla="*/ 0 w 39"/>
                <a:gd name="T13" fmla="*/ 22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0"/>
                <a:gd name="T23" fmla="*/ 39 w 39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0">
                  <a:moveTo>
                    <a:pt x="0" y="22"/>
                  </a:moveTo>
                  <a:lnTo>
                    <a:pt x="7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2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5" name="Rectangle 1994"/>
            <p:cNvSpPr>
              <a:spLocks noChangeArrowheads="1"/>
            </p:cNvSpPr>
            <p:nvPr/>
          </p:nvSpPr>
          <p:spPr bwMode="auto">
            <a:xfrm>
              <a:off x="1983" y="1804"/>
              <a:ext cx="31" cy="4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6" name="Rectangle 1995"/>
            <p:cNvSpPr>
              <a:spLocks noChangeArrowheads="1"/>
            </p:cNvSpPr>
            <p:nvPr/>
          </p:nvSpPr>
          <p:spPr bwMode="auto">
            <a:xfrm>
              <a:off x="1983" y="1818"/>
              <a:ext cx="31" cy="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7" name="Freeform 1996"/>
            <p:cNvSpPr>
              <a:spLocks/>
            </p:cNvSpPr>
            <p:nvPr/>
          </p:nvSpPr>
          <p:spPr bwMode="auto">
            <a:xfrm>
              <a:off x="1983" y="1825"/>
              <a:ext cx="39" cy="56"/>
            </a:xfrm>
            <a:custGeom>
              <a:avLst/>
              <a:gdLst>
                <a:gd name="T0" fmla="*/ 0 w 39"/>
                <a:gd name="T1" fmla="*/ 0 h 56"/>
                <a:gd name="T2" fmla="*/ 31 w 39"/>
                <a:gd name="T3" fmla="*/ 0 h 56"/>
                <a:gd name="T4" fmla="*/ 39 w 39"/>
                <a:gd name="T5" fmla="*/ 28 h 56"/>
                <a:gd name="T6" fmla="*/ 39 w 39"/>
                <a:gd name="T7" fmla="*/ 56 h 56"/>
                <a:gd name="T8" fmla="*/ 7 w 39"/>
                <a:gd name="T9" fmla="*/ 56 h 56"/>
                <a:gd name="T10" fmla="*/ 0 w 39"/>
                <a:gd name="T11" fmla="*/ 28 h 56"/>
                <a:gd name="T12" fmla="*/ 0 w 39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6"/>
                <a:gd name="T23" fmla="*/ 39 w 39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6">
                  <a:moveTo>
                    <a:pt x="0" y="0"/>
                  </a:moveTo>
                  <a:lnTo>
                    <a:pt x="31" y="0"/>
                  </a:lnTo>
                  <a:lnTo>
                    <a:pt x="39" y="28"/>
                  </a:lnTo>
                  <a:lnTo>
                    <a:pt x="39" y="56"/>
                  </a:lnTo>
                  <a:lnTo>
                    <a:pt x="7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8" name="Rectangle 1997"/>
            <p:cNvSpPr>
              <a:spLocks noChangeArrowheads="1"/>
            </p:cNvSpPr>
            <p:nvPr/>
          </p:nvSpPr>
          <p:spPr bwMode="auto">
            <a:xfrm>
              <a:off x="1990" y="1853"/>
              <a:ext cx="32" cy="3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1999" name="Freeform 1998"/>
            <p:cNvSpPr>
              <a:spLocks/>
            </p:cNvSpPr>
            <p:nvPr/>
          </p:nvSpPr>
          <p:spPr bwMode="auto">
            <a:xfrm>
              <a:off x="1990" y="1860"/>
              <a:ext cx="39" cy="42"/>
            </a:xfrm>
            <a:custGeom>
              <a:avLst/>
              <a:gdLst>
                <a:gd name="T0" fmla="*/ 0 w 39"/>
                <a:gd name="T1" fmla="*/ 0 h 42"/>
                <a:gd name="T2" fmla="*/ 32 w 39"/>
                <a:gd name="T3" fmla="*/ 0 h 42"/>
                <a:gd name="T4" fmla="*/ 39 w 39"/>
                <a:gd name="T5" fmla="*/ 14 h 42"/>
                <a:gd name="T6" fmla="*/ 39 w 39"/>
                <a:gd name="T7" fmla="*/ 42 h 42"/>
                <a:gd name="T8" fmla="*/ 8 w 39"/>
                <a:gd name="T9" fmla="*/ 42 h 42"/>
                <a:gd name="T10" fmla="*/ 0 w 39"/>
                <a:gd name="T11" fmla="*/ 28 h 42"/>
                <a:gd name="T12" fmla="*/ 0 w 39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0"/>
                  </a:moveTo>
                  <a:lnTo>
                    <a:pt x="32" y="0"/>
                  </a:lnTo>
                  <a:lnTo>
                    <a:pt x="39" y="14"/>
                  </a:lnTo>
                  <a:lnTo>
                    <a:pt x="39" y="42"/>
                  </a:lnTo>
                  <a:lnTo>
                    <a:pt x="8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0" name="Freeform 1999"/>
            <p:cNvSpPr>
              <a:spLocks/>
            </p:cNvSpPr>
            <p:nvPr/>
          </p:nvSpPr>
          <p:spPr bwMode="auto">
            <a:xfrm>
              <a:off x="1998" y="1874"/>
              <a:ext cx="39" cy="42"/>
            </a:xfrm>
            <a:custGeom>
              <a:avLst/>
              <a:gdLst>
                <a:gd name="T0" fmla="*/ 0 w 39"/>
                <a:gd name="T1" fmla="*/ 0 h 42"/>
                <a:gd name="T2" fmla="*/ 31 w 39"/>
                <a:gd name="T3" fmla="*/ 0 h 42"/>
                <a:gd name="T4" fmla="*/ 39 w 39"/>
                <a:gd name="T5" fmla="*/ 14 h 42"/>
                <a:gd name="T6" fmla="*/ 39 w 39"/>
                <a:gd name="T7" fmla="*/ 42 h 42"/>
                <a:gd name="T8" fmla="*/ 8 w 39"/>
                <a:gd name="T9" fmla="*/ 42 h 42"/>
                <a:gd name="T10" fmla="*/ 0 w 39"/>
                <a:gd name="T11" fmla="*/ 28 h 42"/>
                <a:gd name="T12" fmla="*/ 0 w 39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0"/>
                  </a:moveTo>
                  <a:lnTo>
                    <a:pt x="31" y="0"/>
                  </a:lnTo>
                  <a:lnTo>
                    <a:pt x="39" y="14"/>
                  </a:lnTo>
                  <a:lnTo>
                    <a:pt x="39" y="42"/>
                  </a:lnTo>
                  <a:lnTo>
                    <a:pt x="8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1" name="Freeform 2000"/>
            <p:cNvSpPr>
              <a:spLocks/>
            </p:cNvSpPr>
            <p:nvPr/>
          </p:nvSpPr>
          <p:spPr bwMode="auto">
            <a:xfrm>
              <a:off x="2006" y="1888"/>
              <a:ext cx="47" cy="49"/>
            </a:xfrm>
            <a:custGeom>
              <a:avLst/>
              <a:gdLst>
                <a:gd name="T0" fmla="*/ 0 w 47"/>
                <a:gd name="T1" fmla="*/ 0 h 49"/>
                <a:gd name="T2" fmla="*/ 31 w 47"/>
                <a:gd name="T3" fmla="*/ 0 h 49"/>
                <a:gd name="T4" fmla="*/ 47 w 47"/>
                <a:gd name="T5" fmla="*/ 21 h 49"/>
                <a:gd name="T6" fmla="*/ 47 w 47"/>
                <a:gd name="T7" fmla="*/ 49 h 49"/>
                <a:gd name="T8" fmla="*/ 16 w 47"/>
                <a:gd name="T9" fmla="*/ 49 h 49"/>
                <a:gd name="T10" fmla="*/ 0 w 47"/>
                <a:gd name="T11" fmla="*/ 28 h 49"/>
                <a:gd name="T12" fmla="*/ 0 w 47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9"/>
                <a:gd name="T23" fmla="*/ 47 w 47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9">
                  <a:moveTo>
                    <a:pt x="0" y="0"/>
                  </a:moveTo>
                  <a:lnTo>
                    <a:pt x="31" y="0"/>
                  </a:lnTo>
                  <a:lnTo>
                    <a:pt x="47" y="21"/>
                  </a:lnTo>
                  <a:lnTo>
                    <a:pt x="47" y="49"/>
                  </a:lnTo>
                  <a:lnTo>
                    <a:pt x="16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2" name="Freeform 2001"/>
            <p:cNvSpPr>
              <a:spLocks/>
            </p:cNvSpPr>
            <p:nvPr/>
          </p:nvSpPr>
          <p:spPr bwMode="auto">
            <a:xfrm>
              <a:off x="2022" y="1909"/>
              <a:ext cx="39" cy="35"/>
            </a:xfrm>
            <a:custGeom>
              <a:avLst/>
              <a:gdLst>
                <a:gd name="T0" fmla="*/ 0 w 39"/>
                <a:gd name="T1" fmla="*/ 0 h 35"/>
                <a:gd name="T2" fmla="*/ 31 w 39"/>
                <a:gd name="T3" fmla="*/ 0 h 35"/>
                <a:gd name="T4" fmla="*/ 39 w 39"/>
                <a:gd name="T5" fmla="*/ 7 h 35"/>
                <a:gd name="T6" fmla="*/ 39 w 39"/>
                <a:gd name="T7" fmla="*/ 35 h 35"/>
                <a:gd name="T8" fmla="*/ 7 w 39"/>
                <a:gd name="T9" fmla="*/ 35 h 35"/>
                <a:gd name="T10" fmla="*/ 0 w 39"/>
                <a:gd name="T11" fmla="*/ 28 h 35"/>
                <a:gd name="T12" fmla="*/ 0 w 39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0"/>
                  </a:moveTo>
                  <a:lnTo>
                    <a:pt x="31" y="0"/>
                  </a:lnTo>
                  <a:lnTo>
                    <a:pt x="39" y="7"/>
                  </a:lnTo>
                  <a:lnTo>
                    <a:pt x="39" y="35"/>
                  </a:lnTo>
                  <a:lnTo>
                    <a:pt x="7" y="35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3" name="Freeform 2002"/>
            <p:cNvSpPr>
              <a:spLocks/>
            </p:cNvSpPr>
            <p:nvPr/>
          </p:nvSpPr>
          <p:spPr bwMode="auto">
            <a:xfrm>
              <a:off x="2029" y="1916"/>
              <a:ext cx="47" cy="42"/>
            </a:xfrm>
            <a:custGeom>
              <a:avLst/>
              <a:gdLst>
                <a:gd name="T0" fmla="*/ 0 w 47"/>
                <a:gd name="T1" fmla="*/ 0 h 42"/>
                <a:gd name="T2" fmla="*/ 32 w 47"/>
                <a:gd name="T3" fmla="*/ 0 h 42"/>
                <a:gd name="T4" fmla="*/ 47 w 47"/>
                <a:gd name="T5" fmla="*/ 14 h 42"/>
                <a:gd name="T6" fmla="*/ 47 w 47"/>
                <a:gd name="T7" fmla="*/ 42 h 42"/>
                <a:gd name="T8" fmla="*/ 16 w 47"/>
                <a:gd name="T9" fmla="*/ 42 h 42"/>
                <a:gd name="T10" fmla="*/ 0 w 47"/>
                <a:gd name="T11" fmla="*/ 28 h 42"/>
                <a:gd name="T12" fmla="*/ 0 w 4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0"/>
                  </a:moveTo>
                  <a:lnTo>
                    <a:pt x="32" y="0"/>
                  </a:lnTo>
                  <a:lnTo>
                    <a:pt x="47" y="14"/>
                  </a:lnTo>
                  <a:lnTo>
                    <a:pt x="47" y="42"/>
                  </a:lnTo>
                  <a:lnTo>
                    <a:pt x="16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4" name="Freeform 2003"/>
            <p:cNvSpPr>
              <a:spLocks/>
            </p:cNvSpPr>
            <p:nvPr/>
          </p:nvSpPr>
          <p:spPr bwMode="auto">
            <a:xfrm>
              <a:off x="2045" y="1930"/>
              <a:ext cx="47" cy="42"/>
            </a:xfrm>
            <a:custGeom>
              <a:avLst/>
              <a:gdLst>
                <a:gd name="T0" fmla="*/ 0 w 47"/>
                <a:gd name="T1" fmla="*/ 0 h 42"/>
                <a:gd name="T2" fmla="*/ 31 w 47"/>
                <a:gd name="T3" fmla="*/ 0 h 42"/>
                <a:gd name="T4" fmla="*/ 47 w 47"/>
                <a:gd name="T5" fmla="*/ 14 h 42"/>
                <a:gd name="T6" fmla="*/ 47 w 47"/>
                <a:gd name="T7" fmla="*/ 42 h 42"/>
                <a:gd name="T8" fmla="*/ 16 w 47"/>
                <a:gd name="T9" fmla="*/ 42 h 42"/>
                <a:gd name="T10" fmla="*/ 0 w 47"/>
                <a:gd name="T11" fmla="*/ 28 h 42"/>
                <a:gd name="T12" fmla="*/ 0 w 47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0"/>
                  </a:moveTo>
                  <a:lnTo>
                    <a:pt x="31" y="0"/>
                  </a:lnTo>
                  <a:lnTo>
                    <a:pt x="47" y="14"/>
                  </a:lnTo>
                  <a:lnTo>
                    <a:pt x="47" y="42"/>
                  </a:lnTo>
                  <a:lnTo>
                    <a:pt x="16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5" name="Freeform 2004"/>
            <p:cNvSpPr>
              <a:spLocks/>
            </p:cNvSpPr>
            <p:nvPr/>
          </p:nvSpPr>
          <p:spPr bwMode="auto">
            <a:xfrm>
              <a:off x="2061" y="1944"/>
              <a:ext cx="46" cy="42"/>
            </a:xfrm>
            <a:custGeom>
              <a:avLst/>
              <a:gdLst>
                <a:gd name="T0" fmla="*/ 0 w 46"/>
                <a:gd name="T1" fmla="*/ 0 h 42"/>
                <a:gd name="T2" fmla="*/ 31 w 46"/>
                <a:gd name="T3" fmla="*/ 0 h 42"/>
                <a:gd name="T4" fmla="*/ 46 w 46"/>
                <a:gd name="T5" fmla="*/ 14 h 42"/>
                <a:gd name="T6" fmla="*/ 46 w 46"/>
                <a:gd name="T7" fmla="*/ 42 h 42"/>
                <a:gd name="T8" fmla="*/ 15 w 46"/>
                <a:gd name="T9" fmla="*/ 42 h 42"/>
                <a:gd name="T10" fmla="*/ 0 w 46"/>
                <a:gd name="T11" fmla="*/ 28 h 42"/>
                <a:gd name="T12" fmla="*/ 0 w 46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2"/>
                <a:gd name="T23" fmla="*/ 46 w 46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2">
                  <a:moveTo>
                    <a:pt x="0" y="0"/>
                  </a:moveTo>
                  <a:lnTo>
                    <a:pt x="31" y="0"/>
                  </a:lnTo>
                  <a:lnTo>
                    <a:pt x="46" y="14"/>
                  </a:lnTo>
                  <a:lnTo>
                    <a:pt x="46" y="42"/>
                  </a:lnTo>
                  <a:lnTo>
                    <a:pt x="15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6" name="Freeform 2005"/>
            <p:cNvSpPr>
              <a:spLocks/>
            </p:cNvSpPr>
            <p:nvPr/>
          </p:nvSpPr>
          <p:spPr bwMode="auto">
            <a:xfrm>
              <a:off x="2076" y="1958"/>
              <a:ext cx="47" cy="36"/>
            </a:xfrm>
            <a:custGeom>
              <a:avLst/>
              <a:gdLst>
                <a:gd name="T0" fmla="*/ 0 w 47"/>
                <a:gd name="T1" fmla="*/ 0 h 36"/>
                <a:gd name="T2" fmla="*/ 31 w 47"/>
                <a:gd name="T3" fmla="*/ 0 h 36"/>
                <a:gd name="T4" fmla="*/ 47 w 47"/>
                <a:gd name="T5" fmla="*/ 7 h 36"/>
                <a:gd name="T6" fmla="*/ 47 w 47"/>
                <a:gd name="T7" fmla="*/ 36 h 36"/>
                <a:gd name="T8" fmla="*/ 16 w 47"/>
                <a:gd name="T9" fmla="*/ 36 h 36"/>
                <a:gd name="T10" fmla="*/ 0 w 47"/>
                <a:gd name="T11" fmla="*/ 28 h 36"/>
                <a:gd name="T12" fmla="*/ 0 w 47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36"/>
                <a:gd name="T23" fmla="*/ 47 w 47"/>
                <a:gd name="T24" fmla="*/ 36 h 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36">
                  <a:moveTo>
                    <a:pt x="0" y="0"/>
                  </a:moveTo>
                  <a:lnTo>
                    <a:pt x="31" y="0"/>
                  </a:lnTo>
                  <a:lnTo>
                    <a:pt x="47" y="7"/>
                  </a:lnTo>
                  <a:lnTo>
                    <a:pt x="47" y="36"/>
                  </a:lnTo>
                  <a:lnTo>
                    <a:pt x="16" y="3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7" name="Freeform 2006"/>
            <p:cNvSpPr>
              <a:spLocks/>
            </p:cNvSpPr>
            <p:nvPr/>
          </p:nvSpPr>
          <p:spPr bwMode="auto">
            <a:xfrm>
              <a:off x="2092" y="1965"/>
              <a:ext cx="55" cy="43"/>
            </a:xfrm>
            <a:custGeom>
              <a:avLst/>
              <a:gdLst>
                <a:gd name="T0" fmla="*/ 0 w 55"/>
                <a:gd name="T1" fmla="*/ 0 h 43"/>
                <a:gd name="T2" fmla="*/ 31 w 55"/>
                <a:gd name="T3" fmla="*/ 0 h 43"/>
                <a:gd name="T4" fmla="*/ 55 w 55"/>
                <a:gd name="T5" fmla="*/ 14 h 43"/>
                <a:gd name="T6" fmla="*/ 55 w 55"/>
                <a:gd name="T7" fmla="*/ 43 h 43"/>
                <a:gd name="T8" fmla="*/ 23 w 55"/>
                <a:gd name="T9" fmla="*/ 43 h 43"/>
                <a:gd name="T10" fmla="*/ 0 w 55"/>
                <a:gd name="T11" fmla="*/ 29 h 43"/>
                <a:gd name="T12" fmla="*/ 0 w 55"/>
                <a:gd name="T13" fmla="*/ 0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3"/>
                <a:gd name="T23" fmla="*/ 55 w 55"/>
                <a:gd name="T24" fmla="*/ 43 h 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3">
                  <a:moveTo>
                    <a:pt x="0" y="0"/>
                  </a:moveTo>
                  <a:lnTo>
                    <a:pt x="31" y="0"/>
                  </a:lnTo>
                  <a:lnTo>
                    <a:pt x="55" y="14"/>
                  </a:lnTo>
                  <a:lnTo>
                    <a:pt x="55" y="43"/>
                  </a:lnTo>
                  <a:lnTo>
                    <a:pt x="23" y="43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8" name="Freeform 2007"/>
            <p:cNvSpPr>
              <a:spLocks/>
            </p:cNvSpPr>
            <p:nvPr/>
          </p:nvSpPr>
          <p:spPr bwMode="auto">
            <a:xfrm>
              <a:off x="2115" y="1979"/>
              <a:ext cx="71" cy="57"/>
            </a:xfrm>
            <a:custGeom>
              <a:avLst/>
              <a:gdLst>
                <a:gd name="T0" fmla="*/ 0 w 71"/>
                <a:gd name="T1" fmla="*/ 0 h 57"/>
                <a:gd name="T2" fmla="*/ 32 w 71"/>
                <a:gd name="T3" fmla="*/ 0 h 57"/>
                <a:gd name="T4" fmla="*/ 71 w 71"/>
                <a:gd name="T5" fmla="*/ 29 h 57"/>
                <a:gd name="T6" fmla="*/ 71 w 71"/>
                <a:gd name="T7" fmla="*/ 57 h 57"/>
                <a:gd name="T8" fmla="*/ 39 w 71"/>
                <a:gd name="T9" fmla="*/ 57 h 57"/>
                <a:gd name="T10" fmla="*/ 0 w 71"/>
                <a:gd name="T11" fmla="*/ 29 h 57"/>
                <a:gd name="T12" fmla="*/ 0 w 71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"/>
                <a:gd name="T22" fmla="*/ 0 h 57"/>
                <a:gd name="T23" fmla="*/ 71 w 71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" h="57">
                  <a:moveTo>
                    <a:pt x="0" y="0"/>
                  </a:moveTo>
                  <a:lnTo>
                    <a:pt x="32" y="0"/>
                  </a:lnTo>
                  <a:lnTo>
                    <a:pt x="71" y="29"/>
                  </a:lnTo>
                  <a:lnTo>
                    <a:pt x="71" y="57"/>
                  </a:lnTo>
                  <a:lnTo>
                    <a:pt x="39" y="57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09" name="Freeform 2008"/>
            <p:cNvSpPr>
              <a:spLocks/>
            </p:cNvSpPr>
            <p:nvPr/>
          </p:nvSpPr>
          <p:spPr bwMode="auto">
            <a:xfrm>
              <a:off x="2154" y="2008"/>
              <a:ext cx="63" cy="56"/>
            </a:xfrm>
            <a:custGeom>
              <a:avLst/>
              <a:gdLst>
                <a:gd name="T0" fmla="*/ 0 w 63"/>
                <a:gd name="T1" fmla="*/ 0 h 56"/>
                <a:gd name="T2" fmla="*/ 32 w 63"/>
                <a:gd name="T3" fmla="*/ 0 h 56"/>
                <a:gd name="T4" fmla="*/ 63 w 63"/>
                <a:gd name="T5" fmla="*/ 28 h 56"/>
                <a:gd name="T6" fmla="*/ 63 w 63"/>
                <a:gd name="T7" fmla="*/ 56 h 56"/>
                <a:gd name="T8" fmla="*/ 32 w 63"/>
                <a:gd name="T9" fmla="*/ 56 h 56"/>
                <a:gd name="T10" fmla="*/ 0 w 63"/>
                <a:gd name="T11" fmla="*/ 28 h 56"/>
                <a:gd name="T12" fmla="*/ 0 w 63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56"/>
                <a:gd name="T23" fmla="*/ 63 w 63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56">
                  <a:moveTo>
                    <a:pt x="0" y="0"/>
                  </a:moveTo>
                  <a:lnTo>
                    <a:pt x="32" y="0"/>
                  </a:lnTo>
                  <a:lnTo>
                    <a:pt x="63" y="28"/>
                  </a:lnTo>
                  <a:lnTo>
                    <a:pt x="63" y="56"/>
                  </a:lnTo>
                  <a:lnTo>
                    <a:pt x="32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0" name="Freeform 2009"/>
            <p:cNvSpPr>
              <a:spLocks/>
            </p:cNvSpPr>
            <p:nvPr/>
          </p:nvSpPr>
          <p:spPr bwMode="auto">
            <a:xfrm>
              <a:off x="2186" y="2036"/>
              <a:ext cx="46" cy="49"/>
            </a:xfrm>
            <a:custGeom>
              <a:avLst/>
              <a:gdLst>
                <a:gd name="T0" fmla="*/ 0 w 46"/>
                <a:gd name="T1" fmla="*/ 0 h 49"/>
                <a:gd name="T2" fmla="*/ 31 w 46"/>
                <a:gd name="T3" fmla="*/ 0 h 49"/>
                <a:gd name="T4" fmla="*/ 46 w 46"/>
                <a:gd name="T5" fmla="*/ 21 h 49"/>
                <a:gd name="T6" fmla="*/ 46 w 46"/>
                <a:gd name="T7" fmla="*/ 49 h 49"/>
                <a:gd name="T8" fmla="*/ 15 w 46"/>
                <a:gd name="T9" fmla="*/ 49 h 49"/>
                <a:gd name="T10" fmla="*/ 0 w 46"/>
                <a:gd name="T11" fmla="*/ 28 h 49"/>
                <a:gd name="T12" fmla="*/ 0 w 46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9"/>
                <a:gd name="T23" fmla="*/ 46 w 46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9">
                  <a:moveTo>
                    <a:pt x="0" y="0"/>
                  </a:moveTo>
                  <a:lnTo>
                    <a:pt x="31" y="0"/>
                  </a:lnTo>
                  <a:lnTo>
                    <a:pt x="46" y="21"/>
                  </a:lnTo>
                  <a:lnTo>
                    <a:pt x="46" y="49"/>
                  </a:lnTo>
                  <a:lnTo>
                    <a:pt x="15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1" name="Freeform 2010"/>
            <p:cNvSpPr>
              <a:spLocks/>
            </p:cNvSpPr>
            <p:nvPr/>
          </p:nvSpPr>
          <p:spPr bwMode="auto">
            <a:xfrm>
              <a:off x="2201" y="2057"/>
              <a:ext cx="55" cy="63"/>
            </a:xfrm>
            <a:custGeom>
              <a:avLst/>
              <a:gdLst>
                <a:gd name="T0" fmla="*/ 0 w 55"/>
                <a:gd name="T1" fmla="*/ 0 h 63"/>
                <a:gd name="T2" fmla="*/ 31 w 55"/>
                <a:gd name="T3" fmla="*/ 0 h 63"/>
                <a:gd name="T4" fmla="*/ 55 w 55"/>
                <a:gd name="T5" fmla="*/ 35 h 63"/>
                <a:gd name="T6" fmla="*/ 55 w 55"/>
                <a:gd name="T7" fmla="*/ 63 h 63"/>
                <a:gd name="T8" fmla="*/ 24 w 55"/>
                <a:gd name="T9" fmla="*/ 63 h 63"/>
                <a:gd name="T10" fmla="*/ 0 w 55"/>
                <a:gd name="T11" fmla="*/ 28 h 63"/>
                <a:gd name="T12" fmla="*/ 0 w 55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63"/>
                <a:gd name="T23" fmla="*/ 55 w 55"/>
                <a:gd name="T24" fmla="*/ 63 h 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63">
                  <a:moveTo>
                    <a:pt x="0" y="0"/>
                  </a:moveTo>
                  <a:lnTo>
                    <a:pt x="31" y="0"/>
                  </a:lnTo>
                  <a:lnTo>
                    <a:pt x="55" y="35"/>
                  </a:lnTo>
                  <a:lnTo>
                    <a:pt x="55" y="63"/>
                  </a:lnTo>
                  <a:lnTo>
                    <a:pt x="24" y="63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2" name="Freeform 2011"/>
            <p:cNvSpPr>
              <a:spLocks/>
            </p:cNvSpPr>
            <p:nvPr/>
          </p:nvSpPr>
          <p:spPr bwMode="auto">
            <a:xfrm>
              <a:off x="2225" y="2092"/>
              <a:ext cx="39" cy="56"/>
            </a:xfrm>
            <a:custGeom>
              <a:avLst/>
              <a:gdLst>
                <a:gd name="T0" fmla="*/ 0 w 39"/>
                <a:gd name="T1" fmla="*/ 0 h 56"/>
                <a:gd name="T2" fmla="*/ 31 w 39"/>
                <a:gd name="T3" fmla="*/ 0 h 56"/>
                <a:gd name="T4" fmla="*/ 39 w 39"/>
                <a:gd name="T5" fmla="*/ 28 h 56"/>
                <a:gd name="T6" fmla="*/ 39 w 39"/>
                <a:gd name="T7" fmla="*/ 56 h 56"/>
                <a:gd name="T8" fmla="*/ 7 w 39"/>
                <a:gd name="T9" fmla="*/ 56 h 56"/>
                <a:gd name="T10" fmla="*/ 0 w 39"/>
                <a:gd name="T11" fmla="*/ 28 h 56"/>
                <a:gd name="T12" fmla="*/ 0 w 39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6"/>
                <a:gd name="T23" fmla="*/ 39 w 39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6">
                  <a:moveTo>
                    <a:pt x="0" y="0"/>
                  </a:moveTo>
                  <a:lnTo>
                    <a:pt x="31" y="0"/>
                  </a:lnTo>
                  <a:lnTo>
                    <a:pt x="39" y="28"/>
                  </a:lnTo>
                  <a:lnTo>
                    <a:pt x="39" y="56"/>
                  </a:lnTo>
                  <a:lnTo>
                    <a:pt x="7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3" name="Freeform 2012"/>
            <p:cNvSpPr>
              <a:spLocks/>
            </p:cNvSpPr>
            <p:nvPr/>
          </p:nvSpPr>
          <p:spPr bwMode="auto">
            <a:xfrm>
              <a:off x="2232" y="2120"/>
              <a:ext cx="39" cy="56"/>
            </a:xfrm>
            <a:custGeom>
              <a:avLst/>
              <a:gdLst>
                <a:gd name="T0" fmla="*/ 0 w 39"/>
                <a:gd name="T1" fmla="*/ 0 h 56"/>
                <a:gd name="T2" fmla="*/ 32 w 39"/>
                <a:gd name="T3" fmla="*/ 0 h 56"/>
                <a:gd name="T4" fmla="*/ 39 w 39"/>
                <a:gd name="T5" fmla="*/ 28 h 56"/>
                <a:gd name="T6" fmla="*/ 39 w 39"/>
                <a:gd name="T7" fmla="*/ 56 h 56"/>
                <a:gd name="T8" fmla="*/ 8 w 39"/>
                <a:gd name="T9" fmla="*/ 56 h 56"/>
                <a:gd name="T10" fmla="*/ 0 w 39"/>
                <a:gd name="T11" fmla="*/ 28 h 56"/>
                <a:gd name="T12" fmla="*/ 0 w 39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6"/>
                <a:gd name="T23" fmla="*/ 39 w 39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6">
                  <a:moveTo>
                    <a:pt x="0" y="0"/>
                  </a:moveTo>
                  <a:lnTo>
                    <a:pt x="32" y="0"/>
                  </a:lnTo>
                  <a:lnTo>
                    <a:pt x="39" y="28"/>
                  </a:lnTo>
                  <a:lnTo>
                    <a:pt x="39" y="56"/>
                  </a:lnTo>
                  <a:lnTo>
                    <a:pt x="8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4" name="Freeform 2013"/>
            <p:cNvSpPr>
              <a:spLocks/>
            </p:cNvSpPr>
            <p:nvPr/>
          </p:nvSpPr>
          <p:spPr bwMode="auto">
            <a:xfrm>
              <a:off x="2232" y="2148"/>
              <a:ext cx="39" cy="57"/>
            </a:xfrm>
            <a:custGeom>
              <a:avLst/>
              <a:gdLst>
                <a:gd name="T0" fmla="*/ 0 w 39"/>
                <a:gd name="T1" fmla="*/ 28 h 57"/>
                <a:gd name="T2" fmla="*/ 8 w 39"/>
                <a:gd name="T3" fmla="*/ 0 h 57"/>
                <a:gd name="T4" fmla="*/ 39 w 39"/>
                <a:gd name="T5" fmla="*/ 0 h 57"/>
                <a:gd name="T6" fmla="*/ 39 w 39"/>
                <a:gd name="T7" fmla="*/ 28 h 57"/>
                <a:gd name="T8" fmla="*/ 32 w 39"/>
                <a:gd name="T9" fmla="*/ 57 h 57"/>
                <a:gd name="T10" fmla="*/ 0 w 39"/>
                <a:gd name="T11" fmla="*/ 57 h 57"/>
                <a:gd name="T12" fmla="*/ 0 w 39"/>
                <a:gd name="T13" fmla="*/ 28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7"/>
                <a:gd name="T23" fmla="*/ 39 w 39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7">
                  <a:moveTo>
                    <a:pt x="0" y="28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2" y="57"/>
                  </a:lnTo>
                  <a:lnTo>
                    <a:pt x="0" y="57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5" name="Freeform 2014"/>
            <p:cNvSpPr>
              <a:spLocks/>
            </p:cNvSpPr>
            <p:nvPr/>
          </p:nvSpPr>
          <p:spPr bwMode="auto">
            <a:xfrm>
              <a:off x="2225" y="2176"/>
              <a:ext cx="39" cy="57"/>
            </a:xfrm>
            <a:custGeom>
              <a:avLst/>
              <a:gdLst>
                <a:gd name="T0" fmla="*/ 0 w 39"/>
                <a:gd name="T1" fmla="*/ 29 h 57"/>
                <a:gd name="T2" fmla="*/ 7 w 39"/>
                <a:gd name="T3" fmla="*/ 0 h 57"/>
                <a:gd name="T4" fmla="*/ 39 w 39"/>
                <a:gd name="T5" fmla="*/ 0 h 57"/>
                <a:gd name="T6" fmla="*/ 39 w 39"/>
                <a:gd name="T7" fmla="*/ 29 h 57"/>
                <a:gd name="T8" fmla="*/ 31 w 39"/>
                <a:gd name="T9" fmla="*/ 57 h 57"/>
                <a:gd name="T10" fmla="*/ 0 w 39"/>
                <a:gd name="T11" fmla="*/ 57 h 57"/>
                <a:gd name="T12" fmla="*/ 0 w 39"/>
                <a:gd name="T13" fmla="*/ 29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7"/>
                <a:gd name="T23" fmla="*/ 39 w 39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7">
                  <a:moveTo>
                    <a:pt x="0" y="29"/>
                  </a:moveTo>
                  <a:lnTo>
                    <a:pt x="7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1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6" name="Freeform 2015"/>
            <p:cNvSpPr>
              <a:spLocks/>
            </p:cNvSpPr>
            <p:nvPr/>
          </p:nvSpPr>
          <p:spPr bwMode="auto">
            <a:xfrm>
              <a:off x="2209" y="2205"/>
              <a:ext cx="47" cy="56"/>
            </a:xfrm>
            <a:custGeom>
              <a:avLst/>
              <a:gdLst>
                <a:gd name="T0" fmla="*/ 0 w 47"/>
                <a:gd name="T1" fmla="*/ 28 h 56"/>
                <a:gd name="T2" fmla="*/ 16 w 47"/>
                <a:gd name="T3" fmla="*/ 0 h 56"/>
                <a:gd name="T4" fmla="*/ 47 w 47"/>
                <a:gd name="T5" fmla="*/ 0 h 56"/>
                <a:gd name="T6" fmla="*/ 47 w 47"/>
                <a:gd name="T7" fmla="*/ 28 h 56"/>
                <a:gd name="T8" fmla="*/ 31 w 47"/>
                <a:gd name="T9" fmla="*/ 56 h 56"/>
                <a:gd name="T10" fmla="*/ 0 w 47"/>
                <a:gd name="T11" fmla="*/ 56 h 56"/>
                <a:gd name="T12" fmla="*/ 0 w 47"/>
                <a:gd name="T13" fmla="*/ 2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56"/>
                <a:gd name="T23" fmla="*/ 47 w 47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56">
                  <a:moveTo>
                    <a:pt x="0" y="28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7" name="Freeform 2016"/>
            <p:cNvSpPr>
              <a:spLocks/>
            </p:cNvSpPr>
            <p:nvPr/>
          </p:nvSpPr>
          <p:spPr bwMode="auto">
            <a:xfrm>
              <a:off x="2193" y="2233"/>
              <a:ext cx="47" cy="49"/>
            </a:xfrm>
            <a:custGeom>
              <a:avLst/>
              <a:gdLst>
                <a:gd name="T0" fmla="*/ 0 w 47"/>
                <a:gd name="T1" fmla="*/ 21 h 49"/>
                <a:gd name="T2" fmla="*/ 16 w 47"/>
                <a:gd name="T3" fmla="*/ 0 h 49"/>
                <a:gd name="T4" fmla="*/ 47 w 47"/>
                <a:gd name="T5" fmla="*/ 0 h 49"/>
                <a:gd name="T6" fmla="*/ 47 w 47"/>
                <a:gd name="T7" fmla="*/ 28 h 49"/>
                <a:gd name="T8" fmla="*/ 32 w 47"/>
                <a:gd name="T9" fmla="*/ 49 h 49"/>
                <a:gd name="T10" fmla="*/ 0 w 47"/>
                <a:gd name="T11" fmla="*/ 49 h 49"/>
                <a:gd name="T12" fmla="*/ 0 w 47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9"/>
                <a:gd name="T23" fmla="*/ 47 w 47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9">
                  <a:moveTo>
                    <a:pt x="0" y="21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2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8" name="Freeform 2017"/>
            <p:cNvSpPr>
              <a:spLocks/>
            </p:cNvSpPr>
            <p:nvPr/>
          </p:nvSpPr>
          <p:spPr bwMode="auto">
            <a:xfrm>
              <a:off x="2162" y="2254"/>
              <a:ext cx="63" cy="70"/>
            </a:xfrm>
            <a:custGeom>
              <a:avLst/>
              <a:gdLst>
                <a:gd name="T0" fmla="*/ 0 w 63"/>
                <a:gd name="T1" fmla="*/ 42 h 70"/>
                <a:gd name="T2" fmla="*/ 31 w 63"/>
                <a:gd name="T3" fmla="*/ 0 h 70"/>
                <a:gd name="T4" fmla="*/ 63 w 63"/>
                <a:gd name="T5" fmla="*/ 0 h 70"/>
                <a:gd name="T6" fmla="*/ 63 w 63"/>
                <a:gd name="T7" fmla="*/ 28 h 70"/>
                <a:gd name="T8" fmla="*/ 31 w 63"/>
                <a:gd name="T9" fmla="*/ 70 h 70"/>
                <a:gd name="T10" fmla="*/ 0 w 63"/>
                <a:gd name="T11" fmla="*/ 70 h 70"/>
                <a:gd name="T12" fmla="*/ 0 w 63"/>
                <a:gd name="T13" fmla="*/ 42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70"/>
                <a:gd name="T23" fmla="*/ 63 w 63"/>
                <a:gd name="T24" fmla="*/ 70 h 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70">
                  <a:moveTo>
                    <a:pt x="0" y="42"/>
                  </a:moveTo>
                  <a:lnTo>
                    <a:pt x="31" y="0"/>
                  </a:lnTo>
                  <a:lnTo>
                    <a:pt x="63" y="0"/>
                  </a:lnTo>
                  <a:lnTo>
                    <a:pt x="63" y="28"/>
                  </a:lnTo>
                  <a:lnTo>
                    <a:pt x="31" y="70"/>
                  </a:lnTo>
                  <a:lnTo>
                    <a:pt x="0" y="70"/>
                  </a:lnTo>
                  <a:lnTo>
                    <a:pt x="0" y="42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19" name="Freeform 2018"/>
            <p:cNvSpPr>
              <a:spLocks/>
            </p:cNvSpPr>
            <p:nvPr/>
          </p:nvSpPr>
          <p:spPr bwMode="auto">
            <a:xfrm>
              <a:off x="2123" y="2296"/>
              <a:ext cx="70" cy="56"/>
            </a:xfrm>
            <a:custGeom>
              <a:avLst/>
              <a:gdLst>
                <a:gd name="T0" fmla="*/ 0 w 70"/>
                <a:gd name="T1" fmla="*/ 28 h 56"/>
                <a:gd name="T2" fmla="*/ 39 w 70"/>
                <a:gd name="T3" fmla="*/ 0 h 56"/>
                <a:gd name="T4" fmla="*/ 70 w 70"/>
                <a:gd name="T5" fmla="*/ 0 h 56"/>
                <a:gd name="T6" fmla="*/ 70 w 70"/>
                <a:gd name="T7" fmla="*/ 28 h 56"/>
                <a:gd name="T8" fmla="*/ 31 w 70"/>
                <a:gd name="T9" fmla="*/ 56 h 56"/>
                <a:gd name="T10" fmla="*/ 0 w 70"/>
                <a:gd name="T11" fmla="*/ 56 h 56"/>
                <a:gd name="T12" fmla="*/ 0 w 70"/>
                <a:gd name="T13" fmla="*/ 2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6"/>
                <a:gd name="T23" fmla="*/ 70 w 7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6">
                  <a:moveTo>
                    <a:pt x="0" y="28"/>
                  </a:moveTo>
                  <a:lnTo>
                    <a:pt x="39" y="0"/>
                  </a:lnTo>
                  <a:lnTo>
                    <a:pt x="70" y="0"/>
                  </a:lnTo>
                  <a:lnTo>
                    <a:pt x="70" y="28"/>
                  </a:lnTo>
                  <a:lnTo>
                    <a:pt x="31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0" name="Freeform 2019"/>
            <p:cNvSpPr>
              <a:spLocks/>
            </p:cNvSpPr>
            <p:nvPr/>
          </p:nvSpPr>
          <p:spPr bwMode="auto">
            <a:xfrm>
              <a:off x="2084" y="2324"/>
              <a:ext cx="70" cy="56"/>
            </a:xfrm>
            <a:custGeom>
              <a:avLst/>
              <a:gdLst>
                <a:gd name="T0" fmla="*/ 0 w 70"/>
                <a:gd name="T1" fmla="*/ 28 h 56"/>
                <a:gd name="T2" fmla="*/ 39 w 70"/>
                <a:gd name="T3" fmla="*/ 0 h 56"/>
                <a:gd name="T4" fmla="*/ 70 w 70"/>
                <a:gd name="T5" fmla="*/ 0 h 56"/>
                <a:gd name="T6" fmla="*/ 70 w 70"/>
                <a:gd name="T7" fmla="*/ 28 h 56"/>
                <a:gd name="T8" fmla="*/ 31 w 70"/>
                <a:gd name="T9" fmla="*/ 56 h 56"/>
                <a:gd name="T10" fmla="*/ 0 w 70"/>
                <a:gd name="T11" fmla="*/ 56 h 56"/>
                <a:gd name="T12" fmla="*/ 0 w 70"/>
                <a:gd name="T13" fmla="*/ 2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6"/>
                <a:gd name="T23" fmla="*/ 70 w 7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6">
                  <a:moveTo>
                    <a:pt x="0" y="28"/>
                  </a:moveTo>
                  <a:lnTo>
                    <a:pt x="39" y="0"/>
                  </a:lnTo>
                  <a:lnTo>
                    <a:pt x="70" y="0"/>
                  </a:lnTo>
                  <a:lnTo>
                    <a:pt x="70" y="28"/>
                  </a:lnTo>
                  <a:lnTo>
                    <a:pt x="31" y="56"/>
                  </a:lnTo>
                  <a:lnTo>
                    <a:pt x="0" y="56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1" name="Freeform 2020"/>
            <p:cNvSpPr>
              <a:spLocks/>
            </p:cNvSpPr>
            <p:nvPr/>
          </p:nvSpPr>
          <p:spPr bwMode="auto">
            <a:xfrm>
              <a:off x="2045" y="2352"/>
              <a:ext cx="70" cy="57"/>
            </a:xfrm>
            <a:custGeom>
              <a:avLst/>
              <a:gdLst>
                <a:gd name="T0" fmla="*/ 0 w 70"/>
                <a:gd name="T1" fmla="*/ 28 h 57"/>
                <a:gd name="T2" fmla="*/ 39 w 70"/>
                <a:gd name="T3" fmla="*/ 0 h 57"/>
                <a:gd name="T4" fmla="*/ 70 w 70"/>
                <a:gd name="T5" fmla="*/ 0 h 57"/>
                <a:gd name="T6" fmla="*/ 70 w 70"/>
                <a:gd name="T7" fmla="*/ 28 h 57"/>
                <a:gd name="T8" fmla="*/ 31 w 70"/>
                <a:gd name="T9" fmla="*/ 57 h 57"/>
                <a:gd name="T10" fmla="*/ 0 w 70"/>
                <a:gd name="T11" fmla="*/ 57 h 57"/>
                <a:gd name="T12" fmla="*/ 0 w 70"/>
                <a:gd name="T13" fmla="*/ 28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7"/>
                <a:gd name="T23" fmla="*/ 70 w 70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7">
                  <a:moveTo>
                    <a:pt x="0" y="28"/>
                  </a:moveTo>
                  <a:lnTo>
                    <a:pt x="39" y="0"/>
                  </a:lnTo>
                  <a:lnTo>
                    <a:pt x="70" y="0"/>
                  </a:lnTo>
                  <a:lnTo>
                    <a:pt x="70" y="28"/>
                  </a:lnTo>
                  <a:lnTo>
                    <a:pt x="31" y="57"/>
                  </a:lnTo>
                  <a:lnTo>
                    <a:pt x="0" y="57"/>
                  </a:lnTo>
                  <a:lnTo>
                    <a:pt x="0" y="2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2" name="Freeform 2021"/>
            <p:cNvSpPr>
              <a:spLocks/>
            </p:cNvSpPr>
            <p:nvPr/>
          </p:nvSpPr>
          <p:spPr bwMode="auto">
            <a:xfrm>
              <a:off x="1983" y="2380"/>
              <a:ext cx="93" cy="64"/>
            </a:xfrm>
            <a:custGeom>
              <a:avLst/>
              <a:gdLst>
                <a:gd name="T0" fmla="*/ 0 w 93"/>
                <a:gd name="T1" fmla="*/ 36 h 64"/>
                <a:gd name="T2" fmla="*/ 62 w 93"/>
                <a:gd name="T3" fmla="*/ 0 h 64"/>
                <a:gd name="T4" fmla="*/ 93 w 93"/>
                <a:gd name="T5" fmla="*/ 0 h 64"/>
                <a:gd name="T6" fmla="*/ 93 w 93"/>
                <a:gd name="T7" fmla="*/ 29 h 64"/>
                <a:gd name="T8" fmla="*/ 31 w 93"/>
                <a:gd name="T9" fmla="*/ 64 h 64"/>
                <a:gd name="T10" fmla="*/ 0 w 93"/>
                <a:gd name="T11" fmla="*/ 64 h 64"/>
                <a:gd name="T12" fmla="*/ 0 w 93"/>
                <a:gd name="T13" fmla="*/ 36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"/>
                <a:gd name="T22" fmla="*/ 0 h 64"/>
                <a:gd name="T23" fmla="*/ 93 w 93"/>
                <a:gd name="T24" fmla="*/ 64 h 6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" h="64">
                  <a:moveTo>
                    <a:pt x="0" y="36"/>
                  </a:moveTo>
                  <a:lnTo>
                    <a:pt x="62" y="0"/>
                  </a:lnTo>
                  <a:lnTo>
                    <a:pt x="93" y="0"/>
                  </a:lnTo>
                  <a:lnTo>
                    <a:pt x="93" y="29"/>
                  </a:lnTo>
                  <a:lnTo>
                    <a:pt x="31" y="64"/>
                  </a:lnTo>
                  <a:lnTo>
                    <a:pt x="0" y="64"/>
                  </a:lnTo>
                  <a:lnTo>
                    <a:pt x="0" y="3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3" name="Freeform 2022"/>
            <p:cNvSpPr>
              <a:spLocks/>
            </p:cNvSpPr>
            <p:nvPr/>
          </p:nvSpPr>
          <p:spPr bwMode="auto">
            <a:xfrm>
              <a:off x="1959" y="2416"/>
              <a:ext cx="55" cy="42"/>
            </a:xfrm>
            <a:custGeom>
              <a:avLst/>
              <a:gdLst>
                <a:gd name="T0" fmla="*/ 0 w 55"/>
                <a:gd name="T1" fmla="*/ 14 h 42"/>
                <a:gd name="T2" fmla="*/ 24 w 55"/>
                <a:gd name="T3" fmla="*/ 0 h 42"/>
                <a:gd name="T4" fmla="*/ 55 w 55"/>
                <a:gd name="T5" fmla="*/ 0 h 42"/>
                <a:gd name="T6" fmla="*/ 55 w 55"/>
                <a:gd name="T7" fmla="*/ 28 h 42"/>
                <a:gd name="T8" fmla="*/ 31 w 55"/>
                <a:gd name="T9" fmla="*/ 42 h 42"/>
                <a:gd name="T10" fmla="*/ 0 w 55"/>
                <a:gd name="T11" fmla="*/ 42 h 42"/>
                <a:gd name="T12" fmla="*/ 0 w 55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2"/>
                <a:gd name="T23" fmla="*/ 55 w 55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2">
                  <a:moveTo>
                    <a:pt x="0" y="14"/>
                  </a:moveTo>
                  <a:lnTo>
                    <a:pt x="24" y="0"/>
                  </a:lnTo>
                  <a:lnTo>
                    <a:pt x="55" y="0"/>
                  </a:lnTo>
                  <a:lnTo>
                    <a:pt x="55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4" name="Freeform 2023"/>
            <p:cNvSpPr>
              <a:spLocks/>
            </p:cNvSpPr>
            <p:nvPr/>
          </p:nvSpPr>
          <p:spPr bwMode="auto">
            <a:xfrm>
              <a:off x="1951" y="2430"/>
              <a:ext cx="39" cy="35"/>
            </a:xfrm>
            <a:custGeom>
              <a:avLst/>
              <a:gdLst>
                <a:gd name="T0" fmla="*/ 0 w 39"/>
                <a:gd name="T1" fmla="*/ 7 h 35"/>
                <a:gd name="T2" fmla="*/ 8 w 39"/>
                <a:gd name="T3" fmla="*/ 0 h 35"/>
                <a:gd name="T4" fmla="*/ 39 w 39"/>
                <a:gd name="T5" fmla="*/ 0 h 35"/>
                <a:gd name="T6" fmla="*/ 39 w 39"/>
                <a:gd name="T7" fmla="*/ 28 h 35"/>
                <a:gd name="T8" fmla="*/ 32 w 39"/>
                <a:gd name="T9" fmla="*/ 35 h 35"/>
                <a:gd name="T10" fmla="*/ 0 w 39"/>
                <a:gd name="T11" fmla="*/ 35 h 35"/>
                <a:gd name="T12" fmla="*/ 0 w 39"/>
                <a:gd name="T13" fmla="*/ 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35"/>
                <a:gd name="T23" fmla="*/ 39 w 39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35">
                  <a:moveTo>
                    <a:pt x="0" y="7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2" y="35"/>
                  </a:lnTo>
                  <a:lnTo>
                    <a:pt x="0" y="35"/>
                  </a:lnTo>
                  <a:lnTo>
                    <a:pt x="0" y="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5" name="Freeform 2024"/>
            <p:cNvSpPr>
              <a:spLocks/>
            </p:cNvSpPr>
            <p:nvPr/>
          </p:nvSpPr>
          <p:spPr bwMode="auto">
            <a:xfrm>
              <a:off x="1920" y="2437"/>
              <a:ext cx="63" cy="42"/>
            </a:xfrm>
            <a:custGeom>
              <a:avLst/>
              <a:gdLst>
                <a:gd name="T0" fmla="*/ 0 w 63"/>
                <a:gd name="T1" fmla="*/ 14 h 42"/>
                <a:gd name="T2" fmla="*/ 31 w 63"/>
                <a:gd name="T3" fmla="*/ 0 h 42"/>
                <a:gd name="T4" fmla="*/ 63 w 63"/>
                <a:gd name="T5" fmla="*/ 0 h 42"/>
                <a:gd name="T6" fmla="*/ 63 w 63"/>
                <a:gd name="T7" fmla="*/ 28 h 42"/>
                <a:gd name="T8" fmla="*/ 31 w 63"/>
                <a:gd name="T9" fmla="*/ 42 h 42"/>
                <a:gd name="T10" fmla="*/ 0 w 63"/>
                <a:gd name="T11" fmla="*/ 42 h 42"/>
                <a:gd name="T12" fmla="*/ 0 w 63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42"/>
                <a:gd name="T23" fmla="*/ 63 w 63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42">
                  <a:moveTo>
                    <a:pt x="0" y="14"/>
                  </a:moveTo>
                  <a:lnTo>
                    <a:pt x="31" y="0"/>
                  </a:lnTo>
                  <a:lnTo>
                    <a:pt x="63" y="0"/>
                  </a:lnTo>
                  <a:lnTo>
                    <a:pt x="63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6" name="Freeform 2025"/>
            <p:cNvSpPr>
              <a:spLocks/>
            </p:cNvSpPr>
            <p:nvPr/>
          </p:nvSpPr>
          <p:spPr bwMode="auto">
            <a:xfrm>
              <a:off x="1889" y="2451"/>
              <a:ext cx="62" cy="49"/>
            </a:xfrm>
            <a:custGeom>
              <a:avLst/>
              <a:gdLst>
                <a:gd name="T0" fmla="*/ 0 w 62"/>
                <a:gd name="T1" fmla="*/ 21 h 49"/>
                <a:gd name="T2" fmla="*/ 31 w 62"/>
                <a:gd name="T3" fmla="*/ 0 h 49"/>
                <a:gd name="T4" fmla="*/ 62 w 62"/>
                <a:gd name="T5" fmla="*/ 0 h 49"/>
                <a:gd name="T6" fmla="*/ 62 w 62"/>
                <a:gd name="T7" fmla="*/ 28 h 49"/>
                <a:gd name="T8" fmla="*/ 31 w 62"/>
                <a:gd name="T9" fmla="*/ 49 h 49"/>
                <a:gd name="T10" fmla="*/ 0 w 62"/>
                <a:gd name="T11" fmla="*/ 49 h 49"/>
                <a:gd name="T12" fmla="*/ 0 w 62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49"/>
                <a:gd name="T23" fmla="*/ 62 w 62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49">
                  <a:moveTo>
                    <a:pt x="0" y="21"/>
                  </a:moveTo>
                  <a:lnTo>
                    <a:pt x="31" y="0"/>
                  </a:lnTo>
                  <a:lnTo>
                    <a:pt x="62" y="0"/>
                  </a:lnTo>
                  <a:lnTo>
                    <a:pt x="62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7" name="Freeform 2026"/>
            <p:cNvSpPr>
              <a:spLocks/>
            </p:cNvSpPr>
            <p:nvPr/>
          </p:nvSpPr>
          <p:spPr bwMode="auto">
            <a:xfrm>
              <a:off x="1873" y="2472"/>
              <a:ext cx="47" cy="42"/>
            </a:xfrm>
            <a:custGeom>
              <a:avLst/>
              <a:gdLst>
                <a:gd name="T0" fmla="*/ 0 w 47"/>
                <a:gd name="T1" fmla="*/ 14 h 42"/>
                <a:gd name="T2" fmla="*/ 16 w 47"/>
                <a:gd name="T3" fmla="*/ 0 h 42"/>
                <a:gd name="T4" fmla="*/ 47 w 47"/>
                <a:gd name="T5" fmla="*/ 0 h 42"/>
                <a:gd name="T6" fmla="*/ 47 w 47"/>
                <a:gd name="T7" fmla="*/ 28 h 42"/>
                <a:gd name="T8" fmla="*/ 31 w 47"/>
                <a:gd name="T9" fmla="*/ 42 h 42"/>
                <a:gd name="T10" fmla="*/ 0 w 47"/>
                <a:gd name="T11" fmla="*/ 42 h 42"/>
                <a:gd name="T12" fmla="*/ 0 w 47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2"/>
                <a:gd name="T23" fmla="*/ 47 w 47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2">
                  <a:moveTo>
                    <a:pt x="0" y="14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8" name="Freeform 2027"/>
            <p:cNvSpPr>
              <a:spLocks/>
            </p:cNvSpPr>
            <p:nvPr/>
          </p:nvSpPr>
          <p:spPr bwMode="auto">
            <a:xfrm>
              <a:off x="1850" y="2486"/>
              <a:ext cx="54" cy="49"/>
            </a:xfrm>
            <a:custGeom>
              <a:avLst/>
              <a:gdLst>
                <a:gd name="T0" fmla="*/ 0 w 54"/>
                <a:gd name="T1" fmla="*/ 21 h 49"/>
                <a:gd name="T2" fmla="*/ 23 w 54"/>
                <a:gd name="T3" fmla="*/ 0 h 49"/>
                <a:gd name="T4" fmla="*/ 54 w 54"/>
                <a:gd name="T5" fmla="*/ 0 h 49"/>
                <a:gd name="T6" fmla="*/ 54 w 54"/>
                <a:gd name="T7" fmla="*/ 28 h 49"/>
                <a:gd name="T8" fmla="*/ 31 w 54"/>
                <a:gd name="T9" fmla="*/ 49 h 49"/>
                <a:gd name="T10" fmla="*/ 0 w 54"/>
                <a:gd name="T11" fmla="*/ 49 h 49"/>
                <a:gd name="T12" fmla="*/ 0 w 54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9"/>
                <a:gd name="T23" fmla="*/ 54 w 54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9">
                  <a:moveTo>
                    <a:pt x="0" y="21"/>
                  </a:moveTo>
                  <a:lnTo>
                    <a:pt x="23" y="0"/>
                  </a:lnTo>
                  <a:lnTo>
                    <a:pt x="54" y="0"/>
                  </a:lnTo>
                  <a:lnTo>
                    <a:pt x="54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29" name="Freeform 2028"/>
            <p:cNvSpPr>
              <a:spLocks/>
            </p:cNvSpPr>
            <p:nvPr/>
          </p:nvSpPr>
          <p:spPr bwMode="auto">
            <a:xfrm>
              <a:off x="1834" y="2507"/>
              <a:ext cx="47" cy="49"/>
            </a:xfrm>
            <a:custGeom>
              <a:avLst/>
              <a:gdLst>
                <a:gd name="T0" fmla="*/ 0 w 47"/>
                <a:gd name="T1" fmla="*/ 21 h 49"/>
                <a:gd name="T2" fmla="*/ 16 w 47"/>
                <a:gd name="T3" fmla="*/ 0 h 49"/>
                <a:gd name="T4" fmla="*/ 47 w 47"/>
                <a:gd name="T5" fmla="*/ 0 h 49"/>
                <a:gd name="T6" fmla="*/ 47 w 47"/>
                <a:gd name="T7" fmla="*/ 28 h 49"/>
                <a:gd name="T8" fmla="*/ 31 w 47"/>
                <a:gd name="T9" fmla="*/ 49 h 49"/>
                <a:gd name="T10" fmla="*/ 0 w 47"/>
                <a:gd name="T11" fmla="*/ 49 h 49"/>
                <a:gd name="T12" fmla="*/ 0 w 47"/>
                <a:gd name="T13" fmla="*/ 2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49"/>
                <a:gd name="T23" fmla="*/ 47 w 47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49">
                  <a:moveTo>
                    <a:pt x="0" y="21"/>
                  </a:moveTo>
                  <a:lnTo>
                    <a:pt x="16" y="0"/>
                  </a:lnTo>
                  <a:lnTo>
                    <a:pt x="47" y="0"/>
                  </a:lnTo>
                  <a:lnTo>
                    <a:pt x="47" y="28"/>
                  </a:lnTo>
                  <a:lnTo>
                    <a:pt x="31" y="49"/>
                  </a:lnTo>
                  <a:lnTo>
                    <a:pt x="0" y="49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0" name="Freeform 2029"/>
            <p:cNvSpPr>
              <a:spLocks/>
            </p:cNvSpPr>
            <p:nvPr/>
          </p:nvSpPr>
          <p:spPr bwMode="auto">
            <a:xfrm>
              <a:off x="1819" y="2528"/>
              <a:ext cx="46" cy="42"/>
            </a:xfrm>
            <a:custGeom>
              <a:avLst/>
              <a:gdLst>
                <a:gd name="T0" fmla="*/ 0 w 46"/>
                <a:gd name="T1" fmla="*/ 14 h 42"/>
                <a:gd name="T2" fmla="*/ 15 w 46"/>
                <a:gd name="T3" fmla="*/ 0 h 42"/>
                <a:gd name="T4" fmla="*/ 46 w 46"/>
                <a:gd name="T5" fmla="*/ 0 h 42"/>
                <a:gd name="T6" fmla="*/ 46 w 46"/>
                <a:gd name="T7" fmla="*/ 28 h 42"/>
                <a:gd name="T8" fmla="*/ 31 w 46"/>
                <a:gd name="T9" fmla="*/ 42 h 42"/>
                <a:gd name="T10" fmla="*/ 0 w 46"/>
                <a:gd name="T11" fmla="*/ 42 h 42"/>
                <a:gd name="T12" fmla="*/ 0 w 46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2"/>
                <a:gd name="T23" fmla="*/ 46 w 46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2">
                  <a:moveTo>
                    <a:pt x="0" y="14"/>
                  </a:moveTo>
                  <a:lnTo>
                    <a:pt x="15" y="0"/>
                  </a:lnTo>
                  <a:lnTo>
                    <a:pt x="46" y="0"/>
                  </a:lnTo>
                  <a:lnTo>
                    <a:pt x="46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1" name="Freeform 2030"/>
            <p:cNvSpPr>
              <a:spLocks/>
            </p:cNvSpPr>
            <p:nvPr/>
          </p:nvSpPr>
          <p:spPr bwMode="auto">
            <a:xfrm>
              <a:off x="1811" y="2542"/>
              <a:ext cx="39" cy="42"/>
            </a:xfrm>
            <a:custGeom>
              <a:avLst/>
              <a:gdLst>
                <a:gd name="T0" fmla="*/ 0 w 39"/>
                <a:gd name="T1" fmla="*/ 14 h 42"/>
                <a:gd name="T2" fmla="*/ 8 w 39"/>
                <a:gd name="T3" fmla="*/ 0 h 42"/>
                <a:gd name="T4" fmla="*/ 39 w 39"/>
                <a:gd name="T5" fmla="*/ 0 h 42"/>
                <a:gd name="T6" fmla="*/ 39 w 39"/>
                <a:gd name="T7" fmla="*/ 28 h 42"/>
                <a:gd name="T8" fmla="*/ 31 w 39"/>
                <a:gd name="T9" fmla="*/ 42 h 42"/>
                <a:gd name="T10" fmla="*/ 0 w 39"/>
                <a:gd name="T11" fmla="*/ 42 h 42"/>
                <a:gd name="T12" fmla="*/ 0 w 39"/>
                <a:gd name="T13" fmla="*/ 14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14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42"/>
                  </a:lnTo>
                  <a:lnTo>
                    <a:pt x="0" y="42"/>
                  </a:lnTo>
                  <a:lnTo>
                    <a:pt x="0" y="1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2" name="Freeform 2031"/>
            <p:cNvSpPr>
              <a:spLocks/>
            </p:cNvSpPr>
            <p:nvPr/>
          </p:nvSpPr>
          <p:spPr bwMode="auto">
            <a:xfrm>
              <a:off x="1803" y="2556"/>
              <a:ext cx="39" cy="50"/>
            </a:xfrm>
            <a:custGeom>
              <a:avLst/>
              <a:gdLst>
                <a:gd name="T0" fmla="*/ 0 w 39"/>
                <a:gd name="T1" fmla="*/ 21 h 50"/>
                <a:gd name="T2" fmla="*/ 8 w 39"/>
                <a:gd name="T3" fmla="*/ 0 h 50"/>
                <a:gd name="T4" fmla="*/ 39 w 39"/>
                <a:gd name="T5" fmla="*/ 0 h 50"/>
                <a:gd name="T6" fmla="*/ 39 w 39"/>
                <a:gd name="T7" fmla="*/ 28 h 50"/>
                <a:gd name="T8" fmla="*/ 31 w 39"/>
                <a:gd name="T9" fmla="*/ 50 h 50"/>
                <a:gd name="T10" fmla="*/ 0 w 39"/>
                <a:gd name="T11" fmla="*/ 50 h 50"/>
                <a:gd name="T12" fmla="*/ 0 w 39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0"/>
                <a:gd name="T23" fmla="*/ 39 w 39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0">
                  <a:moveTo>
                    <a:pt x="0" y="21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8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3" name="Freeform 2032"/>
            <p:cNvSpPr>
              <a:spLocks/>
            </p:cNvSpPr>
            <p:nvPr/>
          </p:nvSpPr>
          <p:spPr bwMode="auto">
            <a:xfrm>
              <a:off x="1795" y="2577"/>
              <a:ext cx="39" cy="50"/>
            </a:xfrm>
            <a:custGeom>
              <a:avLst/>
              <a:gdLst>
                <a:gd name="T0" fmla="*/ 0 w 39"/>
                <a:gd name="T1" fmla="*/ 21 h 50"/>
                <a:gd name="T2" fmla="*/ 8 w 39"/>
                <a:gd name="T3" fmla="*/ 0 h 50"/>
                <a:gd name="T4" fmla="*/ 39 w 39"/>
                <a:gd name="T5" fmla="*/ 0 h 50"/>
                <a:gd name="T6" fmla="*/ 39 w 39"/>
                <a:gd name="T7" fmla="*/ 29 h 50"/>
                <a:gd name="T8" fmla="*/ 31 w 39"/>
                <a:gd name="T9" fmla="*/ 50 h 50"/>
                <a:gd name="T10" fmla="*/ 0 w 39"/>
                <a:gd name="T11" fmla="*/ 50 h 50"/>
                <a:gd name="T12" fmla="*/ 0 w 39"/>
                <a:gd name="T13" fmla="*/ 21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0"/>
                <a:gd name="T23" fmla="*/ 39 w 39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0">
                  <a:moveTo>
                    <a:pt x="0" y="21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1" y="50"/>
                  </a:lnTo>
                  <a:lnTo>
                    <a:pt x="0" y="50"/>
                  </a:lnTo>
                  <a:lnTo>
                    <a:pt x="0" y="21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4" name="Freeform 2033"/>
            <p:cNvSpPr>
              <a:spLocks/>
            </p:cNvSpPr>
            <p:nvPr/>
          </p:nvSpPr>
          <p:spPr bwMode="auto">
            <a:xfrm>
              <a:off x="1787" y="2598"/>
              <a:ext cx="39" cy="57"/>
            </a:xfrm>
            <a:custGeom>
              <a:avLst/>
              <a:gdLst>
                <a:gd name="T0" fmla="*/ 0 w 39"/>
                <a:gd name="T1" fmla="*/ 29 h 57"/>
                <a:gd name="T2" fmla="*/ 8 w 39"/>
                <a:gd name="T3" fmla="*/ 0 h 57"/>
                <a:gd name="T4" fmla="*/ 39 w 39"/>
                <a:gd name="T5" fmla="*/ 0 h 57"/>
                <a:gd name="T6" fmla="*/ 39 w 39"/>
                <a:gd name="T7" fmla="*/ 29 h 57"/>
                <a:gd name="T8" fmla="*/ 32 w 39"/>
                <a:gd name="T9" fmla="*/ 57 h 57"/>
                <a:gd name="T10" fmla="*/ 0 w 39"/>
                <a:gd name="T11" fmla="*/ 57 h 57"/>
                <a:gd name="T12" fmla="*/ 0 w 39"/>
                <a:gd name="T13" fmla="*/ 29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7"/>
                <a:gd name="T23" fmla="*/ 39 w 39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7">
                  <a:moveTo>
                    <a:pt x="0" y="29"/>
                  </a:moveTo>
                  <a:lnTo>
                    <a:pt x="8" y="0"/>
                  </a:lnTo>
                  <a:lnTo>
                    <a:pt x="39" y="0"/>
                  </a:lnTo>
                  <a:lnTo>
                    <a:pt x="39" y="29"/>
                  </a:lnTo>
                  <a:lnTo>
                    <a:pt x="32" y="57"/>
                  </a:lnTo>
                  <a:lnTo>
                    <a:pt x="0" y="57"/>
                  </a:lnTo>
                  <a:lnTo>
                    <a:pt x="0" y="29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5" name="Rectangle 2034"/>
            <p:cNvSpPr>
              <a:spLocks noChangeArrowheads="1"/>
            </p:cNvSpPr>
            <p:nvPr/>
          </p:nvSpPr>
          <p:spPr bwMode="auto">
            <a:xfrm>
              <a:off x="1787" y="2627"/>
              <a:ext cx="32" cy="4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6" name="Rectangle 2035"/>
            <p:cNvSpPr>
              <a:spLocks noChangeArrowheads="1"/>
            </p:cNvSpPr>
            <p:nvPr/>
          </p:nvSpPr>
          <p:spPr bwMode="auto">
            <a:xfrm>
              <a:off x="1787" y="2641"/>
              <a:ext cx="32" cy="49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7" name="Freeform 2036"/>
            <p:cNvSpPr>
              <a:spLocks/>
            </p:cNvSpPr>
            <p:nvPr/>
          </p:nvSpPr>
          <p:spPr bwMode="auto">
            <a:xfrm>
              <a:off x="1787" y="2662"/>
              <a:ext cx="39" cy="56"/>
            </a:xfrm>
            <a:custGeom>
              <a:avLst/>
              <a:gdLst>
                <a:gd name="T0" fmla="*/ 0 w 39"/>
                <a:gd name="T1" fmla="*/ 0 h 56"/>
                <a:gd name="T2" fmla="*/ 32 w 39"/>
                <a:gd name="T3" fmla="*/ 0 h 56"/>
                <a:gd name="T4" fmla="*/ 39 w 39"/>
                <a:gd name="T5" fmla="*/ 28 h 56"/>
                <a:gd name="T6" fmla="*/ 39 w 39"/>
                <a:gd name="T7" fmla="*/ 56 h 56"/>
                <a:gd name="T8" fmla="*/ 8 w 39"/>
                <a:gd name="T9" fmla="*/ 56 h 56"/>
                <a:gd name="T10" fmla="*/ 0 w 39"/>
                <a:gd name="T11" fmla="*/ 28 h 56"/>
                <a:gd name="T12" fmla="*/ 0 w 39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56"/>
                <a:gd name="T23" fmla="*/ 39 w 39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56">
                  <a:moveTo>
                    <a:pt x="0" y="0"/>
                  </a:moveTo>
                  <a:lnTo>
                    <a:pt x="32" y="0"/>
                  </a:lnTo>
                  <a:lnTo>
                    <a:pt x="39" y="28"/>
                  </a:lnTo>
                  <a:lnTo>
                    <a:pt x="39" y="56"/>
                  </a:lnTo>
                  <a:lnTo>
                    <a:pt x="8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8" name="Freeform 2037"/>
            <p:cNvSpPr>
              <a:spLocks/>
            </p:cNvSpPr>
            <p:nvPr/>
          </p:nvSpPr>
          <p:spPr bwMode="auto">
            <a:xfrm>
              <a:off x="1795" y="2690"/>
              <a:ext cx="39" cy="49"/>
            </a:xfrm>
            <a:custGeom>
              <a:avLst/>
              <a:gdLst>
                <a:gd name="T0" fmla="*/ 0 w 39"/>
                <a:gd name="T1" fmla="*/ 0 h 49"/>
                <a:gd name="T2" fmla="*/ 31 w 39"/>
                <a:gd name="T3" fmla="*/ 0 h 49"/>
                <a:gd name="T4" fmla="*/ 39 w 39"/>
                <a:gd name="T5" fmla="*/ 21 h 49"/>
                <a:gd name="T6" fmla="*/ 39 w 39"/>
                <a:gd name="T7" fmla="*/ 49 h 49"/>
                <a:gd name="T8" fmla="*/ 8 w 39"/>
                <a:gd name="T9" fmla="*/ 49 h 49"/>
                <a:gd name="T10" fmla="*/ 0 w 39"/>
                <a:gd name="T11" fmla="*/ 28 h 49"/>
                <a:gd name="T12" fmla="*/ 0 w 39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0"/>
                  </a:moveTo>
                  <a:lnTo>
                    <a:pt x="31" y="0"/>
                  </a:lnTo>
                  <a:lnTo>
                    <a:pt x="39" y="21"/>
                  </a:lnTo>
                  <a:lnTo>
                    <a:pt x="39" y="49"/>
                  </a:lnTo>
                  <a:lnTo>
                    <a:pt x="8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39" name="Freeform 2038"/>
            <p:cNvSpPr>
              <a:spLocks/>
            </p:cNvSpPr>
            <p:nvPr/>
          </p:nvSpPr>
          <p:spPr bwMode="auto">
            <a:xfrm>
              <a:off x="1803" y="2711"/>
              <a:ext cx="39" cy="49"/>
            </a:xfrm>
            <a:custGeom>
              <a:avLst/>
              <a:gdLst>
                <a:gd name="T0" fmla="*/ 0 w 39"/>
                <a:gd name="T1" fmla="*/ 0 h 49"/>
                <a:gd name="T2" fmla="*/ 31 w 39"/>
                <a:gd name="T3" fmla="*/ 0 h 49"/>
                <a:gd name="T4" fmla="*/ 39 w 39"/>
                <a:gd name="T5" fmla="*/ 21 h 49"/>
                <a:gd name="T6" fmla="*/ 39 w 39"/>
                <a:gd name="T7" fmla="*/ 49 h 49"/>
                <a:gd name="T8" fmla="*/ 8 w 39"/>
                <a:gd name="T9" fmla="*/ 49 h 49"/>
                <a:gd name="T10" fmla="*/ 0 w 39"/>
                <a:gd name="T11" fmla="*/ 28 h 49"/>
                <a:gd name="T12" fmla="*/ 0 w 39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9"/>
                <a:gd name="T23" fmla="*/ 39 w 39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9">
                  <a:moveTo>
                    <a:pt x="0" y="0"/>
                  </a:moveTo>
                  <a:lnTo>
                    <a:pt x="31" y="0"/>
                  </a:lnTo>
                  <a:lnTo>
                    <a:pt x="39" y="21"/>
                  </a:lnTo>
                  <a:lnTo>
                    <a:pt x="39" y="49"/>
                  </a:lnTo>
                  <a:lnTo>
                    <a:pt x="8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0" name="Freeform 2039"/>
            <p:cNvSpPr>
              <a:spLocks/>
            </p:cNvSpPr>
            <p:nvPr/>
          </p:nvSpPr>
          <p:spPr bwMode="auto">
            <a:xfrm>
              <a:off x="1811" y="2732"/>
              <a:ext cx="39" cy="42"/>
            </a:xfrm>
            <a:custGeom>
              <a:avLst/>
              <a:gdLst>
                <a:gd name="T0" fmla="*/ 0 w 39"/>
                <a:gd name="T1" fmla="*/ 0 h 42"/>
                <a:gd name="T2" fmla="*/ 31 w 39"/>
                <a:gd name="T3" fmla="*/ 0 h 42"/>
                <a:gd name="T4" fmla="*/ 39 w 39"/>
                <a:gd name="T5" fmla="*/ 14 h 42"/>
                <a:gd name="T6" fmla="*/ 39 w 39"/>
                <a:gd name="T7" fmla="*/ 42 h 42"/>
                <a:gd name="T8" fmla="*/ 8 w 39"/>
                <a:gd name="T9" fmla="*/ 42 h 42"/>
                <a:gd name="T10" fmla="*/ 0 w 39"/>
                <a:gd name="T11" fmla="*/ 28 h 42"/>
                <a:gd name="T12" fmla="*/ 0 w 39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42"/>
                <a:gd name="T23" fmla="*/ 39 w 39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42">
                  <a:moveTo>
                    <a:pt x="0" y="0"/>
                  </a:moveTo>
                  <a:lnTo>
                    <a:pt x="31" y="0"/>
                  </a:lnTo>
                  <a:lnTo>
                    <a:pt x="39" y="14"/>
                  </a:lnTo>
                  <a:lnTo>
                    <a:pt x="39" y="42"/>
                  </a:lnTo>
                  <a:lnTo>
                    <a:pt x="8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1" name="Freeform 2040"/>
            <p:cNvSpPr>
              <a:spLocks/>
            </p:cNvSpPr>
            <p:nvPr/>
          </p:nvSpPr>
          <p:spPr bwMode="auto">
            <a:xfrm>
              <a:off x="1819" y="2746"/>
              <a:ext cx="46" cy="49"/>
            </a:xfrm>
            <a:custGeom>
              <a:avLst/>
              <a:gdLst>
                <a:gd name="T0" fmla="*/ 0 w 46"/>
                <a:gd name="T1" fmla="*/ 0 h 49"/>
                <a:gd name="T2" fmla="*/ 31 w 46"/>
                <a:gd name="T3" fmla="*/ 0 h 49"/>
                <a:gd name="T4" fmla="*/ 46 w 46"/>
                <a:gd name="T5" fmla="*/ 21 h 49"/>
                <a:gd name="T6" fmla="*/ 46 w 46"/>
                <a:gd name="T7" fmla="*/ 49 h 49"/>
                <a:gd name="T8" fmla="*/ 15 w 46"/>
                <a:gd name="T9" fmla="*/ 49 h 49"/>
                <a:gd name="T10" fmla="*/ 0 w 46"/>
                <a:gd name="T11" fmla="*/ 28 h 49"/>
                <a:gd name="T12" fmla="*/ 0 w 46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9"/>
                <a:gd name="T23" fmla="*/ 46 w 46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9">
                  <a:moveTo>
                    <a:pt x="0" y="0"/>
                  </a:moveTo>
                  <a:lnTo>
                    <a:pt x="31" y="0"/>
                  </a:lnTo>
                  <a:lnTo>
                    <a:pt x="46" y="21"/>
                  </a:lnTo>
                  <a:lnTo>
                    <a:pt x="46" y="49"/>
                  </a:lnTo>
                  <a:lnTo>
                    <a:pt x="15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2" name="Freeform 2041"/>
            <p:cNvSpPr>
              <a:spLocks/>
            </p:cNvSpPr>
            <p:nvPr/>
          </p:nvSpPr>
          <p:spPr bwMode="auto">
            <a:xfrm>
              <a:off x="1834" y="2767"/>
              <a:ext cx="47" cy="57"/>
            </a:xfrm>
            <a:custGeom>
              <a:avLst/>
              <a:gdLst>
                <a:gd name="T0" fmla="*/ 0 w 47"/>
                <a:gd name="T1" fmla="*/ 0 h 57"/>
                <a:gd name="T2" fmla="*/ 31 w 47"/>
                <a:gd name="T3" fmla="*/ 0 h 57"/>
                <a:gd name="T4" fmla="*/ 47 w 47"/>
                <a:gd name="T5" fmla="*/ 28 h 57"/>
                <a:gd name="T6" fmla="*/ 47 w 47"/>
                <a:gd name="T7" fmla="*/ 57 h 57"/>
                <a:gd name="T8" fmla="*/ 16 w 47"/>
                <a:gd name="T9" fmla="*/ 57 h 57"/>
                <a:gd name="T10" fmla="*/ 0 w 47"/>
                <a:gd name="T11" fmla="*/ 28 h 57"/>
                <a:gd name="T12" fmla="*/ 0 w 47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7"/>
                <a:gd name="T22" fmla="*/ 0 h 57"/>
                <a:gd name="T23" fmla="*/ 47 w 47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7" h="57">
                  <a:moveTo>
                    <a:pt x="0" y="0"/>
                  </a:moveTo>
                  <a:lnTo>
                    <a:pt x="31" y="0"/>
                  </a:lnTo>
                  <a:lnTo>
                    <a:pt x="47" y="28"/>
                  </a:lnTo>
                  <a:lnTo>
                    <a:pt x="47" y="57"/>
                  </a:lnTo>
                  <a:lnTo>
                    <a:pt x="16" y="57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3" name="Freeform 2042"/>
            <p:cNvSpPr>
              <a:spLocks/>
            </p:cNvSpPr>
            <p:nvPr/>
          </p:nvSpPr>
          <p:spPr bwMode="auto">
            <a:xfrm>
              <a:off x="1850" y="2795"/>
              <a:ext cx="54" cy="57"/>
            </a:xfrm>
            <a:custGeom>
              <a:avLst/>
              <a:gdLst>
                <a:gd name="T0" fmla="*/ 0 w 54"/>
                <a:gd name="T1" fmla="*/ 0 h 57"/>
                <a:gd name="T2" fmla="*/ 31 w 54"/>
                <a:gd name="T3" fmla="*/ 0 h 57"/>
                <a:gd name="T4" fmla="*/ 54 w 54"/>
                <a:gd name="T5" fmla="*/ 29 h 57"/>
                <a:gd name="T6" fmla="*/ 54 w 54"/>
                <a:gd name="T7" fmla="*/ 57 h 57"/>
                <a:gd name="T8" fmla="*/ 23 w 54"/>
                <a:gd name="T9" fmla="*/ 57 h 57"/>
                <a:gd name="T10" fmla="*/ 0 w 54"/>
                <a:gd name="T11" fmla="*/ 29 h 57"/>
                <a:gd name="T12" fmla="*/ 0 w 54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57"/>
                <a:gd name="T23" fmla="*/ 54 w 54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57">
                  <a:moveTo>
                    <a:pt x="0" y="0"/>
                  </a:moveTo>
                  <a:lnTo>
                    <a:pt x="31" y="0"/>
                  </a:lnTo>
                  <a:lnTo>
                    <a:pt x="54" y="29"/>
                  </a:lnTo>
                  <a:lnTo>
                    <a:pt x="54" y="57"/>
                  </a:lnTo>
                  <a:lnTo>
                    <a:pt x="23" y="57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4" name="Freeform 2043"/>
            <p:cNvSpPr>
              <a:spLocks/>
            </p:cNvSpPr>
            <p:nvPr/>
          </p:nvSpPr>
          <p:spPr bwMode="auto">
            <a:xfrm>
              <a:off x="1873" y="2824"/>
              <a:ext cx="55" cy="56"/>
            </a:xfrm>
            <a:custGeom>
              <a:avLst/>
              <a:gdLst>
                <a:gd name="T0" fmla="*/ 0 w 55"/>
                <a:gd name="T1" fmla="*/ 0 h 56"/>
                <a:gd name="T2" fmla="*/ 31 w 55"/>
                <a:gd name="T3" fmla="*/ 0 h 56"/>
                <a:gd name="T4" fmla="*/ 55 w 55"/>
                <a:gd name="T5" fmla="*/ 28 h 56"/>
                <a:gd name="T6" fmla="*/ 55 w 55"/>
                <a:gd name="T7" fmla="*/ 56 h 56"/>
                <a:gd name="T8" fmla="*/ 24 w 55"/>
                <a:gd name="T9" fmla="*/ 56 h 56"/>
                <a:gd name="T10" fmla="*/ 0 w 55"/>
                <a:gd name="T11" fmla="*/ 28 h 56"/>
                <a:gd name="T12" fmla="*/ 0 w 55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56"/>
                <a:gd name="T23" fmla="*/ 55 w 55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56">
                  <a:moveTo>
                    <a:pt x="0" y="0"/>
                  </a:moveTo>
                  <a:lnTo>
                    <a:pt x="31" y="0"/>
                  </a:lnTo>
                  <a:lnTo>
                    <a:pt x="55" y="28"/>
                  </a:lnTo>
                  <a:lnTo>
                    <a:pt x="55" y="56"/>
                  </a:lnTo>
                  <a:lnTo>
                    <a:pt x="24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5" name="Freeform 2044"/>
            <p:cNvSpPr>
              <a:spLocks/>
            </p:cNvSpPr>
            <p:nvPr/>
          </p:nvSpPr>
          <p:spPr bwMode="auto">
            <a:xfrm>
              <a:off x="1897" y="2852"/>
              <a:ext cx="54" cy="49"/>
            </a:xfrm>
            <a:custGeom>
              <a:avLst/>
              <a:gdLst>
                <a:gd name="T0" fmla="*/ 0 w 54"/>
                <a:gd name="T1" fmla="*/ 0 h 49"/>
                <a:gd name="T2" fmla="*/ 31 w 54"/>
                <a:gd name="T3" fmla="*/ 0 h 49"/>
                <a:gd name="T4" fmla="*/ 54 w 54"/>
                <a:gd name="T5" fmla="*/ 21 h 49"/>
                <a:gd name="T6" fmla="*/ 54 w 54"/>
                <a:gd name="T7" fmla="*/ 49 h 49"/>
                <a:gd name="T8" fmla="*/ 23 w 54"/>
                <a:gd name="T9" fmla="*/ 49 h 49"/>
                <a:gd name="T10" fmla="*/ 0 w 54"/>
                <a:gd name="T11" fmla="*/ 28 h 49"/>
                <a:gd name="T12" fmla="*/ 0 w 54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49"/>
                <a:gd name="T23" fmla="*/ 54 w 54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49">
                  <a:moveTo>
                    <a:pt x="0" y="0"/>
                  </a:moveTo>
                  <a:lnTo>
                    <a:pt x="31" y="0"/>
                  </a:lnTo>
                  <a:lnTo>
                    <a:pt x="54" y="21"/>
                  </a:lnTo>
                  <a:lnTo>
                    <a:pt x="54" y="49"/>
                  </a:lnTo>
                  <a:lnTo>
                    <a:pt x="23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6" name="Freeform 2045"/>
            <p:cNvSpPr>
              <a:spLocks/>
            </p:cNvSpPr>
            <p:nvPr/>
          </p:nvSpPr>
          <p:spPr bwMode="auto">
            <a:xfrm>
              <a:off x="1920" y="2873"/>
              <a:ext cx="55" cy="49"/>
            </a:xfrm>
            <a:custGeom>
              <a:avLst/>
              <a:gdLst>
                <a:gd name="T0" fmla="*/ 0 w 55"/>
                <a:gd name="T1" fmla="*/ 0 h 49"/>
                <a:gd name="T2" fmla="*/ 31 w 55"/>
                <a:gd name="T3" fmla="*/ 0 h 49"/>
                <a:gd name="T4" fmla="*/ 55 w 55"/>
                <a:gd name="T5" fmla="*/ 21 h 49"/>
                <a:gd name="T6" fmla="*/ 55 w 55"/>
                <a:gd name="T7" fmla="*/ 49 h 49"/>
                <a:gd name="T8" fmla="*/ 24 w 55"/>
                <a:gd name="T9" fmla="*/ 49 h 49"/>
                <a:gd name="T10" fmla="*/ 0 w 55"/>
                <a:gd name="T11" fmla="*/ 28 h 49"/>
                <a:gd name="T12" fmla="*/ 0 w 55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9"/>
                <a:gd name="T23" fmla="*/ 55 w 55"/>
                <a:gd name="T24" fmla="*/ 49 h 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9">
                  <a:moveTo>
                    <a:pt x="0" y="0"/>
                  </a:moveTo>
                  <a:lnTo>
                    <a:pt x="31" y="0"/>
                  </a:lnTo>
                  <a:lnTo>
                    <a:pt x="55" y="21"/>
                  </a:lnTo>
                  <a:lnTo>
                    <a:pt x="55" y="49"/>
                  </a:lnTo>
                  <a:lnTo>
                    <a:pt x="24" y="49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7" name="Freeform 2046"/>
            <p:cNvSpPr>
              <a:spLocks/>
            </p:cNvSpPr>
            <p:nvPr/>
          </p:nvSpPr>
          <p:spPr bwMode="auto">
            <a:xfrm>
              <a:off x="1944" y="2894"/>
              <a:ext cx="62" cy="56"/>
            </a:xfrm>
            <a:custGeom>
              <a:avLst/>
              <a:gdLst>
                <a:gd name="T0" fmla="*/ 0 w 62"/>
                <a:gd name="T1" fmla="*/ 0 h 56"/>
                <a:gd name="T2" fmla="*/ 31 w 62"/>
                <a:gd name="T3" fmla="*/ 0 h 56"/>
                <a:gd name="T4" fmla="*/ 62 w 62"/>
                <a:gd name="T5" fmla="*/ 28 h 56"/>
                <a:gd name="T6" fmla="*/ 62 w 62"/>
                <a:gd name="T7" fmla="*/ 56 h 56"/>
                <a:gd name="T8" fmla="*/ 31 w 62"/>
                <a:gd name="T9" fmla="*/ 56 h 56"/>
                <a:gd name="T10" fmla="*/ 0 w 62"/>
                <a:gd name="T11" fmla="*/ 28 h 56"/>
                <a:gd name="T12" fmla="*/ 0 w 62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56"/>
                <a:gd name="T23" fmla="*/ 62 w 6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56">
                  <a:moveTo>
                    <a:pt x="0" y="0"/>
                  </a:moveTo>
                  <a:lnTo>
                    <a:pt x="31" y="0"/>
                  </a:lnTo>
                  <a:lnTo>
                    <a:pt x="62" y="28"/>
                  </a:lnTo>
                  <a:lnTo>
                    <a:pt x="62" y="56"/>
                  </a:lnTo>
                  <a:lnTo>
                    <a:pt x="31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8" name="Freeform 2047"/>
            <p:cNvSpPr>
              <a:spLocks/>
            </p:cNvSpPr>
            <p:nvPr/>
          </p:nvSpPr>
          <p:spPr bwMode="auto">
            <a:xfrm>
              <a:off x="1975" y="2922"/>
              <a:ext cx="70" cy="56"/>
            </a:xfrm>
            <a:custGeom>
              <a:avLst/>
              <a:gdLst>
                <a:gd name="T0" fmla="*/ 0 w 70"/>
                <a:gd name="T1" fmla="*/ 0 h 56"/>
                <a:gd name="T2" fmla="*/ 31 w 70"/>
                <a:gd name="T3" fmla="*/ 0 h 56"/>
                <a:gd name="T4" fmla="*/ 70 w 70"/>
                <a:gd name="T5" fmla="*/ 28 h 56"/>
                <a:gd name="T6" fmla="*/ 70 w 70"/>
                <a:gd name="T7" fmla="*/ 56 h 56"/>
                <a:gd name="T8" fmla="*/ 39 w 70"/>
                <a:gd name="T9" fmla="*/ 56 h 56"/>
                <a:gd name="T10" fmla="*/ 0 w 70"/>
                <a:gd name="T11" fmla="*/ 28 h 56"/>
                <a:gd name="T12" fmla="*/ 0 w 70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6"/>
                <a:gd name="T23" fmla="*/ 70 w 7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6">
                  <a:moveTo>
                    <a:pt x="0" y="0"/>
                  </a:moveTo>
                  <a:lnTo>
                    <a:pt x="31" y="0"/>
                  </a:lnTo>
                  <a:lnTo>
                    <a:pt x="70" y="28"/>
                  </a:lnTo>
                  <a:lnTo>
                    <a:pt x="70" y="56"/>
                  </a:lnTo>
                  <a:lnTo>
                    <a:pt x="39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49" name="Freeform 2048"/>
            <p:cNvSpPr>
              <a:spLocks/>
            </p:cNvSpPr>
            <p:nvPr/>
          </p:nvSpPr>
          <p:spPr bwMode="auto">
            <a:xfrm>
              <a:off x="2014" y="2950"/>
              <a:ext cx="62" cy="56"/>
            </a:xfrm>
            <a:custGeom>
              <a:avLst/>
              <a:gdLst>
                <a:gd name="T0" fmla="*/ 0 w 62"/>
                <a:gd name="T1" fmla="*/ 0 h 56"/>
                <a:gd name="T2" fmla="*/ 31 w 62"/>
                <a:gd name="T3" fmla="*/ 0 h 56"/>
                <a:gd name="T4" fmla="*/ 62 w 62"/>
                <a:gd name="T5" fmla="*/ 28 h 56"/>
                <a:gd name="T6" fmla="*/ 62 w 62"/>
                <a:gd name="T7" fmla="*/ 56 h 56"/>
                <a:gd name="T8" fmla="*/ 31 w 62"/>
                <a:gd name="T9" fmla="*/ 56 h 56"/>
                <a:gd name="T10" fmla="*/ 0 w 62"/>
                <a:gd name="T11" fmla="*/ 28 h 56"/>
                <a:gd name="T12" fmla="*/ 0 w 62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2"/>
                <a:gd name="T22" fmla="*/ 0 h 56"/>
                <a:gd name="T23" fmla="*/ 62 w 62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2" h="56">
                  <a:moveTo>
                    <a:pt x="0" y="0"/>
                  </a:moveTo>
                  <a:lnTo>
                    <a:pt x="31" y="0"/>
                  </a:lnTo>
                  <a:lnTo>
                    <a:pt x="62" y="28"/>
                  </a:lnTo>
                  <a:lnTo>
                    <a:pt x="62" y="56"/>
                  </a:lnTo>
                  <a:lnTo>
                    <a:pt x="31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0" name="Freeform 2049"/>
            <p:cNvSpPr>
              <a:spLocks/>
            </p:cNvSpPr>
            <p:nvPr/>
          </p:nvSpPr>
          <p:spPr bwMode="auto">
            <a:xfrm>
              <a:off x="2045" y="2978"/>
              <a:ext cx="70" cy="57"/>
            </a:xfrm>
            <a:custGeom>
              <a:avLst/>
              <a:gdLst>
                <a:gd name="T0" fmla="*/ 0 w 70"/>
                <a:gd name="T1" fmla="*/ 0 h 57"/>
                <a:gd name="T2" fmla="*/ 31 w 70"/>
                <a:gd name="T3" fmla="*/ 0 h 57"/>
                <a:gd name="T4" fmla="*/ 70 w 70"/>
                <a:gd name="T5" fmla="*/ 28 h 57"/>
                <a:gd name="T6" fmla="*/ 70 w 70"/>
                <a:gd name="T7" fmla="*/ 57 h 57"/>
                <a:gd name="T8" fmla="*/ 39 w 70"/>
                <a:gd name="T9" fmla="*/ 57 h 57"/>
                <a:gd name="T10" fmla="*/ 0 w 70"/>
                <a:gd name="T11" fmla="*/ 28 h 57"/>
                <a:gd name="T12" fmla="*/ 0 w 70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7"/>
                <a:gd name="T23" fmla="*/ 70 w 70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7">
                  <a:moveTo>
                    <a:pt x="0" y="0"/>
                  </a:moveTo>
                  <a:lnTo>
                    <a:pt x="31" y="0"/>
                  </a:lnTo>
                  <a:lnTo>
                    <a:pt x="70" y="28"/>
                  </a:lnTo>
                  <a:lnTo>
                    <a:pt x="70" y="57"/>
                  </a:lnTo>
                  <a:lnTo>
                    <a:pt x="39" y="57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1" name="Freeform 2050"/>
            <p:cNvSpPr>
              <a:spLocks/>
            </p:cNvSpPr>
            <p:nvPr/>
          </p:nvSpPr>
          <p:spPr bwMode="auto">
            <a:xfrm>
              <a:off x="2084" y="3006"/>
              <a:ext cx="70" cy="57"/>
            </a:xfrm>
            <a:custGeom>
              <a:avLst/>
              <a:gdLst>
                <a:gd name="T0" fmla="*/ 0 w 70"/>
                <a:gd name="T1" fmla="*/ 0 h 57"/>
                <a:gd name="T2" fmla="*/ 31 w 70"/>
                <a:gd name="T3" fmla="*/ 0 h 57"/>
                <a:gd name="T4" fmla="*/ 70 w 70"/>
                <a:gd name="T5" fmla="*/ 29 h 57"/>
                <a:gd name="T6" fmla="*/ 70 w 70"/>
                <a:gd name="T7" fmla="*/ 57 h 57"/>
                <a:gd name="T8" fmla="*/ 39 w 70"/>
                <a:gd name="T9" fmla="*/ 57 h 57"/>
                <a:gd name="T10" fmla="*/ 0 w 70"/>
                <a:gd name="T11" fmla="*/ 29 h 57"/>
                <a:gd name="T12" fmla="*/ 0 w 70"/>
                <a:gd name="T13" fmla="*/ 0 h 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7"/>
                <a:gd name="T23" fmla="*/ 70 w 70"/>
                <a:gd name="T24" fmla="*/ 57 h 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7">
                  <a:moveTo>
                    <a:pt x="0" y="0"/>
                  </a:moveTo>
                  <a:lnTo>
                    <a:pt x="31" y="0"/>
                  </a:lnTo>
                  <a:lnTo>
                    <a:pt x="70" y="29"/>
                  </a:lnTo>
                  <a:lnTo>
                    <a:pt x="70" y="57"/>
                  </a:lnTo>
                  <a:lnTo>
                    <a:pt x="39" y="57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2" name="Freeform 2051"/>
            <p:cNvSpPr>
              <a:spLocks/>
            </p:cNvSpPr>
            <p:nvPr/>
          </p:nvSpPr>
          <p:spPr bwMode="auto">
            <a:xfrm>
              <a:off x="2123" y="3035"/>
              <a:ext cx="78" cy="56"/>
            </a:xfrm>
            <a:custGeom>
              <a:avLst/>
              <a:gdLst>
                <a:gd name="T0" fmla="*/ 0 w 78"/>
                <a:gd name="T1" fmla="*/ 0 h 56"/>
                <a:gd name="T2" fmla="*/ 31 w 78"/>
                <a:gd name="T3" fmla="*/ 0 h 56"/>
                <a:gd name="T4" fmla="*/ 78 w 78"/>
                <a:gd name="T5" fmla="*/ 28 h 56"/>
                <a:gd name="T6" fmla="*/ 78 w 78"/>
                <a:gd name="T7" fmla="*/ 56 h 56"/>
                <a:gd name="T8" fmla="*/ 47 w 78"/>
                <a:gd name="T9" fmla="*/ 56 h 56"/>
                <a:gd name="T10" fmla="*/ 0 w 78"/>
                <a:gd name="T11" fmla="*/ 28 h 56"/>
                <a:gd name="T12" fmla="*/ 0 w 78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56"/>
                <a:gd name="T23" fmla="*/ 78 w 78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56">
                  <a:moveTo>
                    <a:pt x="0" y="0"/>
                  </a:moveTo>
                  <a:lnTo>
                    <a:pt x="31" y="0"/>
                  </a:lnTo>
                  <a:lnTo>
                    <a:pt x="78" y="28"/>
                  </a:lnTo>
                  <a:lnTo>
                    <a:pt x="78" y="56"/>
                  </a:lnTo>
                  <a:lnTo>
                    <a:pt x="47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3" name="Freeform 2052"/>
            <p:cNvSpPr>
              <a:spLocks/>
            </p:cNvSpPr>
            <p:nvPr/>
          </p:nvSpPr>
          <p:spPr bwMode="auto">
            <a:xfrm>
              <a:off x="2170" y="3063"/>
              <a:ext cx="70" cy="56"/>
            </a:xfrm>
            <a:custGeom>
              <a:avLst/>
              <a:gdLst>
                <a:gd name="T0" fmla="*/ 0 w 70"/>
                <a:gd name="T1" fmla="*/ 0 h 56"/>
                <a:gd name="T2" fmla="*/ 31 w 70"/>
                <a:gd name="T3" fmla="*/ 0 h 56"/>
                <a:gd name="T4" fmla="*/ 70 w 70"/>
                <a:gd name="T5" fmla="*/ 28 h 56"/>
                <a:gd name="T6" fmla="*/ 70 w 70"/>
                <a:gd name="T7" fmla="*/ 56 h 56"/>
                <a:gd name="T8" fmla="*/ 39 w 70"/>
                <a:gd name="T9" fmla="*/ 56 h 56"/>
                <a:gd name="T10" fmla="*/ 0 w 70"/>
                <a:gd name="T11" fmla="*/ 28 h 56"/>
                <a:gd name="T12" fmla="*/ 0 w 70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56"/>
                <a:gd name="T23" fmla="*/ 70 w 70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56">
                  <a:moveTo>
                    <a:pt x="0" y="0"/>
                  </a:moveTo>
                  <a:lnTo>
                    <a:pt x="31" y="0"/>
                  </a:lnTo>
                  <a:lnTo>
                    <a:pt x="70" y="28"/>
                  </a:lnTo>
                  <a:lnTo>
                    <a:pt x="70" y="56"/>
                  </a:lnTo>
                  <a:lnTo>
                    <a:pt x="39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4" name="Freeform 2053"/>
            <p:cNvSpPr>
              <a:spLocks/>
            </p:cNvSpPr>
            <p:nvPr/>
          </p:nvSpPr>
          <p:spPr bwMode="auto">
            <a:xfrm>
              <a:off x="2209" y="3091"/>
              <a:ext cx="86" cy="56"/>
            </a:xfrm>
            <a:custGeom>
              <a:avLst/>
              <a:gdLst>
                <a:gd name="T0" fmla="*/ 0 w 86"/>
                <a:gd name="T1" fmla="*/ 0 h 56"/>
                <a:gd name="T2" fmla="*/ 31 w 86"/>
                <a:gd name="T3" fmla="*/ 0 h 56"/>
                <a:gd name="T4" fmla="*/ 86 w 86"/>
                <a:gd name="T5" fmla="*/ 28 h 56"/>
                <a:gd name="T6" fmla="*/ 86 w 86"/>
                <a:gd name="T7" fmla="*/ 56 h 56"/>
                <a:gd name="T8" fmla="*/ 55 w 86"/>
                <a:gd name="T9" fmla="*/ 56 h 56"/>
                <a:gd name="T10" fmla="*/ 0 w 86"/>
                <a:gd name="T11" fmla="*/ 28 h 56"/>
                <a:gd name="T12" fmla="*/ 0 w 86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56"/>
                <a:gd name="T23" fmla="*/ 86 w 86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56">
                  <a:moveTo>
                    <a:pt x="0" y="0"/>
                  </a:moveTo>
                  <a:lnTo>
                    <a:pt x="31" y="0"/>
                  </a:lnTo>
                  <a:lnTo>
                    <a:pt x="86" y="28"/>
                  </a:lnTo>
                  <a:lnTo>
                    <a:pt x="86" y="56"/>
                  </a:lnTo>
                  <a:lnTo>
                    <a:pt x="55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5" name="Freeform 2054"/>
            <p:cNvSpPr>
              <a:spLocks/>
            </p:cNvSpPr>
            <p:nvPr/>
          </p:nvSpPr>
          <p:spPr bwMode="auto">
            <a:xfrm>
              <a:off x="2264" y="3119"/>
              <a:ext cx="78" cy="56"/>
            </a:xfrm>
            <a:custGeom>
              <a:avLst/>
              <a:gdLst>
                <a:gd name="T0" fmla="*/ 0 w 78"/>
                <a:gd name="T1" fmla="*/ 0 h 56"/>
                <a:gd name="T2" fmla="*/ 31 w 78"/>
                <a:gd name="T3" fmla="*/ 0 h 56"/>
                <a:gd name="T4" fmla="*/ 78 w 78"/>
                <a:gd name="T5" fmla="*/ 28 h 56"/>
                <a:gd name="T6" fmla="*/ 78 w 78"/>
                <a:gd name="T7" fmla="*/ 56 h 56"/>
                <a:gd name="T8" fmla="*/ 46 w 78"/>
                <a:gd name="T9" fmla="*/ 56 h 56"/>
                <a:gd name="T10" fmla="*/ 0 w 78"/>
                <a:gd name="T11" fmla="*/ 28 h 56"/>
                <a:gd name="T12" fmla="*/ 0 w 78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56"/>
                <a:gd name="T23" fmla="*/ 78 w 78"/>
                <a:gd name="T24" fmla="*/ 56 h 5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56">
                  <a:moveTo>
                    <a:pt x="0" y="0"/>
                  </a:moveTo>
                  <a:lnTo>
                    <a:pt x="31" y="0"/>
                  </a:lnTo>
                  <a:lnTo>
                    <a:pt x="78" y="28"/>
                  </a:lnTo>
                  <a:lnTo>
                    <a:pt x="78" y="56"/>
                  </a:lnTo>
                  <a:lnTo>
                    <a:pt x="46" y="56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6" name="Freeform 2055"/>
            <p:cNvSpPr>
              <a:spLocks/>
            </p:cNvSpPr>
            <p:nvPr/>
          </p:nvSpPr>
          <p:spPr bwMode="auto">
            <a:xfrm>
              <a:off x="2310" y="3147"/>
              <a:ext cx="55" cy="42"/>
            </a:xfrm>
            <a:custGeom>
              <a:avLst/>
              <a:gdLst>
                <a:gd name="T0" fmla="*/ 0 w 55"/>
                <a:gd name="T1" fmla="*/ 0 h 42"/>
                <a:gd name="T2" fmla="*/ 32 w 55"/>
                <a:gd name="T3" fmla="*/ 0 h 42"/>
                <a:gd name="T4" fmla="*/ 55 w 55"/>
                <a:gd name="T5" fmla="*/ 14 h 42"/>
                <a:gd name="T6" fmla="*/ 55 w 55"/>
                <a:gd name="T7" fmla="*/ 42 h 42"/>
                <a:gd name="T8" fmla="*/ 24 w 55"/>
                <a:gd name="T9" fmla="*/ 42 h 42"/>
                <a:gd name="T10" fmla="*/ 0 w 55"/>
                <a:gd name="T11" fmla="*/ 28 h 42"/>
                <a:gd name="T12" fmla="*/ 0 w 55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42"/>
                <a:gd name="T23" fmla="*/ 55 w 55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42">
                  <a:moveTo>
                    <a:pt x="0" y="0"/>
                  </a:moveTo>
                  <a:lnTo>
                    <a:pt x="32" y="0"/>
                  </a:lnTo>
                  <a:lnTo>
                    <a:pt x="55" y="14"/>
                  </a:lnTo>
                  <a:lnTo>
                    <a:pt x="55" y="42"/>
                  </a:lnTo>
                  <a:lnTo>
                    <a:pt x="24" y="42"/>
                  </a:ln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7" name="Line 420"/>
            <p:cNvSpPr>
              <a:spLocks noChangeShapeType="1"/>
            </p:cNvSpPr>
            <p:nvPr/>
          </p:nvSpPr>
          <p:spPr bwMode="auto">
            <a:xfrm>
              <a:off x="3599" y="3058"/>
              <a:ext cx="5" cy="5"/>
            </a:xfrm>
            <a:prstGeom prst="line">
              <a:avLst/>
            </a:prstGeom>
            <a:noFill/>
            <a:ln w="25400">
              <a:solidFill>
                <a:srgbClr val="12121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8" name="Line 421"/>
            <p:cNvSpPr>
              <a:spLocks noChangeShapeType="1"/>
            </p:cNvSpPr>
            <p:nvPr/>
          </p:nvSpPr>
          <p:spPr bwMode="auto">
            <a:xfrm>
              <a:off x="3599" y="3058"/>
              <a:ext cx="5" cy="5"/>
            </a:xfrm>
            <a:prstGeom prst="line">
              <a:avLst/>
            </a:prstGeom>
            <a:noFill/>
            <a:ln w="25400">
              <a:solidFill>
                <a:srgbClr val="18181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59" name="Line 422"/>
            <p:cNvSpPr>
              <a:spLocks noChangeShapeType="1"/>
            </p:cNvSpPr>
            <p:nvPr/>
          </p:nvSpPr>
          <p:spPr bwMode="auto">
            <a:xfrm>
              <a:off x="3599" y="3044"/>
              <a:ext cx="21" cy="19"/>
            </a:xfrm>
            <a:prstGeom prst="line">
              <a:avLst/>
            </a:prstGeom>
            <a:noFill/>
            <a:ln w="25400">
              <a:solidFill>
                <a:srgbClr val="1F1F1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0" name="Line 423"/>
            <p:cNvSpPr>
              <a:spLocks noChangeShapeType="1"/>
            </p:cNvSpPr>
            <p:nvPr/>
          </p:nvSpPr>
          <p:spPr bwMode="auto">
            <a:xfrm>
              <a:off x="3599" y="3030"/>
              <a:ext cx="37" cy="33"/>
            </a:xfrm>
            <a:prstGeom prst="line">
              <a:avLst/>
            </a:prstGeom>
            <a:noFill/>
            <a:ln w="25400">
              <a:solidFill>
                <a:srgbClr val="25252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1" name="Line 424"/>
            <p:cNvSpPr>
              <a:spLocks noChangeShapeType="1"/>
            </p:cNvSpPr>
            <p:nvPr/>
          </p:nvSpPr>
          <p:spPr bwMode="auto">
            <a:xfrm>
              <a:off x="3599" y="3030"/>
              <a:ext cx="37" cy="33"/>
            </a:xfrm>
            <a:prstGeom prst="line">
              <a:avLst/>
            </a:prstGeom>
            <a:noFill/>
            <a:ln w="25400">
              <a:solidFill>
                <a:srgbClr val="2B2B2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2" name="Line 425"/>
            <p:cNvSpPr>
              <a:spLocks noChangeShapeType="1"/>
            </p:cNvSpPr>
            <p:nvPr/>
          </p:nvSpPr>
          <p:spPr bwMode="auto">
            <a:xfrm>
              <a:off x="3599" y="3017"/>
              <a:ext cx="52" cy="46"/>
            </a:xfrm>
            <a:prstGeom prst="line">
              <a:avLst/>
            </a:prstGeom>
            <a:noFill/>
            <a:ln w="25400">
              <a:solidFill>
                <a:srgbClr val="31313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3" name="Line 426"/>
            <p:cNvSpPr>
              <a:spLocks noChangeShapeType="1"/>
            </p:cNvSpPr>
            <p:nvPr/>
          </p:nvSpPr>
          <p:spPr bwMode="auto">
            <a:xfrm>
              <a:off x="3599" y="3003"/>
              <a:ext cx="68" cy="60"/>
            </a:xfrm>
            <a:prstGeom prst="line">
              <a:avLst/>
            </a:prstGeom>
            <a:noFill/>
            <a:ln w="25400">
              <a:solidFill>
                <a:srgbClr val="38383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4" name="Line 427"/>
            <p:cNvSpPr>
              <a:spLocks noChangeShapeType="1"/>
            </p:cNvSpPr>
            <p:nvPr/>
          </p:nvSpPr>
          <p:spPr bwMode="auto">
            <a:xfrm>
              <a:off x="3599" y="2996"/>
              <a:ext cx="76" cy="67"/>
            </a:xfrm>
            <a:prstGeom prst="line">
              <a:avLst/>
            </a:prstGeom>
            <a:noFill/>
            <a:ln w="25400">
              <a:solidFill>
                <a:srgbClr val="3E3E3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5" name="Line 428"/>
            <p:cNvSpPr>
              <a:spLocks noChangeShapeType="1"/>
            </p:cNvSpPr>
            <p:nvPr/>
          </p:nvSpPr>
          <p:spPr bwMode="auto">
            <a:xfrm>
              <a:off x="3599" y="2989"/>
              <a:ext cx="85" cy="74"/>
            </a:xfrm>
            <a:prstGeom prst="line">
              <a:avLst/>
            </a:prstGeom>
            <a:noFill/>
            <a:ln w="25400">
              <a:solidFill>
                <a:srgbClr val="44444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6" name="Line 429"/>
            <p:cNvSpPr>
              <a:spLocks noChangeShapeType="1"/>
            </p:cNvSpPr>
            <p:nvPr/>
          </p:nvSpPr>
          <p:spPr bwMode="auto">
            <a:xfrm>
              <a:off x="3599" y="2975"/>
              <a:ext cx="100" cy="88"/>
            </a:xfrm>
            <a:prstGeom prst="line">
              <a:avLst/>
            </a:prstGeom>
            <a:noFill/>
            <a:ln w="25400">
              <a:solidFill>
                <a:srgbClr val="4A4A4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7" name="Line 430"/>
            <p:cNvSpPr>
              <a:spLocks noChangeShapeType="1"/>
            </p:cNvSpPr>
            <p:nvPr/>
          </p:nvSpPr>
          <p:spPr bwMode="auto">
            <a:xfrm>
              <a:off x="3599" y="2968"/>
              <a:ext cx="108" cy="95"/>
            </a:xfrm>
            <a:prstGeom prst="line">
              <a:avLst/>
            </a:prstGeom>
            <a:noFill/>
            <a:ln w="25400">
              <a:solidFill>
                <a:srgbClr val="51515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8" name="Line 431"/>
            <p:cNvSpPr>
              <a:spLocks noChangeShapeType="1"/>
            </p:cNvSpPr>
            <p:nvPr/>
          </p:nvSpPr>
          <p:spPr bwMode="auto">
            <a:xfrm>
              <a:off x="3599" y="2961"/>
              <a:ext cx="117" cy="102"/>
            </a:xfrm>
            <a:prstGeom prst="line">
              <a:avLst/>
            </a:prstGeom>
            <a:noFill/>
            <a:ln w="25400">
              <a:solidFill>
                <a:srgbClr val="57575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69" name="Line 432"/>
            <p:cNvSpPr>
              <a:spLocks noChangeShapeType="1"/>
            </p:cNvSpPr>
            <p:nvPr/>
          </p:nvSpPr>
          <p:spPr bwMode="auto">
            <a:xfrm>
              <a:off x="3599" y="2948"/>
              <a:ext cx="132" cy="115"/>
            </a:xfrm>
            <a:prstGeom prst="line">
              <a:avLst/>
            </a:prstGeom>
            <a:noFill/>
            <a:ln w="25400">
              <a:solidFill>
                <a:srgbClr val="5D5D5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0" name="Line 433"/>
            <p:cNvSpPr>
              <a:spLocks noChangeShapeType="1"/>
            </p:cNvSpPr>
            <p:nvPr/>
          </p:nvSpPr>
          <p:spPr bwMode="auto">
            <a:xfrm>
              <a:off x="3599" y="2934"/>
              <a:ext cx="148" cy="128"/>
            </a:xfrm>
            <a:prstGeom prst="line">
              <a:avLst/>
            </a:prstGeom>
            <a:noFill/>
            <a:ln w="25400">
              <a:solidFill>
                <a:srgbClr val="63636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1" name="Line 434"/>
            <p:cNvSpPr>
              <a:spLocks noChangeShapeType="1"/>
            </p:cNvSpPr>
            <p:nvPr/>
          </p:nvSpPr>
          <p:spPr bwMode="auto">
            <a:xfrm>
              <a:off x="3599" y="2927"/>
              <a:ext cx="148" cy="128"/>
            </a:xfrm>
            <a:prstGeom prst="line">
              <a:avLst/>
            </a:prstGeom>
            <a:noFill/>
            <a:ln w="25400">
              <a:solidFill>
                <a:srgbClr val="6A6A6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2" name="Line 435"/>
            <p:cNvSpPr>
              <a:spLocks noChangeShapeType="1"/>
            </p:cNvSpPr>
            <p:nvPr/>
          </p:nvSpPr>
          <p:spPr bwMode="auto">
            <a:xfrm>
              <a:off x="3599" y="2920"/>
              <a:ext cx="148" cy="128"/>
            </a:xfrm>
            <a:prstGeom prst="line">
              <a:avLst/>
            </a:prstGeom>
            <a:noFill/>
            <a:ln w="25400">
              <a:solidFill>
                <a:srgbClr val="70707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3" name="Line 436"/>
            <p:cNvSpPr>
              <a:spLocks noChangeShapeType="1"/>
            </p:cNvSpPr>
            <p:nvPr/>
          </p:nvSpPr>
          <p:spPr bwMode="auto">
            <a:xfrm>
              <a:off x="3599" y="2906"/>
              <a:ext cx="148" cy="129"/>
            </a:xfrm>
            <a:prstGeom prst="line">
              <a:avLst/>
            </a:prstGeom>
            <a:noFill/>
            <a:ln w="25400">
              <a:solidFill>
                <a:srgbClr val="76767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4" name="Line 437"/>
            <p:cNvSpPr>
              <a:spLocks noChangeShapeType="1"/>
            </p:cNvSpPr>
            <p:nvPr/>
          </p:nvSpPr>
          <p:spPr bwMode="auto">
            <a:xfrm>
              <a:off x="3599" y="2899"/>
              <a:ext cx="148" cy="129"/>
            </a:xfrm>
            <a:prstGeom prst="line">
              <a:avLst/>
            </a:prstGeom>
            <a:noFill/>
            <a:ln w="25400">
              <a:solidFill>
                <a:srgbClr val="7C7C7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5" name="Line 438"/>
            <p:cNvSpPr>
              <a:spLocks noChangeShapeType="1"/>
            </p:cNvSpPr>
            <p:nvPr/>
          </p:nvSpPr>
          <p:spPr bwMode="auto">
            <a:xfrm>
              <a:off x="3599" y="2892"/>
              <a:ext cx="148" cy="129"/>
            </a:xfrm>
            <a:prstGeom prst="line">
              <a:avLst/>
            </a:prstGeom>
            <a:noFill/>
            <a:ln w="25400">
              <a:solidFill>
                <a:srgbClr val="83838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6" name="Line 439"/>
            <p:cNvSpPr>
              <a:spLocks noChangeShapeType="1"/>
            </p:cNvSpPr>
            <p:nvPr/>
          </p:nvSpPr>
          <p:spPr bwMode="auto">
            <a:xfrm>
              <a:off x="3599" y="2879"/>
              <a:ext cx="148" cy="128"/>
            </a:xfrm>
            <a:prstGeom prst="line">
              <a:avLst/>
            </a:prstGeom>
            <a:noFill/>
            <a:ln w="25400">
              <a:solidFill>
                <a:srgbClr val="89898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7" name="Line 440"/>
            <p:cNvSpPr>
              <a:spLocks noChangeShapeType="1"/>
            </p:cNvSpPr>
            <p:nvPr/>
          </p:nvSpPr>
          <p:spPr bwMode="auto">
            <a:xfrm>
              <a:off x="3599" y="2872"/>
              <a:ext cx="148" cy="128"/>
            </a:xfrm>
            <a:prstGeom prst="line">
              <a:avLst/>
            </a:prstGeom>
            <a:noFill/>
            <a:ln w="25400">
              <a:solidFill>
                <a:srgbClr val="8F8F8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8" name="Line 441"/>
            <p:cNvSpPr>
              <a:spLocks noChangeShapeType="1"/>
            </p:cNvSpPr>
            <p:nvPr/>
          </p:nvSpPr>
          <p:spPr bwMode="auto">
            <a:xfrm>
              <a:off x="3599" y="2858"/>
              <a:ext cx="148" cy="128"/>
            </a:xfrm>
            <a:prstGeom prst="line">
              <a:avLst/>
            </a:prstGeom>
            <a:noFill/>
            <a:ln w="25400">
              <a:solidFill>
                <a:srgbClr val="95959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79" name="Line 442"/>
            <p:cNvSpPr>
              <a:spLocks noChangeShapeType="1"/>
            </p:cNvSpPr>
            <p:nvPr/>
          </p:nvSpPr>
          <p:spPr bwMode="auto">
            <a:xfrm>
              <a:off x="3599" y="2851"/>
              <a:ext cx="148" cy="128"/>
            </a:xfrm>
            <a:prstGeom prst="line">
              <a:avLst/>
            </a:prstGeom>
            <a:noFill/>
            <a:ln w="25400">
              <a:solidFill>
                <a:srgbClr val="9C9C9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0" name="Line 443"/>
            <p:cNvSpPr>
              <a:spLocks noChangeShapeType="1"/>
            </p:cNvSpPr>
            <p:nvPr/>
          </p:nvSpPr>
          <p:spPr bwMode="auto">
            <a:xfrm>
              <a:off x="3600" y="2845"/>
              <a:ext cx="147" cy="127"/>
            </a:xfrm>
            <a:prstGeom prst="line">
              <a:avLst/>
            </a:prstGeom>
            <a:noFill/>
            <a:ln w="25400">
              <a:solidFill>
                <a:srgbClr val="A2A2A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1" name="Line 444"/>
            <p:cNvSpPr>
              <a:spLocks noChangeShapeType="1"/>
            </p:cNvSpPr>
            <p:nvPr/>
          </p:nvSpPr>
          <p:spPr bwMode="auto">
            <a:xfrm>
              <a:off x="3616" y="2845"/>
              <a:ext cx="131" cy="114"/>
            </a:xfrm>
            <a:prstGeom prst="line">
              <a:avLst/>
            </a:prstGeom>
            <a:noFill/>
            <a:ln w="25400">
              <a:solidFill>
                <a:srgbClr val="A8A8A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2" name="Line 445"/>
            <p:cNvSpPr>
              <a:spLocks noChangeShapeType="1"/>
            </p:cNvSpPr>
            <p:nvPr/>
          </p:nvSpPr>
          <p:spPr bwMode="auto">
            <a:xfrm>
              <a:off x="3624" y="2845"/>
              <a:ext cx="123" cy="107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3" name="Line 446"/>
            <p:cNvSpPr>
              <a:spLocks noChangeShapeType="1"/>
            </p:cNvSpPr>
            <p:nvPr/>
          </p:nvSpPr>
          <p:spPr bwMode="auto">
            <a:xfrm>
              <a:off x="3639" y="2845"/>
              <a:ext cx="108" cy="94"/>
            </a:xfrm>
            <a:prstGeom prst="line">
              <a:avLst/>
            </a:prstGeom>
            <a:noFill/>
            <a:ln w="25400">
              <a:solidFill>
                <a:srgbClr val="B5B5B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4" name="Line 447"/>
            <p:cNvSpPr>
              <a:spLocks noChangeShapeType="1"/>
            </p:cNvSpPr>
            <p:nvPr/>
          </p:nvSpPr>
          <p:spPr bwMode="auto">
            <a:xfrm>
              <a:off x="3648" y="2845"/>
              <a:ext cx="99" cy="86"/>
            </a:xfrm>
            <a:prstGeom prst="line">
              <a:avLst/>
            </a:prstGeom>
            <a:noFill/>
            <a:ln w="25400">
              <a:solidFill>
                <a:srgbClr val="BBBBB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5" name="Line 448"/>
            <p:cNvSpPr>
              <a:spLocks noChangeShapeType="1"/>
            </p:cNvSpPr>
            <p:nvPr/>
          </p:nvSpPr>
          <p:spPr bwMode="auto">
            <a:xfrm>
              <a:off x="3664" y="2845"/>
              <a:ext cx="83" cy="72"/>
            </a:xfrm>
            <a:prstGeom prst="line">
              <a:avLst/>
            </a:prstGeom>
            <a:noFill/>
            <a:ln w="25400">
              <a:solidFill>
                <a:srgbClr val="C1C1C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6" name="Line 449"/>
            <p:cNvSpPr>
              <a:spLocks noChangeShapeType="1"/>
            </p:cNvSpPr>
            <p:nvPr/>
          </p:nvSpPr>
          <p:spPr bwMode="auto">
            <a:xfrm>
              <a:off x="3672" y="2845"/>
              <a:ext cx="75" cy="65"/>
            </a:xfrm>
            <a:prstGeom prst="line">
              <a:avLst/>
            </a:prstGeom>
            <a:noFill/>
            <a:ln w="25400">
              <a:solidFill>
                <a:srgbClr val="C7C7C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7" name="Line 450"/>
            <p:cNvSpPr>
              <a:spLocks noChangeShapeType="1"/>
            </p:cNvSpPr>
            <p:nvPr/>
          </p:nvSpPr>
          <p:spPr bwMode="auto">
            <a:xfrm>
              <a:off x="3680" y="2845"/>
              <a:ext cx="67" cy="58"/>
            </a:xfrm>
            <a:prstGeom prst="line">
              <a:avLst/>
            </a:prstGeom>
            <a:noFill/>
            <a:ln w="25400">
              <a:solidFill>
                <a:srgbClr val="CECEC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8" name="Line 451"/>
            <p:cNvSpPr>
              <a:spLocks noChangeShapeType="1"/>
            </p:cNvSpPr>
            <p:nvPr/>
          </p:nvSpPr>
          <p:spPr bwMode="auto">
            <a:xfrm>
              <a:off x="3696" y="2845"/>
              <a:ext cx="51" cy="44"/>
            </a:xfrm>
            <a:prstGeom prst="line">
              <a:avLst/>
            </a:prstGeom>
            <a:noFill/>
            <a:ln w="25400">
              <a:solidFill>
                <a:srgbClr val="D4D4D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89" name="Line 452"/>
            <p:cNvSpPr>
              <a:spLocks noChangeShapeType="1"/>
            </p:cNvSpPr>
            <p:nvPr/>
          </p:nvSpPr>
          <p:spPr bwMode="auto">
            <a:xfrm>
              <a:off x="3703" y="2845"/>
              <a:ext cx="44" cy="38"/>
            </a:xfrm>
            <a:prstGeom prst="line">
              <a:avLst/>
            </a:prstGeom>
            <a:noFill/>
            <a:ln w="25400">
              <a:solidFill>
                <a:srgbClr val="DADAD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0" name="Line 453"/>
            <p:cNvSpPr>
              <a:spLocks noChangeShapeType="1"/>
            </p:cNvSpPr>
            <p:nvPr/>
          </p:nvSpPr>
          <p:spPr bwMode="auto">
            <a:xfrm>
              <a:off x="3711" y="2845"/>
              <a:ext cx="36" cy="31"/>
            </a:xfrm>
            <a:prstGeom prst="line">
              <a:avLst/>
            </a:prstGeom>
            <a:noFill/>
            <a:ln w="2540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1" name="Line 454"/>
            <p:cNvSpPr>
              <a:spLocks noChangeShapeType="1"/>
            </p:cNvSpPr>
            <p:nvPr/>
          </p:nvSpPr>
          <p:spPr bwMode="auto">
            <a:xfrm>
              <a:off x="3727" y="2845"/>
              <a:ext cx="20" cy="17"/>
            </a:xfrm>
            <a:prstGeom prst="line">
              <a:avLst/>
            </a:prstGeom>
            <a:noFill/>
            <a:ln w="25400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2" name="Line 455"/>
            <p:cNvSpPr>
              <a:spLocks noChangeShapeType="1"/>
            </p:cNvSpPr>
            <p:nvPr/>
          </p:nvSpPr>
          <p:spPr bwMode="auto">
            <a:xfrm>
              <a:off x="3743" y="2845"/>
              <a:ext cx="4" cy="3"/>
            </a:xfrm>
            <a:prstGeom prst="line">
              <a:avLst/>
            </a:prstGeom>
            <a:noFill/>
            <a:ln w="25400">
              <a:solidFill>
                <a:srgbClr val="EDEDE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3" name="Line 456"/>
            <p:cNvSpPr>
              <a:spLocks noChangeShapeType="1"/>
            </p:cNvSpPr>
            <p:nvPr/>
          </p:nvSpPr>
          <p:spPr bwMode="auto">
            <a:xfrm>
              <a:off x="3743" y="2845"/>
              <a:ext cx="4" cy="3"/>
            </a:xfrm>
            <a:prstGeom prst="line">
              <a:avLst/>
            </a:prstGeom>
            <a:noFill/>
            <a:ln w="25400">
              <a:solidFill>
                <a:srgbClr val="F3F3F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4" name="Freeform 2093"/>
            <p:cNvSpPr>
              <a:spLocks/>
            </p:cNvSpPr>
            <p:nvPr/>
          </p:nvSpPr>
          <p:spPr bwMode="auto">
            <a:xfrm>
              <a:off x="3599" y="2838"/>
              <a:ext cx="148" cy="225"/>
            </a:xfrm>
            <a:custGeom>
              <a:avLst/>
              <a:gdLst>
                <a:gd name="T0" fmla="*/ 0 w 148"/>
                <a:gd name="T1" fmla="*/ 49 h 225"/>
                <a:gd name="T2" fmla="*/ 148 w 148"/>
                <a:gd name="T3" fmla="*/ 0 h 225"/>
                <a:gd name="T4" fmla="*/ 148 w 148"/>
                <a:gd name="T5" fmla="*/ 140 h 225"/>
                <a:gd name="T6" fmla="*/ 0 w 148"/>
                <a:gd name="T7" fmla="*/ 225 h 225"/>
                <a:gd name="T8" fmla="*/ 0 w 148"/>
                <a:gd name="T9" fmla="*/ 49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"/>
                <a:gd name="T16" fmla="*/ 0 h 225"/>
                <a:gd name="T17" fmla="*/ 148 w 148"/>
                <a:gd name="T18" fmla="*/ 225 h 2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" h="225">
                  <a:moveTo>
                    <a:pt x="0" y="49"/>
                  </a:moveTo>
                  <a:lnTo>
                    <a:pt x="148" y="0"/>
                  </a:lnTo>
                  <a:lnTo>
                    <a:pt x="148" y="140"/>
                  </a:lnTo>
                  <a:lnTo>
                    <a:pt x="0" y="225"/>
                  </a:lnTo>
                  <a:lnTo>
                    <a:pt x="0" y="49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5" name="Line 458"/>
            <p:cNvSpPr>
              <a:spLocks noChangeShapeType="1"/>
            </p:cNvSpPr>
            <p:nvPr/>
          </p:nvSpPr>
          <p:spPr bwMode="auto">
            <a:xfrm flipV="1">
              <a:off x="3740" y="2881"/>
              <a:ext cx="7" cy="6"/>
            </a:xfrm>
            <a:prstGeom prst="line">
              <a:avLst/>
            </a:prstGeom>
            <a:noFill/>
            <a:ln w="25400">
              <a:solidFill>
                <a:srgbClr val="02020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6" name="Line 459"/>
            <p:cNvSpPr>
              <a:spLocks noChangeShapeType="1"/>
            </p:cNvSpPr>
            <p:nvPr/>
          </p:nvSpPr>
          <p:spPr bwMode="auto">
            <a:xfrm flipV="1">
              <a:off x="3724" y="2867"/>
              <a:ext cx="23" cy="20"/>
            </a:xfrm>
            <a:prstGeom prst="line">
              <a:avLst/>
            </a:prstGeom>
            <a:noFill/>
            <a:ln w="25400">
              <a:solidFill>
                <a:srgbClr val="04040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7" name="Line 460"/>
            <p:cNvSpPr>
              <a:spLocks noChangeShapeType="1"/>
            </p:cNvSpPr>
            <p:nvPr/>
          </p:nvSpPr>
          <p:spPr bwMode="auto">
            <a:xfrm flipV="1">
              <a:off x="3708" y="2852"/>
              <a:ext cx="39" cy="35"/>
            </a:xfrm>
            <a:prstGeom prst="line">
              <a:avLst/>
            </a:prstGeom>
            <a:noFill/>
            <a:ln w="25400">
              <a:solidFill>
                <a:srgbClr val="06060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8" name="Line 461"/>
            <p:cNvSpPr>
              <a:spLocks noChangeShapeType="1"/>
            </p:cNvSpPr>
            <p:nvPr/>
          </p:nvSpPr>
          <p:spPr bwMode="auto">
            <a:xfrm flipV="1">
              <a:off x="3708" y="2852"/>
              <a:ext cx="39" cy="35"/>
            </a:xfrm>
            <a:prstGeom prst="line">
              <a:avLst/>
            </a:prstGeom>
            <a:noFill/>
            <a:ln w="25400">
              <a:solidFill>
                <a:srgbClr val="08080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099" name="Line 462"/>
            <p:cNvSpPr>
              <a:spLocks noChangeShapeType="1"/>
            </p:cNvSpPr>
            <p:nvPr/>
          </p:nvSpPr>
          <p:spPr bwMode="auto">
            <a:xfrm flipV="1">
              <a:off x="3693" y="2839"/>
              <a:ext cx="54" cy="48"/>
            </a:xfrm>
            <a:prstGeom prst="line">
              <a:avLst/>
            </a:prstGeom>
            <a:noFill/>
            <a:ln w="25400">
              <a:solidFill>
                <a:srgbClr val="0A0A0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0" name="Line 463"/>
            <p:cNvSpPr>
              <a:spLocks noChangeShapeType="1"/>
            </p:cNvSpPr>
            <p:nvPr/>
          </p:nvSpPr>
          <p:spPr bwMode="auto">
            <a:xfrm flipV="1">
              <a:off x="3678" y="2838"/>
              <a:ext cx="54" cy="49"/>
            </a:xfrm>
            <a:prstGeom prst="line">
              <a:avLst/>
            </a:prstGeom>
            <a:noFill/>
            <a:ln w="25400">
              <a:solidFill>
                <a:srgbClr val="0C0C0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1" name="Line 464"/>
            <p:cNvSpPr>
              <a:spLocks noChangeShapeType="1"/>
            </p:cNvSpPr>
            <p:nvPr/>
          </p:nvSpPr>
          <p:spPr bwMode="auto">
            <a:xfrm flipV="1">
              <a:off x="3678" y="2838"/>
              <a:ext cx="54" cy="49"/>
            </a:xfrm>
            <a:prstGeom prst="line">
              <a:avLst/>
            </a:prstGeom>
            <a:noFill/>
            <a:ln w="25400">
              <a:solidFill>
                <a:srgbClr val="0E0E0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2" name="Line 465"/>
            <p:cNvSpPr>
              <a:spLocks noChangeShapeType="1"/>
            </p:cNvSpPr>
            <p:nvPr/>
          </p:nvSpPr>
          <p:spPr bwMode="auto">
            <a:xfrm flipV="1">
              <a:off x="3660" y="2838"/>
              <a:ext cx="54" cy="49"/>
            </a:xfrm>
            <a:prstGeom prst="line">
              <a:avLst/>
            </a:prstGeom>
            <a:noFill/>
            <a:ln w="25400">
              <a:solidFill>
                <a:srgbClr val="10101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3" name="Line 466"/>
            <p:cNvSpPr>
              <a:spLocks noChangeShapeType="1"/>
            </p:cNvSpPr>
            <p:nvPr/>
          </p:nvSpPr>
          <p:spPr bwMode="auto">
            <a:xfrm flipV="1">
              <a:off x="3645" y="2838"/>
              <a:ext cx="54" cy="49"/>
            </a:xfrm>
            <a:prstGeom prst="line">
              <a:avLst/>
            </a:prstGeom>
            <a:noFill/>
            <a:ln w="25400">
              <a:solidFill>
                <a:srgbClr val="12121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4" name="Line 467"/>
            <p:cNvSpPr>
              <a:spLocks noChangeShapeType="1"/>
            </p:cNvSpPr>
            <p:nvPr/>
          </p:nvSpPr>
          <p:spPr bwMode="auto">
            <a:xfrm flipV="1">
              <a:off x="3629" y="2838"/>
              <a:ext cx="54" cy="49"/>
            </a:xfrm>
            <a:prstGeom prst="line">
              <a:avLst/>
            </a:prstGeom>
            <a:noFill/>
            <a:ln w="25400">
              <a:solidFill>
                <a:srgbClr val="14141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5" name="Line 468"/>
            <p:cNvSpPr>
              <a:spLocks noChangeShapeType="1"/>
            </p:cNvSpPr>
            <p:nvPr/>
          </p:nvSpPr>
          <p:spPr bwMode="auto">
            <a:xfrm flipV="1">
              <a:off x="3629" y="2838"/>
              <a:ext cx="54" cy="49"/>
            </a:xfrm>
            <a:prstGeom prst="line">
              <a:avLst/>
            </a:prstGeom>
            <a:noFill/>
            <a:ln w="25400">
              <a:solidFill>
                <a:srgbClr val="16161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6" name="Line 469"/>
            <p:cNvSpPr>
              <a:spLocks noChangeShapeType="1"/>
            </p:cNvSpPr>
            <p:nvPr/>
          </p:nvSpPr>
          <p:spPr bwMode="auto">
            <a:xfrm flipV="1">
              <a:off x="3614" y="2838"/>
              <a:ext cx="54" cy="49"/>
            </a:xfrm>
            <a:prstGeom prst="line">
              <a:avLst/>
            </a:prstGeom>
            <a:noFill/>
            <a:ln w="25400">
              <a:solidFill>
                <a:srgbClr val="18181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7" name="Line 470"/>
            <p:cNvSpPr>
              <a:spLocks noChangeShapeType="1"/>
            </p:cNvSpPr>
            <p:nvPr/>
          </p:nvSpPr>
          <p:spPr bwMode="auto">
            <a:xfrm flipV="1">
              <a:off x="3599" y="2838"/>
              <a:ext cx="54" cy="49"/>
            </a:xfrm>
            <a:prstGeom prst="line">
              <a:avLst/>
            </a:prstGeom>
            <a:noFill/>
            <a:ln w="25400">
              <a:solidFill>
                <a:srgbClr val="1A1A1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8" name="Line 471"/>
            <p:cNvSpPr>
              <a:spLocks noChangeShapeType="1"/>
            </p:cNvSpPr>
            <p:nvPr/>
          </p:nvSpPr>
          <p:spPr bwMode="auto">
            <a:xfrm flipV="1">
              <a:off x="3599" y="2838"/>
              <a:ext cx="54" cy="49"/>
            </a:xfrm>
            <a:prstGeom prst="line">
              <a:avLst/>
            </a:prstGeom>
            <a:noFill/>
            <a:ln w="25400">
              <a:solidFill>
                <a:srgbClr val="1C1C1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09" name="Line 472"/>
            <p:cNvSpPr>
              <a:spLocks noChangeShapeType="1"/>
            </p:cNvSpPr>
            <p:nvPr/>
          </p:nvSpPr>
          <p:spPr bwMode="auto">
            <a:xfrm flipV="1">
              <a:off x="3583" y="2838"/>
              <a:ext cx="54" cy="49"/>
            </a:xfrm>
            <a:prstGeom prst="line">
              <a:avLst/>
            </a:prstGeom>
            <a:noFill/>
            <a:ln w="25400">
              <a:solidFill>
                <a:srgbClr val="1E1E1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0" name="Line 473"/>
            <p:cNvSpPr>
              <a:spLocks noChangeShapeType="1"/>
            </p:cNvSpPr>
            <p:nvPr/>
          </p:nvSpPr>
          <p:spPr bwMode="auto">
            <a:xfrm flipV="1">
              <a:off x="3567" y="2838"/>
              <a:ext cx="54" cy="49"/>
            </a:xfrm>
            <a:prstGeom prst="line">
              <a:avLst/>
            </a:prstGeom>
            <a:noFill/>
            <a:ln w="25400">
              <a:solidFill>
                <a:srgbClr val="21212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1" name="Line 474"/>
            <p:cNvSpPr>
              <a:spLocks noChangeShapeType="1"/>
            </p:cNvSpPr>
            <p:nvPr/>
          </p:nvSpPr>
          <p:spPr bwMode="auto">
            <a:xfrm flipV="1">
              <a:off x="3559" y="2838"/>
              <a:ext cx="54" cy="49"/>
            </a:xfrm>
            <a:prstGeom prst="line">
              <a:avLst/>
            </a:prstGeom>
            <a:noFill/>
            <a:ln w="25400">
              <a:solidFill>
                <a:srgbClr val="23232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2" name="Line 475"/>
            <p:cNvSpPr>
              <a:spLocks noChangeShapeType="1"/>
            </p:cNvSpPr>
            <p:nvPr/>
          </p:nvSpPr>
          <p:spPr bwMode="auto">
            <a:xfrm flipV="1">
              <a:off x="3551" y="2838"/>
              <a:ext cx="54" cy="49"/>
            </a:xfrm>
            <a:prstGeom prst="line">
              <a:avLst/>
            </a:prstGeom>
            <a:noFill/>
            <a:ln w="25400">
              <a:solidFill>
                <a:srgbClr val="25252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3" name="Line 476"/>
            <p:cNvSpPr>
              <a:spLocks noChangeShapeType="1"/>
            </p:cNvSpPr>
            <p:nvPr/>
          </p:nvSpPr>
          <p:spPr bwMode="auto">
            <a:xfrm flipV="1">
              <a:off x="3536" y="2838"/>
              <a:ext cx="54" cy="49"/>
            </a:xfrm>
            <a:prstGeom prst="line">
              <a:avLst/>
            </a:prstGeom>
            <a:noFill/>
            <a:ln w="25400">
              <a:solidFill>
                <a:srgbClr val="27272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4" name="Line 477"/>
            <p:cNvSpPr>
              <a:spLocks noChangeShapeType="1"/>
            </p:cNvSpPr>
            <p:nvPr/>
          </p:nvSpPr>
          <p:spPr bwMode="auto">
            <a:xfrm flipV="1">
              <a:off x="3521" y="2838"/>
              <a:ext cx="54" cy="49"/>
            </a:xfrm>
            <a:prstGeom prst="line">
              <a:avLst/>
            </a:prstGeom>
            <a:noFill/>
            <a:ln w="25400">
              <a:solidFill>
                <a:srgbClr val="29292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5" name="Line 478"/>
            <p:cNvSpPr>
              <a:spLocks noChangeShapeType="1"/>
            </p:cNvSpPr>
            <p:nvPr/>
          </p:nvSpPr>
          <p:spPr bwMode="auto">
            <a:xfrm flipV="1">
              <a:off x="3521" y="2838"/>
              <a:ext cx="54" cy="49"/>
            </a:xfrm>
            <a:prstGeom prst="line">
              <a:avLst/>
            </a:prstGeom>
            <a:noFill/>
            <a:ln w="25400">
              <a:solidFill>
                <a:srgbClr val="2B2B2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6" name="Line 479"/>
            <p:cNvSpPr>
              <a:spLocks noChangeShapeType="1"/>
            </p:cNvSpPr>
            <p:nvPr/>
          </p:nvSpPr>
          <p:spPr bwMode="auto">
            <a:xfrm flipV="1">
              <a:off x="3505" y="2838"/>
              <a:ext cx="54" cy="49"/>
            </a:xfrm>
            <a:prstGeom prst="line">
              <a:avLst/>
            </a:prstGeom>
            <a:noFill/>
            <a:ln w="25400">
              <a:solidFill>
                <a:srgbClr val="2D2D2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7" name="Line 480"/>
            <p:cNvSpPr>
              <a:spLocks noChangeShapeType="1"/>
            </p:cNvSpPr>
            <p:nvPr/>
          </p:nvSpPr>
          <p:spPr bwMode="auto">
            <a:xfrm flipV="1">
              <a:off x="3489" y="2838"/>
              <a:ext cx="54" cy="49"/>
            </a:xfrm>
            <a:prstGeom prst="line">
              <a:avLst/>
            </a:prstGeom>
            <a:noFill/>
            <a:ln w="25400">
              <a:solidFill>
                <a:srgbClr val="2F2F2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8" name="Line 481"/>
            <p:cNvSpPr>
              <a:spLocks noChangeShapeType="1"/>
            </p:cNvSpPr>
            <p:nvPr/>
          </p:nvSpPr>
          <p:spPr bwMode="auto">
            <a:xfrm flipV="1">
              <a:off x="3481" y="2838"/>
              <a:ext cx="54" cy="49"/>
            </a:xfrm>
            <a:prstGeom prst="line">
              <a:avLst/>
            </a:prstGeom>
            <a:noFill/>
            <a:ln w="25400">
              <a:solidFill>
                <a:srgbClr val="31313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19" name="Line 482"/>
            <p:cNvSpPr>
              <a:spLocks noChangeShapeType="1"/>
            </p:cNvSpPr>
            <p:nvPr/>
          </p:nvSpPr>
          <p:spPr bwMode="auto">
            <a:xfrm flipV="1">
              <a:off x="3474" y="2838"/>
              <a:ext cx="54" cy="49"/>
            </a:xfrm>
            <a:prstGeom prst="line">
              <a:avLst/>
            </a:prstGeom>
            <a:noFill/>
            <a:ln w="25400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0" name="Line 483"/>
            <p:cNvSpPr>
              <a:spLocks noChangeShapeType="1"/>
            </p:cNvSpPr>
            <p:nvPr/>
          </p:nvSpPr>
          <p:spPr bwMode="auto">
            <a:xfrm flipV="1">
              <a:off x="3458" y="2838"/>
              <a:ext cx="54" cy="49"/>
            </a:xfrm>
            <a:prstGeom prst="line">
              <a:avLst/>
            </a:prstGeom>
            <a:noFill/>
            <a:ln w="25400">
              <a:solidFill>
                <a:srgbClr val="35353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1" name="Line 484"/>
            <p:cNvSpPr>
              <a:spLocks noChangeShapeType="1"/>
            </p:cNvSpPr>
            <p:nvPr/>
          </p:nvSpPr>
          <p:spPr bwMode="auto">
            <a:xfrm flipV="1">
              <a:off x="3443" y="2838"/>
              <a:ext cx="54" cy="49"/>
            </a:xfrm>
            <a:prstGeom prst="line">
              <a:avLst/>
            </a:prstGeom>
            <a:noFill/>
            <a:ln w="25400">
              <a:solidFill>
                <a:srgbClr val="37373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2" name="Line 485"/>
            <p:cNvSpPr>
              <a:spLocks noChangeShapeType="1"/>
            </p:cNvSpPr>
            <p:nvPr/>
          </p:nvSpPr>
          <p:spPr bwMode="auto">
            <a:xfrm flipV="1">
              <a:off x="3443" y="2838"/>
              <a:ext cx="54" cy="49"/>
            </a:xfrm>
            <a:prstGeom prst="line">
              <a:avLst/>
            </a:prstGeom>
            <a:noFill/>
            <a:ln w="25400">
              <a:solidFill>
                <a:srgbClr val="39393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3" name="Line 486"/>
            <p:cNvSpPr>
              <a:spLocks noChangeShapeType="1"/>
            </p:cNvSpPr>
            <p:nvPr/>
          </p:nvSpPr>
          <p:spPr bwMode="auto">
            <a:xfrm flipV="1">
              <a:off x="3427" y="2838"/>
              <a:ext cx="54" cy="49"/>
            </a:xfrm>
            <a:prstGeom prst="line">
              <a:avLst/>
            </a:prstGeom>
            <a:noFill/>
            <a:ln w="25400">
              <a:solidFill>
                <a:srgbClr val="3B3B3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4" name="Line 487"/>
            <p:cNvSpPr>
              <a:spLocks noChangeShapeType="1"/>
            </p:cNvSpPr>
            <p:nvPr/>
          </p:nvSpPr>
          <p:spPr bwMode="auto">
            <a:xfrm flipV="1">
              <a:off x="3412" y="2838"/>
              <a:ext cx="54" cy="49"/>
            </a:xfrm>
            <a:prstGeom prst="line">
              <a:avLst/>
            </a:prstGeom>
            <a:noFill/>
            <a:ln w="25400">
              <a:solidFill>
                <a:srgbClr val="3D3D3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5" name="Line 488"/>
            <p:cNvSpPr>
              <a:spLocks noChangeShapeType="1"/>
            </p:cNvSpPr>
            <p:nvPr/>
          </p:nvSpPr>
          <p:spPr bwMode="auto">
            <a:xfrm flipV="1">
              <a:off x="3404" y="2838"/>
              <a:ext cx="54" cy="49"/>
            </a:xfrm>
            <a:prstGeom prst="line">
              <a:avLst/>
            </a:prstGeom>
            <a:noFill/>
            <a:ln w="25400">
              <a:solidFill>
                <a:srgbClr val="3F3F3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6" name="Line 489"/>
            <p:cNvSpPr>
              <a:spLocks noChangeShapeType="1"/>
            </p:cNvSpPr>
            <p:nvPr/>
          </p:nvSpPr>
          <p:spPr bwMode="auto">
            <a:xfrm flipV="1">
              <a:off x="3396" y="2838"/>
              <a:ext cx="54" cy="49"/>
            </a:xfrm>
            <a:prstGeom prst="line">
              <a:avLst/>
            </a:prstGeom>
            <a:noFill/>
            <a:ln w="25400">
              <a:solidFill>
                <a:srgbClr val="42424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7" name="Line 490"/>
            <p:cNvSpPr>
              <a:spLocks noChangeShapeType="1"/>
            </p:cNvSpPr>
            <p:nvPr/>
          </p:nvSpPr>
          <p:spPr bwMode="auto">
            <a:xfrm flipV="1">
              <a:off x="3380" y="2838"/>
              <a:ext cx="54" cy="49"/>
            </a:xfrm>
            <a:prstGeom prst="line">
              <a:avLst/>
            </a:prstGeom>
            <a:noFill/>
            <a:ln w="25400">
              <a:solidFill>
                <a:srgbClr val="44444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8" name="Line 491"/>
            <p:cNvSpPr>
              <a:spLocks noChangeShapeType="1"/>
            </p:cNvSpPr>
            <p:nvPr/>
          </p:nvSpPr>
          <p:spPr bwMode="auto">
            <a:xfrm flipV="1">
              <a:off x="3373" y="2838"/>
              <a:ext cx="54" cy="49"/>
            </a:xfrm>
            <a:prstGeom prst="line">
              <a:avLst/>
            </a:prstGeom>
            <a:noFill/>
            <a:ln w="25400">
              <a:solidFill>
                <a:srgbClr val="46464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29" name="Line 492"/>
            <p:cNvSpPr>
              <a:spLocks noChangeShapeType="1"/>
            </p:cNvSpPr>
            <p:nvPr/>
          </p:nvSpPr>
          <p:spPr bwMode="auto">
            <a:xfrm flipV="1">
              <a:off x="3365" y="2838"/>
              <a:ext cx="54" cy="49"/>
            </a:xfrm>
            <a:prstGeom prst="line">
              <a:avLst/>
            </a:prstGeom>
            <a:noFill/>
            <a:ln w="25400">
              <a:solidFill>
                <a:srgbClr val="48484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0" name="Line 493"/>
            <p:cNvSpPr>
              <a:spLocks noChangeShapeType="1"/>
            </p:cNvSpPr>
            <p:nvPr/>
          </p:nvSpPr>
          <p:spPr bwMode="auto">
            <a:xfrm flipV="1">
              <a:off x="3349" y="2838"/>
              <a:ext cx="54" cy="49"/>
            </a:xfrm>
            <a:prstGeom prst="line">
              <a:avLst/>
            </a:prstGeom>
            <a:noFill/>
            <a:ln w="25400">
              <a:solidFill>
                <a:srgbClr val="4A4A4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1" name="Line 494"/>
            <p:cNvSpPr>
              <a:spLocks noChangeShapeType="1"/>
            </p:cNvSpPr>
            <p:nvPr/>
          </p:nvSpPr>
          <p:spPr bwMode="auto">
            <a:xfrm flipV="1">
              <a:off x="3334" y="2838"/>
              <a:ext cx="54" cy="49"/>
            </a:xfrm>
            <a:prstGeom prst="line">
              <a:avLst/>
            </a:prstGeom>
            <a:noFill/>
            <a:ln w="25400">
              <a:solidFill>
                <a:srgbClr val="4C4C4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2" name="Line 495"/>
            <p:cNvSpPr>
              <a:spLocks noChangeShapeType="1"/>
            </p:cNvSpPr>
            <p:nvPr/>
          </p:nvSpPr>
          <p:spPr bwMode="auto">
            <a:xfrm flipV="1">
              <a:off x="3326" y="2838"/>
              <a:ext cx="54" cy="49"/>
            </a:xfrm>
            <a:prstGeom prst="line">
              <a:avLst/>
            </a:prstGeom>
            <a:noFill/>
            <a:ln w="25400">
              <a:solidFill>
                <a:srgbClr val="4E4E4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3" name="Line 496"/>
            <p:cNvSpPr>
              <a:spLocks noChangeShapeType="1"/>
            </p:cNvSpPr>
            <p:nvPr/>
          </p:nvSpPr>
          <p:spPr bwMode="auto">
            <a:xfrm flipV="1">
              <a:off x="3318" y="2838"/>
              <a:ext cx="54" cy="49"/>
            </a:xfrm>
            <a:prstGeom prst="line">
              <a:avLst/>
            </a:prstGeom>
            <a:noFill/>
            <a:ln w="25400">
              <a:solidFill>
                <a:srgbClr val="50505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4" name="Line 497"/>
            <p:cNvSpPr>
              <a:spLocks noChangeShapeType="1"/>
            </p:cNvSpPr>
            <p:nvPr/>
          </p:nvSpPr>
          <p:spPr bwMode="auto">
            <a:xfrm flipV="1">
              <a:off x="3302" y="2838"/>
              <a:ext cx="54" cy="49"/>
            </a:xfrm>
            <a:prstGeom prst="line">
              <a:avLst/>
            </a:prstGeom>
            <a:noFill/>
            <a:ln w="25400">
              <a:solidFill>
                <a:srgbClr val="52525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5" name="Line 498"/>
            <p:cNvSpPr>
              <a:spLocks noChangeShapeType="1"/>
            </p:cNvSpPr>
            <p:nvPr/>
          </p:nvSpPr>
          <p:spPr bwMode="auto">
            <a:xfrm flipV="1">
              <a:off x="3295" y="2838"/>
              <a:ext cx="54" cy="49"/>
            </a:xfrm>
            <a:prstGeom prst="line">
              <a:avLst/>
            </a:prstGeom>
            <a:noFill/>
            <a:ln w="25400">
              <a:solidFill>
                <a:srgbClr val="54545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6" name="Line 499"/>
            <p:cNvSpPr>
              <a:spLocks noChangeShapeType="1"/>
            </p:cNvSpPr>
            <p:nvPr/>
          </p:nvSpPr>
          <p:spPr bwMode="auto">
            <a:xfrm flipV="1">
              <a:off x="3287" y="2838"/>
              <a:ext cx="54" cy="49"/>
            </a:xfrm>
            <a:prstGeom prst="line">
              <a:avLst/>
            </a:prstGeom>
            <a:noFill/>
            <a:ln w="25400">
              <a:solidFill>
                <a:srgbClr val="56565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7" name="Line 500"/>
            <p:cNvSpPr>
              <a:spLocks noChangeShapeType="1"/>
            </p:cNvSpPr>
            <p:nvPr/>
          </p:nvSpPr>
          <p:spPr bwMode="auto">
            <a:xfrm flipV="1">
              <a:off x="3272" y="2838"/>
              <a:ext cx="54" cy="49"/>
            </a:xfrm>
            <a:prstGeom prst="line">
              <a:avLst/>
            </a:prstGeom>
            <a:noFill/>
            <a:ln w="25400">
              <a:solidFill>
                <a:srgbClr val="58585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8" name="Line 501"/>
            <p:cNvSpPr>
              <a:spLocks noChangeShapeType="1"/>
            </p:cNvSpPr>
            <p:nvPr/>
          </p:nvSpPr>
          <p:spPr bwMode="auto">
            <a:xfrm flipV="1">
              <a:off x="3264" y="2838"/>
              <a:ext cx="54" cy="49"/>
            </a:xfrm>
            <a:prstGeom prst="line">
              <a:avLst/>
            </a:prstGeom>
            <a:noFill/>
            <a:ln w="25400">
              <a:solidFill>
                <a:srgbClr val="5A5A5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39" name="Line 502"/>
            <p:cNvSpPr>
              <a:spLocks noChangeShapeType="1"/>
            </p:cNvSpPr>
            <p:nvPr/>
          </p:nvSpPr>
          <p:spPr bwMode="auto">
            <a:xfrm flipV="1">
              <a:off x="3248" y="2838"/>
              <a:ext cx="54" cy="49"/>
            </a:xfrm>
            <a:prstGeom prst="line">
              <a:avLst/>
            </a:prstGeom>
            <a:noFill/>
            <a:ln w="25400">
              <a:solidFill>
                <a:srgbClr val="5C5C5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0" name="Line 503"/>
            <p:cNvSpPr>
              <a:spLocks noChangeShapeType="1"/>
            </p:cNvSpPr>
            <p:nvPr/>
          </p:nvSpPr>
          <p:spPr bwMode="auto">
            <a:xfrm flipV="1">
              <a:off x="3240" y="2838"/>
              <a:ext cx="54" cy="49"/>
            </a:xfrm>
            <a:prstGeom prst="line">
              <a:avLst/>
            </a:prstGeom>
            <a:noFill/>
            <a:ln w="25400">
              <a:solidFill>
                <a:srgbClr val="5E5E5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1" name="Line 504"/>
            <p:cNvSpPr>
              <a:spLocks noChangeShapeType="1"/>
            </p:cNvSpPr>
            <p:nvPr/>
          </p:nvSpPr>
          <p:spPr bwMode="auto">
            <a:xfrm flipV="1">
              <a:off x="3224" y="2838"/>
              <a:ext cx="54" cy="49"/>
            </a:xfrm>
            <a:prstGeom prst="line">
              <a:avLst/>
            </a:prstGeom>
            <a:noFill/>
            <a:ln w="25400">
              <a:solidFill>
                <a:srgbClr val="61616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2" name="Line 505"/>
            <p:cNvSpPr>
              <a:spLocks noChangeShapeType="1"/>
            </p:cNvSpPr>
            <p:nvPr/>
          </p:nvSpPr>
          <p:spPr bwMode="auto">
            <a:xfrm flipV="1">
              <a:off x="3217" y="2838"/>
              <a:ext cx="54" cy="49"/>
            </a:xfrm>
            <a:prstGeom prst="line">
              <a:avLst/>
            </a:prstGeom>
            <a:noFill/>
            <a:ln w="25400">
              <a:solidFill>
                <a:srgbClr val="63636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3" name="Line 506"/>
            <p:cNvSpPr>
              <a:spLocks noChangeShapeType="1"/>
            </p:cNvSpPr>
            <p:nvPr/>
          </p:nvSpPr>
          <p:spPr bwMode="auto">
            <a:xfrm flipV="1">
              <a:off x="3208" y="2838"/>
              <a:ext cx="54" cy="49"/>
            </a:xfrm>
            <a:prstGeom prst="line">
              <a:avLst/>
            </a:prstGeom>
            <a:noFill/>
            <a:ln w="25400">
              <a:solidFill>
                <a:srgbClr val="65656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4" name="Line 507"/>
            <p:cNvSpPr>
              <a:spLocks noChangeShapeType="1"/>
            </p:cNvSpPr>
            <p:nvPr/>
          </p:nvSpPr>
          <p:spPr bwMode="auto">
            <a:xfrm flipV="1">
              <a:off x="3192" y="2838"/>
              <a:ext cx="54" cy="49"/>
            </a:xfrm>
            <a:prstGeom prst="line">
              <a:avLst/>
            </a:prstGeom>
            <a:noFill/>
            <a:ln w="25400">
              <a:solidFill>
                <a:srgbClr val="67676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5" name="Line 508"/>
            <p:cNvSpPr>
              <a:spLocks noChangeShapeType="1"/>
            </p:cNvSpPr>
            <p:nvPr/>
          </p:nvSpPr>
          <p:spPr bwMode="auto">
            <a:xfrm flipV="1">
              <a:off x="3184" y="2838"/>
              <a:ext cx="54" cy="49"/>
            </a:xfrm>
            <a:prstGeom prst="line">
              <a:avLst/>
            </a:prstGeom>
            <a:noFill/>
            <a:ln w="25400">
              <a:solidFill>
                <a:srgbClr val="69696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6" name="Line 509"/>
            <p:cNvSpPr>
              <a:spLocks noChangeShapeType="1"/>
            </p:cNvSpPr>
            <p:nvPr/>
          </p:nvSpPr>
          <p:spPr bwMode="auto">
            <a:xfrm flipV="1">
              <a:off x="3169" y="2838"/>
              <a:ext cx="54" cy="49"/>
            </a:xfrm>
            <a:prstGeom prst="line">
              <a:avLst/>
            </a:prstGeom>
            <a:noFill/>
            <a:ln w="25400">
              <a:solidFill>
                <a:srgbClr val="6B6B6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7" name="Line 510"/>
            <p:cNvSpPr>
              <a:spLocks noChangeShapeType="1"/>
            </p:cNvSpPr>
            <p:nvPr/>
          </p:nvSpPr>
          <p:spPr bwMode="auto">
            <a:xfrm flipV="1">
              <a:off x="3161" y="2838"/>
              <a:ext cx="54" cy="49"/>
            </a:xfrm>
            <a:prstGeom prst="line">
              <a:avLst/>
            </a:prstGeom>
            <a:noFill/>
            <a:ln w="25400">
              <a:solidFill>
                <a:srgbClr val="6D6D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8" name="Line 511"/>
            <p:cNvSpPr>
              <a:spLocks noChangeShapeType="1"/>
            </p:cNvSpPr>
            <p:nvPr/>
          </p:nvSpPr>
          <p:spPr bwMode="auto">
            <a:xfrm flipV="1">
              <a:off x="3145" y="2838"/>
              <a:ext cx="54" cy="49"/>
            </a:xfrm>
            <a:prstGeom prst="line">
              <a:avLst/>
            </a:prstGeom>
            <a:noFill/>
            <a:ln w="25400">
              <a:solidFill>
                <a:srgbClr val="6F6F6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49" name="Line 512"/>
            <p:cNvSpPr>
              <a:spLocks noChangeShapeType="1"/>
            </p:cNvSpPr>
            <p:nvPr/>
          </p:nvSpPr>
          <p:spPr bwMode="auto">
            <a:xfrm flipV="1">
              <a:off x="3137" y="2838"/>
              <a:ext cx="54" cy="49"/>
            </a:xfrm>
            <a:prstGeom prst="line">
              <a:avLst/>
            </a:prstGeom>
            <a:noFill/>
            <a:ln w="25400">
              <a:solidFill>
                <a:srgbClr val="71717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0" name="Line 513"/>
            <p:cNvSpPr>
              <a:spLocks noChangeShapeType="1"/>
            </p:cNvSpPr>
            <p:nvPr/>
          </p:nvSpPr>
          <p:spPr bwMode="auto">
            <a:xfrm flipV="1">
              <a:off x="3130" y="2838"/>
              <a:ext cx="54" cy="49"/>
            </a:xfrm>
            <a:prstGeom prst="line">
              <a:avLst/>
            </a:prstGeom>
            <a:noFill/>
            <a:ln w="25400">
              <a:solidFill>
                <a:srgbClr val="73737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1" name="Line 514"/>
            <p:cNvSpPr>
              <a:spLocks noChangeShapeType="1"/>
            </p:cNvSpPr>
            <p:nvPr/>
          </p:nvSpPr>
          <p:spPr bwMode="auto">
            <a:xfrm flipV="1">
              <a:off x="3115" y="2838"/>
              <a:ext cx="54" cy="49"/>
            </a:xfrm>
            <a:prstGeom prst="line">
              <a:avLst/>
            </a:prstGeom>
            <a:noFill/>
            <a:ln w="25400">
              <a:solidFill>
                <a:srgbClr val="75757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2" name="Line 515"/>
            <p:cNvSpPr>
              <a:spLocks noChangeShapeType="1"/>
            </p:cNvSpPr>
            <p:nvPr/>
          </p:nvSpPr>
          <p:spPr bwMode="auto">
            <a:xfrm flipV="1">
              <a:off x="3107" y="2838"/>
              <a:ext cx="54" cy="49"/>
            </a:xfrm>
            <a:prstGeom prst="line">
              <a:avLst/>
            </a:prstGeom>
            <a:noFill/>
            <a:ln w="25400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3" name="Line 516"/>
            <p:cNvSpPr>
              <a:spLocks noChangeShapeType="1"/>
            </p:cNvSpPr>
            <p:nvPr/>
          </p:nvSpPr>
          <p:spPr bwMode="auto">
            <a:xfrm flipV="1">
              <a:off x="3091" y="2838"/>
              <a:ext cx="54" cy="49"/>
            </a:xfrm>
            <a:prstGeom prst="line">
              <a:avLst/>
            </a:prstGeom>
            <a:noFill/>
            <a:ln w="25400">
              <a:solidFill>
                <a:srgbClr val="79797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4" name="Line 517"/>
            <p:cNvSpPr>
              <a:spLocks noChangeShapeType="1"/>
            </p:cNvSpPr>
            <p:nvPr/>
          </p:nvSpPr>
          <p:spPr bwMode="auto">
            <a:xfrm flipV="1">
              <a:off x="3083" y="2838"/>
              <a:ext cx="54" cy="49"/>
            </a:xfrm>
            <a:prstGeom prst="line">
              <a:avLst/>
            </a:prstGeom>
            <a:noFill/>
            <a:ln w="25400">
              <a:solidFill>
                <a:srgbClr val="7B7B7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5" name="Line 518"/>
            <p:cNvSpPr>
              <a:spLocks noChangeShapeType="1"/>
            </p:cNvSpPr>
            <p:nvPr/>
          </p:nvSpPr>
          <p:spPr bwMode="auto">
            <a:xfrm flipV="1">
              <a:off x="3075" y="2838"/>
              <a:ext cx="54" cy="49"/>
            </a:xfrm>
            <a:prstGeom prst="line">
              <a:avLst/>
            </a:prstGeom>
            <a:noFill/>
            <a:ln w="25400">
              <a:solidFill>
                <a:srgbClr val="7D7D7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6" name="Line 519"/>
            <p:cNvSpPr>
              <a:spLocks noChangeShapeType="1"/>
            </p:cNvSpPr>
            <p:nvPr/>
          </p:nvSpPr>
          <p:spPr bwMode="auto">
            <a:xfrm flipV="1">
              <a:off x="3060" y="2838"/>
              <a:ext cx="54" cy="49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7" name="Line 520"/>
            <p:cNvSpPr>
              <a:spLocks noChangeShapeType="1"/>
            </p:cNvSpPr>
            <p:nvPr/>
          </p:nvSpPr>
          <p:spPr bwMode="auto">
            <a:xfrm flipV="1">
              <a:off x="3052" y="2838"/>
              <a:ext cx="54" cy="49"/>
            </a:xfrm>
            <a:prstGeom prst="line">
              <a:avLst/>
            </a:prstGeom>
            <a:noFill/>
            <a:ln w="25400">
              <a:solidFill>
                <a:srgbClr val="82828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8" name="Line 521"/>
            <p:cNvSpPr>
              <a:spLocks noChangeShapeType="1"/>
            </p:cNvSpPr>
            <p:nvPr/>
          </p:nvSpPr>
          <p:spPr bwMode="auto">
            <a:xfrm flipV="1">
              <a:off x="3037" y="2838"/>
              <a:ext cx="54" cy="49"/>
            </a:xfrm>
            <a:prstGeom prst="line">
              <a:avLst/>
            </a:prstGeom>
            <a:noFill/>
            <a:ln w="25400">
              <a:solidFill>
                <a:srgbClr val="84848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59" name="Line 522"/>
            <p:cNvSpPr>
              <a:spLocks noChangeShapeType="1"/>
            </p:cNvSpPr>
            <p:nvPr/>
          </p:nvSpPr>
          <p:spPr bwMode="auto">
            <a:xfrm flipV="1">
              <a:off x="3029" y="2838"/>
              <a:ext cx="54" cy="49"/>
            </a:xfrm>
            <a:prstGeom prst="line">
              <a:avLst/>
            </a:prstGeom>
            <a:noFill/>
            <a:ln w="25400">
              <a:solidFill>
                <a:srgbClr val="86868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0" name="Line 523"/>
            <p:cNvSpPr>
              <a:spLocks noChangeShapeType="1"/>
            </p:cNvSpPr>
            <p:nvPr/>
          </p:nvSpPr>
          <p:spPr bwMode="auto">
            <a:xfrm flipV="1">
              <a:off x="3021" y="2838"/>
              <a:ext cx="54" cy="49"/>
            </a:xfrm>
            <a:prstGeom prst="line">
              <a:avLst/>
            </a:prstGeom>
            <a:noFill/>
            <a:ln w="25400">
              <a:solidFill>
                <a:srgbClr val="88888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1" name="Line 524"/>
            <p:cNvSpPr>
              <a:spLocks noChangeShapeType="1"/>
            </p:cNvSpPr>
            <p:nvPr/>
          </p:nvSpPr>
          <p:spPr bwMode="auto">
            <a:xfrm flipV="1">
              <a:off x="3005" y="2838"/>
              <a:ext cx="54" cy="49"/>
            </a:xfrm>
            <a:prstGeom prst="line">
              <a:avLst/>
            </a:prstGeom>
            <a:noFill/>
            <a:ln w="25400">
              <a:solidFill>
                <a:srgbClr val="8A8A8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2" name="Line 525"/>
            <p:cNvSpPr>
              <a:spLocks noChangeShapeType="1"/>
            </p:cNvSpPr>
            <p:nvPr/>
          </p:nvSpPr>
          <p:spPr bwMode="auto">
            <a:xfrm flipV="1">
              <a:off x="2997" y="2838"/>
              <a:ext cx="54" cy="49"/>
            </a:xfrm>
            <a:prstGeom prst="line">
              <a:avLst/>
            </a:prstGeom>
            <a:noFill/>
            <a:ln w="25400">
              <a:solidFill>
                <a:srgbClr val="8C8C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3" name="Line 526"/>
            <p:cNvSpPr>
              <a:spLocks noChangeShapeType="1"/>
            </p:cNvSpPr>
            <p:nvPr/>
          </p:nvSpPr>
          <p:spPr bwMode="auto">
            <a:xfrm flipV="1">
              <a:off x="2982" y="2838"/>
              <a:ext cx="54" cy="49"/>
            </a:xfrm>
            <a:prstGeom prst="line">
              <a:avLst/>
            </a:prstGeom>
            <a:noFill/>
            <a:ln w="25400">
              <a:solidFill>
                <a:srgbClr val="8E8E8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4" name="Line 527"/>
            <p:cNvSpPr>
              <a:spLocks noChangeShapeType="1"/>
            </p:cNvSpPr>
            <p:nvPr/>
          </p:nvSpPr>
          <p:spPr bwMode="auto">
            <a:xfrm flipV="1">
              <a:off x="2974" y="2838"/>
              <a:ext cx="54" cy="49"/>
            </a:xfrm>
            <a:prstGeom prst="line">
              <a:avLst/>
            </a:prstGeom>
            <a:noFill/>
            <a:ln w="25400">
              <a:solidFill>
                <a:srgbClr val="90909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5" name="Line 528"/>
            <p:cNvSpPr>
              <a:spLocks noChangeShapeType="1"/>
            </p:cNvSpPr>
            <p:nvPr/>
          </p:nvSpPr>
          <p:spPr bwMode="auto">
            <a:xfrm flipV="1">
              <a:off x="2967" y="2838"/>
              <a:ext cx="54" cy="49"/>
            </a:xfrm>
            <a:prstGeom prst="line">
              <a:avLst/>
            </a:prstGeom>
            <a:noFill/>
            <a:ln w="25400">
              <a:solidFill>
                <a:srgbClr val="92929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6" name="Line 529"/>
            <p:cNvSpPr>
              <a:spLocks noChangeShapeType="1"/>
            </p:cNvSpPr>
            <p:nvPr/>
          </p:nvSpPr>
          <p:spPr bwMode="auto">
            <a:xfrm flipV="1">
              <a:off x="2951" y="2838"/>
              <a:ext cx="54" cy="49"/>
            </a:xfrm>
            <a:prstGeom prst="line">
              <a:avLst/>
            </a:prstGeom>
            <a:noFill/>
            <a:ln w="25400">
              <a:solidFill>
                <a:srgbClr val="94949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7" name="Line 530"/>
            <p:cNvSpPr>
              <a:spLocks noChangeShapeType="1"/>
            </p:cNvSpPr>
            <p:nvPr/>
          </p:nvSpPr>
          <p:spPr bwMode="auto">
            <a:xfrm flipV="1">
              <a:off x="2943" y="2838"/>
              <a:ext cx="54" cy="49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8" name="Line 531"/>
            <p:cNvSpPr>
              <a:spLocks noChangeShapeType="1"/>
            </p:cNvSpPr>
            <p:nvPr/>
          </p:nvSpPr>
          <p:spPr bwMode="auto">
            <a:xfrm flipV="1">
              <a:off x="2928" y="2838"/>
              <a:ext cx="54" cy="49"/>
            </a:xfrm>
            <a:prstGeom prst="line">
              <a:avLst/>
            </a:prstGeom>
            <a:noFill/>
            <a:ln w="25400">
              <a:solidFill>
                <a:srgbClr val="98989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69" name="Line 532"/>
            <p:cNvSpPr>
              <a:spLocks noChangeShapeType="1"/>
            </p:cNvSpPr>
            <p:nvPr/>
          </p:nvSpPr>
          <p:spPr bwMode="auto">
            <a:xfrm flipV="1">
              <a:off x="2920" y="2838"/>
              <a:ext cx="54" cy="49"/>
            </a:xfrm>
            <a:prstGeom prst="line">
              <a:avLst/>
            </a:prstGeom>
            <a:noFill/>
            <a:ln w="25400">
              <a:solidFill>
                <a:srgbClr val="9A9A9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0" name="Line 533"/>
            <p:cNvSpPr>
              <a:spLocks noChangeShapeType="1"/>
            </p:cNvSpPr>
            <p:nvPr/>
          </p:nvSpPr>
          <p:spPr bwMode="auto">
            <a:xfrm flipV="1">
              <a:off x="2904" y="2838"/>
              <a:ext cx="54" cy="49"/>
            </a:xfrm>
            <a:prstGeom prst="line">
              <a:avLst/>
            </a:prstGeom>
            <a:noFill/>
            <a:ln w="25400">
              <a:solidFill>
                <a:srgbClr val="9C9C9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1" name="Line 534"/>
            <p:cNvSpPr>
              <a:spLocks noChangeShapeType="1"/>
            </p:cNvSpPr>
            <p:nvPr/>
          </p:nvSpPr>
          <p:spPr bwMode="auto">
            <a:xfrm flipV="1">
              <a:off x="2896" y="2838"/>
              <a:ext cx="54" cy="49"/>
            </a:xfrm>
            <a:prstGeom prst="line">
              <a:avLst/>
            </a:prstGeom>
            <a:noFill/>
            <a:ln w="25400">
              <a:solidFill>
                <a:srgbClr val="9E9E9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2" name="Line 535"/>
            <p:cNvSpPr>
              <a:spLocks noChangeShapeType="1"/>
            </p:cNvSpPr>
            <p:nvPr/>
          </p:nvSpPr>
          <p:spPr bwMode="auto">
            <a:xfrm flipV="1">
              <a:off x="2889" y="2838"/>
              <a:ext cx="54" cy="49"/>
            </a:xfrm>
            <a:prstGeom prst="line">
              <a:avLst/>
            </a:prstGeom>
            <a:noFill/>
            <a:ln w="25400">
              <a:solidFill>
                <a:srgbClr val="A1A1A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3" name="Line 536"/>
            <p:cNvSpPr>
              <a:spLocks noChangeShapeType="1"/>
            </p:cNvSpPr>
            <p:nvPr/>
          </p:nvSpPr>
          <p:spPr bwMode="auto">
            <a:xfrm flipV="1">
              <a:off x="2873" y="2838"/>
              <a:ext cx="54" cy="49"/>
            </a:xfrm>
            <a:prstGeom prst="line">
              <a:avLst/>
            </a:prstGeom>
            <a:noFill/>
            <a:ln w="25400">
              <a:solidFill>
                <a:srgbClr val="A3A3A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4" name="Line 537"/>
            <p:cNvSpPr>
              <a:spLocks noChangeShapeType="1"/>
            </p:cNvSpPr>
            <p:nvPr/>
          </p:nvSpPr>
          <p:spPr bwMode="auto">
            <a:xfrm flipV="1">
              <a:off x="2865" y="2838"/>
              <a:ext cx="54" cy="49"/>
            </a:xfrm>
            <a:prstGeom prst="line">
              <a:avLst/>
            </a:prstGeom>
            <a:noFill/>
            <a:ln w="25400">
              <a:solidFill>
                <a:srgbClr val="A5A5A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5" name="Line 538"/>
            <p:cNvSpPr>
              <a:spLocks noChangeShapeType="1"/>
            </p:cNvSpPr>
            <p:nvPr/>
          </p:nvSpPr>
          <p:spPr bwMode="auto">
            <a:xfrm flipV="1">
              <a:off x="2850" y="2838"/>
              <a:ext cx="54" cy="49"/>
            </a:xfrm>
            <a:prstGeom prst="line">
              <a:avLst/>
            </a:prstGeom>
            <a:noFill/>
            <a:ln w="25400">
              <a:solidFill>
                <a:srgbClr val="A7A7A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6" name="Line 539"/>
            <p:cNvSpPr>
              <a:spLocks noChangeShapeType="1"/>
            </p:cNvSpPr>
            <p:nvPr/>
          </p:nvSpPr>
          <p:spPr bwMode="auto">
            <a:xfrm flipV="1">
              <a:off x="2842" y="2838"/>
              <a:ext cx="54" cy="49"/>
            </a:xfrm>
            <a:prstGeom prst="line">
              <a:avLst/>
            </a:prstGeom>
            <a:noFill/>
            <a:ln w="2540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7" name="Line 540"/>
            <p:cNvSpPr>
              <a:spLocks noChangeShapeType="1"/>
            </p:cNvSpPr>
            <p:nvPr/>
          </p:nvSpPr>
          <p:spPr bwMode="auto">
            <a:xfrm flipV="1">
              <a:off x="2826" y="2838"/>
              <a:ext cx="54" cy="49"/>
            </a:xfrm>
            <a:prstGeom prst="line">
              <a:avLst/>
            </a:prstGeom>
            <a:noFill/>
            <a:ln w="25400">
              <a:solidFill>
                <a:srgbClr val="ABABA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8" name="Line 541"/>
            <p:cNvSpPr>
              <a:spLocks noChangeShapeType="1"/>
            </p:cNvSpPr>
            <p:nvPr/>
          </p:nvSpPr>
          <p:spPr bwMode="auto">
            <a:xfrm flipV="1">
              <a:off x="2818" y="2838"/>
              <a:ext cx="54" cy="49"/>
            </a:xfrm>
            <a:prstGeom prst="line">
              <a:avLst/>
            </a:prstGeom>
            <a:noFill/>
            <a:ln w="25400">
              <a:solidFill>
                <a:srgbClr val="ADADA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79" name="Line 542"/>
            <p:cNvSpPr>
              <a:spLocks noChangeShapeType="1"/>
            </p:cNvSpPr>
            <p:nvPr/>
          </p:nvSpPr>
          <p:spPr bwMode="auto">
            <a:xfrm flipV="1">
              <a:off x="2811" y="2838"/>
              <a:ext cx="54" cy="49"/>
            </a:xfrm>
            <a:prstGeom prst="line">
              <a:avLst/>
            </a:prstGeom>
            <a:noFill/>
            <a:ln w="25400">
              <a:solidFill>
                <a:srgbClr val="AFAFA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0" name="Line 543"/>
            <p:cNvSpPr>
              <a:spLocks noChangeShapeType="1"/>
            </p:cNvSpPr>
            <p:nvPr/>
          </p:nvSpPr>
          <p:spPr bwMode="auto">
            <a:xfrm flipV="1">
              <a:off x="2795" y="2838"/>
              <a:ext cx="54" cy="49"/>
            </a:xfrm>
            <a:prstGeom prst="line">
              <a:avLst/>
            </a:prstGeom>
            <a:noFill/>
            <a:ln w="25400">
              <a:solidFill>
                <a:srgbClr val="B1B1B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1" name="Line 544"/>
            <p:cNvSpPr>
              <a:spLocks noChangeShapeType="1"/>
            </p:cNvSpPr>
            <p:nvPr/>
          </p:nvSpPr>
          <p:spPr bwMode="auto">
            <a:xfrm flipV="1">
              <a:off x="2788" y="2838"/>
              <a:ext cx="54" cy="49"/>
            </a:xfrm>
            <a:prstGeom prst="line">
              <a:avLst/>
            </a:prstGeom>
            <a:noFill/>
            <a:ln w="25400">
              <a:solidFill>
                <a:srgbClr val="B3B3B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2" name="Line 545"/>
            <p:cNvSpPr>
              <a:spLocks noChangeShapeType="1"/>
            </p:cNvSpPr>
            <p:nvPr/>
          </p:nvSpPr>
          <p:spPr bwMode="auto">
            <a:xfrm flipV="1">
              <a:off x="2780" y="2838"/>
              <a:ext cx="54" cy="49"/>
            </a:xfrm>
            <a:prstGeom prst="line">
              <a:avLst/>
            </a:prstGeom>
            <a:noFill/>
            <a:ln w="25400">
              <a:solidFill>
                <a:srgbClr val="B5B5B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3" name="Line 546"/>
            <p:cNvSpPr>
              <a:spLocks noChangeShapeType="1"/>
            </p:cNvSpPr>
            <p:nvPr/>
          </p:nvSpPr>
          <p:spPr bwMode="auto">
            <a:xfrm flipV="1">
              <a:off x="2764" y="2838"/>
              <a:ext cx="54" cy="49"/>
            </a:xfrm>
            <a:prstGeom prst="line">
              <a:avLst/>
            </a:prstGeom>
            <a:noFill/>
            <a:ln w="25400">
              <a:solidFill>
                <a:srgbClr val="B7B7B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4" name="Line 547"/>
            <p:cNvSpPr>
              <a:spLocks noChangeShapeType="1"/>
            </p:cNvSpPr>
            <p:nvPr/>
          </p:nvSpPr>
          <p:spPr bwMode="auto">
            <a:xfrm flipV="1">
              <a:off x="2747" y="2838"/>
              <a:ext cx="54" cy="49"/>
            </a:xfrm>
            <a:prstGeom prst="line">
              <a:avLst/>
            </a:prstGeom>
            <a:noFill/>
            <a:ln w="25400">
              <a:solidFill>
                <a:srgbClr val="B9B9B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5" name="Line 548"/>
            <p:cNvSpPr>
              <a:spLocks noChangeShapeType="1"/>
            </p:cNvSpPr>
            <p:nvPr/>
          </p:nvSpPr>
          <p:spPr bwMode="auto">
            <a:xfrm flipV="1">
              <a:off x="2739" y="2838"/>
              <a:ext cx="54" cy="49"/>
            </a:xfrm>
            <a:prstGeom prst="line">
              <a:avLst/>
            </a:prstGeom>
            <a:noFill/>
            <a:ln w="25400">
              <a:solidFill>
                <a:srgbClr val="BBBBB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6" name="Line 549"/>
            <p:cNvSpPr>
              <a:spLocks noChangeShapeType="1"/>
            </p:cNvSpPr>
            <p:nvPr/>
          </p:nvSpPr>
          <p:spPr bwMode="auto">
            <a:xfrm flipV="1">
              <a:off x="2732" y="2838"/>
              <a:ext cx="54" cy="49"/>
            </a:xfrm>
            <a:prstGeom prst="line">
              <a:avLst/>
            </a:prstGeom>
            <a:noFill/>
            <a:ln w="25400">
              <a:solidFill>
                <a:srgbClr val="BDBDB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7" name="Line 550"/>
            <p:cNvSpPr>
              <a:spLocks noChangeShapeType="1"/>
            </p:cNvSpPr>
            <p:nvPr/>
          </p:nvSpPr>
          <p:spPr bwMode="auto">
            <a:xfrm flipV="1">
              <a:off x="2716" y="2838"/>
              <a:ext cx="54" cy="49"/>
            </a:xfrm>
            <a:prstGeom prst="line">
              <a:avLst/>
            </a:prstGeom>
            <a:noFill/>
            <a:ln w="2540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8" name="Line 551"/>
            <p:cNvSpPr>
              <a:spLocks noChangeShapeType="1"/>
            </p:cNvSpPr>
            <p:nvPr/>
          </p:nvSpPr>
          <p:spPr bwMode="auto">
            <a:xfrm flipV="1">
              <a:off x="2709" y="2838"/>
              <a:ext cx="54" cy="49"/>
            </a:xfrm>
            <a:prstGeom prst="line">
              <a:avLst/>
            </a:prstGeom>
            <a:noFill/>
            <a:ln w="25400">
              <a:solidFill>
                <a:srgbClr val="C2C2C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89" name="Line 552"/>
            <p:cNvSpPr>
              <a:spLocks noChangeShapeType="1"/>
            </p:cNvSpPr>
            <p:nvPr/>
          </p:nvSpPr>
          <p:spPr bwMode="auto">
            <a:xfrm flipV="1">
              <a:off x="2701" y="2838"/>
              <a:ext cx="54" cy="49"/>
            </a:xfrm>
            <a:prstGeom prst="line">
              <a:avLst/>
            </a:prstGeom>
            <a:noFill/>
            <a:ln w="25400">
              <a:solidFill>
                <a:srgbClr val="C4C4C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0" name="Line 553"/>
            <p:cNvSpPr>
              <a:spLocks noChangeShapeType="1"/>
            </p:cNvSpPr>
            <p:nvPr/>
          </p:nvSpPr>
          <p:spPr bwMode="auto">
            <a:xfrm flipV="1">
              <a:off x="2685" y="2838"/>
              <a:ext cx="54" cy="49"/>
            </a:xfrm>
            <a:prstGeom prst="line">
              <a:avLst/>
            </a:prstGeom>
            <a:noFill/>
            <a:ln w="25400">
              <a:solidFill>
                <a:srgbClr val="C6C6C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1" name="Line 554"/>
            <p:cNvSpPr>
              <a:spLocks noChangeShapeType="1"/>
            </p:cNvSpPr>
            <p:nvPr/>
          </p:nvSpPr>
          <p:spPr bwMode="auto">
            <a:xfrm flipV="1">
              <a:off x="2669" y="2838"/>
              <a:ext cx="54" cy="49"/>
            </a:xfrm>
            <a:prstGeom prst="line">
              <a:avLst/>
            </a:prstGeom>
            <a:noFill/>
            <a:ln w="25400">
              <a:solidFill>
                <a:srgbClr val="C8C8C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2" name="Line 555"/>
            <p:cNvSpPr>
              <a:spLocks noChangeShapeType="1"/>
            </p:cNvSpPr>
            <p:nvPr/>
          </p:nvSpPr>
          <p:spPr bwMode="auto">
            <a:xfrm flipV="1">
              <a:off x="2669" y="2838"/>
              <a:ext cx="54" cy="49"/>
            </a:xfrm>
            <a:prstGeom prst="line">
              <a:avLst/>
            </a:prstGeom>
            <a:noFill/>
            <a:ln w="25400">
              <a:solidFill>
                <a:srgbClr val="CACAC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3" name="Line 556"/>
            <p:cNvSpPr>
              <a:spLocks noChangeShapeType="1"/>
            </p:cNvSpPr>
            <p:nvPr/>
          </p:nvSpPr>
          <p:spPr bwMode="auto">
            <a:xfrm flipV="1">
              <a:off x="2653" y="2838"/>
              <a:ext cx="54" cy="49"/>
            </a:xfrm>
            <a:prstGeom prst="line">
              <a:avLst/>
            </a:prstGeom>
            <a:noFill/>
            <a:ln w="25400">
              <a:solidFill>
                <a:srgbClr val="CCCCC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4" name="Line 557"/>
            <p:cNvSpPr>
              <a:spLocks noChangeShapeType="1"/>
            </p:cNvSpPr>
            <p:nvPr/>
          </p:nvSpPr>
          <p:spPr bwMode="auto">
            <a:xfrm flipV="1">
              <a:off x="2639" y="2838"/>
              <a:ext cx="54" cy="49"/>
            </a:xfrm>
            <a:prstGeom prst="line">
              <a:avLst/>
            </a:prstGeom>
            <a:noFill/>
            <a:ln w="25400">
              <a:solidFill>
                <a:srgbClr val="CECEC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5" name="Line 558"/>
            <p:cNvSpPr>
              <a:spLocks noChangeShapeType="1"/>
            </p:cNvSpPr>
            <p:nvPr/>
          </p:nvSpPr>
          <p:spPr bwMode="auto">
            <a:xfrm flipV="1">
              <a:off x="2631" y="2838"/>
              <a:ext cx="54" cy="49"/>
            </a:xfrm>
            <a:prstGeom prst="line">
              <a:avLst/>
            </a:prstGeom>
            <a:noFill/>
            <a:ln w="25400">
              <a:solidFill>
                <a:srgbClr val="D0D0D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6" name="Line 559"/>
            <p:cNvSpPr>
              <a:spLocks noChangeShapeType="1"/>
            </p:cNvSpPr>
            <p:nvPr/>
          </p:nvSpPr>
          <p:spPr bwMode="auto">
            <a:xfrm flipV="1">
              <a:off x="2623" y="2838"/>
              <a:ext cx="54" cy="49"/>
            </a:xfrm>
            <a:prstGeom prst="line">
              <a:avLst/>
            </a:prstGeom>
            <a:noFill/>
            <a:ln w="25400">
              <a:solidFill>
                <a:srgbClr val="D2D2D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7" name="Line 560"/>
            <p:cNvSpPr>
              <a:spLocks noChangeShapeType="1"/>
            </p:cNvSpPr>
            <p:nvPr/>
          </p:nvSpPr>
          <p:spPr bwMode="auto">
            <a:xfrm flipV="1">
              <a:off x="2607" y="2838"/>
              <a:ext cx="54" cy="49"/>
            </a:xfrm>
            <a:prstGeom prst="line">
              <a:avLst/>
            </a:prstGeom>
            <a:noFill/>
            <a:ln w="25400">
              <a:solidFill>
                <a:srgbClr val="D4D4D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8" name="Line 561"/>
            <p:cNvSpPr>
              <a:spLocks noChangeShapeType="1"/>
            </p:cNvSpPr>
            <p:nvPr/>
          </p:nvSpPr>
          <p:spPr bwMode="auto">
            <a:xfrm flipV="1">
              <a:off x="2591" y="2838"/>
              <a:ext cx="54" cy="49"/>
            </a:xfrm>
            <a:prstGeom prst="line">
              <a:avLst/>
            </a:prstGeom>
            <a:noFill/>
            <a:ln w="25400">
              <a:solidFill>
                <a:srgbClr val="D6D6D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199" name="Line 562"/>
            <p:cNvSpPr>
              <a:spLocks noChangeShapeType="1"/>
            </p:cNvSpPr>
            <p:nvPr/>
          </p:nvSpPr>
          <p:spPr bwMode="auto">
            <a:xfrm flipV="1">
              <a:off x="2591" y="2838"/>
              <a:ext cx="54" cy="49"/>
            </a:xfrm>
            <a:prstGeom prst="line">
              <a:avLst/>
            </a:prstGeom>
            <a:noFill/>
            <a:ln w="25400">
              <a:solidFill>
                <a:srgbClr val="D8D8D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0" name="Line 563"/>
            <p:cNvSpPr>
              <a:spLocks noChangeShapeType="1"/>
            </p:cNvSpPr>
            <p:nvPr/>
          </p:nvSpPr>
          <p:spPr bwMode="auto">
            <a:xfrm flipV="1">
              <a:off x="2576" y="2838"/>
              <a:ext cx="54" cy="49"/>
            </a:xfrm>
            <a:prstGeom prst="line">
              <a:avLst/>
            </a:prstGeom>
            <a:noFill/>
            <a:ln w="25400">
              <a:solidFill>
                <a:srgbClr val="DADAD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1" name="Line 564"/>
            <p:cNvSpPr>
              <a:spLocks noChangeShapeType="1"/>
            </p:cNvSpPr>
            <p:nvPr/>
          </p:nvSpPr>
          <p:spPr bwMode="auto">
            <a:xfrm flipV="1">
              <a:off x="2560" y="2838"/>
              <a:ext cx="54" cy="49"/>
            </a:xfrm>
            <a:prstGeom prst="line">
              <a:avLst/>
            </a:prstGeom>
            <a:noFill/>
            <a:ln w="25400">
              <a:solidFill>
                <a:srgbClr val="DCDCD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2" name="Line 565"/>
            <p:cNvSpPr>
              <a:spLocks noChangeShapeType="1"/>
            </p:cNvSpPr>
            <p:nvPr/>
          </p:nvSpPr>
          <p:spPr bwMode="auto">
            <a:xfrm flipV="1">
              <a:off x="2552" y="2838"/>
              <a:ext cx="54" cy="49"/>
            </a:xfrm>
            <a:prstGeom prst="line">
              <a:avLst/>
            </a:prstGeom>
            <a:noFill/>
            <a:ln w="25400">
              <a:solidFill>
                <a:srgbClr val="DEDED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3" name="Line 566"/>
            <p:cNvSpPr>
              <a:spLocks noChangeShapeType="1"/>
            </p:cNvSpPr>
            <p:nvPr/>
          </p:nvSpPr>
          <p:spPr bwMode="auto">
            <a:xfrm flipV="1">
              <a:off x="2545" y="2838"/>
              <a:ext cx="54" cy="49"/>
            </a:xfrm>
            <a:prstGeom prst="line">
              <a:avLst/>
            </a:prstGeom>
            <a:noFill/>
            <a:ln w="25400">
              <a:solidFill>
                <a:srgbClr val="E1E1E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4" name="Line 567"/>
            <p:cNvSpPr>
              <a:spLocks noChangeShapeType="1"/>
            </p:cNvSpPr>
            <p:nvPr/>
          </p:nvSpPr>
          <p:spPr bwMode="auto">
            <a:xfrm flipV="1">
              <a:off x="2529" y="2838"/>
              <a:ext cx="54" cy="49"/>
            </a:xfrm>
            <a:prstGeom prst="line">
              <a:avLst/>
            </a:prstGeom>
            <a:noFill/>
            <a:ln w="25400">
              <a:solidFill>
                <a:srgbClr val="E3E3E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5" name="Line 568"/>
            <p:cNvSpPr>
              <a:spLocks noChangeShapeType="1"/>
            </p:cNvSpPr>
            <p:nvPr/>
          </p:nvSpPr>
          <p:spPr bwMode="auto">
            <a:xfrm flipV="1">
              <a:off x="2514" y="2838"/>
              <a:ext cx="54" cy="49"/>
            </a:xfrm>
            <a:prstGeom prst="line">
              <a:avLst/>
            </a:prstGeom>
            <a:noFill/>
            <a:ln w="25400">
              <a:solidFill>
                <a:srgbClr val="E5E5E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6" name="Line 569"/>
            <p:cNvSpPr>
              <a:spLocks noChangeShapeType="1"/>
            </p:cNvSpPr>
            <p:nvPr/>
          </p:nvSpPr>
          <p:spPr bwMode="auto">
            <a:xfrm flipV="1">
              <a:off x="2514" y="2838"/>
              <a:ext cx="54" cy="49"/>
            </a:xfrm>
            <a:prstGeom prst="line">
              <a:avLst/>
            </a:prstGeom>
            <a:noFill/>
            <a:ln w="25400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7" name="Line 570"/>
            <p:cNvSpPr>
              <a:spLocks noChangeShapeType="1"/>
            </p:cNvSpPr>
            <p:nvPr/>
          </p:nvSpPr>
          <p:spPr bwMode="auto">
            <a:xfrm flipV="1">
              <a:off x="2513" y="2838"/>
              <a:ext cx="38" cy="35"/>
            </a:xfrm>
            <a:prstGeom prst="line">
              <a:avLst/>
            </a:prstGeom>
            <a:noFill/>
            <a:ln w="25400">
              <a:solidFill>
                <a:srgbClr val="E9E9E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8" name="Line 571"/>
            <p:cNvSpPr>
              <a:spLocks noChangeShapeType="1"/>
            </p:cNvSpPr>
            <p:nvPr/>
          </p:nvSpPr>
          <p:spPr bwMode="auto">
            <a:xfrm flipV="1">
              <a:off x="2513" y="2838"/>
              <a:ext cx="24" cy="22"/>
            </a:xfrm>
            <a:prstGeom prst="line">
              <a:avLst/>
            </a:prstGeom>
            <a:noFill/>
            <a:ln w="25400">
              <a:solidFill>
                <a:srgbClr val="EBEBE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09" name="Line 572"/>
            <p:cNvSpPr>
              <a:spLocks noChangeShapeType="1"/>
            </p:cNvSpPr>
            <p:nvPr/>
          </p:nvSpPr>
          <p:spPr bwMode="auto">
            <a:xfrm flipV="1">
              <a:off x="2513" y="2838"/>
              <a:ext cx="24" cy="22"/>
            </a:xfrm>
            <a:prstGeom prst="line">
              <a:avLst/>
            </a:prstGeom>
            <a:noFill/>
            <a:ln w="25400">
              <a:solidFill>
                <a:srgbClr val="EDEDE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0" name="Line 573"/>
            <p:cNvSpPr>
              <a:spLocks noChangeShapeType="1"/>
            </p:cNvSpPr>
            <p:nvPr/>
          </p:nvSpPr>
          <p:spPr bwMode="auto">
            <a:xfrm flipV="1">
              <a:off x="2513" y="2838"/>
              <a:ext cx="8" cy="8"/>
            </a:xfrm>
            <a:prstGeom prst="line">
              <a:avLst/>
            </a:prstGeom>
            <a:noFill/>
            <a:ln w="25400">
              <a:solidFill>
                <a:srgbClr val="EFEFE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1" name="Freeform 2210"/>
            <p:cNvSpPr>
              <a:spLocks/>
            </p:cNvSpPr>
            <p:nvPr/>
          </p:nvSpPr>
          <p:spPr bwMode="auto">
            <a:xfrm>
              <a:off x="2490" y="2838"/>
              <a:ext cx="1257" cy="49"/>
            </a:xfrm>
            <a:custGeom>
              <a:avLst/>
              <a:gdLst>
                <a:gd name="T0" fmla="*/ 0 w 1257"/>
                <a:gd name="T1" fmla="*/ 49 h 49"/>
                <a:gd name="T2" fmla="*/ 1109 w 1257"/>
                <a:gd name="T3" fmla="*/ 49 h 49"/>
                <a:gd name="T4" fmla="*/ 1257 w 1257"/>
                <a:gd name="T5" fmla="*/ 0 h 49"/>
                <a:gd name="T6" fmla="*/ 180 w 1257"/>
                <a:gd name="T7" fmla="*/ 0 h 49"/>
                <a:gd name="T8" fmla="*/ 0 w 1257"/>
                <a:gd name="T9" fmla="*/ 4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7"/>
                <a:gd name="T16" fmla="*/ 0 h 49"/>
                <a:gd name="T17" fmla="*/ 1257 w 1257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7" h="49">
                  <a:moveTo>
                    <a:pt x="0" y="49"/>
                  </a:moveTo>
                  <a:lnTo>
                    <a:pt x="1109" y="49"/>
                  </a:lnTo>
                  <a:lnTo>
                    <a:pt x="1257" y="0"/>
                  </a:lnTo>
                  <a:lnTo>
                    <a:pt x="180" y="0"/>
                  </a:lnTo>
                  <a:lnTo>
                    <a:pt x="0" y="49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2" name="Line 575"/>
            <p:cNvSpPr>
              <a:spLocks noChangeShapeType="1"/>
            </p:cNvSpPr>
            <p:nvPr/>
          </p:nvSpPr>
          <p:spPr bwMode="auto">
            <a:xfrm>
              <a:off x="2896" y="2725"/>
              <a:ext cx="1" cy="141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3" name="Line 576"/>
            <p:cNvSpPr>
              <a:spLocks noChangeShapeType="1"/>
            </p:cNvSpPr>
            <p:nvPr/>
          </p:nvSpPr>
          <p:spPr bwMode="auto">
            <a:xfrm>
              <a:off x="2904" y="2725"/>
              <a:ext cx="1" cy="141"/>
            </a:xfrm>
            <a:prstGeom prst="line">
              <a:avLst/>
            </a:prstGeom>
            <a:noFill/>
            <a:ln w="36513">
              <a:solidFill>
                <a:srgbClr val="0B0B0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4" name="Line 577"/>
            <p:cNvSpPr>
              <a:spLocks noChangeShapeType="1"/>
            </p:cNvSpPr>
            <p:nvPr/>
          </p:nvSpPr>
          <p:spPr bwMode="auto">
            <a:xfrm>
              <a:off x="2912" y="2725"/>
              <a:ext cx="1" cy="141"/>
            </a:xfrm>
            <a:prstGeom prst="line">
              <a:avLst/>
            </a:prstGeom>
            <a:noFill/>
            <a:ln w="36513">
              <a:solidFill>
                <a:srgbClr val="17171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5" name="Line 578"/>
            <p:cNvSpPr>
              <a:spLocks noChangeShapeType="1"/>
            </p:cNvSpPr>
            <p:nvPr/>
          </p:nvSpPr>
          <p:spPr bwMode="auto">
            <a:xfrm>
              <a:off x="2919" y="2725"/>
              <a:ext cx="1" cy="141"/>
            </a:xfrm>
            <a:prstGeom prst="line">
              <a:avLst/>
            </a:prstGeom>
            <a:noFill/>
            <a:ln w="36513">
              <a:solidFill>
                <a:srgbClr val="22222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6" name="Line 579"/>
            <p:cNvSpPr>
              <a:spLocks noChangeShapeType="1"/>
            </p:cNvSpPr>
            <p:nvPr/>
          </p:nvSpPr>
          <p:spPr bwMode="auto">
            <a:xfrm>
              <a:off x="2927" y="2725"/>
              <a:ext cx="1" cy="141"/>
            </a:xfrm>
            <a:prstGeom prst="line">
              <a:avLst/>
            </a:prstGeom>
            <a:noFill/>
            <a:ln w="36513">
              <a:solidFill>
                <a:srgbClr val="2E2E2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7" name="Line 580"/>
            <p:cNvSpPr>
              <a:spLocks noChangeShapeType="1"/>
            </p:cNvSpPr>
            <p:nvPr/>
          </p:nvSpPr>
          <p:spPr bwMode="auto">
            <a:xfrm>
              <a:off x="2935" y="2725"/>
              <a:ext cx="1" cy="141"/>
            </a:xfrm>
            <a:prstGeom prst="line">
              <a:avLst/>
            </a:prstGeom>
            <a:noFill/>
            <a:ln w="36513">
              <a:solidFill>
                <a:srgbClr val="3A3A3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8" name="Line 581"/>
            <p:cNvSpPr>
              <a:spLocks noChangeShapeType="1"/>
            </p:cNvSpPr>
            <p:nvPr/>
          </p:nvSpPr>
          <p:spPr bwMode="auto">
            <a:xfrm>
              <a:off x="2943" y="2725"/>
              <a:ext cx="1" cy="141"/>
            </a:xfrm>
            <a:prstGeom prst="line">
              <a:avLst/>
            </a:prstGeom>
            <a:noFill/>
            <a:ln w="36513">
              <a:solidFill>
                <a:srgbClr val="45454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19" name="Line 582"/>
            <p:cNvSpPr>
              <a:spLocks noChangeShapeType="1"/>
            </p:cNvSpPr>
            <p:nvPr/>
          </p:nvSpPr>
          <p:spPr bwMode="auto">
            <a:xfrm>
              <a:off x="2951" y="2725"/>
              <a:ext cx="1" cy="141"/>
            </a:xfrm>
            <a:prstGeom prst="line">
              <a:avLst/>
            </a:prstGeom>
            <a:noFill/>
            <a:ln w="36513">
              <a:solidFill>
                <a:srgbClr val="51515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0" name="Line 583"/>
            <p:cNvSpPr>
              <a:spLocks noChangeShapeType="1"/>
            </p:cNvSpPr>
            <p:nvPr/>
          </p:nvSpPr>
          <p:spPr bwMode="auto">
            <a:xfrm>
              <a:off x="2958" y="2725"/>
              <a:ext cx="1" cy="141"/>
            </a:xfrm>
            <a:prstGeom prst="line">
              <a:avLst/>
            </a:prstGeom>
            <a:noFill/>
            <a:ln w="36513">
              <a:solidFill>
                <a:srgbClr val="5D5D5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1" name="Line 584"/>
            <p:cNvSpPr>
              <a:spLocks noChangeShapeType="1"/>
            </p:cNvSpPr>
            <p:nvPr/>
          </p:nvSpPr>
          <p:spPr bwMode="auto">
            <a:xfrm>
              <a:off x="2966" y="2725"/>
              <a:ext cx="1" cy="141"/>
            </a:xfrm>
            <a:prstGeom prst="line">
              <a:avLst/>
            </a:prstGeom>
            <a:noFill/>
            <a:ln w="36513">
              <a:solidFill>
                <a:srgbClr val="68686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2" name="Line 585"/>
            <p:cNvSpPr>
              <a:spLocks noChangeShapeType="1"/>
            </p:cNvSpPr>
            <p:nvPr/>
          </p:nvSpPr>
          <p:spPr bwMode="auto">
            <a:xfrm>
              <a:off x="2974" y="2725"/>
              <a:ext cx="1" cy="141"/>
            </a:xfrm>
            <a:prstGeom prst="line">
              <a:avLst/>
            </a:prstGeom>
            <a:noFill/>
            <a:ln w="36513">
              <a:solidFill>
                <a:srgbClr val="74747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3" name="Line 586"/>
            <p:cNvSpPr>
              <a:spLocks noChangeShapeType="1"/>
            </p:cNvSpPr>
            <p:nvPr/>
          </p:nvSpPr>
          <p:spPr bwMode="auto">
            <a:xfrm>
              <a:off x="2982" y="2725"/>
              <a:ext cx="1" cy="141"/>
            </a:xfrm>
            <a:prstGeom prst="line">
              <a:avLst/>
            </a:prstGeom>
            <a:noFill/>
            <a:ln w="3651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4" name="Line 587"/>
            <p:cNvSpPr>
              <a:spLocks noChangeShapeType="1"/>
            </p:cNvSpPr>
            <p:nvPr/>
          </p:nvSpPr>
          <p:spPr bwMode="auto">
            <a:xfrm>
              <a:off x="2990" y="2725"/>
              <a:ext cx="1" cy="141"/>
            </a:xfrm>
            <a:prstGeom prst="line">
              <a:avLst/>
            </a:prstGeom>
            <a:noFill/>
            <a:ln w="36513">
              <a:solidFill>
                <a:srgbClr val="8B8B8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5" name="Line 588"/>
            <p:cNvSpPr>
              <a:spLocks noChangeShapeType="1"/>
            </p:cNvSpPr>
            <p:nvPr/>
          </p:nvSpPr>
          <p:spPr bwMode="auto">
            <a:xfrm>
              <a:off x="2997" y="2725"/>
              <a:ext cx="1" cy="141"/>
            </a:xfrm>
            <a:prstGeom prst="line">
              <a:avLst/>
            </a:prstGeom>
            <a:noFill/>
            <a:ln w="36513">
              <a:solidFill>
                <a:srgbClr val="9797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6" name="Line 589"/>
            <p:cNvSpPr>
              <a:spLocks noChangeShapeType="1"/>
            </p:cNvSpPr>
            <p:nvPr/>
          </p:nvSpPr>
          <p:spPr bwMode="auto">
            <a:xfrm>
              <a:off x="3005" y="2725"/>
              <a:ext cx="1" cy="141"/>
            </a:xfrm>
            <a:prstGeom prst="line">
              <a:avLst/>
            </a:prstGeom>
            <a:noFill/>
            <a:ln w="36513">
              <a:solidFill>
                <a:srgbClr val="A2A2A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7" name="Line 590"/>
            <p:cNvSpPr>
              <a:spLocks noChangeShapeType="1"/>
            </p:cNvSpPr>
            <p:nvPr/>
          </p:nvSpPr>
          <p:spPr bwMode="auto">
            <a:xfrm>
              <a:off x="3013" y="2725"/>
              <a:ext cx="1" cy="141"/>
            </a:xfrm>
            <a:prstGeom prst="line">
              <a:avLst/>
            </a:prstGeom>
            <a:noFill/>
            <a:ln w="36513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8" name="Line 591"/>
            <p:cNvSpPr>
              <a:spLocks noChangeShapeType="1"/>
            </p:cNvSpPr>
            <p:nvPr/>
          </p:nvSpPr>
          <p:spPr bwMode="auto">
            <a:xfrm>
              <a:off x="3021" y="2725"/>
              <a:ext cx="1" cy="141"/>
            </a:xfrm>
            <a:prstGeom prst="line">
              <a:avLst/>
            </a:prstGeom>
            <a:noFill/>
            <a:ln w="36513">
              <a:solidFill>
                <a:srgbClr val="BABAB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29" name="Line 592"/>
            <p:cNvSpPr>
              <a:spLocks noChangeShapeType="1"/>
            </p:cNvSpPr>
            <p:nvPr/>
          </p:nvSpPr>
          <p:spPr bwMode="auto">
            <a:xfrm>
              <a:off x="3029" y="2725"/>
              <a:ext cx="1" cy="141"/>
            </a:xfrm>
            <a:prstGeom prst="line">
              <a:avLst/>
            </a:prstGeom>
            <a:noFill/>
            <a:ln w="36513">
              <a:solidFill>
                <a:srgbClr val="C5C5C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0" name="Line 593"/>
            <p:cNvSpPr>
              <a:spLocks noChangeShapeType="1"/>
            </p:cNvSpPr>
            <p:nvPr/>
          </p:nvSpPr>
          <p:spPr bwMode="auto">
            <a:xfrm>
              <a:off x="3037" y="2725"/>
              <a:ext cx="1" cy="141"/>
            </a:xfrm>
            <a:prstGeom prst="line">
              <a:avLst/>
            </a:prstGeom>
            <a:noFill/>
            <a:ln w="36513">
              <a:solidFill>
                <a:srgbClr val="D1D1D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1" name="Line 594"/>
            <p:cNvSpPr>
              <a:spLocks noChangeShapeType="1"/>
            </p:cNvSpPr>
            <p:nvPr/>
          </p:nvSpPr>
          <p:spPr bwMode="auto">
            <a:xfrm>
              <a:off x="3044" y="2725"/>
              <a:ext cx="1" cy="141"/>
            </a:xfrm>
            <a:prstGeom prst="line">
              <a:avLst/>
            </a:prstGeom>
            <a:noFill/>
            <a:ln w="36513">
              <a:solidFill>
                <a:srgbClr val="DDDDD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2" name="Line 595"/>
            <p:cNvSpPr>
              <a:spLocks noChangeShapeType="1"/>
            </p:cNvSpPr>
            <p:nvPr/>
          </p:nvSpPr>
          <p:spPr bwMode="auto">
            <a:xfrm>
              <a:off x="3052" y="2725"/>
              <a:ext cx="1" cy="141"/>
            </a:xfrm>
            <a:prstGeom prst="line">
              <a:avLst/>
            </a:prstGeom>
            <a:noFill/>
            <a:ln w="36513">
              <a:solidFill>
                <a:srgbClr val="E8E8E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3" name="Line 596"/>
            <p:cNvSpPr>
              <a:spLocks noChangeShapeType="1"/>
            </p:cNvSpPr>
            <p:nvPr/>
          </p:nvSpPr>
          <p:spPr bwMode="auto">
            <a:xfrm>
              <a:off x="3060" y="2725"/>
              <a:ext cx="1" cy="141"/>
            </a:xfrm>
            <a:prstGeom prst="line">
              <a:avLst/>
            </a:prstGeom>
            <a:noFill/>
            <a:ln w="36513">
              <a:solidFill>
                <a:srgbClr val="F4F4F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4" name="Line 597"/>
            <p:cNvSpPr>
              <a:spLocks noChangeShapeType="1"/>
            </p:cNvSpPr>
            <p:nvPr/>
          </p:nvSpPr>
          <p:spPr bwMode="auto">
            <a:xfrm>
              <a:off x="3068" y="2725"/>
              <a:ext cx="1" cy="141"/>
            </a:xfrm>
            <a:prstGeom prst="line">
              <a:avLst/>
            </a:prstGeom>
            <a:noFill/>
            <a:ln w="365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5" name="Arc 598"/>
            <p:cNvSpPr>
              <a:spLocks/>
            </p:cNvSpPr>
            <p:nvPr/>
          </p:nvSpPr>
          <p:spPr bwMode="auto">
            <a:xfrm>
              <a:off x="2892" y="2729"/>
              <a:ext cx="176" cy="14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460"/>
                  </a:moveTo>
                  <a:cubicBezTo>
                    <a:pt x="77" y="9585"/>
                    <a:pt x="9725" y="0"/>
                    <a:pt x="21599" y="0"/>
                  </a:cubicBezTo>
                </a:path>
                <a:path w="21600" h="21600" stroke="0" extrusionOk="0">
                  <a:moveTo>
                    <a:pt x="0" y="21460"/>
                  </a:moveTo>
                  <a:cubicBezTo>
                    <a:pt x="77" y="9585"/>
                    <a:pt x="9725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6" name="Line 599"/>
            <p:cNvSpPr>
              <a:spLocks noChangeShapeType="1"/>
            </p:cNvSpPr>
            <p:nvPr/>
          </p:nvSpPr>
          <p:spPr bwMode="auto">
            <a:xfrm>
              <a:off x="3068" y="2732"/>
              <a:ext cx="1" cy="134"/>
            </a:xfrm>
            <a:prstGeom prst="line">
              <a:avLst/>
            </a:prstGeom>
            <a:noFill/>
            <a:ln w="36513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7" name="Line 600"/>
            <p:cNvSpPr>
              <a:spLocks noChangeShapeType="1"/>
            </p:cNvSpPr>
            <p:nvPr/>
          </p:nvSpPr>
          <p:spPr bwMode="auto">
            <a:xfrm>
              <a:off x="3076" y="2732"/>
              <a:ext cx="1" cy="134"/>
            </a:xfrm>
            <a:prstGeom prst="line">
              <a:avLst/>
            </a:prstGeom>
            <a:noFill/>
            <a:ln w="36513">
              <a:solidFill>
                <a:srgbClr val="F3F3F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8" name="Line 601"/>
            <p:cNvSpPr>
              <a:spLocks noChangeShapeType="1"/>
            </p:cNvSpPr>
            <p:nvPr/>
          </p:nvSpPr>
          <p:spPr bwMode="auto">
            <a:xfrm>
              <a:off x="3083" y="2732"/>
              <a:ext cx="1" cy="134"/>
            </a:xfrm>
            <a:prstGeom prst="line">
              <a:avLst/>
            </a:prstGeom>
            <a:noFill/>
            <a:ln w="36513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39" name="Line 602"/>
            <p:cNvSpPr>
              <a:spLocks noChangeShapeType="1"/>
            </p:cNvSpPr>
            <p:nvPr/>
          </p:nvSpPr>
          <p:spPr bwMode="auto">
            <a:xfrm>
              <a:off x="3091" y="2732"/>
              <a:ext cx="1" cy="134"/>
            </a:xfrm>
            <a:prstGeom prst="line">
              <a:avLst/>
            </a:prstGeom>
            <a:noFill/>
            <a:ln w="36513">
              <a:solidFill>
                <a:srgbClr val="DBDBD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0" name="Line 603"/>
            <p:cNvSpPr>
              <a:spLocks noChangeShapeType="1"/>
            </p:cNvSpPr>
            <p:nvPr/>
          </p:nvSpPr>
          <p:spPr bwMode="auto">
            <a:xfrm>
              <a:off x="3099" y="2732"/>
              <a:ext cx="1" cy="134"/>
            </a:xfrm>
            <a:prstGeom prst="line">
              <a:avLst/>
            </a:prstGeom>
            <a:noFill/>
            <a:ln w="36513">
              <a:solidFill>
                <a:srgbClr val="CFCFC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1" name="Line 604"/>
            <p:cNvSpPr>
              <a:spLocks noChangeShapeType="1"/>
            </p:cNvSpPr>
            <p:nvPr/>
          </p:nvSpPr>
          <p:spPr bwMode="auto">
            <a:xfrm>
              <a:off x="3107" y="2732"/>
              <a:ext cx="1" cy="134"/>
            </a:xfrm>
            <a:prstGeom prst="line">
              <a:avLst/>
            </a:prstGeom>
            <a:noFill/>
            <a:ln w="36513">
              <a:solidFill>
                <a:srgbClr val="C3C3C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2" name="Line 605"/>
            <p:cNvSpPr>
              <a:spLocks noChangeShapeType="1"/>
            </p:cNvSpPr>
            <p:nvPr/>
          </p:nvSpPr>
          <p:spPr bwMode="auto">
            <a:xfrm>
              <a:off x="3115" y="2732"/>
              <a:ext cx="1" cy="134"/>
            </a:xfrm>
            <a:prstGeom prst="line">
              <a:avLst/>
            </a:prstGeom>
            <a:noFill/>
            <a:ln w="36513">
              <a:solidFill>
                <a:srgbClr val="B6B6B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3" name="Line 606"/>
            <p:cNvSpPr>
              <a:spLocks noChangeShapeType="1"/>
            </p:cNvSpPr>
            <p:nvPr/>
          </p:nvSpPr>
          <p:spPr bwMode="auto">
            <a:xfrm>
              <a:off x="3122" y="2732"/>
              <a:ext cx="1" cy="134"/>
            </a:xfrm>
            <a:prstGeom prst="line">
              <a:avLst/>
            </a:prstGeom>
            <a:noFill/>
            <a:ln w="36513">
              <a:solidFill>
                <a:srgbClr val="AAAAA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4" name="Line 607"/>
            <p:cNvSpPr>
              <a:spLocks noChangeShapeType="1"/>
            </p:cNvSpPr>
            <p:nvPr/>
          </p:nvSpPr>
          <p:spPr bwMode="auto">
            <a:xfrm>
              <a:off x="3130" y="2732"/>
              <a:ext cx="1" cy="134"/>
            </a:xfrm>
            <a:prstGeom prst="line">
              <a:avLst/>
            </a:prstGeom>
            <a:noFill/>
            <a:ln w="36513">
              <a:solidFill>
                <a:srgbClr val="9E9E9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5" name="Line 608"/>
            <p:cNvSpPr>
              <a:spLocks noChangeShapeType="1"/>
            </p:cNvSpPr>
            <p:nvPr/>
          </p:nvSpPr>
          <p:spPr bwMode="auto">
            <a:xfrm>
              <a:off x="3138" y="2732"/>
              <a:ext cx="1" cy="134"/>
            </a:xfrm>
            <a:prstGeom prst="line">
              <a:avLst/>
            </a:prstGeom>
            <a:noFill/>
            <a:ln w="36513">
              <a:solidFill>
                <a:srgbClr val="92929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6" name="Line 609"/>
            <p:cNvSpPr>
              <a:spLocks noChangeShapeType="1"/>
            </p:cNvSpPr>
            <p:nvPr/>
          </p:nvSpPr>
          <p:spPr bwMode="auto">
            <a:xfrm>
              <a:off x="3146" y="2732"/>
              <a:ext cx="1" cy="134"/>
            </a:xfrm>
            <a:prstGeom prst="line">
              <a:avLst/>
            </a:prstGeom>
            <a:noFill/>
            <a:ln w="36513">
              <a:solidFill>
                <a:srgbClr val="86868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7" name="Line 610"/>
            <p:cNvSpPr>
              <a:spLocks noChangeShapeType="1"/>
            </p:cNvSpPr>
            <p:nvPr/>
          </p:nvSpPr>
          <p:spPr bwMode="auto">
            <a:xfrm>
              <a:off x="3154" y="2732"/>
              <a:ext cx="1" cy="134"/>
            </a:xfrm>
            <a:prstGeom prst="line">
              <a:avLst/>
            </a:prstGeom>
            <a:noFill/>
            <a:ln w="36513">
              <a:solidFill>
                <a:srgbClr val="79797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8" name="Line 611"/>
            <p:cNvSpPr>
              <a:spLocks noChangeShapeType="1"/>
            </p:cNvSpPr>
            <p:nvPr/>
          </p:nvSpPr>
          <p:spPr bwMode="auto">
            <a:xfrm>
              <a:off x="3161" y="2732"/>
              <a:ext cx="1" cy="134"/>
            </a:xfrm>
            <a:prstGeom prst="line">
              <a:avLst/>
            </a:prstGeom>
            <a:noFill/>
            <a:ln w="36513">
              <a:solidFill>
                <a:srgbClr val="6D6D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49" name="Line 612"/>
            <p:cNvSpPr>
              <a:spLocks noChangeShapeType="1"/>
            </p:cNvSpPr>
            <p:nvPr/>
          </p:nvSpPr>
          <p:spPr bwMode="auto">
            <a:xfrm>
              <a:off x="3169" y="2732"/>
              <a:ext cx="1" cy="134"/>
            </a:xfrm>
            <a:prstGeom prst="line">
              <a:avLst/>
            </a:prstGeom>
            <a:noFill/>
            <a:ln w="36513">
              <a:solidFill>
                <a:srgbClr val="61616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0" name="Line 613"/>
            <p:cNvSpPr>
              <a:spLocks noChangeShapeType="1"/>
            </p:cNvSpPr>
            <p:nvPr/>
          </p:nvSpPr>
          <p:spPr bwMode="auto">
            <a:xfrm>
              <a:off x="3177" y="2732"/>
              <a:ext cx="1" cy="134"/>
            </a:xfrm>
            <a:prstGeom prst="line">
              <a:avLst/>
            </a:prstGeom>
            <a:noFill/>
            <a:ln w="36513">
              <a:solidFill>
                <a:srgbClr val="55555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1" name="Line 614"/>
            <p:cNvSpPr>
              <a:spLocks noChangeShapeType="1"/>
            </p:cNvSpPr>
            <p:nvPr/>
          </p:nvSpPr>
          <p:spPr bwMode="auto">
            <a:xfrm>
              <a:off x="3185" y="2732"/>
              <a:ext cx="1" cy="134"/>
            </a:xfrm>
            <a:prstGeom prst="line">
              <a:avLst/>
            </a:prstGeom>
            <a:noFill/>
            <a:ln w="36513">
              <a:solidFill>
                <a:srgbClr val="49494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2" name="Line 615"/>
            <p:cNvSpPr>
              <a:spLocks noChangeShapeType="1"/>
            </p:cNvSpPr>
            <p:nvPr/>
          </p:nvSpPr>
          <p:spPr bwMode="auto">
            <a:xfrm>
              <a:off x="3193" y="2732"/>
              <a:ext cx="1" cy="134"/>
            </a:xfrm>
            <a:prstGeom prst="line">
              <a:avLst/>
            </a:prstGeom>
            <a:noFill/>
            <a:ln w="36513">
              <a:solidFill>
                <a:srgbClr val="3C3C3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3" name="Line 616"/>
            <p:cNvSpPr>
              <a:spLocks noChangeShapeType="1"/>
            </p:cNvSpPr>
            <p:nvPr/>
          </p:nvSpPr>
          <p:spPr bwMode="auto">
            <a:xfrm>
              <a:off x="3200" y="2732"/>
              <a:ext cx="1" cy="134"/>
            </a:xfrm>
            <a:prstGeom prst="line">
              <a:avLst/>
            </a:prstGeom>
            <a:noFill/>
            <a:ln w="36513">
              <a:solidFill>
                <a:srgbClr val="30303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4" name="Line 617"/>
            <p:cNvSpPr>
              <a:spLocks noChangeShapeType="1"/>
            </p:cNvSpPr>
            <p:nvPr/>
          </p:nvSpPr>
          <p:spPr bwMode="auto">
            <a:xfrm>
              <a:off x="3208" y="2732"/>
              <a:ext cx="1" cy="134"/>
            </a:xfrm>
            <a:prstGeom prst="line">
              <a:avLst/>
            </a:prstGeom>
            <a:noFill/>
            <a:ln w="36513">
              <a:solidFill>
                <a:srgbClr val="24242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5" name="Line 618"/>
            <p:cNvSpPr>
              <a:spLocks noChangeShapeType="1"/>
            </p:cNvSpPr>
            <p:nvPr/>
          </p:nvSpPr>
          <p:spPr bwMode="auto">
            <a:xfrm>
              <a:off x="3216" y="2732"/>
              <a:ext cx="1" cy="134"/>
            </a:xfrm>
            <a:prstGeom prst="line">
              <a:avLst/>
            </a:prstGeom>
            <a:noFill/>
            <a:ln w="36513">
              <a:solidFill>
                <a:srgbClr val="18181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6" name="Line 619"/>
            <p:cNvSpPr>
              <a:spLocks noChangeShapeType="1"/>
            </p:cNvSpPr>
            <p:nvPr/>
          </p:nvSpPr>
          <p:spPr bwMode="auto">
            <a:xfrm>
              <a:off x="3224" y="2732"/>
              <a:ext cx="1" cy="134"/>
            </a:xfrm>
            <a:prstGeom prst="line">
              <a:avLst/>
            </a:prstGeom>
            <a:noFill/>
            <a:ln w="36513">
              <a:solidFill>
                <a:srgbClr val="0C0C0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7" name="Line 620"/>
            <p:cNvSpPr>
              <a:spLocks noChangeShapeType="1"/>
            </p:cNvSpPr>
            <p:nvPr/>
          </p:nvSpPr>
          <p:spPr bwMode="auto">
            <a:xfrm>
              <a:off x="3232" y="2732"/>
              <a:ext cx="1" cy="134"/>
            </a:xfrm>
            <a:prstGeom prst="line">
              <a:avLst/>
            </a:prstGeom>
            <a:noFill/>
            <a:ln w="365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8" name="Arc 621"/>
            <p:cNvSpPr>
              <a:spLocks/>
            </p:cNvSpPr>
            <p:nvPr/>
          </p:nvSpPr>
          <p:spPr bwMode="auto">
            <a:xfrm>
              <a:off x="3060" y="2736"/>
              <a:ext cx="176" cy="1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59" name="Line 622"/>
            <p:cNvSpPr>
              <a:spLocks noChangeShapeType="1"/>
            </p:cNvSpPr>
            <p:nvPr/>
          </p:nvSpPr>
          <p:spPr bwMode="auto">
            <a:xfrm flipH="1">
              <a:off x="2545" y="2268"/>
              <a:ext cx="5" cy="4"/>
            </a:xfrm>
            <a:prstGeom prst="line">
              <a:avLst/>
            </a:prstGeom>
            <a:noFill/>
            <a:ln w="25400">
              <a:solidFill>
                <a:srgbClr val="16161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0" name="Line 623"/>
            <p:cNvSpPr>
              <a:spLocks noChangeShapeType="1"/>
            </p:cNvSpPr>
            <p:nvPr/>
          </p:nvSpPr>
          <p:spPr bwMode="auto">
            <a:xfrm flipH="1">
              <a:off x="2545" y="2268"/>
              <a:ext cx="20" cy="18"/>
            </a:xfrm>
            <a:prstGeom prst="line">
              <a:avLst/>
            </a:prstGeom>
            <a:noFill/>
            <a:ln w="25400">
              <a:solidFill>
                <a:srgbClr val="1A1A1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1" name="Line 624"/>
            <p:cNvSpPr>
              <a:spLocks noChangeShapeType="1"/>
            </p:cNvSpPr>
            <p:nvPr/>
          </p:nvSpPr>
          <p:spPr bwMode="auto">
            <a:xfrm flipH="1">
              <a:off x="2545" y="2268"/>
              <a:ext cx="20" cy="18"/>
            </a:xfrm>
            <a:prstGeom prst="line">
              <a:avLst/>
            </a:prstGeom>
            <a:noFill/>
            <a:ln w="25400">
              <a:solidFill>
                <a:srgbClr val="1E1E1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2" name="Line 625"/>
            <p:cNvSpPr>
              <a:spLocks noChangeShapeType="1"/>
            </p:cNvSpPr>
            <p:nvPr/>
          </p:nvSpPr>
          <p:spPr bwMode="auto">
            <a:xfrm flipH="1">
              <a:off x="2545" y="2268"/>
              <a:ext cx="36" cy="33"/>
            </a:xfrm>
            <a:prstGeom prst="line">
              <a:avLst/>
            </a:prstGeom>
            <a:noFill/>
            <a:ln w="25400">
              <a:solidFill>
                <a:srgbClr val="23232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3" name="Line 626"/>
            <p:cNvSpPr>
              <a:spLocks noChangeShapeType="1"/>
            </p:cNvSpPr>
            <p:nvPr/>
          </p:nvSpPr>
          <p:spPr bwMode="auto">
            <a:xfrm flipH="1">
              <a:off x="2545" y="2268"/>
              <a:ext cx="51" cy="47"/>
            </a:xfrm>
            <a:prstGeom prst="line">
              <a:avLst/>
            </a:prstGeom>
            <a:noFill/>
            <a:ln w="25400">
              <a:solidFill>
                <a:srgbClr val="27272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4" name="Line 627"/>
            <p:cNvSpPr>
              <a:spLocks noChangeShapeType="1"/>
            </p:cNvSpPr>
            <p:nvPr/>
          </p:nvSpPr>
          <p:spPr bwMode="auto">
            <a:xfrm flipH="1">
              <a:off x="2545" y="2268"/>
              <a:ext cx="67" cy="61"/>
            </a:xfrm>
            <a:prstGeom prst="line">
              <a:avLst/>
            </a:prstGeom>
            <a:noFill/>
            <a:ln w="25400">
              <a:solidFill>
                <a:srgbClr val="2C2C2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5" name="Line 628"/>
            <p:cNvSpPr>
              <a:spLocks noChangeShapeType="1"/>
            </p:cNvSpPr>
            <p:nvPr/>
          </p:nvSpPr>
          <p:spPr bwMode="auto">
            <a:xfrm flipH="1">
              <a:off x="2545" y="2268"/>
              <a:ext cx="67" cy="61"/>
            </a:xfrm>
            <a:prstGeom prst="line">
              <a:avLst/>
            </a:prstGeom>
            <a:noFill/>
            <a:ln w="25400">
              <a:solidFill>
                <a:srgbClr val="30303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6" name="Line 629"/>
            <p:cNvSpPr>
              <a:spLocks noChangeShapeType="1"/>
            </p:cNvSpPr>
            <p:nvPr/>
          </p:nvSpPr>
          <p:spPr bwMode="auto">
            <a:xfrm flipH="1">
              <a:off x="2545" y="2268"/>
              <a:ext cx="81" cy="74"/>
            </a:xfrm>
            <a:prstGeom prst="line">
              <a:avLst/>
            </a:prstGeom>
            <a:noFill/>
            <a:ln w="25400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7" name="Line 630"/>
            <p:cNvSpPr>
              <a:spLocks noChangeShapeType="1"/>
            </p:cNvSpPr>
            <p:nvPr/>
          </p:nvSpPr>
          <p:spPr bwMode="auto">
            <a:xfrm flipH="1">
              <a:off x="2545" y="2268"/>
              <a:ext cx="97" cy="89"/>
            </a:xfrm>
            <a:prstGeom prst="line">
              <a:avLst/>
            </a:prstGeom>
            <a:noFill/>
            <a:ln w="25400">
              <a:solidFill>
                <a:srgbClr val="39393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8" name="Line 631"/>
            <p:cNvSpPr>
              <a:spLocks noChangeShapeType="1"/>
            </p:cNvSpPr>
            <p:nvPr/>
          </p:nvSpPr>
          <p:spPr bwMode="auto">
            <a:xfrm flipH="1">
              <a:off x="2545" y="2268"/>
              <a:ext cx="97" cy="89"/>
            </a:xfrm>
            <a:prstGeom prst="line">
              <a:avLst/>
            </a:prstGeom>
            <a:noFill/>
            <a:ln w="25400">
              <a:solidFill>
                <a:srgbClr val="3D3D3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69" name="Line 632"/>
            <p:cNvSpPr>
              <a:spLocks noChangeShapeType="1"/>
            </p:cNvSpPr>
            <p:nvPr/>
          </p:nvSpPr>
          <p:spPr bwMode="auto">
            <a:xfrm flipH="1">
              <a:off x="2545" y="2268"/>
              <a:ext cx="112" cy="103"/>
            </a:xfrm>
            <a:prstGeom prst="line">
              <a:avLst/>
            </a:prstGeom>
            <a:noFill/>
            <a:ln w="25400">
              <a:solidFill>
                <a:srgbClr val="42424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0" name="Line 633"/>
            <p:cNvSpPr>
              <a:spLocks noChangeShapeType="1"/>
            </p:cNvSpPr>
            <p:nvPr/>
          </p:nvSpPr>
          <p:spPr bwMode="auto">
            <a:xfrm flipH="1">
              <a:off x="2545" y="2268"/>
              <a:ext cx="128" cy="118"/>
            </a:xfrm>
            <a:prstGeom prst="line">
              <a:avLst/>
            </a:prstGeom>
            <a:noFill/>
            <a:ln w="25400">
              <a:solidFill>
                <a:srgbClr val="46464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1" name="Line 634"/>
            <p:cNvSpPr>
              <a:spLocks noChangeShapeType="1"/>
            </p:cNvSpPr>
            <p:nvPr/>
          </p:nvSpPr>
          <p:spPr bwMode="auto">
            <a:xfrm flipH="1">
              <a:off x="2545" y="2268"/>
              <a:ext cx="144" cy="132"/>
            </a:xfrm>
            <a:prstGeom prst="line">
              <a:avLst/>
            </a:prstGeom>
            <a:noFill/>
            <a:ln w="25400">
              <a:solidFill>
                <a:srgbClr val="4B4B4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2" name="Line 635"/>
            <p:cNvSpPr>
              <a:spLocks noChangeShapeType="1"/>
            </p:cNvSpPr>
            <p:nvPr/>
          </p:nvSpPr>
          <p:spPr bwMode="auto">
            <a:xfrm flipH="1">
              <a:off x="2545" y="2268"/>
              <a:ext cx="144" cy="132"/>
            </a:xfrm>
            <a:prstGeom prst="line">
              <a:avLst/>
            </a:prstGeom>
            <a:noFill/>
            <a:ln w="25400">
              <a:solidFill>
                <a:srgbClr val="4F4F4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3" name="Line 636"/>
            <p:cNvSpPr>
              <a:spLocks noChangeShapeType="1"/>
            </p:cNvSpPr>
            <p:nvPr/>
          </p:nvSpPr>
          <p:spPr bwMode="auto">
            <a:xfrm flipH="1">
              <a:off x="2545" y="2268"/>
              <a:ext cx="158" cy="145"/>
            </a:xfrm>
            <a:prstGeom prst="line">
              <a:avLst/>
            </a:prstGeom>
            <a:noFill/>
            <a:ln w="25400">
              <a:solidFill>
                <a:srgbClr val="53535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4" name="Line 637"/>
            <p:cNvSpPr>
              <a:spLocks noChangeShapeType="1"/>
            </p:cNvSpPr>
            <p:nvPr/>
          </p:nvSpPr>
          <p:spPr bwMode="auto">
            <a:xfrm flipH="1">
              <a:off x="2545" y="2268"/>
              <a:ext cx="174" cy="160"/>
            </a:xfrm>
            <a:prstGeom prst="line">
              <a:avLst/>
            </a:prstGeom>
            <a:noFill/>
            <a:ln w="25400">
              <a:solidFill>
                <a:srgbClr val="58585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5" name="Line 638"/>
            <p:cNvSpPr>
              <a:spLocks noChangeShapeType="1"/>
            </p:cNvSpPr>
            <p:nvPr/>
          </p:nvSpPr>
          <p:spPr bwMode="auto">
            <a:xfrm flipH="1">
              <a:off x="2545" y="2268"/>
              <a:ext cx="174" cy="160"/>
            </a:xfrm>
            <a:prstGeom prst="line">
              <a:avLst/>
            </a:prstGeom>
            <a:noFill/>
            <a:ln w="25400">
              <a:solidFill>
                <a:srgbClr val="5C5C5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6" name="Line 639"/>
            <p:cNvSpPr>
              <a:spLocks noChangeShapeType="1"/>
            </p:cNvSpPr>
            <p:nvPr/>
          </p:nvSpPr>
          <p:spPr bwMode="auto">
            <a:xfrm flipH="1">
              <a:off x="2559" y="2268"/>
              <a:ext cx="175" cy="162"/>
            </a:xfrm>
            <a:prstGeom prst="line">
              <a:avLst/>
            </a:prstGeom>
            <a:noFill/>
            <a:ln w="25400">
              <a:solidFill>
                <a:srgbClr val="61616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7" name="Line 640"/>
            <p:cNvSpPr>
              <a:spLocks noChangeShapeType="1"/>
            </p:cNvSpPr>
            <p:nvPr/>
          </p:nvSpPr>
          <p:spPr bwMode="auto">
            <a:xfrm flipH="1">
              <a:off x="2575" y="2268"/>
              <a:ext cx="175" cy="162"/>
            </a:xfrm>
            <a:prstGeom prst="line">
              <a:avLst/>
            </a:prstGeom>
            <a:noFill/>
            <a:ln w="25400">
              <a:solidFill>
                <a:srgbClr val="65656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8" name="Line 641"/>
            <p:cNvSpPr>
              <a:spLocks noChangeShapeType="1"/>
            </p:cNvSpPr>
            <p:nvPr/>
          </p:nvSpPr>
          <p:spPr bwMode="auto">
            <a:xfrm flipH="1">
              <a:off x="2591" y="2268"/>
              <a:ext cx="175" cy="162"/>
            </a:xfrm>
            <a:prstGeom prst="line">
              <a:avLst/>
            </a:prstGeom>
            <a:noFill/>
            <a:ln w="25400">
              <a:solidFill>
                <a:srgbClr val="69696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79" name="Line 642"/>
            <p:cNvSpPr>
              <a:spLocks noChangeShapeType="1"/>
            </p:cNvSpPr>
            <p:nvPr/>
          </p:nvSpPr>
          <p:spPr bwMode="auto">
            <a:xfrm flipH="1">
              <a:off x="2591" y="2268"/>
              <a:ext cx="175" cy="162"/>
            </a:xfrm>
            <a:prstGeom prst="line">
              <a:avLst/>
            </a:prstGeom>
            <a:noFill/>
            <a:ln w="25400">
              <a:solidFill>
                <a:srgbClr val="6E6E6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0" name="Line 643"/>
            <p:cNvSpPr>
              <a:spLocks noChangeShapeType="1"/>
            </p:cNvSpPr>
            <p:nvPr/>
          </p:nvSpPr>
          <p:spPr bwMode="auto">
            <a:xfrm flipH="1">
              <a:off x="2605" y="2268"/>
              <a:ext cx="175" cy="162"/>
            </a:xfrm>
            <a:prstGeom prst="line">
              <a:avLst/>
            </a:prstGeom>
            <a:noFill/>
            <a:ln w="25400">
              <a:solidFill>
                <a:srgbClr val="7272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1" name="Line 644"/>
            <p:cNvSpPr>
              <a:spLocks noChangeShapeType="1"/>
            </p:cNvSpPr>
            <p:nvPr/>
          </p:nvSpPr>
          <p:spPr bwMode="auto">
            <a:xfrm flipH="1">
              <a:off x="2621" y="2268"/>
              <a:ext cx="175" cy="162"/>
            </a:xfrm>
            <a:prstGeom prst="line">
              <a:avLst/>
            </a:prstGeom>
            <a:noFill/>
            <a:ln w="25400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2" name="Line 645"/>
            <p:cNvSpPr>
              <a:spLocks noChangeShapeType="1"/>
            </p:cNvSpPr>
            <p:nvPr/>
          </p:nvSpPr>
          <p:spPr bwMode="auto">
            <a:xfrm flipH="1">
              <a:off x="2621" y="2268"/>
              <a:ext cx="175" cy="162"/>
            </a:xfrm>
            <a:prstGeom prst="line">
              <a:avLst/>
            </a:prstGeom>
            <a:noFill/>
            <a:ln w="25400">
              <a:solidFill>
                <a:srgbClr val="7B7B7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3" name="Line 646"/>
            <p:cNvSpPr>
              <a:spLocks noChangeShapeType="1"/>
            </p:cNvSpPr>
            <p:nvPr/>
          </p:nvSpPr>
          <p:spPr bwMode="auto">
            <a:xfrm flipH="1">
              <a:off x="2636" y="2268"/>
              <a:ext cx="175" cy="162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4" name="Line 647"/>
            <p:cNvSpPr>
              <a:spLocks noChangeShapeType="1"/>
            </p:cNvSpPr>
            <p:nvPr/>
          </p:nvSpPr>
          <p:spPr bwMode="auto">
            <a:xfrm flipH="1">
              <a:off x="2652" y="2268"/>
              <a:ext cx="175" cy="162"/>
            </a:xfrm>
            <a:prstGeom prst="line">
              <a:avLst/>
            </a:prstGeom>
            <a:noFill/>
            <a:ln w="25400">
              <a:solidFill>
                <a:srgbClr val="84848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5" name="Line 648"/>
            <p:cNvSpPr>
              <a:spLocks noChangeShapeType="1"/>
            </p:cNvSpPr>
            <p:nvPr/>
          </p:nvSpPr>
          <p:spPr bwMode="auto">
            <a:xfrm flipH="1">
              <a:off x="2667" y="2268"/>
              <a:ext cx="175" cy="162"/>
            </a:xfrm>
            <a:prstGeom prst="line">
              <a:avLst/>
            </a:prstGeom>
            <a:noFill/>
            <a:ln w="25400">
              <a:solidFill>
                <a:srgbClr val="88888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6" name="Line 649"/>
            <p:cNvSpPr>
              <a:spLocks noChangeShapeType="1"/>
            </p:cNvSpPr>
            <p:nvPr/>
          </p:nvSpPr>
          <p:spPr bwMode="auto">
            <a:xfrm flipH="1">
              <a:off x="2667" y="2268"/>
              <a:ext cx="175" cy="162"/>
            </a:xfrm>
            <a:prstGeom prst="line">
              <a:avLst/>
            </a:prstGeom>
            <a:noFill/>
            <a:ln w="25400">
              <a:solidFill>
                <a:srgbClr val="8D8D8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7" name="Line 650"/>
            <p:cNvSpPr>
              <a:spLocks noChangeShapeType="1"/>
            </p:cNvSpPr>
            <p:nvPr/>
          </p:nvSpPr>
          <p:spPr bwMode="auto">
            <a:xfrm flipH="1">
              <a:off x="2683" y="2268"/>
              <a:ext cx="175" cy="16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8" name="Line 651"/>
            <p:cNvSpPr>
              <a:spLocks noChangeShapeType="1"/>
            </p:cNvSpPr>
            <p:nvPr/>
          </p:nvSpPr>
          <p:spPr bwMode="auto">
            <a:xfrm flipH="1">
              <a:off x="2699" y="2268"/>
              <a:ext cx="175" cy="162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89" name="Line 652"/>
            <p:cNvSpPr>
              <a:spLocks noChangeShapeType="1"/>
            </p:cNvSpPr>
            <p:nvPr/>
          </p:nvSpPr>
          <p:spPr bwMode="auto">
            <a:xfrm flipH="1">
              <a:off x="2699" y="2268"/>
              <a:ext cx="175" cy="162"/>
            </a:xfrm>
            <a:prstGeom prst="line">
              <a:avLst/>
            </a:prstGeom>
            <a:noFill/>
            <a:ln w="25400">
              <a:solidFill>
                <a:srgbClr val="9A9A9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0" name="Line 653"/>
            <p:cNvSpPr>
              <a:spLocks noChangeShapeType="1"/>
            </p:cNvSpPr>
            <p:nvPr/>
          </p:nvSpPr>
          <p:spPr bwMode="auto">
            <a:xfrm flipH="1">
              <a:off x="2714" y="2268"/>
              <a:ext cx="175" cy="162"/>
            </a:xfrm>
            <a:prstGeom prst="line">
              <a:avLst/>
            </a:prstGeom>
            <a:noFill/>
            <a:ln w="25400">
              <a:solidFill>
                <a:srgbClr val="9E9E9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1" name="Line 654"/>
            <p:cNvSpPr>
              <a:spLocks noChangeShapeType="1"/>
            </p:cNvSpPr>
            <p:nvPr/>
          </p:nvSpPr>
          <p:spPr bwMode="auto">
            <a:xfrm flipH="1">
              <a:off x="2730" y="2268"/>
              <a:ext cx="175" cy="162"/>
            </a:xfrm>
            <a:prstGeom prst="line">
              <a:avLst/>
            </a:prstGeom>
            <a:noFill/>
            <a:ln w="25400">
              <a:solidFill>
                <a:srgbClr val="A3A3A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2" name="Line 655"/>
            <p:cNvSpPr>
              <a:spLocks noChangeShapeType="1"/>
            </p:cNvSpPr>
            <p:nvPr/>
          </p:nvSpPr>
          <p:spPr bwMode="auto">
            <a:xfrm flipH="1">
              <a:off x="2745" y="2268"/>
              <a:ext cx="175" cy="162"/>
            </a:xfrm>
            <a:prstGeom prst="line">
              <a:avLst/>
            </a:prstGeom>
            <a:noFill/>
            <a:ln w="25400">
              <a:solidFill>
                <a:srgbClr val="A7A7A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3" name="Line 656"/>
            <p:cNvSpPr>
              <a:spLocks noChangeShapeType="1"/>
            </p:cNvSpPr>
            <p:nvPr/>
          </p:nvSpPr>
          <p:spPr bwMode="auto">
            <a:xfrm flipH="1">
              <a:off x="2745" y="2268"/>
              <a:ext cx="175" cy="162"/>
            </a:xfrm>
            <a:prstGeom prst="line">
              <a:avLst/>
            </a:prstGeom>
            <a:noFill/>
            <a:ln w="25400">
              <a:solidFill>
                <a:srgbClr val="ACACA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4" name="Line 657"/>
            <p:cNvSpPr>
              <a:spLocks noChangeShapeType="1"/>
            </p:cNvSpPr>
            <p:nvPr/>
          </p:nvSpPr>
          <p:spPr bwMode="auto">
            <a:xfrm flipH="1">
              <a:off x="2760" y="2268"/>
              <a:ext cx="175" cy="162"/>
            </a:xfrm>
            <a:prstGeom prst="line">
              <a:avLst/>
            </a:prstGeom>
            <a:noFill/>
            <a:ln w="25400">
              <a:solidFill>
                <a:srgbClr val="B0B0B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5" name="Line 658"/>
            <p:cNvSpPr>
              <a:spLocks noChangeShapeType="1"/>
            </p:cNvSpPr>
            <p:nvPr/>
          </p:nvSpPr>
          <p:spPr bwMode="auto">
            <a:xfrm flipH="1">
              <a:off x="2775" y="2268"/>
              <a:ext cx="175" cy="162"/>
            </a:xfrm>
            <a:prstGeom prst="line">
              <a:avLst/>
            </a:prstGeom>
            <a:noFill/>
            <a:ln w="25400">
              <a:solidFill>
                <a:srgbClr val="B4B4B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6" name="Line 659"/>
            <p:cNvSpPr>
              <a:spLocks noChangeShapeType="1"/>
            </p:cNvSpPr>
            <p:nvPr/>
          </p:nvSpPr>
          <p:spPr bwMode="auto">
            <a:xfrm flipH="1">
              <a:off x="2775" y="2268"/>
              <a:ext cx="175" cy="162"/>
            </a:xfrm>
            <a:prstGeom prst="line">
              <a:avLst/>
            </a:prstGeom>
            <a:noFill/>
            <a:ln w="25400">
              <a:solidFill>
                <a:srgbClr val="B9B9B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7" name="Line 660"/>
            <p:cNvSpPr>
              <a:spLocks noChangeShapeType="1"/>
            </p:cNvSpPr>
            <p:nvPr/>
          </p:nvSpPr>
          <p:spPr bwMode="auto">
            <a:xfrm flipH="1">
              <a:off x="2790" y="2281"/>
              <a:ext cx="161" cy="149"/>
            </a:xfrm>
            <a:prstGeom prst="line">
              <a:avLst/>
            </a:prstGeom>
            <a:noFill/>
            <a:ln w="25400">
              <a:solidFill>
                <a:srgbClr val="BDBDB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8" name="Line 661"/>
            <p:cNvSpPr>
              <a:spLocks noChangeShapeType="1"/>
            </p:cNvSpPr>
            <p:nvPr/>
          </p:nvSpPr>
          <p:spPr bwMode="auto">
            <a:xfrm flipH="1">
              <a:off x="2806" y="2296"/>
              <a:ext cx="145" cy="134"/>
            </a:xfrm>
            <a:prstGeom prst="line">
              <a:avLst/>
            </a:prstGeom>
            <a:noFill/>
            <a:ln w="25400">
              <a:solidFill>
                <a:srgbClr val="C2C2C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299" name="Line 662"/>
            <p:cNvSpPr>
              <a:spLocks noChangeShapeType="1"/>
            </p:cNvSpPr>
            <p:nvPr/>
          </p:nvSpPr>
          <p:spPr bwMode="auto">
            <a:xfrm flipH="1">
              <a:off x="2821" y="2310"/>
              <a:ext cx="130" cy="120"/>
            </a:xfrm>
            <a:prstGeom prst="line">
              <a:avLst/>
            </a:prstGeom>
            <a:noFill/>
            <a:ln w="25400">
              <a:solidFill>
                <a:srgbClr val="C6C6C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0" name="Line 663"/>
            <p:cNvSpPr>
              <a:spLocks noChangeShapeType="1"/>
            </p:cNvSpPr>
            <p:nvPr/>
          </p:nvSpPr>
          <p:spPr bwMode="auto">
            <a:xfrm flipH="1">
              <a:off x="2821" y="2310"/>
              <a:ext cx="130" cy="120"/>
            </a:xfrm>
            <a:prstGeom prst="line">
              <a:avLst/>
            </a:prstGeom>
            <a:noFill/>
            <a:ln w="25400">
              <a:solidFill>
                <a:srgbClr val="CBCBC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1" name="Line 664"/>
            <p:cNvSpPr>
              <a:spLocks noChangeShapeType="1"/>
            </p:cNvSpPr>
            <p:nvPr/>
          </p:nvSpPr>
          <p:spPr bwMode="auto">
            <a:xfrm flipH="1">
              <a:off x="2837" y="2324"/>
              <a:ext cx="114" cy="106"/>
            </a:xfrm>
            <a:prstGeom prst="line">
              <a:avLst/>
            </a:prstGeom>
            <a:noFill/>
            <a:ln w="25400">
              <a:solidFill>
                <a:srgbClr val="CFCFC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2" name="Line 665"/>
            <p:cNvSpPr>
              <a:spLocks noChangeShapeType="1"/>
            </p:cNvSpPr>
            <p:nvPr/>
          </p:nvSpPr>
          <p:spPr bwMode="auto">
            <a:xfrm flipH="1">
              <a:off x="2853" y="2339"/>
              <a:ext cx="98" cy="91"/>
            </a:xfrm>
            <a:prstGeom prst="line">
              <a:avLst/>
            </a:prstGeom>
            <a:noFill/>
            <a:ln w="25400">
              <a:solidFill>
                <a:srgbClr val="D3D3D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3" name="Line 666"/>
            <p:cNvSpPr>
              <a:spLocks noChangeShapeType="1"/>
            </p:cNvSpPr>
            <p:nvPr/>
          </p:nvSpPr>
          <p:spPr bwMode="auto">
            <a:xfrm flipH="1">
              <a:off x="2853" y="2339"/>
              <a:ext cx="98" cy="91"/>
            </a:xfrm>
            <a:prstGeom prst="line">
              <a:avLst/>
            </a:prstGeom>
            <a:noFill/>
            <a:ln w="25400">
              <a:solidFill>
                <a:srgbClr val="D8D8D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4" name="Line 667"/>
            <p:cNvSpPr>
              <a:spLocks noChangeShapeType="1"/>
            </p:cNvSpPr>
            <p:nvPr/>
          </p:nvSpPr>
          <p:spPr bwMode="auto">
            <a:xfrm flipH="1">
              <a:off x="2868" y="2353"/>
              <a:ext cx="83" cy="77"/>
            </a:xfrm>
            <a:prstGeom prst="line">
              <a:avLst/>
            </a:prstGeom>
            <a:noFill/>
            <a:ln w="25400">
              <a:solidFill>
                <a:srgbClr val="DCDCD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5" name="Line 668"/>
            <p:cNvSpPr>
              <a:spLocks noChangeShapeType="1"/>
            </p:cNvSpPr>
            <p:nvPr/>
          </p:nvSpPr>
          <p:spPr bwMode="auto">
            <a:xfrm flipH="1">
              <a:off x="2883" y="2367"/>
              <a:ext cx="68" cy="63"/>
            </a:xfrm>
            <a:prstGeom prst="line">
              <a:avLst/>
            </a:prstGeom>
            <a:noFill/>
            <a:ln w="25400">
              <a:solidFill>
                <a:srgbClr val="E1E1E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6" name="Line 669"/>
            <p:cNvSpPr>
              <a:spLocks noChangeShapeType="1"/>
            </p:cNvSpPr>
            <p:nvPr/>
          </p:nvSpPr>
          <p:spPr bwMode="auto">
            <a:xfrm flipH="1">
              <a:off x="2899" y="2382"/>
              <a:ext cx="52" cy="48"/>
            </a:xfrm>
            <a:prstGeom prst="line">
              <a:avLst/>
            </a:prstGeom>
            <a:noFill/>
            <a:ln w="25400">
              <a:solidFill>
                <a:srgbClr val="E5E5E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7" name="Line 670"/>
            <p:cNvSpPr>
              <a:spLocks noChangeShapeType="1"/>
            </p:cNvSpPr>
            <p:nvPr/>
          </p:nvSpPr>
          <p:spPr bwMode="auto">
            <a:xfrm flipH="1">
              <a:off x="2899" y="2382"/>
              <a:ext cx="52" cy="48"/>
            </a:xfrm>
            <a:prstGeom prst="line">
              <a:avLst/>
            </a:prstGeom>
            <a:noFill/>
            <a:ln w="25400">
              <a:solidFill>
                <a:srgbClr val="E9E9E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8" name="Line 671"/>
            <p:cNvSpPr>
              <a:spLocks noChangeShapeType="1"/>
            </p:cNvSpPr>
            <p:nvPr/>
          </p:nvSpPr>
          <p:spPr bwMode="auto">
            <a:xfrm flipH="1">
              <a:off x="2915" y="2396"/>
              <a:ext cx="36" cy="34"/>
            </a:xfrm>
            <a:prstGeom prst="line">
              <a:avLst/>
            </a:prstGeom>
            <a:noFill/>
            <a:ln w="25400">
              <a:solidFill>
                <a:srgbClr val="EEEEE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09" name="Line 672"/>
            <p:cNvSpPr>
              <a:spLocks noChangeShapeType="1"/>
            </p:cNvSpPr>
            <p:nvPr/>
          </p:nvSpPr>
          <p:spPr bwMode="auto">
            <a:xfrm flipH="1">
              <a:off x="2930" y="2410"/>
              <a:ext cx="21" cy="20"/>
            </a:xfrm>
            <a:prstGeom prst="line">
              <a:avLst/>
            </a:prstGeom>
            <a:noFill/>
            <a:ln w="25400">
              <a:solidFill>
                <a:srgbClr val="F2F2F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0" name="Line 673"/>
            <p:cNvSpPr>
              <a:spLocks noChangeShapeType="1"/>
            </p:cNvSpPr>
            <p:nvPr/>
          </p:nvSpPr>
          <p:spPr bwMode="auto">
            <a:xfrm flipH="1">
              <a:off x="2930" y="2410"/>
              <a:ext cx="21" cy="20"/>
            </a:xfrm>
            <a:prstGeom prst="line">
              <a:avLst/>
            </a:prstGeom>
            <a:noFill/>
            <a:ln w="25400">
              <a:solidFill>
                <a:srgbClr val="F7F7F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1" name="Line 674"/>
            <p:cNvSpPr>
              <a:spLocks noChangeShapeType="1"/>
            </p:cNvSpPr>
            <p:nvPr/>
          </p:nvSpPr>
          <p:spPr bwMode="auto">
            <a:xfrm flipH="1">
              <a:off x="2945" y="2424"/>
              <a:ext cx="6" cy="6"/>
            </a:xfrm>
            <a:prstGeom prst="line">
              <a:avLst/>
            </a:prstGeom>
            <a:noFill/>
            <a:ln w="25400">
              <a:solidFill>
                <a:srgbClr val="FBFBF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2" name="Freeform 2311"/>
            <p:cNvSpPr>
              <a:spLocks/>
            </p:cNvSpPr>
            <p:nvPr/>
          </p:nvSpPr>
          <p:spPr bwMode="auto">
            <a:xfrm>
              <a:off x="2545" y="2268"/>
              <a:ext cx="406" cy="162"/>
            </a:xfrm>
            <a:custGeom>
              <a:avLst/>
              <a:gdLst>
                <a:gd name="T0" fmla="*/ 0 w 406"/>
                <a:gd name="T1" fmla="*/ 14 h 162"/>
                <a:gd name="T2" fmla="*/ 31 w 406"/>
                <a:gd name="T3" fmla="*/ 0 h 162"/>
                <a:gd name="T4" fmla="*/ 54 w 406"/>
                <a:gd name="T5" fmla="*/ 7 h 162"/>
                <a:gd name="T6" fmla="*/ 70 w 406"/>
                <a:gd name="T7" fmla="*/ 28 h 162"/>
                <a:gd name="T8" fmla="*/ 93 w 406"/>
                <a:gd name="T9" fmla="*/ 56 h 162"/>
                <a:gd name="T10" fmla="*/ 117 w 406"/>
                <a:gd name="T11" fmla="*/ 63 h 162"/>
                <a:gd name="T12" fmla="*/ 148 w 406"/>
                <a:gd name="T13" fmla="*/ 77 h 162"/>
                <a:gd name="T14" fmla="*/ 218 w 406"/>
                <a:gd name="T15" fmla="*/ 63 h 162"/>
                <a:gd name="T16" fmla="*/ 296 w 406"/>
                <a:gd name="T17" fmla="*/ 49 h 162"/>
                <a:gd name="T18" fmla="*/ 320 w 406"/>
                <a:gd name="T19" fmla="*/ 42 h 162"/>
                <a:gd name="T20" fmla="*/ 351 w 406"/>
                <a:gd name="T21" fmla="*/ 49 h 162"/>
                <a:gd name="T22" fmla="*/ 406 w 406"/>
                <a:gd name="T23" fmla="*/ 77 h 162"/>
                <a:gd name="T24" fmla="*/ 406 w 406"/>
                <a:gd name="T25" fmla="*/ 84 h 162"/>
                <a:gd name="T26" fmla="*/ 406 w 406"/>
                <a:gd name="T27" fmla="*/ 98 h 162"/>
                <a:gd name="T28" fmla="*/ 398 w 406"/>
                <a:gd name="T29" fmla="*/ 105 h 162"/>
                <a:gd name="T30" fmla="*/ 398 w 406"/>
                <a:gd name="T31" fmla="*/ 119 h 162"/>
                <a:gd name="T32" fmla="*/ 367 w 406"/>
                <a:gd name="T33" fmla="*/ 126 h 162"/>
                <a:gd name="T34" fmla="*/ 343 w 406"/>
                <a:gd name="T35" fmla="*/ 134 h 162"/>
                <a:gd name="T36" fmla="*/ 289 w 406"/>
                <a:gd name="T37" fmla="*/ 134 h 162"/>
                <a:gd name="T38" fmla="*/ 250 w 406"/>
                <a:gd name="T39" fmla="*/ 141 h 162"/>
                <a:gd name="T40" fmla="*/ 148 w 406"/>
                <a:gd name="T41" fmla="*/ 155 h 162"/>
                <a:gd name="T42" fmla="*/ 101 w 406"/>
                <a:gd name="T43" fmla="*/ 162 h 162"/>
                <a:gd name="T44" fmla="*/ 62 w 406"/>
                <a:gd name="T45" fmla="*/ 148 h 162"/>
                <a:gd name="T46" fmla="*/ 54 w 406"/>
                <a:gd name="T47" fmla="*/ 134 h 162"/>
                <a:gd name="T48" fmla="*/ 31 w 406"/>
                <a:gd name="T49" fmla="*/ 91 h 162"/>
                <a:gd name="T50" fmla="*/ 15 w 406"/>
                <a:gd name="T51" fmla="*/ 49 h 162"/>
                <a:gd name="T52" fmla="*/ 7 w 406"/>
                <a:gd name="T53" fmla="*/ 35 h 162"/>
                <a:gd name="T54" fmla="*/ 0 w 406"/>
                <a:gd name="T55" fmla="*/ 21 h 162"/>
                <a:gd name="T56" fmla="*/ 0 w 406"/>
                <a:gd name="T57" fmla="*/ 14 h 16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06"/>
                <a:gd name="T88" fmla="*/ 0 h 162"/>
                <a:gd name="T89" fmla="*/ 406 w 406"/>
                <a:gd name="T90" fmla="*/ 162 h 16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06" h="162">
                  <a:moveTo>
                    <a:pt x="0" y="14"/>
                  </a:moveTo>
                  <a:lnTo>
                    <a:pt x="31" y="0"/>
                  </a:lnTo>
                  <a:lnTo>
                    <a:pt x="54" y="7"/>
                  </a:lnTo>
                  <a:lnTo>
                    <a:pt x="70" y="28"/>
                  </a:lnTo>
                  <a:lnTo>
                    <a:pt x="93" y="56"/>
                  </a:lnTo>
                  <a:lnTo>
                    <a:pt x="117" y="63"/>
                  </a:lnTo>
                  <a:lnTo>
                    <a:pt x="148" y="77"/>
                  </a:lnTo>
                  <a:lnTo>
                    <a:pt x="218" y="63"/>
                  </a:lnTo>
                  <a:lnTo>
                    <a:pt x="296" y="49"/>
                  </a:lnTo>
                  <a:lnTo>
                    <a:pt x="320" y="42"/>
                  </a:lnTo>
                  <a:lnTo>
                    <a:pt x="351" y="49"/>
                  </a:lnTo>
                  <a:lnTo>
                    <a:pt x="406" y="77"/>
                  </a:lnTo>
                  <a:lnTo>
                    <a:pt x="406" y="84"/>
                  </a:lnTo>
                  <a:lnTo>
                    <a:pt x="406" y="98"/>
                  </a:lnTo>
                  <a:lnTo>
                    <a:pt x="398" y="105"/>
                  </a:lnTo>
                  <a:lnTo>
                    <a:pt x="398" y="119"/>
                  </a:lnTo>
                  <a:lnTo>
                    <a:pt x="367" y="126"/>
                  </a:lnTo>
                  <a:lnTo>
                    <a:pt x="343" y="134"/>
                  </a:lnTo>
                  <a:lnTo>
                    <a:pt x="289" y="134"/>
                  </a:lnTo>
                  <a:lnTo>
                    <a:pt x="250" y="141"/>
                  </a:lnTo>
                  <a:lnTo>
                    <a:pt x="148" y="155"/>
                  </a:lnTo>
                  <a:lnTo>
                    <a:pt x="101" y="162"/>
                  </a:lnTo>
                  <a:lnTo>
                    <a:pt x="62" y="148"/>
                  </a:lnTo>
                  <a:lnTo>
                    <a:pt x="54" y="134"/>
                  </a:lnTo>
                  <a:lnTo>
                    <a:pt x="31" y="91"/>
                  </a:lnTo>
                  <a:lnTo>
                    <a:pt x="15" y="49"/>
                  </a:lnTo>
                  <a:lnTo>
                    <a:pt x="7" y="35"/>
                  </a:lnTo>
                  <a:lnTo>
                    <a:pt x="0" y="21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3" name="Line 676"/>
            <p:cNvSpPr>
              <a:spLocks noChangeShapeType="1"/>
            </p:cNvSpPr>
            <p:nvPr/>
          </p:nvSpPr>
          <p:spPr bwMode="auto">
            <a:xfrm flipH="1">
              <a:off x="2607" y="2380"/>
              <a:ext cx="8" cy="7"/>
            </a:xfrm>
            <a:prstGeom prst="line">
              <a:avLst/>
            </a:prstGeom>
            <a:noFill/>
            <a:ln w="25400">
              <a:solidFill>
                <a:srgbClr val="27272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4" name="Line 677"/>
            <p:cNvSpPr>
              <a:spLocks noChangeShapeType="1"/>
            </p:cNvSpPr>
            <p:nvPr/>
          </p:nvSpPr>
          <p:spPr bwMode="auto">
            <a:xfrm flipH="1">
              <a:off x="2607" y="2380"/>
              <a:ext cx="24" cy="21"/>
            </a:xfrm>
            <a:prstGeom prst="line">
              <a:avLst/>
            </a:prstGeom>
            <a:noFill/>
            <a:ln w="25400">
              <a:solidFill>
                <a:srgbClr val="2F2F2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5" name="Line 678"/>
            <p:cNvSpPr>
              <a:spLocks noChangeShapeType="1"/>
            </p:cNvSpPr>
            <p:nvPr/>
          </p:nvSpPr>
          <p:spPr bwMode="auto">
            <a:xfrm flipH="1">
              <a:off x="2607" y="2380"/>
              <a:ext cx="32" cy="28"/>
            </a:xfrm>
            <a:prstGeom prst="line">
              <a:avLst/>
            </a:prstGeom>
            <a:noFill/>
            <a:ln w="25400">
              <a:solidFill>
                <a:srgbClr val="37373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6" name="Line 679"/>
            <p:cNvSpPr>
              <a:spLocks noChangeShapeType="1"/>
            </p:cNvSpPr>
            <p:nvPr/>
          </p:nvSpPr>
          <p:spPr bwMode="auto">
            <a:xfrm flipH="1">
              <a:off x="2607" y="2380"/>
              <a:ext cx="40" cy="36"/>
            </a:xfrm>
            <a:prstGeom prst="line">
              <a:avLst/>
            </a:prstGeom>
            <a:noFill/>
            <a:ln w="25400">
              <a:solidFill>
                <a:srgbClr val="3F3F3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7" name="Line 680"/>
            <p:cNvSpPr>
              <a:spLocks noChangeShapeType="1"/>
            </p:cNvSpPr>
            <p:nvPr/>
          </p:nvSpPr>
          <p:spPr bwMode="auto">
            <a:xfrm flipH="1">
              <a:off x="2607" y="2380"/>
              <a:ext cx="56" cy="50"/>
            </a:xfrm>
            <a:prstGeom prst="line">
              <a:avLst/>
            </a:prstGeom>
            <a:noFill/>
            <a:ln w="25400">
              <a:solidFill>
                <a:srgbClr val="47474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8" name="Line 681"/>
            <p:cNvSpPr>
              <a:spLocks noChangeShapeType="1"/>
            </p:cNvSpPr>
            <p:nvPr/>
          </p:nvSpPr>
          <p:spPr bwMode="auto">
            <a:xfrm flipH="1">
              <a:off x="2607" y="2380"/>
              <a:ext cx="64" cy="57"/>
            </a:xfrm>
            <a:prstGeom prst="line">
              <a:avLst/>
            </a:prstGeom>
            <a:noFill/>
            <a:ln w="25400">
              <a:solidFill>
                <a:srgbClr val="4F4F4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19" name="Line 682"/>
            <p:cNvSpPr>
              <a:spLocks noChangeShapeType="1"/>
            </p:cNvSpPr>
            <p:nvPr/>
          </p:nvSpPr>
          <p:spPr bwMode="auto">
            <a:xfrm flipH="1">
              <a:off x="2607" y="2380"/>
              <a:ext cx="71" cy="64"/>
            </a:xfrm>
            <a:prstGeom prst="line">
              <a:avLst/>
            </a:prstGeom>
            <a:noFill/>
            <a:ln w="25400">
              <a:solidFill>
                <a:srgbClr val="57575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0" name="Line 683"/>
            <p:cNvSpPr>
              <a:spLocks noChangeShapeType="1"/>
            </p:cNvSpPr>
            <p:nvPr/>
          </p:nvSpPr>
          <p:spPr bwMode="auto">
            <a:xfrm flipH="1">
              <a:off x="2616" y="2380"/>
              <a:ext cx="78" cy="7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1" name="Line 684"/>
            <p:cNvSpPr>
              <a:spLocks noChangeShapeType="1"/>
            </p:cNvSpPr>
            <p:nvPr/>
          </p:nvSpPr>
          <p:spPr bwMode="auto">
            <a:xfrm flipH="1">
              <a:off x="2631" y="2380"/>
              <a:ext cx="78" cy="71"/>
            </a:xfrm>
            <a:prstGeom prst="line">
              <a:avLst/>
            </a:prstGeom>
            <a:noFill/>
            <a:ln w="25400">
              <a:solidFill>
                <a:srgbClr val="67676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2" name="Line 685"/>
            <p:cNvSpPr>
              <a:spLocks noChangeShapeType="1"/>
            </p:cNvSpPr>
            <p:nvPr/>
          </p:nvSpPr>
          <p:spPr bwMode="auto">
            <a:xfrm flipH="1">
              <a:off x="2639" y="2380"/>
              <a:ext cx="78" cy="71"/>
            </a:xfrm>
            <a:prstGeom prst="line">
              <a:avLst/>
            </a:prstGeom>
            <a:noFill/>
            <a:ln w="25400">
              <a:solidFill>
                <a:srgbClr val="6F6F6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3" name="Line 686"/>
            <p:cNvSpPr>
              <a:spLocks noChangeShapeType="1"/>
            </p:cNvSpPr>
            <p:nvPr/>
          </p:nvSpPr>
          <p:spPr bwMode="auto">
            <a:xfrm flipH="1">
              <a:off x="2647" y="2380"/>
              <a:ext cx="78" cy="71"/>
            </a:xfrm>
            <a:prstGeom prst="line">
              <a:avLst/>
            </a:prstGeom>
            <a:noFill/>
            <a:ln w="25400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4" name="Line 687"/>
            <p:cNvSpPr>
              <a:spLocks noChangeShapeType="1"/>
            </p:cNvSpPr>
            <p:nvPr/>
          </p:nvSpPr>
          <p:spPr bwMode="auto">
            <a:xfrm flipH="1">
              <a:off x="2662" y="2380"/>
              <a:ext cx="78" cy="71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5" name="Line 688"/>
            <p:cNvSpPr>
              <a:spLocks noChangeShapeType="1"/>
            </p:cNvSpPr>
            <p:nvPr/>
          </p:nvSpPr>
          <p:spPr bwMode="auto">
            <a:xfrm flipH="1">
              <a:off x="2670" y="2380"/>
              <a:ext cx="78" cy="71"/>
            </a:xfrm>
            <a:prstGeom prst="line">
              <a:avLst/>
            </a:prstGeom>
            <a:noFill/>
            <a:ln w="25400">
              <a:solidFill>
                <a:srgbClr val="8787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6" name="Line 689"/>
            <p:cNvSpPr>
              <a:spLocks noChangeShapeType="1"/>
            </p:cNvSpPr>
            <p:nvPr/>
          </p:nvSpPr>
          <p:spPr bwMode="auto">
            <a:xfrm flipH="1">
              <a:off x="2686" y="2380"/>
              <a:ext cx="78" cy="71"/>
            </a:xfrm>
            <a:prstGeom prst="line">
              <a:avLst/>
            </a:prstGeom>
            <a:noFill/>
            <a:ln w="25400">
              <a:solidFill>
                <a:srgbClr val="8F8F8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7" name="Line 690"/>
            <p:cNvSpPr>
              <a:spLocks noChangeShapeType="1"/>
            </p:cNvSpPr>
            <p:nvPr/>
          </p:nvSpPr>
          <p:spPr bwMode="auto">
            <a:xfrm flipH="1">
              <a:off x="2694" y="2380"/>
              <a:ext cx="78" cy="71"/>
            </a:xfrm>
            <a:prstGeom prst="line">
              <a:avLst/>
            </a:prstGeom>
            <a:noFill/>
            <a:ln w="25400">
              <a:solidFill>
                <a:srgbClr val="9797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8" name="Line 691"/>
            <p:cNvSpPr>
              <a:spLocks noChangeShapeType="1"/>
            </p:cNvSpPr>
            <p:nvPr/>
          </p:nvSpPr>
          <p:spPr bwMode="auto">
            <a:xfrm flipH="1">
              <a:off x="2701" y="2380"/>
              <a:ext cx="78" cy="71"/>
            </a:xfrm>
            <a:prstGeom prst="line">
              <a:avLst/>
            </a:prstGeom>
            <a:noFill/>
            <a:ln w="25400">
              <a:solidFill>
                <a:srgbClr val="9F9F9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29" name="Line 692"/>
            <p:cNvSpPr>
              <a:spLocks noChangeShapeType="1"/>
            </p:cNvSpPr>
            <p:nvPr/>
          </p:nvSpPr>
          <p:spPr bwMode="auto">
            <a:xfrm flipH="1">
              <a:off x="2716" y="2380"/>
              <a:ext cx="78" cy="71"/>
            </a:xfrm>
            <a:prstGeom prst="line">
              <a:avLst/>
            </a:prstGeom>
            <a:noFill/>
            <a:ln w="25400">
              <a:solidFill>
                <a:srgbClr val="A7A7A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0" name="Line 693"/>
            <p:cNvSpPr>
              <a:spLocks noChangeShapeType="1"/>
            </p:cNvSpPr>
            <p:nvPr/>
          </p:nvSpPr>
          <p:spPr bwMode="auto">
            <a:xfrm flipH="1">
              <a:off x="2725" y="2380"/>
              <a:ext cx="78" cy="71"/>
            </a:xfrm>
            <a:prstGeom prst="line">
              <a:avLst/>
            </a:prstGeom>
            <a:noFill/>
            <a:ln w="25400">
              <a:solidFill>
                <a:srgbClr val="AFAFA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1" name="Line 694"/>
            <p:cNvSpPr>
              <a:spLocks noChangeShapeType="1"/>
            </p:cNvSpPr>
            <p:nvPr/>
          </p:nvSpPr>
          <p:spPr bwMode="auto">
            <a:xfrm flipH="1">
              <a:off x="2741" y="2380"/>
              <a:ext cx="78" cy="71"/>
            </a:xfrm>
            <a:prstGeom prst="line">
              <a:avLst/>
            </a:prstGeom>
            <a:noFill/>
            <a:ln w="25400">
              <a:solidFill>
                <a:srgbClr val="B7B7B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2" name="Line 695"/>
            <p:cNvSpPr>
              <a:spLocks noChangeShapeType="1"/>
            </p:cNvSpPr>
            <p:nvPr/>
          </p:nvSpPr>
          <p:spPr bwMode="auto">
            <a:xfrm flipH="1">
              <a:off x="2748" y="2380"/>
              <a:ext cx="78" cy="71"/>
            </a:xfrm>
            <a:prstGeom prst="line">
              <a:avLst/>
            </a:prstGeom>
            <a:noFill/>
            <a:ln w="2540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3" name="Line 696"/>
            <p:cNvSpPr>
              <a:spLocks noChangeShapeType="1"/>
            </p:cNvSpPr>
            <p:nvPr/>
          </p:nvSpPr>
          <p:spPr bwMode="auto">
            <a:xfrm flipH="1">
              <a:off x="2763" y="2394"/>
              <a:ext cx="63" cy="57"/>
            </a:xfrm>
            <a:prstGeom prst="line">
              <a:avLst/>
            </a:prstGeom>
            <a:noFill/>
            <a:ln w="25400">
              <a:solidFill>
                <a:srgbClr val="C7C7C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4" name="Line 697"/>
            <p:cNvSpPr>
              <a:spLocks noChangeShapeType="1"/>
            </p:cNvSpPr>
            <p:nvPr/>
          </p:nvSpPr>
          <p:spPr bwMode="auto">
            <a:xfrm flipH="1">
              <a:off x="2771" y="2401"/>
              <a:ext cx="55" cy="50"/>
            </a:xfrm>
            <a:prstGeom prst="line">
              <a:avLst/>
            </a:prstGeom>
            <a:noFill/>
            <a:ln w="25400">
              <a:solidFill>
                <a:srgbClr val="CFCFC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5" name="Line 698"/>
            <p:cNvSpPr>
              <a:spLocks noChangeShapeType="1"/>
            </p:cNvSpPr>
            <p:nvPr/>
          </p:nvSpPr>
          <p:spPr bwMode="auto">
            <a:xfrm flipH="1">
              <a:off x="2779" y="2408"/>
              <a:ext cx="47" cy="43"/>
            </a:xfrm>
            <a:prstGeom prst="line">
              <a:avLst/>
            </a:prstGeom>
            <a:noFill/>
            <a:ln w="25400">
              <a:solidFill>
                <a:srgbClr val="D7D7D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6" name="Line 699"/>
            <p:cNvSpPr>
              <a:spLocks noChangeShapeType="1"/>
            </p:cNvSpPr>
            <p:nvPr/>
          </p:nvSpPr>
          <p:spPr bwMode="auto">
            <a:xfrm flipH="1">
              <a:off x="2794" y="2422"/>
              <a:ext cx="32" cy="29"/>
            </a:xfrm>
            <a:prstGeom prst="line">
              <a:avLst/>
            </a:prstGeom>
            <a:noFill/>
            <a:ln w="25400">
              <a:solidFill>
                <a:srgbClr val="DFDFD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7" name="Line 700"/>
            <p:cNvSpPr>
              <a:spLocks noChangeShapeType="1"/>
            </p:cNvSpPr>
            <p:nvPr/>
          </p:nvSpPr>
          <p:spPr bwMode="auto">
            <a:xfrm flipH="1">
              <a:off x="2810" y="2436"/>
              <a:ext cx="16" cy="15"/>
            </a:xfrm>
            <a:prstGeom prst="line">
              <a:avLst/>
            </a:prstGeom>
            <a:noFill/>
            <a:ln w="25400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8" name="Line 701"/>
            <p:cNvSpPr>
              <a:spLocks noChangeShapeType="1"/>
            </p:cNvSpPr>
            <p:nvPr/>
          </p:nvSpPr>
          <p:spPr bwMode="auto">
            <a:xfrm flipH="1">
              <a:off x="2810" y="2436"/>
              <a:ext cx="16" cy="15"/>
            </a:xfrm>
            <a:prstGeom prst="line">
              <a:avLst/>
            </a:prstGeom>
            <a:noFill/>
            <a:ln w="25400">
              <a:solidFill>
                <a:srgbClr val="EFEFE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39" name="Line 702"/>
            <p:cNvSpPr>
              <a:spLocks noChangeShapeType="1"/>
            </p:cNvSpPr>
            <p:nvPr/>
          </p:nvSpPr>
          <p:spPr bwMode="auto">
            <a:xfrm flipH="1">
              <a:off x="2825" y="2450"/>
              <a:ext cx="1" cy="1"/>
            </a:xfrm>
            <a:prstGeom prst="line">
              <a:avLst/>
            </a:prstGeom>
            <a:noFill/>
            <a:ln w="25400">
              <a:solidFill>
                <a:srgbClr val="F7F7F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0" name="Freeform 2339"/>
            <p:cNvSpPr>
              <a:spLocks/>
            </p:cNvSpPr>
            <p:nvPr/>
          </p:nvSpPr>
          <p:spPr bwMode="auto">
            <a:xfrm>
              <a:off x="2607" y="2380"/>
              <a:ext cx="219" cy="71"/>
            </a:xfrm>
            <a:custGeom>
              <a:avLst/>
              <a:gdLst>
                <a:gd name="T0" fmla="*/ 219 w 219"/>
                <a:gd name="T1" fmla="*/ 7 h 71"/>
                <a:gd name="T2" fmla="*/ 195 w 219"/>
                <a:gd name="T3" fmla="*/ 0 h 71"/>
                <a:gd name="T4" fmla="*/ 55 w 219"/>
                <a:gd name="T5" fmla="*/ 14 h 71"/>
                <a:gd name="T6" fmla="*/ 47 w 219"/>
                <a:gd name="T7" fmla="*/ 22 h 71"/>
                <a:gd name="T8" fmla="*/ 24 w 219"/>
                <a:gd name="T9" fmla="*/ 29 h 71"/>
                <a:gd name="T10" fmla="*/ 0 w 219"/>
                <a:gd name="T11" fmla="*/ 57 h 71"/>
                <a:gd name="T12" fmla="*/ 0 w 219"/>
                <a:gd name="T13" fmla="*/ 64 h 71"/>
                <a:gd name="T14" fmla="*/ 8 w 219"/>
                <a:gd name="T15" fmla="*/ 71 h 71"/>
                <a:gd name="T16" fmla="*/ 31 w 219"/>
                <a:gd name="T17" fmla="*/ 64 h 71"/>
                <a:gd name="T18" fmla="*/ 47 w 219"/>
                <a:gd name="T19" fmla="*/ 64 h 71"/>
                <a:gd name="T20" fmla="*/ 219 w 219"/>
                <a:gd name="T21" fmla="*/ 7 h 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9"/>
                <a:gd name="T34" fmla="*/ 0 h 71"/>
                <a:gd name="T35" fmla="*/ 219 w 219"/>
                <a:gd name="T36" fmla="*/ 71 h 7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9" h="71">
                  <a:moveTo>
                    <a:pt x="219" y="7"/>
                  </a:moveTo>
                  <a:lnTo>
                    <a:pt x="195" y="0"/>
                  </a:lnTo>
                  <a:lnTo>
                    <a:pt x="55" y="14"/>
                  </a:lnTo>
                  <a:lnTo>
                    <a:pt x="47" y="22"/>
                  </a:lnTo>
                  <a:lnTo>
                    <a:pt x="24" y="29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8" y="71"/>
                  </a:lnTo>
                  <a:lnTo>
                    <a:pt x="31" y="64"/>
                  </a:lnTo>
                  <a:lnTo>
                    <a:pt x="47" y="64"/>
                  </a:lnTo>
                  <a:lnTo>
                    <a:pt x="219" y="7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1" name="Line 704"/>
            <p:cNvSpPr>
              <a:spLocks noChangeShapeType="1"/>
            </p:cNvSpPr>
            <p:nvPr/>
          </p:nvSpPr>
          <p:spPr bwMode="auto">
            <a:xfrm flipH="1">
              <a:off x="2693" y="2331"/>
              <a:ext cx="125" cy="1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2" name="Line 705"/>
            <p:cNvSpPr>
              <a:spLocks noChangeShapeType="1"/>
            </p:cNvSpPr>
            <p:nvPr/>
          </p:nvSpPr>
          <p:spPr bwMode="auto">
            <a:xfrm flipH="1">
              <a:off x="2693" y="2331"/>
              <a:ext cx="125" cy="113"/>
            </a:xfrm>
            <a:prstGeom prst="line">
              <a:avLst/>
            </a:prstGeom>
            <a:noFill/>
            <a:ln w="25400">
              <a:solidFill>
                <a:srgbClr val="0E0E0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3" name="Line 706"/>
            <p:cNvSpPr>
              <a:spLocks noChangeShapeType="1"/>
            </p:cNvSpPr>
            <p:nvPr/>
          </p:nvSpPr>
          <p:spPr bwMode="auto">
            <a:xfrm flipH="1">
              <a:off x="2701" y="2331"/>
              <a:ext cx="133" cy="120"/>
            </a:xfrm>
            <a:prstGeom prst="line">
              <a:avLst/>
            </a:prstGeom>
            <a:noFill/>
            <a:ln w="25400">
              <a:solidFill>
                <a:srgbClr val="1C1C1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4" name="Line 707"/>
            <p:cNvSpPr>
              <a:spLocks noChangeShapeType="1"/>
            </p:cNvSpPr>
            <p:nvPr/>
          </p:nvSpPr>
          <p:spPr bwMode="auto">
            <a:xfrm flipH="1">
              <a:off x="2709" y="2331"/>
              <a:ext cx="141" cy="127"/>
            </a:xfrm>
            <a:prstGeom prst="line">
              <a:avLst/>
            </a:prstGeom>
            <a:noFill/>
            <a:ln w="25400">
              <a:solidFill>
                <a:srgbClr val="2A2A2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5" name="Line 708"/>
            <p:cNvSpPr>
              <a:spLocks noChangeShapeType="1"/>
            </p:cNvSpPr>
            <p:nvPr/>
          </p:nvSpPr>
          <p:spPr bwMode="auto">
            <a:xfrm flipH="1">
              <a:off x="2709" y="2331"/>
              <a:ext cx="141" cy="127"/>
            </a:xfrm>
            <a:prstGeom prst="line">
              <a:avLst/>
            </a:prstGeom>
            <a:noFill/>
            <a:ln w="25400">
              <a:solidFill>
                <a:srgbClr val="38383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6" name="Line 709"/>
            <p:cNvSpPr>
              <a:spLocks noChangeShapeType="1"/>
            </p:cNvSpPr>
            <p:nvPr/>
          </p:nvSpPr>
          <p:spPr bwMode="auto">
            <a:xfrm flipH="1">
              <a:off x="2716" y="2331"/>
              <a:ext cx="148" cy="134"/>
            </a:xfrm>
            <a:prstGeom prst="line">
              <a:avLst/>
            </a:prstGeom>
            <a:noFill/>
            <a:ln w="25400">
              <a:solidFill>
                <a:srgbClr val="47474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7" name="Line 710"/>
            <p:cNvSpPr>
              <a:spLocks noChangeShapeType="1"/>
            </p:cNvSpPr>
            <p:nvPr/>
          </p:nvSpPr>
          <p:spPr bwMode="auto">
            <a:xfrm flipH="1">
              <a:off x="2865" y="2331"/>
              <a:ext cx="16" cy="14"/>
            </a:xfrm>
            <a:prstGeom prst="line">
              <a:avLst/>
            </a:prstGeom>
            <a:noFill/>
            <a:ln w="25400">
              <a:solidFill>
                <a:srgbClr val="55555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8" name="Line 711"/>
            <p:cNvSpPr>
              <a:spLocks noChangeShapeType="1"/>
            </p:cNvSpPr>
            <p:nvPr/>
          </p:nvSpPr>
          <p:spPr bwMode="auto">
            <a:xfrm flipH="1">
              <a:off x="2865" y="2331"/>
              <a:ext cx="24" cy="21"/>
            </a:xfrm>
            <a:prstGeom prst="line">
              <a:avLst/>
            </a:prstGeom>
            <a:noFill/>
            <a:ln w="25400">
              <a:solidFill>
                <a:srgbClr val="63636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49" name="Line 712"/>
            <p:cNvSpPr>
              <a:spLocks noChangeShapeType="1"/>
            </p:cNvSpPr>
            <p:nvPr/>
          </p:nvSpPr>
          <p:spPr bwMode="auto">
            <a:xfrm flipH="1">
              <a:off x="2865" y="2331"/>
              <a:ext cx="32" cy="28"/>
            </a:xfrm>
            <a:prstGeom prst="line">
              <a:avLst/>
            </a:prstGeom>
            <a:noFill/>
            <a:ln w="25400">
              <a:solidFill>
                <a:srgbClr val="71717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0" name="Line 713"/>
            <p:cNvSpPr>
              <a:spLocks noChangeShapeType="1"/>
            </p:cNvSpPr>
            <p:nvPr/>
          </p:nvSpPr>
          <p:spPr bwMode="auto">
            <a:xfrm flipH="1">
              <a:off x="2865" y="2331"/>
              <a:ext cx="47" cy="42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1" name="Line 714"/>
            <p:cNvSpPr>
              <a:spLocks noChangeShapeType="1"/>
            </p:cNvSpPr>
            <p:nvPr/>
          </p:nvSpPr>
          <p:spPr bwMode="auto">
            <a:xfrm flipH="1">
              <a:off x="2874" y="2331"/>
              <a:ext cx="46" cy="42"/>
            </a:xfrm>
            <a:prstGeom prst="line">
              <a:avLst/>
            </a:prstGeom>
            <a:noFill/>
            <a:ln w="25400">
              <a:solidFill>
                <a:srgbClr val="8E8E8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2" name="Line 715"/>
            <p:cNvSpPr>
              <a:spLocks noChangeShapeType="1"/>
            </p:cNvSpPr>
            <p:nvPr/>
          </p:nvSpPr>
          <p:spPr bwMode="auto">
            <a:xfrm flipH="1">
              <a:off x="2889" y="2331"/>
              <a:ext cx="46" cy="42"/>
            </a:xfrm>
            <a:prstGeom prst="line">
              <a:avLst/>
            </a:prstGeom>
            <a:noFill/>
            <a:ln w="25400">
              <a:solidFill>
                <a:srgbClr val="9C9C9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3" name="Line 716"/>
            <p:cNvSpPr>
              <a:spLocks noChangeShapeType="1"/>
            </p:cNvSpPr>
            <p:nvPr/>
          </p:nvSpPr>
          <p:spPr bwMode="auto">
            <a:xfrm flipH="1">
              <a:off x="2897" y="2331"/>
              <a:ext cx="46" cy="42"/>
            </a:xfrm>
            <a:prstGeom prst="line">
              <a:avLst/>
            </a:prstGeom>
            <a:noFill/>
            <a:ln w="25400">
              <a:solidFill>
                <a:srgbClr val="AAAAA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4" name="Line 717"/>
            <p:cNvSpPr>
              <a:spLocks noChangeShapeType="1"/>
            </p:cNvSpPr>
            <p:nvPr/>
          </p:nvSpPr>
          <p:spPr bwMode="auto">
            <a:xfrm flipH="1">
              <a:off x="2905" y="2331"/>
              <a:ext cx="46" cy="42"/>
            </a:xfrm>
            <a:prstGeom prst="line">
              <a:avLst/>
            </a:prstGeom>
            <a:noFill/>
            <a:ln w="25400">
              <a:solidFill>
                <a:srgbClr val="B8B8B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5" name="Line 718"/>
            <p:cNvSpPr>
              <a:spLocks noChangeShapeType="1"/>
            </p:cNvSpPr>
            <p:nvPr/>
          </p:nvSpPr>
          <p:spPr bwMode="auto">
            <a:xfrm flipH="1">
              <a:off x="2920" y="2345"/>
              <a:ext cx="31" cy="28"/>
            </a:xfrm>
            <a:prstGeom prst="line">
              <a:avLst/>
            </a:prstGeom>
            <a:noFill/>
            <a:ln w="25400">
              <a:solidFill>
                <a:srgbClr val="C7C7C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6" name="Line 719"/>
            <p:cNvSpPr>
              <a:spLocks noChangeShapeType="1"/>
            </p:cNvSpPr>
            <p:nvPr/>
          </p:nvSpPr>
          <p:spPr bwMode="auto">
            <a:xfrm flipH="1">
              <a:off x="2935" y="2358"/>
              <a:ext cx="16" cy="15"/>
            </a:xfrm>
            <a:prstGeom prst="line">
              <a:avLst/>
            </a:prstGeom>
            <a:noFill/>
            <a:ln w="25400">
              <a:solidFill>
                <a:srgbClr val="D5D5D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7" name="Line 720"/>
            <p:cNvSpPr>
              <a:spLocks noChangeShapeType="1"/>
            </p:cNvSpPr>
            <p:nvPr/>
          </p:nvSpPr>
          <p:spPr bwMode="auto">
            <a:xfrm flipH="1">
              <a:off x="2935" y="2358"/>
              <a:ext cx="16" cy="15"/>
            </a:xfrm>
            <a:prstGeom prst="line">
              <a:avLst/>
            </a:prstGeom>
            <a:noFill/>
            <a:ln w="25400">
              <a:solidFill>
                <a:srgbClr val="E3E3E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8" name="Line 721"/>
            <p:cNvSpPr>
              <a:spLocks noChangeShapeType="1"/>
            </p:cNvSpPr>
            <p:nvPr/>
          </p:nvSpPr>
          <p:spPr bwMode="auto">
            <a:xfrm flipH="1">
              <a:off x="2951" y="2373"/>
              <a:ext cx="1" cy="1"/>
            </a:xfrm>
            <a:prstGeom prst="line">
              <a:avLst/>
            </a:prstGeom>
            <a:noFill/>
            <a:ln w="25400">
              <a:solidFill>
                <a:srgbClr val="F1F1F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59" name="Freeform 2358"/>
            <p:cNvSpPr>
              <a:spLocks/>
            </p:cNvSpPr>
            <p:nvPr/>
          </p:nvSpPr>
          <p:spPr bwMode="auto">
            <a:xfrm>
              <a:off x="2857" y="2331"/>
              <a:ext cx="94" cy="42"/>
            </a:xfrm>
            <a:custGeom>
              <a:avLst/>
              <a:gdLst>
                <a:gd name="T0" fmla="*/ 70 w 94"/>
                <a:gd name="T1" fmla="*/ 0 h 42"/>
                <a:gd name="T2" fmla="*/ 0 w 94"/>
                <a:gd name="T3" fmla="*/ 21 h 42"/>
                <a:gd name="T4" fmla="*/ 16 w 94"/>
                <a:gd name="T5" fmla="*/ 42 h 42"/>
                <a:gd name="T6" fmla="*/ 94 w 94"/>
                <a:gd name="T7" fmla="*/ 21 h 42"/>
                <a:gd name="T8" fmla="*/ 70 w 94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42"/>
                <a:gd name="T17" fmla="*/ 94 w 94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42">
                  <a:moveTo>
                    <a:pt x="70" y="0"/>
                  </a:moveTo>
                  <a:lnTo>
                    <a:pt x="0" y="21"/>
                  </a:lnTo>
                  <a:lnTo>
                    <a:pt x="16" y="42"/>
                  </a:lnTo>
                  <a:lnTo>
                    <a:pt x="94" y="21"/>
                  </a:lnTo>
                  <a:lnTo>
                    <a:pt x="70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0" name="Freeform 2359"/>
            <p:cNvSpPr>
              <a:spLocks/>
            </p:cNvSpPr>
            <p:nvPr/>
          </p:nvSpPr>
          <p:spPr bwMode="auto">
            <a:xfrm>
              <a:off x="3138" y="1747"/>
              <a:ext cx="351" cy="436"/>
            </a:xfrm>
            <a:custGeom>
              <a:avLst/>
              <a:gdLst>
                <a:gd name="T0" fmla="*/ 312 w 351"/>
                <a:gd name="T1" fmla="*/ 78 h 436"/>
                <a:gd name="T2" fmla="*/ 351 w 351"/>
                <a:gd name="T3" fmla="*/ 162 h 436"/>
                <a:gd name="T4" fmla="*/ 336 w 351"/>
                <a:gd name="T5" fmla="*/ 261 h 436"/>
                <a:gd name="T6" fmla="*/ 297 w 351"/>
                <a:gd name="T7" fmla="*/ 338 h 436"/>
                <a:gd name="T8" fmla="*/ 226 w 351"/>
                <a:gd name="T9" fmla="*/ 387 h 436"/>
                <a:gd name="T10" fmla="*/ 125 w 351"/>
                <a:gd name="T11" fmla="*/ 422 h 436"/>
                <a:gd name="T12" fmla="*/ 0 w 351"/>
                <a:gd name="T13" fmla="*/ 436 h 436"/>
                <a:gd name="T14" fmla="*/ 141 w 351"/>
                <a:gd name="T15" fmla="*/ 373 h 436"/>
                <a:gd name="T16" fmla="*/ 203 w 351"/>
                <a:gd name="T17" fmla="*/ 331 h 436"/>
                <a:gd name="T18" fmla="*/ 242 w 351"/>
                <a:gd name="T19" fmla="*/ 282 h 436"/>
                <a:gd name="T20" fmla="*/ 265 w 351"/>
                <a:gd name="T21" fmla="*/ 197 h 436"/>
                <a:gd name="T22" fmla="*/ 265 w 351"/>
                <a:gd name="T23" fmla="*/ 106 h 436"/>
                <a:gd name="T24" fmla="*/ 195 w 351"/>
                <a:gd name="T25" fmla="*/ 0 h 436"/>
                <a:gd name="T26" fmla="*/ 312 w 351"/>
                <a:gd name="T27" fmla="*/ 78 h 4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51"/>
                <a:gd name="T43" fmla="*/ 0 h 436"/>
                <a:gd name="T44" fmla="*/ 351 w 351"/>
                <a:gd name="T45" fmla="*/ 436 h 4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51" h="436">
                  <a:moveTo>
                    <a:pt x="312" y="78"/>
                  </a:moveTo>
                  <a:lnTo>
                    <a:pt x="351" y="162"/>
                  </a:lnTo>
                  <a:lnTo>
                    <a:pt x="336" y="261"/>
                  </a:lnTo>
                  <a:lnTo>
                    <a:pt x="297" y="338"/>
                  </a:lnTo>
                  <a:lnTo>
                    <a:pt x="226" y="387"/>
                  </a:lnTo>
                  <a:lnTo>
                    <a:pt x="125" y="422"/>
                  </a:lnTo>
                  <a:lnTo>
                    <a:pt x="0" y="436"/>
                  </a:lnTo>
                  <a:lnTo>
                    <a:pt x="141" y="373"/>
                  </a:lnTo>
                  <a:lnTo>
                    <a:pt x="203" y="331"/>
                  </a:lnTo>
                  <a:lnTo>
                    <a:pt x="242" y="282"/>
                  </a:lnTo>
                  <a:lnTo>
                    <a:pt x="265" y="197"/>
                  </a:lnTo>
                  <a:lnTo>
                    <a:pt x="265" y="106"/>
                  </a:lnTo>
                  <a:lnTo>
                    <a:pt x="195" y="0"/>
                  </a:lnTo>
                  <a:lnTo>
                    <a:pt x="312" y="78"/>
                  </a:lnTo>
                  <a:close/>
                </a:path>
              </a:pathLst>
            </a:custGeom>
            <a:solidFill>
              <a:srgbClr val="FCF305"/>
            </a:solidFill>
            <a:ln w="12700">
              <a:solidFill>
                <a:srgbClr val="FCF305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1" name="Line 724"/>
            <p:cNvSpPr>
              <a:spLocks noChangeShapeType="1"/>
            </p:cNvSpPr>
            <p:nvPr/>
          </p:nvSpPr>
          <p:spPr bwMode="auto">
            <a:xfrm flipH="1">
              <a:off x="2474" y="1290"/>
              <a:ext cx="1" cy="1"/>
            </a:xfrm>
            <a:prstGeom prst="line">
              <a:avLst/>
            </a:prstGeom>
            <a:noFill/>
            <a:ln w="25400">
              <a:solidFill>
                <a:srgbClr val="15151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2" name="Line 725"/>
            <p:cNvSpPr>
              <a:spLocks noChangeShapeType="1"/>
            </p:cNvSpPr>
            <p:nvPr/>
          </p:nvSpPr>
          <p:spPr bwMode="auto">
            <a:xfrm flipH="1">
              <a:off x="2474" y="1290"/>
              <a:ext cx="17" cy="15"/>
            </a:xfrm>
            <a:prstGeom prst="line">
              <a:avLst/>
            </a:prstGeom>
            <a:noFill/>
            <a:ln w="25400">
              <a:solidFill>
                <a:srgbClr val="1A1A1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3" name="Line 726"/>
            <p:cNvSpPr>
              <a:spLocks noChangeShapeType="1"/>
            </p:cNvSpPr>
            <p:nvPr/>
          </p:nvSpPr>
          <p:spPr bwMode="auto">
            <a:xfrm flipH="1">
              <a:off x="2474" y="1290"/>
              <a:ext cx="17" cy="15"/>
            </a:xfrm>
            <a:prstGeom prst="line">
              <a:avLst/>
            </a:prstGeom>
            <a:noFill/>
            <a:ln w="25400">
              <a:solidFill>
                <a:srgbClr val="1E1E1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4" name="Line 727"/>
            <p:cNvSpPr>
              <a:spLocks noChangeShapeType="1"/>
            </p:cNvSpPr>
            <p:nvPr/>
          </p:nvSpPr>
          <p:spPr bwMode="auto">
            <a:xfrm flipH="1">
              <a:off x="2474" y="1290"/>
              <a:ext cx="33" cy="29"/>
            </a:xfrm>
            <a:prstGeom prst="line">
              <a:avLst/>
            </a:prstGeom>
            <a:noFill/>
            <a:ln w="25400">
              <a:solidFill>
                <a:srgbClr val="22222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5" name="Line 728"/>
            <p:cNvSpPr>
              <a:spLocks noChangeShapeType="1"/>
            </p:cNvSpPr>
            <p:nvPr/>
          </p:nvSpPr>
          <p:spPr bwMode="auto">
            <a:xfrm flipH="1">
              <a:off x="2474" y="1290"/>
              <a:ext cx="47" cy="42"/>
            </a:xfrm>
            <a:prstGeom prst="line">
              <a:avLst/>
            </a:prstGeom>
            <a:noFill/>
            <a:ln w="25400">
              <a:solidFill>
                <a:srgbClr val="27272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6" name="Line 729"/>
            <p:cNvSpPr>
              <a:spLocks noChangeShapeType="1"/>
            </p:cNvSpPr>
            <p:nvPr/>
          </p:nvSpPr>
          <p:spPr bwMode="auto">
            <a:xfrm flipH="1">
              <a:off x="2474" y="1290"/>
              <a:ext cx="47" cy="42"/>
            </a:xfrm>
            <a:prstGeom prst="line">
              <a:avLst/>
            </a:prstGeom>
            <a:noFill/>
            <a:ln w="25400">
              <a:solidFill>
                <a:srgbClr val="2B2B2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7" name="Line 730"/>
            <p:cNvSpPr>
              <a:spLocks noChangeShapeType="1"/>
            </p:cNvSpPr>
            <p:nvPr/>
          </p:nvSpPr>
          <p:spPr bwMode="auto">
            <a:xfrm flipH="1">
              <a:off x="2474" y="1290"/>
              <a:ext cx="63" cy="56"/>
            </a:xfrm>
            <a:prstGeom prst="line">
              <a:avLst/>
            </a:prstGeom>
            <a:noFill/>
            <a:ln w="25400">
              <a:solidFill>
                <a:srgbClr val="2F2F2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8" name="Line 731"/>
            <p:cNvSpPr>
              <a:spLocks noChangeShapeType="1"/>
            </p:cNvSpPr>
            <p:nvPr/>
          </p:nvSpPr>
          <p:spPr bwMode="auto">
            <a:xfrm flipH="1">
              <a:off x="2474" y="1290"/>
              <a:ext cx="79" cy="71"/>
            </a:xfrm>
            <a:prstGeom prst="line">
              <a:avLst/>
            </a:prstGeom>
            <a:noFill/>
            <a:ln w="25400">
              <a:solidFill>
                <a:srgbClr val="34343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69" name="Line 732"/>
            <p:cNvSpPr>
              <a:spLocks noChangeShapeType="1"/>
            </p:cNvSpPr>
            <p:nvPr/>
          </p:nvSpPr>
          <p:spPr bwMode="auto">
            <a:xfrm flipH="1">
              <a:off x="2474" y="1290"/>
              <a:ext cx="95" cy="85"/>
            </a:xfrm>
            <a:prstGeom prst="line">
              <a:avLst/>
            </a:prstGeom>
            <a:noFill/>
            <a:ln w="25400">
              <a:solidFill>
                <a:srgbClr val="38383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0" name="Line 733"/>
            <p:cNvSpPr>
              <a:spLocks noChangeShapeType="1"/>
            </p:cNvSpPr>
            <p:nvPr/>
          </p:nvSpPr>
          <p:spPr bwMode="auto">
            <a:xfrm flipH="1">
              <a:off x="2474" y="1290"/>
              <a:ext cx="95" cy="85"/>
            </a:xfrm>
            <a:prstGeom prst="line">
              <a:avLst/>
            </a:prstGeom>
            <a:noFill/>
            <a:ln w="25400">
              <a:solidFill>
                <a:srgbClr val="3C3C3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1" name="Line 734"/>
            <p:cNvSpPr>
              <a:spLocks noChangeShapeType="1"/>
            </p:cNvSpPr>
            <p:nvPr/>
          </p:nvSpPr>
          <p:spPr bwMode="auto">
            <a:xfrm flipH="1">
              <a:off x="2474" y="1290"/>
              <a:ext cx="110" cy="99"/>
            </a:xfrm>
            <a:prstGeom prst="line">
              <a:avLst/>
            </a:prstGeom>
            <a:noFill/>
            <a:ln w="25400">
              <a:solidFill>
                <a:srgbClr val="41414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2" name="Line 735"/>
            <p:cNvSpPr>
              <a:spLocks noChangeShapeType="1"/>
            </p:cNvSpPr>
            <p:nvPr/>
          </p:nvSpPr>
          <p:spPr bwMode="auto">
            <a:xfrm flipH="1">
              <a:off x="2474" y="1290"/>
              <a:ext cx="125" cy="112"/>
            </a:xfrm>
            <a:prstGeom prst="line">
              <a:avLst/>
            </a:prstGeom>
            <a:noFill/>
            <a:ln w="25400">
              <a:solidFill>
                <a:srgbClr val="45454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3" name="Line 736"/>
            <p:cNvSpPr>
              <a:spLocks noChangeShapeType="1"/>
            </p:cNvSpPr>
            <p:nvPr/>
          </p:nvSpPr>
          <p:spPr bwMode="auto">
            <a:xfrm flipH="1">
              <a:off x="2474" y="1290"/>
              <a:ext cx="125" cy="112"/>
            </a:xfrm>
            <a:prstGeom prst="line">
              <a:avLst/>
            </a:prstGeom>
            <a:noFill/>
            <a:ln w="25400">
              <a:solidFill>
                <a:srgbClr val="49494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4" name="Line 737"/>
            <p:cNvSpPr>
              <a:spLocks noChangeShapeType="1"/>
            </p:cNvSpPr>
            <p:nvPr/>
          </p:nvSpPr>
          <p:spPr bwMode="auto">
            <a:xfrm flipH="1">
              <a:off x="2474" y="1290"/>
              <a:ext cx="141" cy="126"/>
            </a:xfrm>
            <a:prstGeom prst="line">
              <a:avLst/>
            </a:prstGeom>
            <a:noFill/>
            <a:ln w="25400">
              <a:solidFill>
                <a:srgbClr val="4E4E4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5" name="Line 738"/>
            <p:cNvSpPr>
              <a:spLocks noChangeShapeType="1"/>
            </p:cNvSpPr>
            <p:nvPr/>
          </p:nvSpPr>
          <p:spPr bwMode="auto">
            <a:xfrm flipH="1">
              <a:off x="2474" y="1290"/>
              <a:ext cx="157" cy="141"/>
            </a:xfrm>
            <a:prstGeom prst="line">
              <a:avLst/>
            </a:prstGeom>
            <a:noFill/>
            <a:ln w="25400">
              <a:solidFill>
                <a:srgbClr val="52525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6" name="Line 739"/>
            <p:cNvSpPr>
              <a:spLocks noChangeShapeType="1"/>
            </p:cNvSpPr>
            <p:nvPr/>
          </p:nvSpPr>
          <p:spPr bwMode="auto">
            <a:xfrm flipH="1">
              <a:off x="2474" y="1290"/>
              <a:ext cx="157" cy="141"/>
            </a:xfrm>
            <a:prstGeom prst="line">
              <a:avLst/>
            </a:prstGeom>
            <a:noFill/>
            <a:ln w="25400">
              <a:solidFill>
                <a:srgbClr val="56565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7" name="Line 740"/>
            <p:cNvSpPr>
              <a:spLocks noChangeShapeType="1"/>
            </p:cNvSpPr>
            <p:nvPr/>
          </p:nvSpPr>
          <p:spPr bwMode="auto">
            <a:xfrm flipH="1">
              <a:off x="2474" y="1290"/>
              <a:ext cx="172" cy="154"/>
            </a:xfrm>
            <a:prstGeom prst="line">
              <a:avLst/>
            </a:prstGeom>
            <a:noFill/>
            <a:ln w="25400">
              <a:solidFill>
                <a:srgbClr val="5B5B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8" name="Line 741"/>
            <p:cNvSpPr>
              <a:spLocks noChangeShapeType="1"/>
            </p:cNvSpPr>
            <p:nvPr/>
          </p:nvSpPr>
          <p:spPr bwMode="auto">
            <a:xfrm flipH="1">
              <a:off x="2483" y="1290"/>
              <a:ext cx="179" cy="162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79" name="Line 742"/>
            <p:cNvSpPr>
              <a:spLocks noChangeShapeType="1"/>
            </p:cNvSpPr>
            <p:nvPr/>
          </p:nvSpPr>
          <p:spPr bwMode="auto">
            <a:xfrm flipH="1">
              <a:off x="2498" y="1290"/>
              <a:ext cx="179" cy="162"/>
            </a:xfrm>
            <a:prstGeom prst="line">
              <a:avLst/>
            </a:prstGeom>
            <a:noFill/>
            <a:ln w="25400">
              <a:solidFill>
                <a:srgbClr val="63636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0" name="Line 743"/>
            <p:cNvSpPr>
              <a:spLocks noChangeShapeType="1"/>
            </p:cNvSpPr>
            <p:nvPr/>
          </p:nvSpPr>
          <p:spPr bwMode="auto">
            <a:xfrm flipH="1">
              <a:off x="2498" y="1290"/>
              <a:ext cx="179" cy="162"/>
            </a:xfrm>
            <a:prstGeom prst="line">
              <a:avLst/>
            </a:prstGeom>
            <a:noFill/>
            <a:ln w="25400">
              <a:solidFill>
                <a:srgbClr val="68686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1" name="Line 744"/>
            <p:cNvSpPr>
              <a:spLocks noChangeShapeType="1"/>
            </p:cNvSpPr>
            <p:nvPr/>
          </p:nvSpPr>
          <p:spPr bwMode="auto">
            <a:xfrm flipH="1">
              <a:off x="2514" y="1290"/>
              <a:ext cx="179" cy="162"/>
            </a:xfrm>
            <a:prstGeom prst="line">
              <a:avLst/>
            </a:prstGeom>
            <a:noFill/>
            <a:ln w="25400">
              <a:solidFill>
                <a:srgbClr val="6C6C6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2" name="Line 745"/>
            <p:cNvSpPr>
              <a:spLocks noChangeShapeType="1"/>
            </p:cNvSpPr>
            <p:nvPr/>
          </p:nvSpPr>
          <p:spPr bwMode="auto">
            <a:xfrm flipH="1">
              <a:off x="2530" y="1290"/>
              <a:ext cx="179" cy="162"/>
            </a:xfrm>
            <a:prstGeom prst="line">
              <a:avLst/>
            </a:prstGeom>
            <a:noFill/>
            <a:ln w="25400">
              <a:solidFill>
                <a:srgbClr val="70707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3" name="Line 746"/>
            <p:cNvSpPr>
              <a:spLocks noChangeShapeType="1"/>
            </p:cNvSpPr>
            <p:nvPr/>
          </p:nvSpPr>
          <p:spPr bwMode="auto">
            <a:xfrm flipH="1">
              <a:off x="2530" y="1290"/>
              <a:ext cx="179" cy="162"/>
            </a:xfrm>
            <a:prstGeom prst="line">
              <a:avLst/>
            </a:prstGeom>
            <a:noFill/>
            <a:ln w="25400">
              <a:solidFill>
                <a:srgbClr val="75757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4" name="Line 747"/>
            <p:cNvSpPr>
              <a:spLocks noChangeShapeType="1"/>
            </p:cNvSpPr>
            <p:nvPr/>
          </p:nvSpPr>
          <p:spPr bwMode="auto">
            <a:xfrm flipH="1">
              <a:off x="2545" y="1290"/>
              <a:ext cx="179" cy="162"/>
            </a:xfrm>
            <a:prstGeom prst="line">
              <a:avLst/>
            </a:prstGeom>
            <a:noFill/>
            <a:ln w="25400">
              <a:solidFill>
                <a:srgbClr val="79797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5" name="Line 748"/>
            <p:cNvSpPr>
              <a:spLocks noChangeShapeType="1"/>
            </p:cNvSpPr>
            <p:nvPr/>
          </p:nvSpPr>
          <p:spPr bwMode="auto">
            <a:xfrm flipH="1">
              <a:off x="2561" y="1290"/>
              <a:ext cx="179" cy="162"/>
            </a:xfrm>
            <a:prstGeom prst="line">
              <a:avLst/>
            </a:prstGeom>
            <a:noFill/>
            <a:ln w="25400">
              <a:solidFill>
                <a:srgbClr val="7D7D7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6" name="Line 749"/>
            <p:cNvSpPr>
              <a:spLocks noChangeShapeType="1"/>
            </p:cNvSpPr>
            <p:nvPr/>
          </p:nvSpPr>
          <p:spPr bwMode="auto">
            <a:xfrm flipH="1">
              <a:off x="2561" y="1290"/>
              <a:ext cx="179" cy="162"/>
            </a:xfrm>
            <a:prstGeom prst="line">
              <a:avLst/>
            </a:prstGeom>
            <a:noFill/>
            <a:ln w="25400">
              <a:solidFill>
                <a:srgbClr val="82828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7" name="Line 750"/>
            <p:cNvSpPr>
              <a:spLocks noChangeShapeType="1"/>
            </p:cNvSpPr>
            <p:nvPr/>
          </p:nvSpPr>
          <p:spPr bwMode="auto">
            <a:xfrm flipH="1">
              <a:off x="2576" y="1290"/>
              <a:ext cx="179" cy="162"/>
            </a:xfrm>
            <a:prstGeom prst="line">
              <a:avLst/>
            </a:prstGeom>
            <a:noFill/>
            <a:ln w="25400">
              <a:solidFill>
                <a:srgbClr val="86868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8" name="Line 751"/>
            <p:cNvSpPr>
              <a:spLocks noChangeShapeType="1"/>
            </p:cNvSpPr>
            <p:nvPr/>
          </p:nvSpPr>
          <p:spPr bwMode="auto">
            <a:xfrm flipH="1">
              <a:off x="2592" y="1290"/>
              <a:ext cx="179" cy="162"/>
            </a:xfrm>
            <a:prstGeom prst="line">
              <a:avLst/>
            </a:prstGeom>
            <a:noFill/>
            <a:ln w="25400">
              <a:solidFill>
                <a:srgbClr val="8A8A8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89" name="Line 752"/>
            <p:cNvSpPr>
              <a:spLocks noChangeShapeType="1"/>
            </p:cNvSpPr>
            <p:nvPr/>
          </p:nvSpPr>
          <p:spPr bwMode="auto">
            <a:xfrm flipH="1">
              <a:off x="2608" y="1290"/>
              <a:ext cx="179" cy="162"/>
            </a:xfrm>
            <a:prstGeom prst="line">
              <a:avLst/>
            </a:prstGeom>
            <a:noFill/>
            <a:ln w="25400">
              <a:solidFill>
                <a:srgbClr val="8F8F8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0" name="Line 753"/>
            <p:cNvSpPr>
              <a:spLocks noChangeShapeType="1"/>
            </p:cNvSpPr>
            <p:nvPr/>
          </p:nvSpPr>
          <p:spPr bwMode="auto">
            <a:xfrm flipH="1">
              <a:off x="2608" y="1290"/>
              <a:ext cx="179" cy="162"/>
            </a:xfrm>
            <a:prstGeom prst="line">
              <a:avLst/>
            </a:prstGeom>
            <a:noFill/>
            <a:ln w="25400">
              <a:solidFill>
                <a:srgbClr val="93939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1" name="Line 754"/>
            <p:cNvSpPr>
              <a:spLocks noChangeShapeType="1"/>
            </p:cNvSpPr>
            <p:nvPr/>
          </p:nvSpPr>
          <p:spPr bwMode="auto">
            <a:xfrm flipH="1">
              <a:off x="2623" y="1290"/>
              <a:ext cx="179" cy="162"/>
            </a:xfrm>
            <a:prstGeom prst="line">
              <a:avLst/>
            </a:prstGeom>
            <a:noFill/>
            <a:ln w="25400">
              <a:solidFill>
                <a:srgbClr val="9797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2" name="Line 755"/>
            <p:cNvSpPr>
              <a:spLocks noChangeShapeType="1"/>
            </p:cNvSpPr>
            <p:nvPr/>
          </p:nvSpPr>
          <p:spPr bwMode="auto">
            <a:xfrm flipH="1">
              <a:off x="2639" y="1290"/>
              <a:ext cx="179" cy="162"/>
            </a:xfrm>
            <a:prstGeom prst="line">
              <a:avLst/>
            </a:prstGeom>
            <a:noFill/>
            <a:ln w="25400">
              <a:solidFill>
                <a:srgbClr val="9C9C9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3" name="Line 756"/>
            <p:cNvSpPr>
              <a:spLocks noChangeShapeType="1"/>
            </p:cNvSpPr>
            <p:nvPr/>
          </p:nvSpPr>
          <p:spPr bwMode="auto">
            <a:xfrm flipH="1">
              <a:off x="2639" y="1290"/>
              <a:ext cx="179" cy="162"/>
            </a:xfrm>
            <a:prstGeom prst="line">
              <a:avLst/>
            </a:prstGeom>
            <a:noFill/>
            <a:ln w="25400">
              <a:solidFill>
                <a:srgbClr val="A0A0A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4" name="Line 757"/>
            <p:cNvSpPr>
              <a:spLocks noChangeShapeType="1"/>
            </p:cNvSpPr>
            <p:nvPr/>
          </p:nvSpPr>
          <p:spPr bwMode="auto">
            <a:xfrm flipH="1">
              <a:off x="2654" y="1290"/>
              <a:ext cx="179" cy="162"/>
            </a:xfrm>
            <a:prstGeom prst="line">
              <a:avLst/>
            </a:prstGeom>
            <a:noFill/>
            <a:ln w="25400">
              <a:solidFill>
                <a:srgbClr val="A4A4A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5" name="Line 758"/>
            <p:cNvSpPr>
              <a:spLocks noChangeShapeType="1"/>
            </p:cNvSpPr>
            <p:nvPr/>
          </p:nvSpPr>
          <p:spPr bwMode="auto">
            <a:xfrm flipH="1">
              <a:off x="2669" y="1290"/>
              <a:ext cx="179" cy="162"/>
            </a:xfrm>
            <a:prstGeom prst="line">
              <a:avLst/>
            </a:prstGeom>
            <a:noFill/>
            <a:ln w="2540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6" name="Line 759"/>
            <p:cNvSpPr>
              <a:spLocks noChangeShapeType="1"/>
            </p:cNvSpPr>
            <p:nvPr/>
          </p:nvSpPr>
          <p:spPr bwMode="auto">
            <a:xfrm flipH="1">
              <a:off x="2669" y="1290"/>
              <a:ext cx="179" cy="162"/>
            </a:xfrm>
            <a:prstGeom prst="line">
              <a:avLst/>
            </a:prstGeom>
            <a:noFill/>
            <a:ln w="25400">
              <a:solidFill>
                <a:srgbClr val="ADADA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7" name="Line 760"/>
            <p:cNvSpPr>
              <a:spLocks noChangeShapeType="1"/>
            </p:cNvSpPr>
            <p:nvPr/>
          </p:nvSpPr>
          <p:spPr bwMode="auto">
            <a:xfrm flipH="1">
              <a:off x="2686" y="1290"/>
              <a:ext cx="179" cy="162"/>
            </a:xfrm>
            <a:prstGeom prst="line">
              <a:avLst/>
            </a:prstGeom>
            <a:noFill/>
            <a:ln w="25400">
              <a:solidFill>
                <a:srgbClr val="B1B1B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8" name="Line 761"/>
            <p:cNvSpPr>
              <a:spLocks noChangeShapeType="1"/>
            </p:cNvSpPr>
            <p:nvPr/>
          </p:nvSpPr>
          <p:spPr bwMode="auto">
            <a:xfrm flipH="1">
              <a:off x="2701" y="1290"/>
              <a:ext cx="179" cy="162"/>
            </a:xfrm>
            <a:prstGeom prst="line">
              <a:avLst/>
            </a:prstGeom>
            <a:noFill/>
            <a:ln w="25400">
              <a:solidFill>
                <a:srgbClr val="B6B6B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399" name="Line 762"/>
            <p:cNvSpPr>
              <a:spLocks noChangeShapeType="1"/>
            </p:cNvSpPr>
            <p:nvPr/>
          </p:nvSpPr>
          <p:spPr bwMode="auto">
            <a:xfrm flipH="1">
              <a:off x="2716" y="1304"/>
              <a:ext cx="164" cy="148"/>
            </a:xfrm>
            <a:prstGeom prst="line">
              <a:avLst/>
            </a:prstGeom>
            <a:noFill/>
            <a:ln w="25400">
              <a:solidFill>
                <a:srgbClr val="BABAB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0" name="Line 763"/>
            <p:cNvSpPr>
              <a:spLocks noChangeShapeType="1"/>
            </p:cNvSpPr>
            <p:nvPr/>
          </p:nvSpPr>
          <p:spPr bwMode="auto">
            <a:xfrm flipH="1">
              <a:off x="2716" y="1304"/>
              <a:ext cx="164" cy="148"/>
            </a:xfrm>
            <a:prstGeom prst="line">
              <a:avLst/>
            </a:prstGeom>
            <a:noFill/>
            <a:ln w="25400">
              <a:solidFill>
                <a:srgbClr val="BEBEB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1" name="Line 764"/>
            <p:cNvSpPr>
              <a:spLocks noChangeShapeType="1"/>
            </p:cNvSpPr>
            <p:nvPr/>
          </p:nvSpPr>
          <p:spPr bwMode="auto">
            <a:xfrm flipH="1">
              <a:off x="2733" y="1319"/>
              <a:ext cx="147" cy="133"/>
            </a:xfrm>
            <a:prstGeom prst="line">
              <a:avLst/>
            </a:prstGeom>
            <a:noFill/>
            <a:ln w="25400">
              <a:solidFill>
                <a:srgbClr val="C3C3C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2" name="Line 765"/>
            <p:cNvSpPr>
              <a:spLocks noChangeShapeType="1"/>
            </p:cNvSpPr>
            <p:nvPr/>
          </p:nvSpPr>
          <p:spPr bwMode="auto">
            <a:xfrm flipH="1">
              <a:off x="2747" y="1332"/>
              <a:ext cx="133" cy="120"/>
            </a:xfrm>
            <a:prstGeom prst="line">
              <a:avLst/>
            </a:prstGeom>
            <a:noFill/>
            <a:ln w="25400">
              <a:solidFill>
                <a:srgbClr val="C7C7C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3" name="Line 766"/>
            <p:cNvSpPr>
              <a:spLocks noChangeShapeType="1"/>
            </p:cNvSpPr>
            <p:nvPr/>
          </p:nvSpPr>
          <p:spPr bwMode="auto">
            <a:xfrm flipH="1">
              <a:off x="2747" y="1332"/>
              <a:ext cx="133" cy="120"/>
            </a:xfrm>
            <a:prstGeom prst="line">
              <a:avLst/>
            </a:prstGeom>
            <a:noFill/>
            <a:ln w="25400">
              <a:solidFill>
                <a:srgbClr val="CBCBC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4" name="Line 767"/>
            <p:cNvSpPr>
              <a:spLocks noChangeShapeType="1"/>
            </p:cNvSpPr>
            <p:nvPr/>
          </p:nvSpPr>
          <p:spPr bwMode="auto">
            <a:xfrm flipH="1">
              <a:off x="2763" y="1346"/>
              <a:ext cx="117" cy="106"/>
            </a:xfrm>
            <a:prstGeom prst="line">
              <a:avLst/>
            </a:prstGeom>
            <a:noFill/>
            <a:ln w="25400">
              <a:solidFill>
                <a:srgbClr val="D0D0D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5" name="Line 768"/>
            <p:cNvSpPr>
              <a:spLocks noChangeShapeType="1"/>
            </p:cNvSpPr>
            <p:nvPr/>
          </p:nvSpPr>
          <p:spPr bwMode="auto">
            <a:xfrm flipH="1">
              <a:off x="2778" y="1360"/>
              <a:ext cx="102" cy="92"/>
            </a:xfrm>
            <a:prstGeom prst="line">
              <a:avLst/>
            </a:prstGeom>
            <a:noFill/>
            <a:ln w="25400">
              <a:solidFill>
                <a:srgbClr val="D4D4D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6" name="Line 769"/>
            <p:cNvSpPr>
              <a:spLocks noChangeShapeType="1"/>
            </p:cNvSpPr>
            <p:nvPr/>
          </p:nvSpPr>
          <p:spPr bwMode="auto">
            <a:xfrm flipH="1">
              <a:off x="2778" y="1360"/>
              <a:ext cx="102" cy="92"/>
            </a:xfrm>
            <a:prstGeom prst="line">
              <a:avLst/>
            </a:prstGeom>
            <a:noFill/>
            <a:ln w="25400">
              <a:solidFill>
                <a:srgbClr val="D8D8D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7" name="Line 770"/>
            <p:cNvSpPr>
              <a:spLocks noChangeShapeType="1"/>
            </p:cNvSpPr>
            <p:nvPr/>
          </p:nvSpPr>
          <p:spPr bwMode="auto">
            <a:xfrm flipH="1">
              <a:off x="2795" y="1375"/>
              <a:ext cx="85" cy="77"/>
            </a:xfrm>
            <a:prstGeom prst="line">
              <a:avLst/>
            </a:prstGeom>
            <a:noFill/>
            <a:ln w="25400">
              <a:solidFill>
                <a:srgbClr val="DDDDD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8" name="Line 771"/>
            <p:cNvSpPr>
              <a:spLocks noChangeShapeType="1"/>
            </p:cNvSpPr>
            <p:nvPr/>
          </p:nvSpPr>
          <p:spPr bwMode="auto">
            <a:xfrm flipH="1">
              <a:off x="2811" y="1389"/>
              <a:ext cx="69" cy="63"/>
            </a:xfrm>
            <a:prstGeom prst="line">
              <a:avLst/>
            </a:prstGeom>
            <a:noFill/>
            <a:ln w="25400">
              <a:solidFill>
                <a:srgbClr val="E1E1E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09" name="Line 772"/>
            <p:cNvSpPr>
              <a:spLocks noChangeShapeType="1"/>
            </p:cNvSpPr>
            <p:nvPr/>
          </p:nvSpPr>
          <p:spPr bwMode="auto">
            <a:xfrm flipH="1">
              <a:off x="2825" y="1402"/>
              <a:ext cx="55" cy="50"/>
            </a:xfrm>
            <a:prstGeom prst="line">
              <a:avLst/>
            </a:prstGeom>
            <a:noFill/>
            <a:ln w="25400">
              <a:solidFill>
                <a:srgbClr val="E5E5E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0" name="Line 773"/>
            <p:cNvSpPr>
              <a:spLocks noChangeShapeType="1"/>
            </p:cNvSpPr>
            <p:nvPr/>
          </p:nvSpPr>
          <p:spPr bwMode="auto">
            <a:xfrm flipH="1">
              <a:off x="2825" y="1402"/>
              <a:ext cx="55" cy="50"/>
            </a:xfrm>
            <a:prstGeom prst="line">
              <a:avLst/>
            </a:prstGeom>
            <a:noFill/>
            <a:ln w="25400">
              <a:solidFill>
                <a:srgbClr val="EAEAE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1" name="Line 774"/>
            <p:cNvSpPr>
              <a:spLocks noChangeShapeType="1"/>
            </p:cNvSpPr>
            <p:nvPr/>
          </p:nvSpPr>
          <p:spPr bwMode="auto">
            <a:xfrm flipH="1">
              <a:off x="2841" y="1416"/>
              <a:ext cx="39" cy="36"/>
            </a:xfrm>
            <a:prstGeom prst="line">
              <a:avLst/>
            </a:prstGeom>
            <a:noFill/>
            <a:ln w="25400">
              <a:solidFill>
                <a:srgbClr val="EEEEE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2" name="Line 775"/>
            <p:cNvSpPr>
              <a:spLocks noChangeShapeType="1"/>
            </p:cNvSpPr>
            <p:nvPr/>
          </p:nvSpPr>
          <p:spPr bwMode="auto">
            <a:xfrm flipH="1">
              <a:off x="2856" y="1430"/>
              <a:ext cx="24" cy="22"/>
            </a:xfrm>
            <a:prstGeom prst="line">
              <a:avLst/>
            </a:prstGeom>
            <a:noFill/>
            <a:ln w="25400">
              <a:solidFill>
                <a:srgbClr val="F2F2F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3" name="Line 776"/>
            <p:cNvSpPr>
              <a:spLocks noChangeShapeType="1"/>
            </p:cNvSpPr>
            <p:nvPr/>
          </p:nvSpPr>
          <p:spPr bwMode="auto">
            <a:xfrm flipH="1">
              <a:off x="2856" y="1430"/>
              <a:ext cx="24" cy="22"/>
            </a:xfrm>
            <a:prstGeom prst="line">
              <a:avLst/>
            </a:prstGeom>
            <a:noFill/>
            <a:ln w="25400">
              <a:solidFill>
                <a:srgbClr val="F7F7F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4" name="Line 777"/>
            <p:cNvSpPr>
              <a:spLocks noChangeShapeType="1"/>
            </p:cNvSpPr>
            <p:nvPr/>
          </p:nvSpPr>
          <p:spPr bwMode="auto">
            <a:xfrm flipH="1">
              <a:off x="2873" y="1445"/>
              <a:ext cx="7" cy="7"/>
            </a:xfrm>
            <a:prstGeom prst="line">
              <a:avLst/>
            </a:prstGeom>
            <a:noFill/>
            <a:ln w="25400">
              <a:solidFill>
                <a:srgbClr val="FBFBF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5" name="Freeform 2414"/>
            <p:cNvSpPr>
              <a:spLocks/>
            </p:cNvSpPr>
            <p:nvPr/>
          </p:nvSpPr>
          <p:spPr bwMode="auto">
            <a:xfrm>
              <a:off x="2467" y="1290"/>
              <a:ext cx="413" cy="162"/>
            </a:xfrm>
            <a:custGeom>
              <a:avLst/>
              <a:gdLst>
                <a:gd name="T0" fmla="*/ 0 w 413"/>
                <a:gd name="T1" fmla="*/ 21 h 162"/>
                <a:gd name="T2" fmla="*/ 15 w 413"/>
                <a:gd name="T3" fmla="*/ 7 h 162"/>
                <a:gd name="T4" fmla="*/ 39 w 413"/>
                <a:gd name="T5" fmla="*/ 0 h 162"/>
                <a:gd name="T6" fmla="*/ 62 w 413"/>
                <a:gd name="T7" fmla="*/ 7 h 162"/>
                <a:gd name="T8" fmla="*/ 78 w 413"/>
                <a:gd name="T9" fmla="*/ 35 h 162"/>
                <a:gd name="T10" fmla="*/ 101 w 413"/>
                <a:gd name="T11" fmla="*/ 63 h 162"/>
                <a:gd name="T12" fmla="*/ 156 w 413"/>
                <a:gd name="T13" fmla="*/ 77 h 162"/>
                <a:gd name="T14" fmla="*/ 226 w 413"/>
                <a:gd name="T15" fmla="*/ 63 h 162"/>
                <a:gd name="T16" fmla="*/ 296 w 413"/>
                <a:gd name="T17" fmla="*/ 49 h 162"/>
                <a:gd name="T18" fmla="*/ 328 w 413"/>
                <a:gd name="T19" fmla="*/ 42 h 162"/>
                <a:gd name="T20" fmla="*/ 359 w 413"/>
                <a:gd name="T21" fmla="*/ 49 h 162"/>
                <a:gd name="T22" fmla="*/ 382 w 413"/>
                <a:gd name="T23" fmla="*/ 56 h 162"/>
                <a:gd name="T24" fmla="*/ 406 w 413"/>
                <a:gd name="T25" fmla="*/ 84 h 162"/>
                <a:gd name="T26" fmla="*/ 406 w 413"/>
                <a:gd name="T27" fmla="*/ 92 h 162"/>
                <a:gd name="T28" fmla="*/ 413 w 413"/>
                <a:gd name="T29" fmla="*/ 106 h 162"/>
                <a:gd name="T30" fmla="*/ 398 w 413"/>
                <a:gd name="T31" fmla="*/ 120 h 162"/>
                <a:gd name="T32" fmla="*/ 367 w 413"/>
                <a:gd name="T33" fmla="*/ 127 h 162"/>
                <a:gd name="T34" fmla="*/ 343 w 413"/>
                <a:gd name="T35" fmla="*/ 134 h 162"/>
                <a:gd name="T36" fmla="*/ 257 w 413"/>
                <a:gd name="T37" fmla="*/ 141 h 162"/>
                <a:gd name="T38" fmla="*/ 156 w 413"/>
                <a:gd name="T39" fmla="*/ 155 h 162"/>
                <a:gd name="T40" fmla="*/ 109 w 413"/>
                <a:gd name="T41" fmla="*/ 162 h 162"/>
                <a:gd name="T42" fmla="*/ 62 w 413"/>
                <a:gd name="T43" fmla="*/ 155 h 162"/>
                <a:gd name="T44" fmla="*/ 54 w 413"/>
                <a:gd name="T45" fmla="*/ 134 h 162"/>
                <a:gd name="T46" fmla="*/ 31 w 413"/>
                <a:gd name="T47" fmla="*/ 92 h 162"/>
                <a:gd name="T48" fmla="*/ 15 w 413"/>
                <a:gd name="T49" fmla="*/ 49 h 162"/>
                <a:gd name="T50" fmla="*/ 7 w 413"/>
                <a:gd name="T51" fmla="*/ 28 h 162"/>
                <a:gd name="T52" fmla="*/ 0 w 413"/>
                <a:gd name="T53" fmla="*/ 21 h 1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13"/>
                <a:gd name="T82" fmla="*/ 0 h 162"/>
                <a:gd name="T83" fmla="*/ 413 w 413"/>
                <a:gd name="T84" fmla="*/ 162 h 1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13" h="162">
                  <a:moveTo>
                    <a:pt x="0" y="21"/>
                  </a:moveTo>
                  <a:lnTo>
                    <a:pt x="15" y="7"/>
                  </a:lnTo>
                  <a:lnTo>
                    <a:pt x="39" y="0"/>
                  </a:lnTo>
                  <a:lnTo>
                    <a:pt x="62" y="7"/>
                  </a:lnTo>
                  <a:lnTo>
                    <a:pt x="78" y="35"/>
                  </a:lnTo>
                  <a:lnTo>
                    <a:pt x="101" y="63"/>
                  </a:lnTo>
                  <a:lnTo>
                    <a:pt x="156" y="77"/>
                  </a:lnTo>
                  <a:lnTo>
                    <a:pt x="226" y="63"/>
                  </a:lnTo>
                  <a:lnTo>
                    <a:pt x="296" y="49"/>
                  </a:lnTo>
                  <a:lnTo>
                    <a:pt x="328" y="42"/>
                  </a:lnTo>
                  <a:lnTo>
                    <a:pt x="359" y="49"/>
                  </a:lnTo>
                  <a:lnTo>
                    <a:pt x="382" y="56"/>
                  </a:lnTo>
                  <a:lnTo>
                    <a:pt x="406" y="84"/>
                  </a:lnTo>
                  <a:lnTo>
                    <a:pt x="406" y="92"/>
                  </a:lnTo>
                  <a:lnTo>
                    <a:pt x="413" y="106"/>
                  </a:lnTo>
                  <a:lnTo>
                    <a:pt x="398" y="120"/>
                  </a:lnTo>
                  <a:lnTo>
                    <a:pt x="367" y="127"/>
                  </a:lnTo>
                  <a:lnTo>
                    <a:pt x="343" y="134"/>
                  </a:lnTo>
                  <a:lnTo>
                    <a:pt x="257" y="141"/>
                  </a:lnTo>
                  <a:lnTo>
                    <a:pt x="156" y="155"/>
                  </a:lnTo>
                  <a:lnTo>
                    <a:pt x="109" y="162"/>
                  </a:lnTo>
                  <a:lnTo>
                    <a:pt x="62" y="155"/>
                  </a:lnTo>
                  <a:lnTo>
                    <a:pt x="54" y="134"/>
                  </a:lnTo>
                  <a:lnTo>
                    <a:pt x="31" y="92"/>
                  </a:lnTo>
                  <a:lnTo>
                    <a:pt x="15" y="49"/>
                  </a:lnTo>
                  <a:lnTo>
                    <a:pt x="7" y="28"/>
                  </a:lnTo>
                  <a:lnTo>
                    <a:pt x="0" y="2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6" name="Line 779"/>
            <p:cNvSpPr>
              <a:spLocks noChangeShapeType="1"/>
            </p:cNvSpPr>
            <p:nvPr/>
          </p:nvSpPr>
          <p:spPr bwMode="auto">
            <a:xfrm flipH="1">
              <a:off x="2529" y="1410"/>
              <a:ext cx="5" cy="4"/>
            </a:xfrm>
            <a:prstGeom prst="line">
              <a:avLst/>
            </a:prstGeom>
            <a:noFill/>
            <a:ln w="25400">
              <a:solidFill>
                <a:srgbClr val="18181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7" name="Line 780"/>
            <p:cNvSpPr>
              <a:spLocks noChangeShapeType="1"/>
            </p:cNvSpPr>
            <p:nvPr/>
          </p:nvSpPr>
          <p:spPr bwMode="auto">
            <a:xfrm flipH="1">
              <a:off x="2529" y="1410"/>
              <a:ext cx="5" cy="4"/>
            </a:xfrm>
            <a:prstGeom prst="line">
              <a:avLst/>
            </a:prstGeom>
            <a:noFill/>
            <a:ln w="25400">
              <a:solidFill>
                <a:srgbClr val="21212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8" name="Line 781"/>
            <p:cNvSpPr>
              <a:spLocks noChangeShapeType="1"/>
            </p:cNvSpPr>
            <p:nvPr/>
          </p:nvSpPr>
          <p:spPr bwMode="auto">
            <a:xfrm flipH="1">
              <a:off x="2529" y="1410"/>
              <a:ext cx="20" cy="18"/>
            </a:xfrm>
            <a:prstGeom prst="line">
              <a:avLst/>
            </a:prstGeom>
            <a:noFill/>
            <a:ln w="25400">
              <a:solidFill>
                <a:srgbClr val="29292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19" name="Line 782"/>
            <p:cNvSpPr>
              <a:spLocks noChangeShapeType="1"/>
            </p:cNvSpPr>
            <p:nvPr/>
          </p:nvSpPr>
          <p:spPr bwMode="auto">
            <a:xfrm flipH="1">
              <a:off x="2529" y="1410"/>
              <a:ext cx="35" cy="33"/>
            </a:xfrm>
            <a:prstGeom prst="line">
              <a:avLst/>
            </a:prstGeom>
            <a:noFill/>
            <a:ln w="25400">
              <a:solidFill>
                <a:srgbClr val="31313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0" name="Line 783"/>
            <p:cNvSpPr>
              <a:spLocks noChangeShapeType="1"/>
            </p:cNvSpPr>
            <p:nvPr/>
          </p:nvSpPr>
          <p:spPr bwMode="auto">
            <a:xfrm flipH="1">
              <a:off x="2529" y="1410"/>
              <a:ext cx="43" cy="40"/>
            </a:xfrm>
            <a:prstGeom prst="line">
              <a:avLst/>
            </a:prstGeom>
            <a:noFill/>
            <a:ln w="25400">
              <a:solidFill>
                <a:srgbClr val="39393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1" name="Line 784"/>
            <p:cNvSpPr>
              <a:spLocks noChangeShapeType="1"/>
            </p:cNvSpPr>
            <p:nvPr/>
          </p:nvSpPr>
          <p:spPr bwMode="auto">
            <a:xfrm flipH="1">
              <a:off x="2529" y="1410"/>
              <a:ext cx="51" cy="48"/>
            </a:xfrm>
            <a:prstGeom prst="line">
              <a:avLst/>
            </a:prstGeom>
            <a:noFill/>
            <a:ln w="25400">
              <a:solidFill>
                <a:srgbClr val="42424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2" name="Line 785"/>
            <p:cNvSpPr>
              <a:spLocks noChangeShapeType="1"/>
            </p:cNvSpPr>
            <p:nvPr/>
          </p:nvSpPr>
          <p:spPr bwMode="auto">
            <a:xfrm flipH="1">
              <a:off x="2529" y="1410"/>
              <a:ext cx="66" cy="62"/>
            </a:xfrm>
            <a:prstGeom prst="line">
              <a:avLst/>
            </a:prstGeom>
            <a:noFill/>
            <a:ln w="25400">
              <a:solidFill>
                <a:srgbClr val="4A4A4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3" name="Line 786"/>
            <p:cNvSpPr>
              <a:spLocks noChangeShapeType="1"/>
            </p:cNvSpPr>
            <p:nvPr/>
          </p:nvSpPr>
          <p:spPr bwMode="auto">
            <a:xfrm flipH="1">
              <a:off x="2537" y="1410"/>
              <a:ext cx="66" cy="63"/>
            </a:xfrm>
            <a:prstGeom prst="line">
              <a:avLst/>
            </a:prstGeom>
            <a:noFill/>
            <a:ln w="25400">
              <a:solidFill>
                <a:srgbClr val="52525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4" name="Line 787"/>
            <p:cNvSpPr>
              <a:spLocks noChangeShapeType="1"/>
            </p:cNvSpPr>
            <p:nvPr/>
          </p:nvSpPr>
          <p:spPr bwMode="auto">
            <a:xfrm flipH="1">
              <a:off x="2544" y="1410"/>
              <a:ext cx="66" cy="63"/>
            </a:xfrm>
            <a:prstGeom prst="line">
              <a:avLst/>
            </a:prstGeom>
            <a:noFill/>
            <a:ln w="25400">
              <a:solidFill>
                <a:srgbClr val="5A5A5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5" name="Line 788"/>
            <p:cNvSpPr>
              <a:spLocks noChangeShapeType="1"/>
            </p:cNvSpPr>
            <p:nvPr/>
          </p:nvSpPr>
          <p:spPr bwMode="auto">
            <a:xfrm flipH="1">
              <a:off x="2560" y="1410"/>
              <a:ext cx="67" cy="63"/>
            </a:xfrm>
            <a:prstGeom prst="line">
              <a:avLst/>
            </a:prstGeom>
            <a:noFill/>
            <a:ln w="25400">
              <a:solidFill>
                <a:srgbClr val="63636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6" name="Line 789"/>
            <p:cNvSpPr>
              <a:spLocks noChangeShapeType="1"/>
            </p:cNvSpPr>
            <p:nvPr/>
          </p:nvSpPr>
          <p:spPr bwMode="auto">
            <a:xfrm flipH="1">
              <a:off x="2568" y="1410"/>
              <a:ext cx="66" cy="63"/>
            </a:xfrm>
            <a:prstGeom prst="line">
              <a:avLst/>
            </a:prstGeom>
            <a:noFill/>
            <a:ln w="25400">
              <a:solidFill>
                <a:srgbClr val="6B6B6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7" name="Line 790"/>
            <p:cNvSpPr>
              <a:spLocks noChangeShapeType="1"/>
            </p:cNvSpPr>
            <p:nvPr/>
          </p:nvSpPr>
          <p:spPr bwMode="auto">
            <a:xfrm flipH="1">
              <a:off x="2583" y="1410"/>
              <a:ext cx="66" cy="63"/>
            </a:xfrm>
            <a:prstGeom prst="line">
              <a:avLst/>
            </a:prstGeom>
            <a:noFill/>
            <a:ln w="25400">
              <a:solidFill>
                <a:srgbClr val="737373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8" name="Line 791"/>
            <p:cNvSpPr>
              <a:spLocks noChangeShapeType="1"/>
            </p:cNvSpPr>
            <p:nvPr/>
          </p:nvSpPr>
          <p:spPr bwMode="auto">
            <a:xfrm flipH="1">
              <a:off x="2591" y="1410"/>
              <a:ext cx="66" cy="63"/>
            </a:xfrm>
            <a:prstGeom prst="line">
              <a:avLst/>
            </a:prstGeom>
            <a:noFill/>
            <a:ln w="25400">
              <a:solidFill>
                <a:srgbClr val="7B7B7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29" name="Line 792"/>
            <p:cNvSpPr>
              <a:spLocks noChangeShapeType="1"/>
            </p:cNvSpPr>
            <p:nvPr/>
          </p:nvSpPr>
          <p:spPr bwMode="auto">
            <a:xfrm flipH="1">
              <a:off x="2606" y="1410"/>
              <a:ext cx="66" cy="63"/>
            </a:xfrm>
            <a:prstGeom prst="line">
              <a:avLst/>
            </a:prstGeom>
            <a:noFill/>
            <a:ln w="25400">
              <a:solidFill>
                <a:srgbClr val="84848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0" name="Line 793"/>
            <p:cNvSpPr>
              <a:spLocks noChangeShapeType="1"/>
            </p:cNvSpPr>
            <p:nvPr/>
          </p:nvSpPr>
          <p:spPr bwMode="auto">
            <a:xfrm flipH="1">
              <a:off x="2614" y="1410"/>
              <a:ext cx="66" cy="63"/>
            </a:xfrm>
            <a:prstGeom prst="line">
              <a:avLst/>
            </a:prstGeom>
            <a:noFill/>
            <a:ln w="25400">
              <a:solidFill>
                <a:srgbClr val="8C8C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1" name="Line 794"/>
            <p:cNvSpPr>
              <a:spLocks noChangeShapeType="1"/>
            </p:cNvSpPr>
            <p:nvPr/>
          </p:nvSpPr>
          <p:spPr bwMode="auto">
            <a:xfrm flipH="1">
              <a:off x="2621" y="1410"/>
              <a:ext cx="66" cy="63"/>
            </a:xfrm>
            <a:prstGeom prst="line">
              <a:avLst/>
            </a:prstGeom>
            <a:noFill/>
            <a:ln w="25400">
              <a:solidFill>
                <a:srgbClr val="94949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2" name="Line 795"/>
            <p:cNvSpPr>
              <a:spLocks noChangeShapeType="1"/>
            </p:cNvSpPr>
            <p:nvPr/>
          </p:nvSpPr>
          <p:spPr bwMode="auto">
            <a:xfrm flipH="1">
              <a:off x="2636" y="1410"/>
              <a:ext cx="67" cy="63"/>
            </a:xfrm>
            <a:prstGeom prst="line">
              <a:avLst/>
            </a:prstGeom>
            <a:noFill/>
            <a:ln w="25400">
              <a:solidFill>
                <a:srgbClr val="9C9C9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3" name="Line 796"/>
            <p:cNvSpPr>
              <a:spLocks noChangeShapeType="1"/>
            </p:cNvSpPr>
            <p:nvPr/>
          </p:nvSpPr>
          <p:spPr bwMode="auto">
            <a:xfrm flipH="1">
              <a:off x="2644" y="1410"/>
              <a:ext cx="66" cy="63"/>
            </a:xfrm>
            <a:prstGeom prst="line">
              <a:avLst/>
            </a:prstGeom>
            <a:noFill/>
            <a:ln w="25400">
              <a:solidFill>
                <a:srgbClr val="A5A5A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4" name="Line 797"/>
            <p:cNvSpPr>
              <a:spLocks noChangeShapeType="1"/>
            </p:cNvSpPr>
            <p:nvPr/>
          </p:nvSpPr>
          <p:spPr bwMode="auto">
            <a:xfrm flipH="1">
              <a:off x="2659" y="1410"/>
              <a:ext cx="66" cy="63"/>
            </a:xfrm>
            <a:prstGeom prst="line">
              <a:avLst/>
            </a:prstGeom>
            <a:noFill/>
            <a:ln w="25400">
              <a:solidFill>
                <a:srgbClr val="ADADA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5" name="Line 798"/>
            <p:cNvSpPr>
              <a:spLocks noChangeShapeType="1"/>
            </p:cNvSpPr>
            <p:nvPr/>
          </p:nvSpPr>
          <p:spPr bwMode="auto">
            <a:xfrm flipH="1">
              <a:off x="2667" y="1410"/>
              <a:ext cx="66" cy="63"/>
            </a:xfrm>
            <a:prstGeom prst="line">
              <a:avLst/>
            </a:prstGeom>
            <a:noFill/>
            <a:ln w="25400">
              <a:solidFill>
                <a:srgbClr val="B5B5B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6" name="Line 799"/>
            <p:cNvSpPr>
              <a:spLocks noChangeShapeType="1"/>
            </p:cNvSpPr>
            <p:nvPr/>
          </p:nvSpPr>
          <p:spPr bwMode="auto">
            <a:xfrm flipH="1">
              <a:off x="2675" y="1410"/>
              <a:ext cx="66" cy="63"/>
            </a:xfrm>
            <a:prstGeom prst="line">
              <a:avLst/>
            </a:prstGeom>
            <a:noFill/>
            <a:ln w="25400">
              <a:solidFill>
                <a:srgbClr val="BDBDB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7" name="Line 800"/>
            <p:cNvSpPr>
              <a:spLocks noChangeShapeType="1"/>
            </p:cNvSpPr>
            <p:nvPr/>
          </p:nvSpPr>
          <p:spPr bwMode="auto">
            <a:xfrm flipH="1">
              <a:off x="2689" y="1417"/>
              <a:ext cx="59" cy="56"/>
            </a:xfrm>
            <a:prstGeom prst="line">
              <a:avLst/>
            </a:prstGeom>
            <a:noFill/>
            <a:ln w="25400">
              <a:solidFill>
                <a:srgbClr val="C6C6C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8" name="Line 801"/>
            <p:cNvSpPr>
              <a:spLocks noChangeShapeType="1"/>
            </p:cNvSpPr>
            <p:nvPr/>
          </p:nvSpPr>
          <p:spPr bwMode="auto">
            <a:xfrm flipH="1">
              <a:off x="2696" y="1424"/>
              <a:ext cx="52" cy="49"/>
            </a:xfrm>
            <a:prstGeom prst="line">
              <a:avLst/>
            </a:prstGeom>
            <a:noFill/>
            <a:ln w="25400">
              <a:solidFill>
                <a:srgbClr val="CECEC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39" name="Line 802"/>
            <p:cNvSpPr>
              <a:spLocks noChangeShapeType="1"/>
            </p:cNvSpPr>
            <p:nvPr/>
          </p:nvSpPr>
          <p:spPr bwMode="auto">
            <a:xfrm flipH="1">
              <a:off x="2704" y="1431"/>
              <a:ext cx="44" cy="42"/>
            </a:xfrm>
            <a:prstGeom prst="line">
              <a:avLst/>
            </a:prstGeom>
            <a:noFill/>
            <a:ln w="25400">
              <a:solidFill>
                <a:srgbClr val="D6D6D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0" name="Line 803"/>
            <p:cNvSpPr>
              <a:spLocks noChangeShapeType="1"/>
            </p:cNvSpPr>
            <p:nvPr/>
          </p:nvSpPr>
          <p:spPr bwMode="auto">
            <a:xfrm flipH="1">
              <a:off x="2719" y="1445"/>
              <a:ext cx="29" cy="28"/>
            </a:xfrm>
            <a:prstGeom prst="line">
              <a:avLst/>
            </a:prstGeom>
            <a:noFill/>
            <a:ln w="25400">
              <a:solidFill>
                <a:srgbClr val="DEDED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1" name="Line 804"/>
            <p:cNvSpPr>
              <a:spLocks noChangeShapeType="1"/>
            </p:cNvSpPr>
            <p:nvPr/>
          </p:nvSpPr>
          <p:spPr bwMode="auto">
            <a:xfrm flipH="1">
              <a:off x="2735" y="1460"/>
              <a:ext cx="13" cy="13"/>
            </a:xfrm>
            <a:prstGeom prst="line">
              <a:avLst/>
            </a:prstGeom>
            <a:noFill/>
            <a:ln w="25400">
              <a:solidFill>
                <a:srgbClr val="E7E7E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2" name="Line 805"/>
            <p:cNvSpPr>
              <a:spLocks noChangeShapeType="1"/>
            </p:cNvSpPr>
            <p:nvPr/>
          </p:nvSpPr>
          <p:spPr bwMode="auto">
            <a:xfrm flipH="1">
              <a:off x="2735" y="1460"/>
              <a:ext cx="13" cy="13"/>
            </a:xfrm>
            <a:prstGeom prst="line">
              <a:avLst/>
            </a:prstGeom>
            <a:noFill/>
            <a:ln w="25400">
              <a:solidFill>
                <a:srgbClr val="EFEFE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3" name="Freeform 2442"/>
            <p:cNvSpPr>
              <a:spLocks/>
            </p:cNvSpPr>
            <p:nvPr/>
          </p:nvSpPr>
          <p:spPr bwMode="auto">
            <a:xfrm>
              <a:off x="2529" y="1410"/>
              <a:ext cx="219" cy="63"/>
            </a:xfrm>
            <a:custGeom>
              <a:avLst/>
              <a:gdLst>
                <a:gd name="T0" fmla="*/ 219 w 219"/>
                <a:gd name="T1" fmla="*/ 0 h 63"/>
                <a:gd name="T2" fmla="*/ 203 w 219"/>
                <a:gd name="T3" fmla="*/ 0 h 63"/>
                <a:gd name="T4" fmla="*/ 63 w 219"/>
                <a:gd name="T5" fmla="*/ 14 h 63"/>
                <a:gd name="T6" fmla="*/ 47 w 219"/>
                <a:gd name="T7" fmla="*/ 14 h 63"/>
                <a:gd name="T8" fmla="*/ 31 w 219"/>
                <a:gd name="T9" fmla="*/ 21 h 63"/>
                <a:gd name="T10" fmla="*/ 0 w 219"/>
                <a:gd name="T11" fmla="*/ 49 h 63"/>
                <a:gd name="T12" fmla="*/ 0 w 219"/>
                <a:gd name="T13" fmla="*/ 63 h 63"/>
                <a:gd name="T14" fmla="*/ 16 w 219"/>
                <a:gd name="T15" fmla="*/ 63 h 63"/>
                <a:gd name="T16" fmla="*/ 39 w 219"/>
                <a:gd name="T17" fmla="*/ 63 h 63"/>
                <a:gd name="T18" fmla="*/ 55 w 219"/>
                <a:gd name="T19" fmla="*/ 56 h 63"/>
                <a:gd name="T20" fmla="*/ 219 w 219"/>
                <a:gd name="T21" fmla="*/ 0 h 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9"/>
                <a:gd name="T34" fmla="*/ 0 h 63"/>
                <a:gd name="T35" fmla="*/ 219 w 219"/>
                <a:gd name="T36" fmla="*/ 63 h 6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9" h="63">
                  <a:moveTo>
                    <a:pt x="219" y="0"/>
                  </a:moveTo>
                  <a:lnTo>
                    <a:pt x="203" y="0"/>
                  </a:lnTo>
                  <a:lnTo>
                    <a:pt x="63" y="14"/>
                  </a:lnTo>
                  <a:lnTo>
                    <a:pt x="47" y="14"/>
                  </a:lnTo>
                  <a:lnTo>
                    <a:pt x="31" y="21"/>
                  </a:lnTo>
                  <a:lnTo>
                    <a:pt x="0" y="49"/>
                  </a:lnTo>
                  <a:lnTo>
                    <a:pt x="0" y="63"/>
                  </a:lnTo>
                  <a:lnTo>
                    <a:pt x="16" y="63"/>
                  </a:lnTo>
                  <a:lnTo>
                    <a:pt x="39" y="63"/>
                  </a:lnTo>
                  <a:lnTo>
                    <a:pt x="55" y="56"/>
                  </a:lnTo>
                  <a:lnTo>
                    <a:pt x="219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4" name="Line 807"/>
            <p:cNvSpPr>
              <a:spLocks noChangeShapeType="1"/>
            </p:cNvSpPr>
            <p:nvPr/>
          </p:nvSpPr>
          <p:spPr bwMode="auto">
            <a:xfrm flipH="1">
              <a:off x="2787" y="1353"/>
              <a:ext cx="12" cy="11"/>
            </a:xfrm>
            <a:prstGeom prst="line">
              <a:avLst/>
            </a:prstGeom>
            <a:noFill/>
            <a:ln w="25400">
              <a:solidFill>
                <a:srgbClr val="50505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5" name="Line 808"/>
            <p:cNvSpPr>
              <a:spLocks noChangeShapeType="1"/>
            </p:cNvSpPr>
            <p:nvPr/>
          </p:nvSpPr>
          <p:spPr bwMode="auto">
            <a:xfrm flipH="1">
              <a:off x="2787" y="1353"/>
              <a:ext cx="20" cy="19"/>
            </a:xfrm>
            <a:prstGeom prst="line">
              <a:avLst/>
            </a:prstGeom>
            <a:noFill/>
            <a:ln w="25400">
              <a:solidFill>
                <a:srgbClr val="5E5E5E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6" name="Line 809"/>
            <p:cNvSpPr>
              <a:spLocks noChangeShapeType="1"/>
            </p:cNvSpPr>
            <p:nvPr/>
          </p:nvSpPr>
          <p:spPr bwMode="auto">
            <a:xfrm flipH="1">
              <a:off x="2787" y="1353"/>
              <a:ext cx="36" cy="34"/>
            </a:xfrm>
            <a:prstGeom prst="line">
              <a:avLst/>
            </a:prstGeom>
            <a:noFill/>
            <a:ln w="25400">
              <a:solidFill>
                <a:srgbClr val="6B6B6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7" name="Line 810"/>
            <p:cNvSpPr>
              <a:spLocks noChangeShapeType="1"/>
            </p:cNvSpPr>
            <p:nvPr/>
          </p:nvSpPr>
          <p:spPr bwMode="auto">
            <a:xfrm flipH="1">
              <a:off x="2787" y="1353"/>
              <a:ext cx="43" cy="41"/>
            </a:xfrm>
            <a:prstGeom prst="line">
              <a:avLst/>
            </a:prstGeom>
            <a:noFill/>
            <a:ln w="25400">
              <a:solidFill>
                <a:srgbClr val="79797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8" name="Line 811"/>
            <p:cNvSpPr>
              <a:spLocks noChangeShapeType="1"/>
            </p:cNvSpPr>
            <p:nvPr/>
          </p:nvSpPr>
          <p:spPr bwMode="auto">
            <a:xfrm flipH="1">
              <a:off x="2793" y="1353"/>
              <a:ext cx="44" cy="43"/>
            </a:xfrm>
            <a:prstGeom prst="line">
              <a:avLst/>
            </a:prstGeom>
            <a:noFill/>
            <a:ln w="25400">
              <a:solidFill>
                <a:srgbClr val="86868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49" name="Line 812"/>
            <p:cNvSpPr>
              <a:spLocks noChangeShapeType="1"/>
            </p:cNvSpPr>
            <p:nvPr/>
          </p:nvSpPr>
          <p:spPr bwMode="auto">
            <a:xfrm flipH="1">
              <a:off x="2808" y="1353"/>
              <a:ext cx="44" cy="43"/>
            </a:xfrm>
            <a:prstGeom prst="line">
              <a:avLst/>
            </a:prstGeom>
            <a:noFill/>
            <a:ln w="25400">
              <a:solidFill>
                <a:srgbClr val="94949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0" name="Line 813"/>
            <p:cNvSpPr>
              <a:spLocks noChangeShapeType="1"/>
            </p:cNvSpPr>
            <p:nvPr/>
          </p:nvSpPr>
          <p:spPr bwMode="auto">
            <a:xfrm flipH="1">
              <a:off x="2823" y="1353"/>
              <a:ext cx="44" cy="43"/>
            </a:xfrm>
            <a:prstGeom prst="line">
              <a:avLst/>
            </a:prstGeom>
            <a:noFill/>
            <a:ln w="25400">
              <a:solidFill>
                <a:srgbClr val="A1A1A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1" name="Line 814"/>
            <p:cNvSpPr>
              <a:spLocks noChangeShapeType="1"/>
            </p:cNvSpPr>
            <p:nvPr/>
          </p:nvSpPr>
          <p:spPr bwMode="auto">
            <a:xfrm flipH="1">
              <a:off x="2830" y="1354"/>
              <a:ext cx="43" cy="42"/>
            </a:xfrm>
            <a:prstGeom prst="line">
              <a:avLst/>
            </a:prstGeom>
            <a:noFill/>
            <a:ln w="25400">
              <a:solidFill>
                <a:srgbClr val="AFAFA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2" name="Line 815"/>
            <p:cNvSpPr>
              <a:spLocks noChangeShapeType="1"/>
            </p:cNvSpPr>
            <p:nvPr/>
          </p:nvSpPr>
          <p:spPr bwMode="auto">
            <a:xfrm flipH="1">
              <a:off x="2837" y="1361"/>
              <a:ext cx="36" cy="35"/>
            </a:xfrm>
            <a:prstGeom prst="line">
              <a:avLst/>
            </a:prstGeom>
            <a:noFill/>
            <a:ln w="25400">
              <a:solidFill>
                <a:srgbClr val="BCBCB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3" name="Line 816"/>
            <p:cNvSpPr>
              <a:spLocks noChangeShapeType="1"/>
            </p:cNvSpPr>
            <p:nvPr/>
          </p:nvSpPr>
          <p:spPr bwMode="auto">
            <a:xfrm flipH="1">
              <a:off x="2853" y="1376"/>
              <a:ext cx="20" cy="20"/>
            </a:xfrm>
            <a:prstGeom prst="line">
              <a:avLst/>
            </a:prstGeom>
            <a:noFill/>
            <a:ln w="25400">
              <a:solidFill>
                <a:srgbClr val="CACAC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4" name="Line 817"/>
            <p:cNvSpPr>
              <a:spLocks noChangeShapeType="1"/>
            </p:cNvSpPr>
            <p:nvPr/>
          </p:nvSpPr>
          <p:spPr bwMode="auto">
            <a:xfrm flipH="1">
              <a:off x="2868" y="1391"/>
              <a:ext cx="5" cy="5"/>
            </a:xfrm>
            <a:prstGeom prst="line">
              <a:avLst/>
            </a:prstGeom>
            <a:noFill/>
            <a:ln w="25400">
              <a:solidFill>
                <a:srgbClr val="D7D7D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5" name="Line 818"/>
            <p:cNvSpPr>
              <a:spLocks noChangeShapeType="1"/>
            </p:cNvSpPr>
            <p:nvPr/>
          </p:nvSpPr>
          <p:spPr bwMode="auto">
            <a:xfrm flipH="1">
              <a:off x="2868" y="1391"/>
              <a:ext cx="5" cy="5"/>
            </a:xfrm>
            <a:prstGeom prst="line">
              <a:avLst/>
            </a:prstGeom>
            <a:noFill/>
            <a:ln w="25400">
              <a:solidFill>
                <a:srgbClr val="E5E5E5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6" name="Freeform 2455"/>
            <p:cNvSpPr>
              <a:spLocks/>
            </p:cNvSpPr>
            <p:nvPr/>
          </p:nvSpPr>
          <p:spPr bwMode="auto">
            <a:xfrm>
              <a:off x="2779" y="1353"/>
              <a:ext cx="101" cy="43"/>
            </a:xfrm>
            <a:custGeom>
              <a:avLst/>
              <a:gdLst>
                <a:gd name="T0" fmla="*/ 70 w 101"/>
                <a:gd name="T1" fmla="*/ 0 h 43"/>
                <a:gd name="T2" fmla="*/ 0 w 101"/>
                <a:gd name="T3" fmla="*/ 29 h 43"/>
                <a:gd name="T4" fmla="*/ 23 w 101"/>
                <a:gd name="T5" fmla="*/ 43 h 43"/>
                <a:gd name="T6" fmla="*/ 101 w 101"/>
                <a:gd name="T7" fmla="*/ 21 h 43"/>
                <a:gd name="T8" fmla="*/ 70 w 101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43"/>
                <a:gd name="T17" fmla="*/ 101 w 101"/>
                <a:gd name="T18" fmla="*/ 43 h 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43">
                  <a:moveTo>
                    <a:pt x="70" y="0"/>
                  </a:moveTo>
                  <a:lnTo>
                    <a:pt x="0" y="29"/>
                  </a:lnTo>
                  <a:lnTo>
                    <a:pt x="23" y="43"/>
                  </a:lnTo>
                  <a:lnTo>
                    <a:pt x="101" y="21"/>
                  </a:lnTo>
                  <a:lnTo>
                    <a:pt x="70" y="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350" dirty="0">
                <a:latin typeface="Helvetica Neue"/>
              </a:endParaRPr>
            </a:p>
          </p:txBody>
        </p:sp>
        <p:sp>
          <p:nvSpPr>
            <p:cNvPr id="2457" name="Rectangle 2456"/>
            <p:cNvSpPr>
              <a:spLocks noChangeArrowheads="1"/>
            </p:cNvSpPr>
            <p:nvPr/>
          </p:nvSpPr>
          <p:spPr bwMode="auto">
            <a:xfrm>
              <a:off x="1545" y="1065"/>
              <a:ext cx="88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575" dirty="0">
                  <a:latin typeface="Helvetica Neue"/>
                </a:rPr>
                <a:t>Andromeda</a:t>
              </a:r>
              <a:endParaRPr lang="en-US" sz="1350" b="1" dirty="0">
                <a:latin typeface="Century Gothic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6028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Spanning Decades of Technology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614488" y="4052888"/>
            <a:ext cx="5915025" cy="808435"/>
          </a:xfrm>
        </p:spPr>
        <p:txBody>
          <a:bodyPr/>
          <a:lstStyle/>
          <a:p>
            <a:pPr eaLnBrk="1" hangingPunct="1"/>
            <a:r>
              <a:rPr lang="en-US" altLang="en-US" sz="1800"/>
              <a:t>Noting opportunities for you to change everything!</a:t>
            </a:r>
          </a:p>
          <a:p>
            <a:pPr lvl="1" eaLnBrk="1" hangingPunct="1"/>
            <a:r>
              <a:rPr lang="en-US" altLang="en-US" sz="1500" dirty="0"/>
              <a:t>How will cheap random reads change what you learned?</a:t>
            </a:r>
          </a:p>
        </p:txBody>
      </p:sp>
      <p:grpSp>
        <p:nvGrpSpPr>
          <p:cNvPr id="24580" name="Group 5"/>
          <p:cNvGrpSpPr>
            <a:grpSpLocks/>
          </p:cNvGrpSpPr>
          <p:nvPr/>
        </p:nvGrpSpPr>
        <p:grpSpPr bwMode="auto">
          <a:xfrm>
            <a:off x="5143500" y="2312194"/>
            <a:ext cx="2743200" cy="1144191"/>
            <a:chOff x="4779037" y="2362200"/>
            <a:chExt cx="4364963" cy="1820072"/>
          </a:xfrm>
        </p:grpSpPr>
        <p:pic>
          <p:nvPicPr>
            <p:cNvPr id="4" name="Picture 3" descr="SSD.png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9037" y="2362200"/>
              <a:ext cx="4364963" cy="1820072"/>
            </a:xfrm>
            <a:prstGeom prst="rect">
              <a:avLst/>
            </a:prstGeom>
            <a:scene3d>
              <a:camera prst="orthographicFront">
                <a:rot lat="1200000" lon="0" rev="0"/>
              </a:camera>
              <a:lightRig rig="threePt" dir="t"/>
            </a:scene3d>
          </p:spPr>
        </p:pic>
        <p:sp>
          <p:nvSpPr>
            <p:cNvPr id="24585" name="Parallelogram 4"/>
            <p:cNvSpPr>
              <a:spLocks noChangeArrowheads="1"/>
            </p:cNvSpPr>
            <p:nvPr/>
          </p:nvSpPr>
          <p:spPr bwMode="auto">
            <a:xfrm>
              <a:off x="5761031" y="2807396"/>
              <a:ext cx="693942" cy="392822"/>
            </a:xfrm>
            <a:prstGeom prst="parallelogram">
              <a:avLst>
                <a:gd name="adj" fmla="val 65297"/>
              </a:avLst>
            </a:prstGeom>
            <a:solidFill>
              <a:srgbClr val="FF6600">
                <a:alpha val="52156"/>
              </a:srgbClr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3600">
                  <a:solidFill>
                    <a:srgbClr val="CF0E30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en-US" sz="9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978129" y="1827610"/>
            <a:ext cx="880369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dirty="0">
                <a:ea typeface="ＭＳ Ｐゴシック" charset="-128"/>
              </a:rPr>
              <a:t>Flash/SSD</a:t>
            </a:r>
          </a:p>
        </p:txBody>
      </p:sp>
      <p:pic>
        <p:nvPicPr>
          <p:cNvPr id="24582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079" y="1268016"/>
            <a:ext cx="206692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978" y="2089547"/>
            <a:ext cx="1508522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917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central concept of Rendezvous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1800" dirty="0"/>
              <a:t>Most of computing is getting the right things together</a:t>
            </a:r>
          </a:p>
          <a:p>
            <a:pPr lvl="1" eaLnBrk="1" hangingPunct="1"/>
            <a:r>
              <a:rPr lang="en-US" altLang="en-US" sz="1500" dirty="0"/>
              <a:t>In the same place…</a:t>
            </a:r>
          </a:p>
          <a:p>
            <a:pPr lvl="1" eaLnBrk="1" hangingPunct="1"/>
            <a:r>
              <a:rPr lang="en-US" altLang="en-US" sz="1500" dirty="0"/>
              <a:t>… at the same time!</a:t>
            </a:r>
          </a:p>
          <a:p>
            <a:pPr lvl="2" eaLnBrk="1" hangingPunct="1"/>
            <a:r>
              <a:rPr lang="en-US" altLang="en-US" sz="1350" dirty="0"/>
              <a:t>Joining</a:t>
            </a:r>
          </a:p>
          <a:p>
            <a:pPr lvl="2" eaLnBrk="1" hangingPunct="1"/>
            <a:r>
              <a:rPr lang="en-US" altLang="en-US" sz="1350" dirty="0"/>
              <a:t>Caching </a:t>
            </a:r>
          </a:p>
          <a:p>
            <a:pPr lvl="2" eaLnBrk="1" hangingPunct="1"/>
            <a:r>
              <a:rPr lang="en-US" altLang="en-US" sz="1350" dirty="0"/>
              <a:t>Spilling</a:t>
            </a:r>
          </a:p>
          <a:p>
            <a:pPr lvl="2" eaLnBrk="1" hangingPunct="1"/>
            <a:r>
              <a:rPr lang="en-US" altLang="en-US" sz="1350" dirty="0" err="1"/>
              <a:t>Sharding</a:t>
            </a:r>
            <a:endParaRPr lang="en-US" altLang="en-US" sz="1350" dirty="0"/>
          </a:p>
          <a:p>
            <a:pPr lvl="2" eaLnBrk="1" hangingPunct="1"/>
            <a:r>
              <a:rPr lang="en-US" altLang="en-US" sz="1350" dirty="0"/>
              <a:t>Grouping</a:t>
            </a:r>
          </a:p>
          <a:p>
            <a:pPr lvl="2" eaLnBrk="1" hangingPunct="1"/>
            <a:r>
              <a:rPr lang="en-US" altLang="en-US" sz="1350" dirty="0"/>
              <a:t>Reducing</a:t>
            </a:r>
          </a:p>
          <a:p>
            <a:pPr lvl="2" eaLnBrk="1" hangingPunct="1"/>
            <a:r>
              <a:rPr lang="en-US" altLang="en-US" sz="1350" dirty="0"/>
              <a:t>…</a:t>
            </a:r>
          </a:p>
          <a:p>
            <a:pPr eaLnBrk="1" hangingPunct="1"/>
            <a:r>
              <a:rPr lang="en-US" altLang="en-US" sz="1800" dirty="0"/>
              <a:t>And occasionally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1800" dirty="0"/>
              <a:t>in the right order</a:t>
            </a:r>
            <a:endParaRPr lang="en-US" altLang="en-US" dirty="0"/>
          </a:p>
          <a:p>
            <a:pPr lvl="2" eaLnBrk="1" hangingPunct="1"/>
            <a:r>
              <a:rPr lang="en-US" altLang="en-US" sz="1200" dirty="0"/>
              <a:t>Sorting, indexing</a:t>
            </a:r>
          </a:p>
          <a:p>
            <a:pPr lvl="2" eaLnBrk="1" hangingPunct="1"/>
            <a:r>
              <a:rPr lang="en-US" altLang="en-US" sz="1200" dirty="0" err="1"/>
              <a:t>Serializability</a:t>
            </a:r>
            <a:r>
              <a:rPr lang="en-US" altLang="en-US" sz="1200" dirty="0"/>
              <a:t>…</a:t>
            </a:r>
          </a:p>
        </p:txBody>
      </p:sp>
      <p:pic>
        <p:nvPicPr>
          <p:cNvPr id="25606" name="Picture 6" descr="http://media2.fdncms.com/sfexaminer/imager/hunter-pence/u/original/2578556/giants_dodgers_baseba_cong_1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209" y="2000250"/>
            <a:ext cx="3954966" cy="312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6572250" y="2434233"/>
            <a:ext cx="893844" cy="1509117"/>
            <a:chOff x="7239000" y="3245644"/>
            <a:chExt cx="1191792" cy="2012156"/>
          </a:xfrm>
        </p:grpSpPr>
        <p:sp>
          <p:nvSpPr>
            <p:cNvPr id="2" name="Line Callout 2 1"/>
            <p:cNvSpPr/>
            <p:nvPr/>
          </p:nvSpPr>
          <p:spPr>
            <a:xfrm>
              <a:off x="7668792" y="4648200"/>
              <a:ext cx="762000" cy="60960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65051"/>
                <a:gd name="adj6" fmla="val -1319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Boat</a:t>
              </a:r>
            </a:p>
          </p:txBody>
        </p:sp>
        <p:sp>
          <p:nvSpPr>
            <p:cNvPr id="7" name="Line Callout 2 6"/>
            <p:cNvSpPr/>
            <p:nvPr/>
          </p:nvSpPr>
          <p:spPr>
            <a:xfrm>
              <a:off x="7239000" y="3245644"/>
              <a:ext cx="762000" cy="609600"/>
            </a:xfrm>
            <a:prstGeom prst="borderCallout2">
              <a:avLst>
                <a:gd name="adj1" fmla="val 25893"/>
                <a:gd name="adj2" fmla="val 105136"/>
                <a:gd name="adj3" fmla="val 25893"/>
                <a:gd name="adj4" fmla="val 115578"/>
                <a:gd name="adj5" fmla="val 62500"/>
                <a:gd name="adj6" fmla="val 13129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/>
                <a:t>Sailor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572250" y="2434233"/>
            <a:ext cx="893844" cy="1509117"/>
            <a:chOff x="7239000" y="3245644"/>
            <a:chExt cx="1191792" cy="2012156"/>
          </a:xfrm>
          <a:solidFill>
            <a:schemeClr val="accent6">
              <a:lumMod val="75000"/>
            </a:schemeClr>
          </a:solidFill>
        </p:grpSpPr>
        <p:sp>
          <p:nvSpPr>
            <p:cNvPr id="10" name="Line Callout 2 9"/>
            <p:cNvSpPr/>
            <p:nvPr/>
          </p:nvSpPr>
          <p:spPr>
            <a:xfrm>
              <a:off x="7668792" y="4648200"/>
              <a:ext cx="762000" cy="60960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65051"/>
                <a:gd name="adj6" fmla="val -13198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 smtClean="0"/>
                <a:t>Data</a:t>
              </a:r>
              <a:endParaRPr lang="en-US" sz="1350" dirty="0"/>
            </a:p>
          </p:txBody>
        </p:sp>
        <p:sp>
          <p:nvSpPr>
            <p:cNvPr id="11" name="Line Callout 2 10"/>
            <p:cNvSpPr/>
            <p:nvPr/>
          </p:nvSpPr>
          <p:spPr>
            <a:xfrm>
              <a:off x="7239000" y="3245644"/>
              <a:ext cx="762000" cy="609600"/>
            </a:xfrm>
            <a:prstGeom prst="borderCallout2">
              <a:avLst>
                <a:gd name="adj1" fmla="val 25893"/>
                <a:gd name="adj2" fmla="val 105136"/>
                <a:gd name="adj3" fmla="val 25893"/>
                <a:gd name="adj4" fmla="val 115578"/>
                <a:gd name="adj5" fmla="val 62500"/>
                <a:gd name="adj6" fmla="val 131292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Request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257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585" y="228600"/>
            <a:ext cx="1665684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Arrow 3"/>
          <p:cNvSpPr>
            <a:spLocks noChangeArrowheads="1"/>
          </p:cNvSpPr>
          <p:nvPr/>
        </p:nvSpPr>
        <p:spPr bwMode="auto">
          <a:xfrm>
            <a:off x="3600450" y="1051322"/>
            <a:ext cx="1257300" cy="1028700"/>
          </a:xfrm>
          <a:prstGeom prst="rightArrow">
            <a:avLst>
              <a:gd name="adj1" fmla="val 50000"/>
              <a:gd name="adj2" fmla="val 49998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Double Brace 4"/>
          <p:cNvSpPr/>
          <p:nvPr/>
        </p:nvSpPr>
        <p:spPr>
          <a:xfrm>
            <a:off x="5251847" y="800100"/>
            <a:ext cx="2228850" cy="108585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/>
              <a:t>Unordered</a:t>
            </a:r>
          </a:p>
          <a:p>
            <a:pPr algn="ctr">
              <a:defRPr/>
            </a:pPr>
            <a:r>
              <a:rPr lang="en-US" sz="1350" dirty="0"/>
              <a:t>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7" y="228600"/>
            <a:ext cx="132882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>
                <a:ea typeface="ＭＳ Ｐゴシック" charset="-128"/>
              </a:rPr>
              <a:t>Computation on</a:t>
            </a:r>
            <a:endParaRPr lang="en-US" sz="1350" dirty="0">
              <a:ea typeface="ＭＳ Ｐゴシック" charset="-128"/>
            </a:endParaRPr>
          </a:p>
        </p:txBody>
      </p:sp>
      <p:sp>
        <p:nvSpPr>
          <p:cNvPr id="7" name="Down Arrow 6"/>
          <p:cNvSpPr>
            <a:spLocks noChangeArrowheads="1"/>
          </p:cNvSpPr>
          <p:nvPr/>
        </p:nvSpPr>
        <p:spPr bwMode="auto">
          <a:xfrm rot="2927466">
            <a:off x="4504135" y="2340769"/>
            <a:ext cx="519113" cy="914400"/>
          </a:xfrm>
          <a:prstGeom prst="downArrow">
            <a:avLst>
              <a:gd name="adj1" fmla="val 50000"/>
              <a:gd name="adj2" fmla="val 49998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6632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174206"/>
            <a:ext cx="2252663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Down Arrow 9"/>
          <p:cNvSpPr>
            <a:spLocks noChangeArrowheads="1"/>
          </p:cNvSpPr>
          <p:nvPr/>
        </p:nvSpPr>
        <p:spPr bwMode="auto">
          <a:xfrm>
            <a:off x="6129337" y="2283619"/>
            <a:ext cx="519113" cy="563166"/>
          </a:xfrm>
          <a:prstGeom prst="downArrow">
            <a:avLst>
              <a:gd name="adj1" fmla="val 50000"/>
              <a:gd name="adj2" fmla="val 49999"/>
            </a:avLst>
          </a:prstGeom>
          <a:gradFill rotWithShape="1">
            <a:gsLst>
              <a:gs pos="0">
                <a:srgbClr val="FAA263"/>
              </a:gs>
              <a:gs pos="50000">
                <a:srgbClr val="FF953D"/>
              </a:gs>
              <a:gs pos="100000">
                <a:srgbClr val="E5832B"/>
              </a:gs>
            </a:gsLst>
            <a:lin ang="5400000"/>
          </a:gradFill>
          <a:ln>
            <a:noFill/>
          </a:ln>
          <a:effectLst>
            <a:outerShdw blurRad="57150" dist="19050" dir="5400000" algn="ctr" rotWithShape="0">
              <a:srgbClr val="80808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6635" name="Picture 15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191" y="3030141"/>
            <a:ext cx="2000250" cy="143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143000" y="0"/>
            <a:ext cx="6858000" cy="512873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endParaRPr lang="en-US" altLang="en-US" sz="2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6639" name="TextBox 14"/>
          <p:cNvSpPr txBox="1">
            <a:spLocks noChangeArrowheads="1"/>
          </p:cNvSpPr>
          <p:nvPr/>
        </p:nvSpPr>
        <p:spPr bwMode="auto">
          <a:xfrm>
            <a:off x="1314450" y="308967"/>
            <a:ext cx="6686550" cy="420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We taught you a </a:t>
            </a:r>
            <a:br>
              <a:rPr lang="en-US" altLang="en-US" sz="2400" dirty="0">
                <a:solidFill>
                  <a:schemeClr val="tx1"/>
                </a:solidFill>
                <a:latin typeface="+mn-lt"/>
              </a:rPr>
            </a:b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language for </a:t>
            </a:r>
            <a:br>
              <a:rPr lang="en-US" altLang="en-US" sz="2400" dirty="0">
                <a:solidFill>
                  <a:schemeClr val="tx1"/>
                </a:solidFill>
                <a:latin typeface="+mn-lt"/>
              </a:rPr>
            </a:b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computing on sets: </a:t>
            </a:r>
            <a:r>
              <a:rPr lang="en-US" altLang="en-US" sz="2700" b="1" dirty="0">
                <a:solidFill>
                  <a:schemeClr val="tx1"/>
                </a:solidFill>
                <a:latin typeface="+mn-lt"/>
              </a:rPr>
              <a:t>SQL</a:t>
            </a:r>
          </a:p>
          <a:p>
            <a:endParaRPr lang="en-US" altLang="en-US" sz="2400" dirty="0">
              <a:solidFill>
                <a:schemeClr val="tx1"/>
              </a:solidFill>
              <a:latin typeface="+mn-lt"/>
            </a:endParaRPr>
          </a:p>
          <a:p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that separates the </a:t>
            </a:r>
            <a:r>
              <a:rPr lang="en-US" altLang="en-US" sz="3300" b="1" dirty="0">
                <a:solidFill>
                  <a:schemeClr val="tx1"/>
                </a:solidFill>
                <a:latin typeface="+mn-lt"/>
              </a:rPr>
              <a:t>what </a:t>
            </a:r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from the </a:t>
            </a:r>
            <a:r>
              <a:rPr lang="en-US" altLang="en-US" sz="3300" b="1" dirty="0">
                <a:solidFill>
                  <a:schemeClr val="tx1"/>
                </a:solidFill>
                <a:latin typeface="+mn-lt"/>
              </a:rPr>
              <a:t>how</a:t>
            </a:r>
          </a:p>
          <a:p>
            <a:endParaRPr lang="en-US" altLang="en-US" sz="3300" b="1" dirty="0">
              <a:solidFill>
                <a:schemeClr val="tx1"/>
              </a:solidFill>
              <a:latin typeface="+mn-lt"/>
            </a:endParaRPr>
          </a:p>
          <a:p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and enables the </a:t>
            </a: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system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 to choose the best </a:t>
            </a: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how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 given the </a:t>
            </a:r>
            <a:r>
              <a:rPr lang="en-US" altLang="en-US" sz="2400" i="1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altLang="en-US" sz="2400" dirty="0">
                <a:solidFill>
                  <a:srgbClr val="000000"/>
                </a:solidFill>
                <a:latin typeface="+mn-lt"/>
              </a:rPr>
              <a:t> and </a:t>
            </a:r>
            <a:r>
              <a:rPr lang="en-US" altLang="en-US" sz="2400" i="1" dirty="0">
                <a:solidFill>
                  <a:srgbClr val="000000"/>
                </a:solidFill>
                <a:latin typeface="+mn-lt"/>
              </a:rPr>
              <a:t>representation</a:t>
            </a:r>
          </a:p>
          <a:p>
            <a:endParaRPr lang="en-US" altLang="en-US" sz="3300" b="1" i="1" dirty="0">
              <a:solidFill>
                <a:srgbClr val="000000"/>
              </a:solidFill>
              <a:latin typeface="+mn-lt"/>
            </a:endParaRPr>
          </a:p>
          <a:p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In </a:t>
            </a:r>
            <a:r>
              <a:rPr lang="en-US" sz="2100" dirty="0">
                <a:latin typeface="+mn-lt"/>
              </a:rPr>
              <a:t>HW1</a:t>
            </a:r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 you became a declarative programmer!</a:t>
            </a:r>
            <a:endParaRPr lang="en-US" altLang="en-US" sz="21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Double Brace 15"/>
          <p:cNvSpPr/>
          <p:nvPr/>
        </p:nvSpPr>
        <p:spPr>
          <a:xfrm>
            <a:off x="5254229" y="800100"/>
            <a:ext cx="2228850" cy="108585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/>
              <a:t>Unordered</a:t>
            </a:r>
          </a:p>
          <a:p>
            <a:pPr algn="ctr">
              <a:defRPr/>
            </a:pPr>
            <a:r>
              <a:rPr lang="en-US" sz="1350" dirty="0"/>
              <a:t>Collections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788" y="228600"/>
            <a:ext cx="132882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350" dirty="0">
                <a:ea typeface="ＭＳ Ｐゴシック" charset="-128"/>
              </a:rPr>
              <a:t>Computation on</a:t>
            </a:r>
          </a:p>
        </p:txBody>
      </p:sp>
    </p:spTree>
    <p:extLst>
      <p:ext uri="{BB962C8B-B14F-4D97-AF65-F5344CB8AC3E}">
        <p14:creationId xmlns:p14="http://schemas.microsoft.com/office/powerpoint/2010/main" val="8883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162050" y="966788"/>
            <a:ext cx="3599260" cy="3829050"/>
          </a:xfrm>
        </p:spPr>
        <p:txBody>
          <a:bodyPr>
            <a:normAutofit fontScale="90000"/>
          </a:bodyPr>
          <a:lstStyle/>
          <a:p>
            <a:pPr algn="r" eaLnBrk="1" hangingPunct="1"/>
            <a:r>
              <a:rPr lang="en-US" altLang="en-US" sz="3300"/>
              <a:t>Together</a:t>
            </a:r>
            <a:br>
              <a:rPr lang="en-US" altLang="en-US" sz="3300"/>
            </a:br>
            <a:r>
              <a:rPr lang="en-US" altLang="en-US" sz="3300"/>
              <a:t>We Unpacked a </a:t>
            </a:r>
            <a:br>
              <a:rPr lang="en-US" altLang="en-US" sz="3300"/>
            </a:br>
            <a:r>
              <a:rPr lang="en-US" altLang="en-US" sz="4050"/>
              <a:t>Data System</a:t>
            </a:r>
            <a:r>
              <a:rPr lang="en-US" altLang="en-US" sz="3300"/>
              <a:t/>
            </a:r>
            <a:br>
              <a:rPr lang="en-US" altLang="en-US" sz="3300"/>
            </a:br>
            <a:r>
              <a:rPr lang="en-US" altLang="en-US" sz="3300"/>
              <a:t/>
            </a:r>
            <a:br>
              <a:rPr lang="en-US" altLang="en-US" sz="3300"/>
            </a:br>
            <a:r>
              <a:rPr lang="en-US" altLang="en-US" sz="3300"/>
              <a:t>and</a:t>
            </a:r>
            <a:br>
              <a:rPr lang="en-US" altLang="en-US" sz="3300"/>
            </a:br>
            <a:r>
              <a:rPr lang="en-US" altLang="en-US" sz="3300"/>
              <a:t/>
            </a:r>
            <a:br>
              <a:rPr lang="en-US" altLang="en-US" sz="3300"/>
            </a:br>
            <a:r>
              <a:rPr lang="en-US" altLang="en-US" sz="3300"/>
              <a:t>Explored Modular 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2509" y="4219356"/>
            <a:ext cx="1177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You are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885" y="1286293"/>
            <a:ext cx="1177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Completed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5086171" y="1635894"/>
            <a:ext cx="2686050" cy="3394153"/>
          </a:xfrm>
          <a:prstGeom prst="rect">
            <a:avLst/>
          </a:prstGeom>
          <a:gradFill rotWithShape="1">
            <a:gsLst>
              <a:gs pos="0">
                <a:srgbClr val="15405B">
                  <a:tint val="50000"/>
                  <a:satMod val="300000"/>
                </a:srgbClr>
              </a:gs>
              <a:gs pos="35000">
                <a:srgbClr val="15405B">
                  <a:tint val="37000"/>
                  <a:satMod val="300000"/>
                </a:srgbClr>
              </a:gs>
              <a:gs pos="100000">
                <a:srgbClr val="15405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15405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2100" kern="0" dirty="0">
                <a:solidFill>
                  <a:srgbClr val="14405C"/>
                </a:solidFill>
                <a:latin typeface="Helvetica Neue" charset="0"/>
                <a:ea typeface="Helvetica Neue" charset="0"/>
                <a:cs typeface="Helvetica Neue" charset="0"/>
              </a:rPr>
              <a:t>Database Management</a:t>
            </a:r>
          </a:p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2100" kern="0" dirty="0">
                <a:solidFill>
                  <a:srgbClr val="14405C"/>
                </a:solidFill>
                <a:latin typeface="Helvetica Neue" charset="0"/>
                <a:ea typeface="Helvetica Neue" charset="0"/>
                <a:cs typeface="Helvetica Neue" charset="0"/>
              </a:rPr>
              <a:t>System</a:t>
            </a:r>
          </a:p>
        </p:txBody>
      </p:sp>
      <p:sp>
        <p:nvSpPr>
          <p:cNvPr id="22" name="Can 21"/>
          <p:cNvSpPr/>
          <p:nvPr/>
        </p:nvSpPr>
        <p:spPr bwMode="auto">
          <a:xfrm>
            <a:off x="5558124" y="4162816"/>
            <a:ext cx="1742140" cy="777781"/>
          </a:xfrm>
          <a:prstGeom prst="can">
            <a:avLst>
              <a:gd name="adj" fmla="val 41129"/>
            </a:avLst>
          </a:prstGeom>
          <a:gradFill rotWithShape="1">
            <a:gsLst>
              <a:gs pos="0">
                <a:srgbClr val="ABD2EB">
                  <a:shade val="51000"/>
                  <a:satMod val="130000"/>
                </a:srgbClr>
              </a:gs>
              <a:gs pos="80000">
                <a:srgbClr val="ABD2EB">
                  <a:shade val="93000"/>
                  <a:satMod val="130000"/>
                </a:srgbClr>
              </a:gs>
              <a:gs pos="100000">
                <a:srgbClr val="ABD2E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ABD2E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Database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5213854" y="1717694"/>
            <a:ext cx="2430685" cy="479795"/>
          </a:xfrm>
          <a:prstGeom prst="rect">
            <a:avLst/>
          </a:prstGeom>
          <a:gradFill rotWithShape="1">
            <a:gsLst>
              <a:gs pos="0">
                <a:srgbClr val="15405B">
                  <a:shade val="51000"/>
                  <a:satMod val="130000"/>
                </a:srgbClr>
              </a:gs>
              <a:gs pos="80000">
                <a:srgbClr val="15405B">
                  <a:shade val="93000"/>
                  <a:satMod val="130000"/>
                </a:srgbClr>
              </a:gs>
              <a:gs pos="100000">
                <a:srgbClr val="15405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15405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Query Parsing</a:t>
            </a:r>
            <a:b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</a:b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&amp; Optimization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5213855" y="1058292"/>
            <a:ext cx="2430685" cy="51406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SQL Client</a:t>
            </a:r>
            <a:endParaRPr lang="en-US" sz="1350" kern="0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5213852" y="2208509"/>
            <a:ext cx="2430685" cy="477488"/>
          </a:xfrm>
          <a:prstGeom prst="rect">
            <a:avLst/>
          </a:prstGeom>
          <a:gradFill rotWithShape="1">
            <a:gsLst>
              <a:gs pos="0">
                <a:srgbClr val="2A80B7">
                  <a:shade val="51000"/>
                  <a:satMod val="130000"/>
                </a:srgbClr>
              </a:gs>
              <a:gs pos="80000">
                <a:srgbClr val="2A80B7">
                  <a:shade val="93000"/>
                  <a:satMod val="130000"/>
                </a:srgbClr>
              </a:gs>
              <a:gs pos="100000">
                <a:srgbClr val="2A80B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2A80B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Relational Operators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5213853" y="2696812"/>
            <a:ext cx="2430685" cy="468283"/>
          </a:xfrm>
          <a:prstGeom prst="rect">
            <a:avLst/>
          </a:prstGeom>
          <a:gradFill rotWithShape="1">
            <a:gsLst>
              <a:gs pos="0">
                <a:srgbClr val="74B5DE">
                  <a:shade val="51000"/>
                  <a:satMod val="130000"/>
                </a:srgbClr>
              </a:gs>
              <a:gs pos="80000">
                <a:srgbClr val="74B5DE">
                  <a:shade val="93000"/>
                  <a:satMod val="130000"/>
                </a:srgbClr>
              </a:gs>
              <a:gs pos="100000">
                <a:srgbClr val="74B5DE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74B5DE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Files and Index Management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5213853" y="3168511"/>
            <a:ext cx="2430685" cy="459331"/>
          </a:xfrm>
          <a:prstGeom prst="rect">
            <a:avLst/>
          </a:prstGeom>
          <a:gradFill rotWithShape="1">
            <a:gsLst>
              <a:gs pos="0">
                <a:srgbClr val="ABD2EB">
                  <a:shade val="51000"/>
                  <a:satMod val="130000"/>
                </a:srgbClr>
              </a:gs>
              <a:gs pos="80000">
                <a:srgbClr val="ABD2EB">
                  <a:shade val="93000"/>
                  <a:satMod val="130000"/>
                </a:srgbClr>
              </a:gs>
              <a:gs pos="100000">
                <a:srgbClr val="ABD2E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ABD2E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Buffer Management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5217729" y="3627842"/>
            <a:ext cx="2430685" cy="459331"/>
          </a:xfrm>
          <a:prstGeom prst="rect">
            <a:avLst/>
          </a:prstGeom>
          <a:gradFill rotWithShape="1">
            <a:gsLst>
              <a:gs pos="0">
                <a:srgbClr val="0070C0">
                  <a:shade val="51000"/>
                  <a:satMod val="130000"/>
                </a:srgbClr>
              </a:gs>
              <a:gs pos="80000">
                <a:srgbClr val="0070C0">
                  <a:shade val="93000"/>
                  <a:satMod val="130000"/>
                </a:srgbClr>
              </a:gs>
              <a:gs pos="100000">
                <a:srgbClr val="0070C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70C0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Disk Space Management</a:t>
            </a:r>
          </a:p>
        </p:txBody>
      </p:sp>
    </p:spTree>
    <p:extLst>
      <p:ext uri="{BB962C8B-B14F-4D97-AF65-F5344CB8AC3E}">
        <p14:creationId xmlns:p14="http://schemas.microsoft.com/office/powerpoint/2010/main" val="524709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2" name="Title 1"/>
          <p:cNvSpPr>
            <a:spLocks noGrp="1"/>
          </p:cNvSpPr>
          <p:nvPr>
            <p:ph type="title"/>
          </p:nvPr>
        </p:nvSpPr>
        <p:spPr>
          <a:xfrm>
            <a:off x="1515292" y="22622"/>
            <a:ext cx="6230915" cy="1053437"/>
          </a:xfrm>
        </p:spPr>
        <p:txBody>
          <a:bodyPr/>
          <a:lstStyle/>
          <a:p>
            <a:pPr eaLnBrk="1" hangingPunct="1"/>
            <a:r>
              <a:rPr lang="en-US" altLang="en-US" sz="3300" dirty="0">
                <a:latin typeface="+mn-lt"/>
              </a:rPr>
              <a:t>Abstraction at Each Level</a:t>
            </a:r>
          </a:p>
        </p:txBody>
      </p:sp>
      <p:sp>
        <p:nvSpPr>
          <p:cNvPr id="28683" name="TextBox 4"/>
          <p:cNvSpPr txBox="1">
            <a:spLocks noChangeArrowheads="1"/>
          </p:cNvSpPr>
          <p:nvPr/>
        </p:nvSpPr>
        <p:spPr bwMode="auto">
          <a:xfrm>
            <a:off x="4341019" y="3153965"/>
            <a:ext cx="2300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tx1"/>
                </a:solidFill>
                <a:latin typeface="+mn-lt"/>
                <a:ea typeface="Gill Sans"/>
                <a:cs typeface="Gill Sans"/>
                <a:sym typeface="Wingdings" panose="05000000000000000000" pitchFamily="2" charset="2"/>
              </a:rPr>
              <a:t>Pages on Disk  Bytes</a:t>
            </a:r>
            <a:endParaRPr lang="en-US" altLang="en-US" sz="180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</p:txBody>
      </p:sp>
      <p:sp>
        <p:nvSpPr>
          <p:cNvPr id="28684" name="TextBox 20"/>
          <p:cNvSpPr txBox="1">
            <a:spLocks noChangeArrowheads="1"/>
          </p:cNvSpPr>
          <p:nvPr/>
        </p:nvSpPr>
        <p:spPr bwMode="auto">
          <a:xfrm>
            <a:off x="4355307" y="2689507"/>
            <a:ext cx="26925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tx1"/>
                </a:solidFill>
                <a:latin typeface="+mn-lt"/>
                <a:ea typeface="Gill Sans"/>
                <a:cs typeface="Gill Sans"/>
                <a:sym typeface="Wingdings" panose="05000000000000000000" pitchFamily="2" charset="2"/>
              </a:rPr>
              <a:t>Mem. Blocks  Disk Pages</a:t>
            </a:r>
            <a:endParaRPr lang="en-US" altLang="en-US" sz="180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</p:txBody>
      </p:sp>
      <p:sp>
        <p:nvSpPr>
          <p:cNvPr id="28685" name="TextBox 21"/>
          <p:cNvSpPr txBox="1">
            <a:spLocks noChangeArrowheads="1"/>
          </p:cNvSpPr>
          <p:nvPr/>
        </p:nvSpPr>
        <p:spPr bwMode="auto">
          <a:xfrm>
            <a:off x="4355306" y="2225048"/>
            <a:ext cx="23578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tx1"/>
                </a:solidFill>
                <a:latin typeface="+mn-lt"/>
                <a:ea typeface="Gill Sans"/>
                <a:cs typeface="Gill Sans"/>
                <a:sym typeface="Wingdings" panose="05000000000000000000" pitchFamily="2" charset="2"/>
              </a:rPr>
              <a:t>Files  Blocks in Mem.</a:t>
            </a:r>
            <a:endParaRPr lang="en-US" altLang="en-US" sz="180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</p:txBody>
      </p:sp>
      <p:sp>
        <p:nvSpPr>
          <p:cNvPr id="28686" name="TextBox 22"/>
          <p:cNvSpPr txBox="1">
            <a:spLocks noChangeArrowheads="1"/>
          </p:cNvSpPr>
          <p:nvPr/>
        </p:nvSpPr>
        <p:spPr bwMode="auto">
          <a:xfrm>
            <a:off x="4341019" y="1688038"/>
            <a:ext cx="2557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+mn-lt"/>
                <a:ea typeface="Gill Sans"/>
                <a:cs typeface="Gill Sans"/>
                <a:sym typeface="Wingdings" panose="05000000000000000000" pitchFamily="2" charset="2"/>
              </a:rPr>
              <a:t>How  Dataflow on Files</a:t>
            </a:r>
            <a:endParaRPr lang="en-US" altLang="en-US" sz="1800" dirty="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</p:txBody>
      </p:sp>
      <p:sp>
        <p:nvSpPr>
          <p:cNvPr id="28687" name="TextBox 23"/>
          <p:cNvSpPr txBox="1">
            <a:spLocks noChangeArrowheads="1"/>
          </p:cNvSpPr>
          <p:nvPr/>
        </p:nvSpPr>
        <p:spPr bwMode="auto">
          <a:xfrm>
            <a:off x="4341019" y="1257300"/>
            <a:ext cx="14595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tx1"/>
                </a:solidFill>
                <a:latin typeface="+mn-lt"/>
                <a:ea typeface="Gill Sans"/>
                <a:cs typeface="Gill Sans"/>
                <a:sym typeface="Wingdings" panose="05000000000000000000" pitchFamily="2" charset="2"/>
              </a:rPr>
              <a:t>What  How</a:t>
            </a:r>
            <a:endParaRPr lang="en-US" altLang="en-US" sz="1800">
              <a:solidFill>
                <a:schemeClr val="tx1"/>
              </a:solidFill>
              <a:latin typeface="+mn-lt"/>
              <a:ea typeface="Gill Sans"/>
              <a:cs typeface="Gill Sans"/>
            </a:endParaRPr>
          </a:p>
        </p:txBody>
      </p:sp>
      <p:sp>
        <p:nvSpPr>
          <p:cNvPr id="28688" name="TextBox 5"/>
          <p:cNvSpPr txBox="1">
            <a:spLocks noChangeArrowheads="1"/>
          </p:cNvSpPr>
          <p:nvPr/>
        </p:nvSpPr>
        <p:spPr bwMode="auto">
          <a:xfrm>
            <a:off x="4341019" y="4232672"/>
            <a:ext cx="340518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100">
                <a:latin typeface="+mn-lt"/>
                <a:ea typeface="Gill Sans"/>
                <a:cs typeface="Gill Sans"/>
              </a:rPr>
              <a:t>Each level hiding the </a:t>
            </a:r>
            <a:br>
              <a:rPr lang="en-US" altLang="en-US" sz="2100">
                <a:latin typeface="+mn-lt"/>
                <a:ea typeface="Gill Sans"/>
                <a:cs typeface="Gill Sans"/>
              </a:rPr>
            </a:br>
            <a:r>
              <a:rPr lang="en-US" altLang="en-US" sz="2100">
                <a:latin typeface="+mn-lt"/>
                <a:ea typeface="Gill Sans"/>
                <a:cs typeface="Gill Sans"/>
              </a:rPr>
              <a:t>complexity of the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5068" y="3709905"/>
            <a:ext cx="1177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You are here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278730" y="1126443"/>
            <a:ext cx="2686050" cy="3394153"/>
          </a:xfrm>
          <a:prstGeom prst="rect">
            <a:avLst/>
          </a:prstGeom>
          <a:gradFill rotWithShape="1">
            <a:gsLst>
              <a:gs pos="0">
                <a:srgbClr val="15405B">
                  <a:tint val="50000"/>
                  <a:satMod val="300000"/>
                </a:srgbClr>
              </a:gs>
              <a:gs pos="35000">
                <a:srgbClr val="15405B">
                  <a:tint val="37000"/>
                  <a:satMod val="300000"/>
                </a:srgbClr>
              </a:gs>
              <a:gs pos="100000">
                <a:srgbClr val="15405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15405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2100" kern="0" dirty="0">
                <a:solidFill>
                  <a:srgbClr val="14405C"/>
                </a:solidFill>
                <a:latin typeface="Helvetica Neue" charset="0"/>
                <a:ea typeface="Helvetica Neue" charset="0"/>
                <a:cs typeface="Helvetica Neue" charset="0"/>
              </a:rPr>
              <a:t>Database Management</a:t>
            </a:r>
          </a:p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2100" kern="0" dirty="0">
                <a:solidFill>
                  <a:srgbClr val="14405C"/>
                </a:solidFill>
                <a:latin typeface="Helvetica Neue" charset="0"/>
                <a:ea typeface="Helvetica Neue" charset="0"/>
                <a:cs typeface="Helvetica Neue" charset="0"/>
              </a:rPr>
              <a:t>System</a:t>
            </a:r>
          </a:p>
        </p:txBody>
      </p:sp>
      <p:sp>
        <p:nvSpPr>
          <p:cNvPr id="23" name="Can 22"/>
          <p:cNvSpPr/>
          <p:nvPr/>
        </p:nvSpPr>
        <p:spPr bwMode="auto">
          <a:xfrm>
            <a:off x="1750683" y="3653365"/>
            <a:ext cx="1742140" cy="777781"/>
          </a:xfrm>
          <a:prstGeom prst="can">
            <a:avLst>
              <a:gd name="adj" fmla="val 41129"/>
            </a:avLst>
          </a:prstGeom>
          <a:gradFill rotWithShape="1">
            <a:gsLst>
              <a:gs pos="0">
                <a:srgbClr val="ABD2EB">
                  <a:shade val="51000"/>
                  <a:satMod val="130000"/>
                </a:srgbClr>
              </a:gs>
              <a:gs pos="80000">
                <a:srgbClr val="ABD2EB">
                  <a:shade val="93000"/>
                  <a:satMod val="130000"/>
                </a:srgbClr>
              </a:gs>
              <a:gs pos="100000">
                <a:srgbClr val="ABD2E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ABD2E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Database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1406413" y="1208243"/>
            <a:ext cx="2430685" cy="479795"/>
          </a:xfrm>
          <a:prstGeom prst="rect">
            <a:avLst/>
          </a:prstGeom>
          <a:gradFill rotWithShape="1">
            <a:gsLst>
              <a:gs pos="0">
                <a:srgbClr val="15405B">
                  <a:shade val="51000"/>
                  <a:satMod val="130000"/>
                </a:srgbClr>
              </a:gs>
              <a:gs pos="80000">
                <a:srgbClr val="15405B">
                  <a:shade val="93000"/>
                  <a:satMod val="130000"/>
                </a:srgbClr>
              </a:gs>
              <a:gs pos="100000">
                <a:srgbClr val="15405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15405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Query Parsing</a:t>
            </a:r>
            <a:b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</a:b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&amp; Optimization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1406411" y="1699058"/>
            <a:ext cx="2430685" cy="477488"/>
          </a:xfrm>
          <a:prstGeom prst="rect">
            <a:avLst/>
          </a:prstGeom>
          <a:gradFill rotWithShape="1">
            <a:gsLst>
              <a:gs pos="0">
                <a:srgbClr val="2A80B7">
                  <a:shade val="51000"/>
                  <a:satMod val="130000"/>
                </a:srgbClr>
              </a:gs>
              <a:gs pos="80000">
                <a:srgbClr val="2A80B7">
                  <a:shade val="93000"/>
                  <a:satMod val="130000"/>
                </a:srgbClr>
              </a:gs>
              <a:gs pos="100000">
                <a:srgbClr val="2A80B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2A80B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Relational Operators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1406412" y="2187361"/>
            <a:ext cx="2430685" cy="468283"/>
          </a:xfrm>
          <a:prstGeom prst="rect">
            <a:avLst/>
          </a:prstGeom>
          <a:gradFill rotWithShape="1">
            <a:gsLst>
              <a:gs pos="0">
                <a:srgbClr val="74B5DE">
                  <a:shade val="51000"/>
                  <a:satMod val="130000"/>
                </a:srgbClr>
              </a:gs>
              <a:gs pos="80000">
                <a:srgbClr val="74B5DE">
                  <a:shade val="93000"/>
                  <a:satMod val="130000"/>
                </a:srgbClr>
              </a:gs>
              <a:gs pos="100000">
                <a:srgbClr val="74B5DE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74B5DE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Files and Index Management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1406412" y="2659060"/>
            <a:ext cx="2430685" cy="459331"/>
          </a:xfrm>
          <a:prstGeom prst="rect">
            <a:avLst/>
          </a:prstGeom>
          <a:gradFill rotWithShape="1">
            <a:gsLst>
              <a:gs pos="0">
                <a:srgbClr val="ABD2EB">
                  <a:shade val="51000"/>
                  <a:satMod val="130000"/>
                </a:srgbClr>
              </a:gs>
              <a:gs pos="80000">
                <a:srgbClr val="ABD2EB">
                  <a:shade val="93000"/>
                  <a:satMod val="130000"/>
                </a:srgbClr>
              </a:gs>
              <a:gs pos="100000">
                <a:srgbClr val="ABD2EB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ABD2EB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Buffer Management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410288" y="3118391"/>
            <a:ext cx="2430685" cy="459331"/>
          </a:xfrm>
          <a:prstGeom prst="rect">
            <a:avLst/>
          </a:prstGeom>
          <a:gradFill rotWithShape="1">
            <a:gsLst>
              <a:gs pos="0">
                <a:srgbClr val="0070C0">
                  <a:shade val="51000"/>
                  <a:satMod val="130000"/>
                </a:srgbClr>
              </a:gs>
              <a:gs pos="80000">
                <a:srgbClr val="0070C0">
                  <a:shade val="93000"/>
                  <a:satMod val="130000"/>
                </a:srgbClr>
              </a:gs>
              <a:gs pos="100000">
                <a:srgbClr val="0070C0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0070C0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/>
            </a:pPr>
            <a:r>
              <a:rPr lang="en-US" sz="1350" kern="0" dirty="0">
                <a:solidFill>
                  <a:prstClr val="white"/>
                </a:solidFill>
                <a:latin typeface="Helvetica Neue" charset="0"/>
                <a:ea typeface="Helvetica Neue" charset="0"/>
                <a:cs typeface="Helvetica Neue" charset="0"/>
              </a:rPr>
              <a:t>Disk Space Management</a:t>
            </a:r>
          </a:p>
        </p:txBody>
      </p:sp>
    </p:spTree>
    <p:extLst>
      <p:ext uri="{BB962C8B-B14F-4D97-AF65-F5344CB8AC3E}">
        <p14:creationId xmlns:p14="http://schemas.microsoft.com/office/powerpoint/2010/main" val="123209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85800" y="65485"/>
            <a:ext cx="8001000" cy="1112044"/>
          </a:xfrm>
        </p:spPr>
        <p:txBody>
          <a:bodyPr/>
          <a:lstStyle/>
          <a:p>
            <a:pPr eaLnBrk="1" hangingPunct="1"/>
            <a:r>
              <a:rPr lang="en-US" altLang="en-US" dirty="0"/>
              <a:t>We Studied </a:t>
            </a:r>
            <a:r>
              <a:rPr lang="en-US" altLang="en-US"/>
              <a:t>Data </a:t>
            </a:r>
            <a:r>
              <a:rPr lang="en-US" altLang="en-US" smtClean="0"/>
              <a:t>Layout, </a:t>
            </a:r>
            <a:r>
              <a:rPr lang="en-US" altLang="en-US" dirty="0" smtClean="0"/>
              <a:t>Indexes, Caching</a:t>
            </a:r>
            <a:endParaRPr lang="en-US" altLang="en-US" dirty="0"/>
          </a:p>
        </p:txBody>
      </p:sp>
      <p:sp>
        <p:nvSpPr>
          <p:cNvPr id="29699" name="Content Placeholder 410"/>
          <p:cNvSpPr>
            <a:spLocks noGrp="1"/>
          </p:cNvSpPr>
          <p:nvPr>
            <p:ph idx="1"/>
          </p:nvPr>
        </p:nvSpPr>
        <p:spPr>
          <a:xfrm>
            <a:off x="1600200" y="3882628"/>
            <a:ext cx="5915025" cy="1146572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Knowledge of data and access patterns can affect choice of data-layout and caching strategies.</a:t>
            </a:r>
          </a:p>
          <a:p>
            <a:pPr eaLnBrk="1" hangingPunct="1"/>
            <a:r>
              <a:rPr lang="en-US" altLang="en-US" sz="1800" dirty="0"/>
              <a:t>Choice </a:t>
            </a:r>
            <a:r>
              <a:rPr lang="en-US" altLang="en-US" sz="1800" dirty="0">
                <a:sym typeface="Wingdings" panose="05000000000000000000" pitchFamily="2" charset="2"/>
              </a:rPr>
              <a:t> Challenges  Motivated Query Opt.</a:t>
            </a:r>
            <a:endParaRPr lang="en-US" alt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3" y="1286964"/>
            <a:ext cx="3547110" cy="23243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105" y="1448845"/>
            <a:ext cx="2067470" cy="213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1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We Learned How to Index Stored Data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458200" cy="3394472"/>
          </a:xfrm>
        </p:spPr>
        <p:txBody>
          <a:bodyPr/>
          <a:lstStyle/>
          <a:p>
            <a:pPr marL="0" indent="0">
              <a:buNone/>
            </a:pPr>
            <a:r>
              <a:rPr lang="en-US" altLang="en-US" i="1" dirty="0"/>
              <a:t>Where the logs have big bases, the trees are wide and they grow upward</a:t>
            </a:r>
          </a:p>
        </p:txBody>
      </p:sp>
      <p:pic>
        <p:nvPicPr>
          <p:cNvPr id="30725" name="Picture 5" descr="http://www.softportal.com/scr/31037/wide-tree-big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8" b="18692"/>
          <a:stretch/>
        </p:blipFill>
        <p:spPr bwMode="auto">
          <a:xfrm>
            <a:off x="1235869" y="2455379"/>
            <a:ext cx="6672263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31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We Learned How to Index Stored Data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686800" cy="3394472"/>
          </a:xfrm>
        </p:spPr>
        <p:txBody>
          <a:bodyPr/>
          <a:lstStyle/>
          <a:p>
            <a:pPr marL="0" indent="0">
              <a:buNone/>
            </a:pPr>
            <a:r>
              <a:rPr lang="en-US" altLang="en-US" i="1" dirty="0"/>
              <a:t>Where the logs have big bases, the trees are wide and they grow upward</a:t>
            </a:r>
          </a:p>
        </p:txBody>
      </p:sp>
      <p:pic>
        <p:nvPicPr>
          <p:cNvPr id="30725" name="Picture 5" descr="http://www.softportal.com/scr/31037/wide-tree-big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58" b="18692"/>
          <a:stretch/>
        </p:blipFill>
        <p:spPr bwMode="auto">
          <a:xfrm>
            <a:off x="1235869" y="2455379"/>
            <a:ext cx="6672263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229861" y="2400301"/>
            <a:ext cx="6678270" cy="27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We Learned How to Index Stored Data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686800" cy="3394472"/>
          </a:xfrm>
        </p:spPr>
        <p:txBody>
          <a:bodyPr/>
          <a:lstStyle/>
          <a:p>
            <a:pPr marL="0" indent="0">
              <a:buNone/>
            </a:pPr>
            <a:r>
              <a:rPr lang="en-US" altLang="en-US" i="1" dirty="0"/>
              <a:t>Where the logs have big bases, the trees are wide and they grow </a:t>
            </a:r>
            <a:r>
              <a:rPr lang="en-US" altLang="en-US" i="1" dirty="0" smtClean="0"/>
              <a:t>upward.</a:t>
            </a:r>
            <a:br>
              <a:rPr lang="en-US" altLang="en-US" i="1" dirty="0" smtClean="0"/>
            </a:br>
            <a:r>
              <a:rPr lang="en-US" altLang="en-US" i="1" dirty="0" smtClean="0"/>
              <a:t>In </a:t>
            </a:r>
            <a:r>
              <a:rPr lang="en-US" altLang="en-US" i="1" dirty="0" smtClean="0">
                <a:solidFill>
                  <a:srgbClr val="C00000"/>
                </a:solidFill>
              </a:rPr>
              <a:t>HW2 </a:t>
            </a:r>
            <a:r>
              <a:rPr lang="en-US" altLang="en-US" i="1" dirty="0" smtClean="0"/>
              <a:t>you implemented these trees!</a:t>
            </a:r>
            <a:endParaRPr lang="en-US" altLang="en-US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65" y="2343151"/>
            <a:ext cx="6678270" cy="27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16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66" y="1658982"/>
            <a:ext cx="4922195" cy="3092632"/>
          </a:xfrm>
          <a:prstGeom prst="rect">
            <a:avLst/>
          </a:prstGeom>
        </p:spPr>
      </p:pic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We Learned about Dataflow: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Algebra </a:t>
            </a:r>
            <a:r>
              <a:rPr lang="en-US" altLang="en-US" dirty="0"/>
              <a:t>and Architecture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614487" y="1369219"/>
            <a:ext cx="2671763" cy="3263504"/>
          </a:xfrm>
        </p:spPr>
        <p:txBody>
          <a:bodyPr/>
          <a:lstStyle/>
          <a:p>
            <a:r>
              <a:rPr lang="en-US" altLang="en-US" sz="1800" dirty="0"/>
              <a:t>Simple elegant closed set of operators</a:t>
            </a:r>
          </a:p>
          <a:p>
            <a:pPr lvl="1"/>
            <a:r>
              <a:rPr lang="el-GR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/>
              <a:t>⋈</a:t>
            </a:r>
            <a:endParaRPr lang="en-US" altLang="en-US" sz="1500" dirty="0"/>
          </a:p>
          <a:p>
            <a:r>
              <a:rPr lang="en-US" altLang="en-US" sz="1800" dirty="0"/>
              <a:t>Plumbed together via iterators into dataflow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1221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We Learned about Dataflow: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Algebra </a:t>
            </a:r>
            <a:r>
              <a:rPr lang="en-US" altLang="en-US" dirty="0"/>
              <a:t>and Architecture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657350" y="1371600"/>
            <a:ext cx="2671763" cy="3263504"/>
          </a:xfrm>
        </p:spPr>
        <p:txBody>
          <a:bodyPr/>
          <a:lstStyle/>
          <a:p>
            <a:r>
              <a:rPr lang="en-US" altLang="en-US" sz="1500" dirty="0"/>
              <a:t>Simple elegant closed set of operators</a:t>
            </a:r>
          </a:p>
          <a:p>
            <a:pPr lvl="1"/>
            <a:r>
              <a:rPr lang="el-GR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en-US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b="1" dirty="0"/>
              <a:t>⋈</a:t>
            </a:r>
            <a:endParaRPr lang="en-US" altLang="en-US" sz="1350" dirty="0"/>
          </a:p>
          <a:p>
            <a:r>
              <a:rPr lang="en-US" altLang="en-US" sz="1500" dirty="0"/>
              <a:t>Plumbed together via iterators into dataflow</a:t>
            </a:r>
            <a:endParaRPr lang="en-US" altLang="en-US" sz="2100" dirty="0"/>
          </a:p>
          <a:p>
            <a:r>
              <a:rPr lang="en-US" altLang="en-US" sz="1500" dirty="0"/>
              <a:t>Partitioned and </a:t>
            </a:r>
            <a:r>
              <a:rPr lang="en-US" altLang="en-US" sz="1500" dirty="0" smtClean="0"/>
              <a:t>pipelined </a:t>
            </a:r>
            <a:r>
              <a:rPr lang="en-US" altLang="en-US" sz="1500" dirty="0"/>
              <a:t>across machines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828" y="3193869"/>
            <a:ext cx="4272535" cy="174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 Bridged </a:t>
            </a:r>
            <a:r>
              <a:rPr lang="en-US" altLang="en-US" sz="2400" dirty="0"/>
              <a:t>from </a:t>
            </a:r>
            <a:r>
              <a:rPr lang="en-US" altLang="en-US" dirty="0"/>
              <a:t>What </a:t>
            </a:r>
            <a:r>
              <a:rPr lang="en-US" altLang="en-US" sz="2400" dirty="0"/>
              <a:t>to</a:t>
            </a:r>
            <a:r>
              <a:rPr lang="en-US" altLang="en-US" dirty="0"/>
              <a:t> How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Query optimization!</a:t>
            </a:r>
          </a:p>
          <a:p>
            <a:pPr marL="342900" lvl="1" indent="0">
              <a:buNone/>
            </a:pPr>
            <a:endParaRPr lang="en-US" altLang="en-US" dirty="0"/>
          </a:p>
        </p:txBody>
      </p:sp>
      <p:pic>
        <p:nvPicPr>
          <p:cNvPr id="1028" name="Picture 4" descr="http://baybridgehouse.org/wordpress/wp-content/uploads/2013/08/SFOBB_East_Spa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257300"/>
            <a:ext cx="2917774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5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 Bridged </a:t>
            </a:r>
            <a:r>
              <a:rPr lang="en-US" altLang="en-US" sz="2400" dirty="0"/>
              <a:t>from </a:t>
            </a:r>
            <a:r>
              <a:rPr lang="en-US" altLang="en-US" dirty="0"/>
              <a:t>What </a:t>
            </a:r>
            <a:r>
              <a:rPr lang="en-US" altLang="en-US" sz="2400" dirty="0"/>
              <a:t>to</a:t>
            </a:r>
            <a:r>
              <a:rPr lang="en-US" altLang="en-US" dirty="0"/>
              <a:t> How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Query optimization!</a:t>
            </a:r>
          </a:p>
          <a:p>
            <a:r>
              <a:rPr lang="en-US" altLang="en-US" dirty="0"/>
              <a:t>Three part harmony</a:t>
            </a:r>
          </a:p>
          <a:p>
            <a:pPr lvl="1"/>
            <a:r>
              <a:rPr lang="en-US" altLang="en-US" dirty="0"/>
              <a:t>Plan Space</a:t>
            </a:r>
          </a:p>
          <a:p>
            <a:pPr lvl="1"/>
            <a:r>
              <a:rPr lang="en-US" altLang="en-US" dirty="0"/>
              <a:t>Cost estimation</a:t>
            </a:r>
          </a:p>
          <a:p>
            <a:pPr lvl="1"/>
            <a:r>
              <a:rPr lang="en-US" altLang="en-US" dirty="0"/>
              <a:t>Search Algorithm</a:t>
            </a:r>
          </a:p>
          <a:p>
            <a:pPr marL="342900" lvl="1" indent="0">
              <a:buNone/>
            </a:pPr>
            <a:endParaRPr lang="en-US" altLang="en-US" dirty="0"/>
          </a:p>
        </p:txBody>
      </p:sp>
      <p:pic>
        <p:nvPicPr>
          <p:cNvPr id="1026" name="Picture 2" descr="https://tcmmastering.files.wordpress.com/2011/12/3-part-harmony.jpg?w=300&amp;h=2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143250"/>
            <a:ext cx="2143125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baybridgehouse.org/wordpress/wp-content/uploads/2013/08/SFOBB_East_Spa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257300"/>
            <a:ext cx="2917774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34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 Bridged </a:t>
            </a:r>
            <a:r>
              <a:rPr lang="en-US" altLang="en-US" sz="2400" dirty="0"/>
              <a:t>from </a:t>
            </a:r>
            <a:r>
              <a:rPr lang="en-US" altLang="en-US" dirty="0"/>
              <a:t>What </a:t>
            </a:r>
            <a:r>
              <a:rPr lang="en-US" altLang="en-US" sz="2400" dirty="0"/>
              <a:t>to</a:t>
            </a:r>
            <a:r>
              <a:rPr lang="en-US" altLang="en-US" dirty="0"/>
              <a:t> How</a:t>
            </a:r>
          </a:p>
        </p:txBody>
      </p:sp>
      <p:pic>
        <p:nvPicPr>
          <p:cNvPr id="1026" name="Picture 2" descr="https://tcmmastering.files.wordpress.com/2011/12/3-part-harmony.jpg?w=300&amp;h=2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143250"/>
            <a:ext cx="2143125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baybridgehouse.org/wordpress/wp-content/uploads/2013/08/SFOBB_East_Spa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257300"/>
            <a:ext cx="2917774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r>
              <a:rPr lang="en-US" altLang="en-US" dirty="0"/>
              <a:t>Query optimization!</a:t>
            </a:r>
          </a:p>
          <a:p>
            <a:r>
              <a:rPr lang="en-US" altLang="en-US" dirty="0"/>
              <a:t>Three part harmony</a:t>
            </a:r>
          </a:p>
          <a:p>
            <a:pPr lvl="1"/>
            <a:r>
              <a:rPr lang="en-US" altLang="en-US" dirty="0"/>
              <a:t>Plan Space</a:t>
            </a:r>
          </a:p>
          <a:p>
            <a:pPr lvl="1"/>
            <a:r>
              <a:rPr lang="en-US" altLang="en-US" dirty="0"/>
              <a:t>Cost estimation</a:t>
            </a:r>
          </a:p>
          <a:p>
            <a:pPr lvl="1"/>
            <a:r>
              <a:rPr lang="en-US" altLang="en-US" dirty="0"/>
              <a:t>Search Algorithm</a:t>
            </a:r>
          </a:p>
          <a:p>
            <a:pPr marL="342900" lvl="1" indent="0">
              <a:buNone/>
            </a:pPr>
            <a:endParaRPr lang="en-US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2514599" y="3463544"/>
            <a:ext cx="5297019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0" lvl="8" indent="0">
              <a:buNone/>
            </a:pPr>
            <a:r>
              <a:rPr lang="en-US" altLang="en-US" sz="1350" dirty="0"/>
              <a:t>You implemented this in </a:t>
            </a:r>
            <a:r>
              <a:rPr lang="en-US" altLang="en-US" sz="1350" dirty="0">
                <a:solidFill>
                  <a:srgbClr val="C00000"/>
                </a:solidFill>
              </a:rPr>
              <a:t>HW4</a:t>
            </a:r>
            <a:r>
              <a:rPr lang="en-US" altLang="en-US" sz="1350" dirty="0"/>
              <a:t>.</a:t>
            </a:r>
          </a:p>
          <a:p>
            <a:pPr marL="2743200" lvl="8" indent="0">
              <a:buNone/>
            </a:pPr>
            <a:r>
              <a:rPr lang="en-US" altLang="en-US" sz="1350" dirty="0"/>
              <a:t/>
            </a:r>
            <a:br>
              <a:rPr lang="en-US" altLang="en-US" sz="1350" dirty="0"/>
            </a:br>
            <a:r>
              <a:rPr lang="en-US" altLang="en-US" sz="1350" dirty="0"/>
              <a:t>Note: Most of today’s popular Big Data frameworks still need a query optimizer of some kind!</a:t>
            </a: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998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Schema Design… </a:t>
            </a:r>
            <a:r>
              <a:rPr lang="en-US" altLang="en-US" dirty="0"/>
              <a:t>for when it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needs </a:t>
            </a:r>
            <a:r>
              <a:rPr lang="en-US" altLang="en-US" dirty="0"/>
              <a:t>to be right 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Modeling the world</a:t>
            </a:r>
          </a:p>
          <a:p>
            <a:r>
              <a:rPr lang="en-US" altLang="en-US" dirty="0"/>
              <a:t>Data Independence</a:t>
            </a:r>
          </a:p>
          <a:p>
            <a:pPr lvl="1"/>
            <a:r>
              <a:rPr lang="en-US" altLang="en-US" dirty="0" err="1"/>
              <a:t>Hellerstein’s</a:t>
            </a:r>
            <a:r>
              <a:rPr lang="en-US" altLang="en-US" dirty="0"/>
              <a:t> Inequality</a:t>
            </a:r>
          </a:p>
          <a:p>
            <a:r>
              <a:rPr lang="en-US" altLang="en-US" dirty="0"/>
              <a:t>Conceptual design and ER</a:t>
            </a:r>
          </a:p>
          <a:p>
            <a:r>
              <a:rPr lang="en-US" altLang="en-US" dirty="0"/>
              <a:t>Schema Refinement, FDs, </a:t>
            </a:r>
            <a:br>
              <a:rPr lang="en-US" altLang="en-US" dirty="0"/>
            </a:br>
            <a:r>
              <a:rPr lang="en-US" altLang="en-US" dirty="0"/>
              <a:t>Normalization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43000"/>
            <a:ext cx="1885950" cy="251857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3600450"/>
            <a:ext cx="2507456" cy="128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We Mastered Controlled Disorder</a:t>
            </a:r>
            <a:br>
              <a:rPr lang="en-US" altLang="en-US" dirty="0"/>
            </a:br>
            <a:r>
              <a:rPr lang="en-US" altLang="en-US" sz="2700" dirty="0"/>
              <a:t>with</a:t>
            </a:r>
            <a:r>
              <a:rPr lang="en-US" altLang="en-US" dirty="0"/>
              <a:t> Transactions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614487" y="1771650"/>
            <a:ext cx="2728913" cy="2861072"/>
          </a:xfrm>
        </p:spPr>
        <p:txBody>
          <a:bodyPr/>
          <a:lstStyle/>
          <a:p>
            <a:r>
              <a:rPr lang="en-US" altLang="en-US" sz="1500" dirty="0"/>
              <a:t>Correct: serially-ordered </a:t>
            </a:r>
          </a:p>
          <a:p>
            <a:r>
              <a:rPr lang="en-US" altLang="en-US" sz="1500" dirty="0"/>
              <a:t>Desire: interleave to maximize performance</a:t>
            </a:r>
          </a:p>
          <a:p>
            <a:r>
              <a:rPr lang="en-US" altLang="en-US" sz="1500" dirty="0"/>
              <a:t>Risk: Disorder leads to chaos</a:t>
            </a:r>
          </a:p>
        </p:txBody>
      </p:sp>
      <p:pic>
        <p:nvPicPr>
          <p:cNvPr id="2050" name="Picture 2" descr="https://driveeuropenews.files.wordpress.com/2014/02/alban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1" y="1771650"/>
            <a:ext cx="3772667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We Mastered Controlled Disorder</a:t>
            </a:r>
            <a:br>
              <a:rPr lang="en-US" altLang="en-US" dirty="0"/>
            </a:br>
            <a:r>
              <a:rPr lang="en-US" altLang="en-US" sz="2700" dirty="0"/>
              <a:t>with</a:t>
            </a:r>
            <a:r>
              <a:rPr lang="en-US" altLang="en-US" dirty="0"/>
              <a:t> Transactions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614487" y="1771650"/>
            <a:ext cx="2728913" cy="2861072"/>
          </a:xfrm>
        </p:spPr>
        <p:txBody>
          <a:bodyPr/>
          <a:lstStyle/>
          <a:p>
            <a:r>
              <a:rPr lang="en-US" altLang="en-US" sz="1500" dirty="0"/>
              <a:t>Correct: serially-ordered </a:t>
            </a:r>
          </a:p>
          <a:p>
            <a:r>
              <a:rPr lang="en-US" altLang="en-US" sz="1500" dirty="0"/>
              <a:t>Desire: interleave to maximize performance</a:t>
            </a:r>
          </a:p>
          <a:p>
            <a:r>
              <a:rPr lang="en-US" altLang="en-US" sz="1500" dirty="0"/>
              <a:t>Risk: Disorder leads to chaos</a:t>
            </a:r>
          </a:p>
          <a:p>
            <a:r>
              <a:rPr lang="en-US" altLang="en-US" sz="1500" dirty="0"/>
              <a:t>Allowable orders: </a:t>
            </a:r>
            <a:br>
              <a:rPr lang="en-US" altLang="en-US" sz="1500" dirty="0"/>
            </a:br>
            <a:r>
              <a:rPr lang="en-US" altLang="en-US" sz="1500" dirty="0"/>
              <a:t>(Conflict) </a:t>
            </a:r>
            <a:r>
              <a:rPr lang="en-US" altLang="en-US" sz="1500" dirty="0" err="1"/>
              <a:t>Serializability</a:t>
            </a:r>
            <a:endParaRPr lang="en-US" altLang="en-US" sz="1500" dirty="0"/>
          </a:p>
          <a:p>
            <a:r>
              <a:rPr lang="en-US" altLang="en-US" sz="1500" dirty="0"/>
              <a:t>Implementations: </a:t>
            </a:r>
            <a:br>
              <a:rPr lang="en-US" altLang="en-US" sz="1500" dirty="0"/>
            </a:br>
            <a:r>
              <a:rPr lang="en-US" altLang="en-US" sz="1500" dirty="0"/>
              <a:t>(Strict) 2PL</a:t>
            </a:r>
          </a:p>
        </p:txBody>
      </p:sp>
      <p:pic>
        <p:nvPicPr>
          <p:cNvPr id="2050" name="Picture 2" descr="https://driveeuropenews.files.wordpress.com/2014/02/alban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1" y="1771650"/>
            <a:ext cx="3772667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home.bt.com/images/police-to-take-action-against-drivers-who-performed-motorway-u-turns-on-m1-136399313055703901-15071718300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1771650"/>
            <a:ext cx="4261353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03498" y="3744142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HW5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60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700" dirty="0"/>
              <a:t>Went through </a:t>
            </a:r>
            <a:r>
              <a:rPr lang="en-US" altLang="en-US" dirty="0"/>
              <a:t>WAL </a:t>
            </a:r>
            <a:r>
              <a:rPr lang="en-US" altLang="en-US" sz="2700" dirty="0"/>
              <a:t>and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3-step Recovery Program 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Write-Ahead Logging</a:t>
            </a:r>
          </a:p>
          <a:p>
            <a:r>
              <a:rPr lang="en-US" altLang="en-US" dirty="0"/>
              <a:t>ARIES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14500"/>
            <a:ext cx="1911500" cy="31111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537" y="2831901"/>
            <a:ext cx="2271304" cy="6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56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Introduced to Massive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Speed-up and Scale-up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Types of Parallelism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Distributed Transactions, </a:t>
            </a:r>
            <a:br>
              <a:rPr lang="en-US" dirty="0" smtClean="0"/>
            </a:br>
            <a:r>
              <a:rPr lang="en-US" dirty="0" smtClean="0"/>
              <a:t>Replication, NoSQL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26" y="929708"/>
            <a:ext cx="1234824" cy="155165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57" y="2391387"/>
            <a:ext cx="823281" cy="108326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245" y="2195444"/>
            <a:ext cx="1763098" cy="1036728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650" y="2658554"/>
            <a:ext cx="2931054" cy="816098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236" y="3757461"/>
            <a:ext cx="2480083" cy="13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69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-128"/>
              </a:rPr>
              <a:t>What is it all for?</a:t>
            </a:r>
          </a:p>
        </p:txBody>
      </p:sp>
      <p:sp>
        <p:nvSpPr>
          <p:cNvPr id="18435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08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All of CS is moving to </a:t>
            </a:r>
            <a:r>
              <a:rPr lang="en-US" altLang="en-US" dirty="0" smtClean="0"/>
              <a:t>Data </a:t>
            </a:r>
            <a:r>
              <a:rPr lang="en-US" altLang="en-US" dirty="0"/>
              <a:t>Thinking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Data grows rapidly.</a:t>
            </a:r>
          </a:p>
          <a:p>
            <a:r>
              <a:rPr lang="en-US" altLang="en-US" sz="1800" dirty="0"/>
              <a:t>The number of cores grows rapidly.</a:t>
            </a:r>
          </a:p>
          <a:p>
            <a:r>
              <a:rPr lang="en-US" altLang="en-US" sz="1800" dirty="0"/>
              <a:t>Programming </a:t>
            </a:r>
            <a:r>
              <a:rPr lang="en-US" altLang="en-US" sz="1800" i="1" dirty="0"/>
              <a:t>is</a:t>
            </a:r>
            <a:r>
              <a:rPr lang="en-US" altLang="en-US" sz="1800" dirty="0"/>
              <a:t> (parallel) data management.</a:t>
            </a:r>
          </a:p>
          <a:p>
            <a:r>
              <a:rPr lang="en-US" altLang="en-US" sz="1800" dirty="0"/>
              <a:t>Data-centric methods unlock parallelism.</a:t>
            </a:r>
          </a:p>
          <a:p>
            <a:pPr lvl="1"/>
            <a:r>
              <a:rPr lang="en-US" altLang="en-US" sz="1500" dirty="0"/>
              <a:t>Declarative</a:t>
            </a:r>
          </a:p>
          <a:p>
            <a:pPr lvl="1"/>
            <a:r>
              <a:rPr lang="en-US" altLang="en-US" sz="1500" dirty="0"/>
              <a:t>Set oriented</a:t>
            </a:r>
          </a:p>
          <a:p>
            <a:pPr lvl="1"/>
            <a:r>
              <a:rPr lang="en-US" altLang="en-US" sz="1500" dirty="0"/>
              <a:t>Disorderly</a:t>
            </a:r>
          </a:p>
          <a:p>
            <a:r>
              <a:rPr lang="en-US" altLang="en-US" sz="1800" dirty="0"/>
              <a:t>Data now drives innovation</a:t>
            </a:r>
          </a:p>
          <a:p>
            <a:pPr lvl="1"/>
            <a:r>
              <a:rPr lang="en-US" altLang="en-US" sz="1500" dirty="0"/>
              <a:t>Search, vision, robotics, compilers, debuggers, systems…</a:t>
            </a:r>
          </a:p>
          <a:p>
            <a:pPr lvl="1"/>
            <a:r>
              <a:rPr lang="en-US" altLang="en-US" sz="1500" dirty="0"/>
              <a:t>… everything gets trained</a:t>
            </a:r>
          </a:p>
          <a:p>
            <a:pPr lvl="2"/>
            <a:r>
              <a:rPr lang="en-US" altLang="en-US" sz="1350" dirty="0"/>
              <a:t>“the unreasonable effectiveness of data”</a:t>
            </a:r>
          </a:p>
        </p:txBody>
      </p:sp>
    </p:spTree>
    <p:extLst>
      <p:ext uri="{BB962C8B-B14F-4D97-AF65-F5344CB8AC3E}">
        <p14:creationId xmlns:p14="http://schemas.microsoft.com/office/powerpoint/2010/main" val="20487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All of Everything is moving to Data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Data-centric, measurement-driven thinking across society</a:t>
            </a:r>
          </a:p>
          <a:p>
            <a:pPr lvl="1"/>
            <a:r>
              <a:rPr lang="en-US" altLang="en-US" dirty="0"/>
              <a:t>Government, policy</a:t>
            </a:r>
          </a:p>
          <a:p>
            <a:pPr lvl="1"/>
            <a:r>
              <a:rPr lang="en-US" altLang="en-US" dirty="0"/>
              <a:t>Economics</a:t>
            </a:r>
          </a:p>
          <a:p>
            <a:pPr lvl="1"/>
            <a:r>
              <a:rPr lang="en-US" altLang="en-US" dirty="0"/>
              <a:t>Medicine</a:t>
            </a:r>
          </a:p>
          <a:p>
            <a:pPr lvl="1"/>
            <a:r>
              <a:rPr lang="en-US" altLang="en-US" dirty="0"/>
              <a:t>Science</a:t>
            </a:r>
          </a:p>
          <a:p>
            <a:pPr lvl="1"/>
            <a:r>
              <a:rPr lang="en-US" altLang="en-US" dirty="0"/>
              <a:t>Business</a:t>
            </a:r>
          </a:p>
          <a:p>
            <a:pPr lvl="1"/>
            <a:r>
              <a:rPr lang="en-US" altLang="en-US" dirty="0"/>
              <a:t>Etc.</a:t>
            </a:r>
          </a:p>
          <a:p>
            <a:r>
              <a:rPr lang="en-US" altLang="en-US" dirty="0"/>
              <a:t>There’s more to data than advertising!</a:t>
            </a:r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67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you learned was a snapshot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100" dirty="0"/>
              <a:t>But data systems are more similar than different!</a:t>
            </a:r>
          </a:p>
          <a:p>
            <a:pPr lvl="1"/>
            <a:r>
              <a:rPr lang="en-US" altLang="en-US" sz="1500" dirty="0"/>
              <a:t>Relational DBs</a:t>
            </a:r>
          </a:p>
          <a:p>
            <a:pPr lvl="1"/>
            <a:r>
              <a:rPr lang="en-US" altLang="en-US" sz="1500" dirty="0"/>
              <a:t>Big Data Analytics</a:t>
            </a:r>
          </a:p>
          <a:p>
            <a:pPr lvl="1"/>
            <a:r>
              <a:rPr lang="en-US" altLang="en-US" sz="1500" dirty="0"/>
              <a:t>NoSQL Key-Value Stores</a:t>
            </a:r>
          </a:p>
          <a:p>
            <a:pPr lvl="1"/>
            <a:r>
              <a:rPr lang="en-US" altLang="en-US" sz="1500" dirty="0"/>
              <a:t>Search engines</a:t>
            </a:r>
          </a:p>
          <a:p>
            <a:pPr lvl="1"/>
            <a:r>
              <a:rPr lang="en-US" altLang="en-US" sz="1500" dirty="0"/>
              <a:t>File Systems</a:t>
            </a:r>
            <a:endParaRPr lang="en-US" altLang="en-US" dirty="0"/>
          </a:p>
          <a:p>
            <a:r>
              <a:rPr lang="en-US" altLang="en-US" sz="2100" dirty="0"/>
              <a:t>Don’t learn a system — learn the principles!</a:t>
            </a:r>
          </a:p>
          <a:p>
            <a:pPr lvl="1"/>
            <a:r>
              <a:rPr lang="en-US" altLang="en-US" sz="1500" dirty="0"/>
              <a:t>examine how tricks vary across these use cases</a:t>
            </a:r>
          </a:p>
          <a:p>
            <a:pPr lvl="1"/>
            <a:r>
              <a:rPr lang="en-US" altLang="en-US" sz="1500" dirty="0"/>
              <a:t>draw connections</a:t>
            </a:r>
          </a:p>
          <a:p>
            <a:pPr lvl="1"/>
            <a:r>
              <a:rPr lang="en-US" altLang="en-US" sz="1500" dirty="0"/>
              <a:t>Innovate!</a:t>
            </a:r>
          </a:p>
        </p:txBody>
      </p:sp>
    </p:spTree>
    <p:extLst>
      <p:ext uri="{BB962C8B-B14F-4D97-AF65-F5344CB8AC3E}">
        <p14:creationId xmlns:p14="http://schemas.microsoft.com/office/powerpoint/2010/main" val="841833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Changes Ahead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1500" dirty="0"/>
              <a:t>Cloud-scale, </a:t>
            </a:r>
            <a:r>
              <a:rPr lang="en-US" altLang="en-US" sz="1500" dirty="0" smtClean="0"/>
              <a:t>elastic, </a:t>
            </a:r>
            <a:r>
              <a:rPr lang="en-US" altLang="en-US" sz="1500" dirty="0" err="1" smtClean="0"/>
              <a:t>serverless</a:t>
            </a:r>
            <a:endParaRPr lang="en-US" altLang="en-US" sz="1500" dirty="0"/>
          </a:p>
          <a:p>
            <a:r>
              <a:rPr lang="en-US" altLang="en-US" sz="1500" dirty="0"/>
              <a:t>Multicore</a:t>
            </a:r>
          </a:p>
          <a:p>
            <a:r>
              <a:rPr lang="en-US" altLang="en-US" sz="1500" dirty="0"/>
              <a:t>Solid State storage</a:t>
            </a:r>
          </a:p>
          <a:p>
            <a:r>
              <a:rPr lang="en-US" altLang="en-US" sz="1500" dirty="0"/>
              <a:t>Memory-resident databases</a:t>
            </a:r>
          </a:p>
          <a:p>
            <a:endParaRPr lang="en-US" altLang="en-US" sz="1500" dirty="0"/>
          </a:p>
          <a:p>
            <a:r>
              <a:rPr lang="en-US" altLang="en-US" sz="1500" dirty="0"/>
              <a:t>Opportunity to revisit, refactor</a:t>
            </a:r>
          </a:p>
          <a:p>
            <a:pPr lvl="1"/>
            <a:r>
              <a:rPr lang="en-US" altLang="en-US" sz="1500" dirty="0"/>
              <a:t>Not just the monolithic relational DBMS of the book</a:t>
            </a:r>
          </a:p>
          <a:p>
            <a:pPr lvl="1"/>
            <a:r>
              <a:rPr lang="en-US" altLang="en-US" sz="1500" dirty="0"/>
              <a:t>Maybe disk seek is free</a:t>
            </a:r>
          </a:p>
          <a:p>
            <a:pPr lvl="1"/>
            <a:r>
              <a:rPr lang="en-US" altLang="en-US" sz="1500" dirty="0"/>
              <a:t>Maybe </a:t>
            </a:r>
            <a:r>
              <a:rPr lang="en-US" altLang="en-US" sz="1500" dirty="0" smtClean="0"/>
              <a:t>queries involve relational AND linear algebra</a:t>
            </a:r>
            <a:endParaRPr lang="en-US" altLang="en-US" sz="1500" dirty="0"/>
          </a:p>
          <a:p>
            <a:pPr lvl="1"/>
            <a:r>
              <a:rPr lang="en-US" altLang="en-US" sz="1500" dirty="0"/>
              <a:t>Maybe there’s lots of room for multiple versions of data</a:t>
            </a:r>
          </a:p>
          <a:p>
            <a:pPr lvl="1"/>
            <a:r>
              <a:rPr lang="en-US" altLang="en-US" sz="1500" dirty="0"/>
              <a:t>Etc. Etc.</a:t>
            </a:r>
          </a:p>
          <a:p>
            <a:r>
              <a:rPr lang="en-US" altLang="en-US" sz="1500" dirty="0"/>
              <a:t>You’ve been trained to roll with—and drive—the change!</a:t>
            </a:r>
          </a:p>
          <a:p>
            <a:pPr lvl="1"/>
            <a:r>
              <a:rPr lang="en-US" altLang="en-US" sz="1500" dirty="0">
                <a:solidFill>
                  <a:schemeClr val="accent1">
                    <a:lumMod val="75000"/>
                  </a:schemeClr>
                </a:solidFill>
              </a:rPr>
              <a:t>Well-grounded and open-minded</a:t>
            </a:r>
            <a:r>
              <a:rPr lang="en-US" altLang="en-US" sz="1500" dirty="0"/>
              <a:t>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5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267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You Have Enormous Value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686800" cy="3394472"/>
          </a:xfrm>
        </p:spPr>
        <p:txBody>
          <a:bodyPr/>
          <a:lstStyle/>
          <a:p>
            <a:r>
              <a:rPr lang="en-US" altLang="en-US" sz="2100" dirty="0"/>
              <a:t>Job market</a:t>
            </a:r>
          </a:p>
          <a:p>
            <a:pPr lvl="1"/>
            <a:r>
              <a:rPr lang="en-US" altLang="en-US" dirty="0"/>
              <a:t>McKinsey Big Data Report, 2011:</a:t>
            </a:r>
          </a:p>
          <a:p>
            <a:pPr lvl="2"/>
            <a:r>
              <a:rPr lang="en-US" altLang="en-US" sz="1500" dirty="0"/>
              <a:t>“The US alone faces a shortage of 140,000 to 190,000 people with deep analytical skills as well as 1.5 million managers and analysts to analyze big data and make decisions based on their findings.”</a:t>
            </a:r>
          </a:p>
          <a:p>
            <a:pPr lvl="1"/>
            <a:r>
              <a:rPr lang="en-US" altLang="en-US" dirty="0"/>
              <a:t>Choose your own adventure!</a:t>
            </a:r>
          </a:p>
          <a:p>
            <a:pPr lvl="2"/>
            <a:r>
              <a:rPr lang="en-US" altLang="en-US" sz="1500" dirty="0"/>
              <a:t>Engineering, entrepreneurship, sales, marketing, ops, mgmt., </a:t>
            </a:r>
            <a:r>
              <a:rPr lang="en-US" altLang="en-US" sz="1500" dirty="0" err="1"/>
              <a:t>etc</a:t>
            </a:r>
            <a:endParaRPr lang="en-US" altLang="en-US" sz="1500" dirty="0"/>
          </a:p>
          <a:p>
            <a:pPr lvl="2"/>
            <a:r>
              <a:rPr lang="en-US" altLang="en-US" sz="1500" dirty="0"/>
              <a:t>systems, applications, data science, …</a:t>
            </a:r>
          </a:p>
          <a:p>
            <a:pPr lvl="2"/>
            <a:r>
              <a:rPr lang="en-US" altLang="en-US" sz="1500" dirty="0"/>
              <a:t>big SW firms, web services, startups, corporations, application domains… it’s all Data!</a:t>
            </a:r>
            <a:endParaRPr lang="en-US" sz="1500" dirty="0">
              <a:hlinkClick r:id="rId2"/>
            </a:endParaRPr>
          </a:p>
          <a:p>
            <a:pPr lvl="2"/>
            <a:endParaRPr lang="en-US" altLang="en-US" sz="15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019550"/>
            <a:ext cx="840154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1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You Have Enormous Potential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500" dirty="0"/>
              <a:t>Graduate school </a:t>
            </a:r>
          </a:p>
          <a:p>
            <a:pPr lvl="1"/>
            <a:r>
              <a:rPr lang="en-US" altLang="en-US" sz="1500" dirty="0"/>
              <a:t>DBs &amp; Data Science now at many top grad programs</a:t>
            </a:r>
          </a:p>
          <a:p>
            <a:pPr lvl="1"/>
            <a:r>
              <a:rPr lang="en-US" altLang="en-US" sz="1500" dirty="0"/>
              <a:t>Exciting crossover to other areas</a:t>
            </a:r>
          </a:p>
          <a:p>
            <a:endParaRPr lang="en-US" altLang="en-US" sz="1500" dirty="0"/>
          </a:p>
          <a:p>
            <a:pPr marL="342900" lvl="1" indent="0">
              <a:buNone/>
            </a:pP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71459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You Have Enormous Potential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500" dirty="0"/>
              <a:t>Graduate school </a:t>
            </a:r>
          </a:p>
          <a:p>
            <a:pPr lvl="1"/>
            <a:r>
              <a:rPr lang="en-US" altLang="en-US" sz="1500" dirty="0"/>
              <a:t>DBs &amp; Data Science now at many top grad programs</a:t>
            </a:r>
          </a:p>
          <a:p>
            <a:pPr lvl="1"/>
            <a:r>
              <a:rPr lang="en-US" altLang="en-US" sz="1500" dirty="0"/>
              <a:t>Exciting crossover to other areas</a:t>
            </a:r>
          </a:p>
          <a:p>
            <a:endParaRPr lang="en-US" altLang="en-US" sz="1500" dirty="0"/>
          </a:p>
          <a:p>
            <a:r>
              <a:rPr lang="en-US" altLang="en-US" sz="1500" dirty="0"/>
              <a:t>Get involved</a:t>
            </a:r>
          </a:p>
          <a:p>
            <a:pPr lvl="1"/>
            <a:r>
              <a:rPr lang="en-US" altLang="en-US" sz="1500" dirty="0"/>
              <a:t>DataKind.org</a:t>
            </a:r>
          </a:p>
          <a:p>
            <a:pPr lvl="1"/>
            <a:r>
              <a:rPr lang="en-US" altLang="en-US" sz="1500" dirty="0"/>
              <a:t>CodeForAmerica.org</a:t>
            </a:r>
          </a:p>
          <a:p>
            <a:pPr lvl="1"/>
            <a:r>
              <a:rPr lang="en-US" altLang="en-US" sz="1500" dirty="0"/>
              <a:t>Data.gov</a:t>
            </a:r>
          </a:p>
          <a:p>
            <a:pPr marL="342900" lvl="1" indent="0">
              <a:buNone/>
            </a:pPr>
            <a:endParaRPr lang="en-US" altLang="en-US" sz="1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782616"/>
            <a:ext cx="3502336" cy="1360884"/>
          </a:xfrm>
          <a:prstGeom prst="rect">
            <a:avLst/>
          </a:prstGeom>
        </p:spPr>
      </p:pic>
      <p:pic>
        <p:nvPicPr>
          <p:cNvPr id="2050" name="Picture 2" descr="https://i.ytimg.com/vi/AHfxmdsJNyc/maxres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885" y="2914650"/>
            <a:ext cx="2541814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306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“More, more I’m still not satisfied”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100" dirty="0"/>
              <a:t>Watch for 194’s and Data Science courses</a:t>
            </a:r>
          </a:p>
          <a:p>
            <a:pPr lvl="1"/>
            <a:r>
              <a:rPr lang="en-US" altLang="en-US" dirty="0"/>
              <a:t>Data Science 100 could be appropriate</a:t>
            </a:r>
          </a:p>
          <a:p>
            <a:pPr lvl="1"/>
            <a:r>
              <a:rPr lang="en-US" altLang="en-US" dirty="0"/>
              <a:t>Data Science 101 under design</a:t>
            </a:r>
          </a:p>
          <a:p>
            <a:endParaRPr lang="en-US" altLang="en-US" sz="2100" dirty="0"/>
          </a:p>
          <a:p>
            <a:r>
              <a:rPr lang="en-US" altLang="en-US" sz="2100" dirty="0"/>
              <a:t>Grad classes @ Berkeley</a:t>
            </a:r>
          </a:p>
          <a:p>
            <a:pPr lvl="1"/>
            <a:r>
              <a:rPr lang="en-US" altLang="en-US" dirty="0" smtClean="0"/>
              <a:t>CS262A: </a:t>
            </a:r>
            <a:r>
              <a:rPr lang="en-US" altLang="en-US" dirty="0"/>
              <a:t>grad level intro to DBMS and OS</a:t>
            </a:r>
          </a:p>
          <a:p>
            <a:pPr lvl="1"/>
            <a:r>
              <a:rPr lang="en-US" altLang="en-US" dirty="0"/>
              <a:t>CS286B: grad DB class (maybe next year?)</a:t>
            </a:r>
          </a:p>
          <a:p>
            <a:pPr lvl="1"/>
            <a:r>
              <a:rPr lang="en-US" altLang="en-US" dirty="0"/>
              <a:t>Keep eyes open for new grad seminars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837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d2ugc72pobmxtr.cloudfront.net/i/2f0ea3ad-3e23-4fd8-aec1-c04c243c8e00-vision.jpg?which=url_ful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4"/>
          <a:stretch/>
        </p:blipFill>
        <p:spPr bwMode="auto">
          <a:xfrm>
            <a:off x="4513218" y="0"/>
            <a:ext cx="3487782" cy="5286375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  <p:sp>
        <p:nvSpPr>
          <p:cNvPr id="6" name="Rectangle 5"/>
          <p:cNvSpPr/>
          <p:nvPr/>
        </p:nvSpPr>
        <p:spPr bwMode="auto">
          <a:xfrm>
            <a:off x="3944092" y="0"/>
            <a:ext cx="4056908" cy="5143500"/>
          </a:xfrm>
          <a:prstGeom prst="rect">
            <a:avLst/>
          </a:prstGeom>
          <a:solidFill>
            <a:srgbClr val="FFFFFF">
              <a:alpha val="56078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CF0E30"/>
              </a:solidFill>
              <a:latin typeface="Book Antiqua" pitchFamily="1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sz="1800" dirty="0"/>
              <a:t>Your Amazing (U)GSIs</a:t>
            </a:r>
          </a:p>
          <a:p>
            <a:pPr lvl="1"/>
            <a:r>
              <a:rPr lang="en-US" sz="1500" dirty="0" smtClean="0"/>
              <a:t>Jason Dai</a:t>
            </a:r>
          </a:p>
          <a:p>
            <a:pPr lvl="1"/>
            <a:r>
              <a:rPr lang="en-US" sz="1500" dirty="0" smtClean="0"/>
              <a:t>Brian </a:t>
            </a:r>
            <a:r>
              <a:rPr lang="en-US" sz="1500" dirty="0" err="1" smtClean="0"/>
              <a:t>DeLeonardis</a:t>
            </a:r>
            <a:endParaRPr lang="en-US" sz="1500" dirty="0" smtClean="0"/>
          </a:p>
          <a:p>
            <a:pPr lvl="1"/>
            <a:r>
              <a:rPr lang="en-US" sz="1500" dirty="0" smtClean="0"/>
              <a:t>Jamie </a:t>
            </a:r>
            <a:r>
              <a:rPr lang="en-US" sz="1500" dirty="0" err="1" smtClean="0"/>
              <a:t>Gu</a:t>
            </a:r>
            <a:endParaRPr lang="en-US" sz="1500" dirty="0" smtClean="0"/>
          </a:p>
          <a:p>
            <a:pPr lvl="1"/>
            <a:r>
              <a:rPr lang="en-US" sz="1500" dirty="0" err="1" smtClean="0"/>
              <a:t>Lakshya</a:t>
            </a:r>
            <a:r>
              <a:rPr lang="en-US" sz="1500" dirty="0" smtClean="0"/>
              <a:t> Jain</a:t>
            </a:r>
          </a:p>
          <a:p>
            <a:pPr lvl="1"/>
            <a:r>
              <a:rPr lang="en-US" sz="1500" dirty="0" smtClean="0"/>
              <a:t>Benjamin </a:t>
            </a:r>
            <a:r>
              <a:rPr lang="en-US" sz="1500" dirty="0" err="1" smtClean="0"/>
              <a:t>Kha</a:t>
            </a:r>
            <a:endParaRPr lang="en-US" sz="1500" dirty="0" smtClean="0"/>
          </a:p>
          <a:p>
            <a:pPr lvl="1"/>
            <a:r>
              <a:rPr lang="en-US" sz="1500" dirty="0" smtClean="0"/>
              <a:t>Kimmy </a:t>
            </a:r>
            <a:r>
              <a:rPr lang="en-US" sz="1500" dirty="0" err="1" smtClean="0"/>
              <a:t>Ko</a:t>
            </a:r>
            <a:endParaRPr lang="en-US" sz="1500" dirty="0" smtClean="0"/>
          </a:p>
          <a:p>
            <a:pPr lvl="1"/>
            <a:r>
              <a:rPr lang="en-US" sz="1500" dirty="0" smtClean="0"/>
              <a:t>Daphne </a:t>
            </a:r>
            <a:r>
              <a:rPr lang="en-US" sz="1500" dirty="0" err="1" smtClean="0"/>
              <a:t>Nhuch</a:t>
            </a:r>
            <a:endParaRPr lang="en-US" sz="1500" dirty="0"/>
          </a:p>
          <a:p>
            <a:pPr lvl="1"/>
            <a:r>
              <a:rPr lang="en-US" sz="1500" dirty="0" smtClean="0"/>
              <a:t>Eric Sheng</a:t>
            </a:r>
          </a:p>
          <a:p>
            <a:pPr lvl="1"/>
            <a:r>
              <a:rPr lang="en-US" sz="1500" dirty="0" err="1" smtClean="0"/>
              <a:t>Yawen</a:t>
            </a:r>
            <a:r>
              <a:rPr lang="en-US" sz="1500" dirty="0" smtClean="0"/>
              <a:t> (Sabrina) Sun</a:t>
            </a:r>
          </a:p>
          <a:p>
            <a:pPr lvl="1"/>
            <a:r>
              <a:rPr lang="en-US" sz="1500" dirty="0" smtClean="0"/>
              <a:t>Kimberly </a:t>
            </a:r>
            <a:r>
              <a:rPr lang="en-US" sz="1500" dirty="0" err="1" smtClean="0"/>
              <a:t>Zai</a:t>
            </a:r>
            <a:endParaRPr lang="en-US" sz="1500" dirty="0"/>
          </a:p>
          <a:p>
            <a:pPr lvl="1"/>
            <a:endParaRPr lang="en-US" sz="1500" dirty="0"/>
          </a:p>
          <a:p>
            <a:pPr lvl="1"/>
            <a:endParaRPr lang="en-US" sz="1500" dirty="0"/>
          </a:p>
          <a:p>
            <a:r>
              <a:rPr lang="en-US" sz="1800" dirty="0" smtClean="0"/>
              <a:t>They’ll be back!</a:t>
            </a:r>
          </a:p>
          <a:p>
            <a:r>
              <a:rPr lang="en-US" sz="1800" dirty="0"/>
              <a:t>F</a:t>
            </a:r>
            <a:r>
              <a:rPr lang="en-US" sz="1800" dirty="0" smtClean="0"/>
              <a:t>ollow </a:t>
            </a:r>
            <a:r>
              <a:rPr lang="en-US" sz="1800" dirty="0"/>
              <a:t>in their footsteps!</a:t>
            </a:r>
          </a:p>
          <a:p>
            <a:pPr lvl="1"/>
            <a:endParaRPr lang="en-US" sz="15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69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Parting Thoughts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1371600" y="1200150"/>
            <a:ext cx="6019800" cy="3394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400" i="1" dirty="0"/>
              <a:t>Education is the ability to listen to almost anything without losing your temper or your self-confidence.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-Robert Frost </a:t>
            </a:r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r>
              <a:rPr lang="en-US" altLang="en-US" sz="1400" i="1" dirty="0"/>
              <a:t>It is a miracle that curiosity survives formal education.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-Albert Einstein </a:t>
            </a:r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r>
              <a:rPr lang="en-US" altLang="en-US" sz="1400" i="1" dirty="0"/>
              <a:t>Humility...yet pride and scorn;</a:t>
            </a:r>
            <a:br>
              <a:rPr lang="en-US" altLang="en-US" sz="1400" i="1" dirty="0"/>
            </a:br>
            <a:r>
              <a:rPr lang="en-US" altLang="en-US" sz="1400" i="1" dirty="0"/>
              <a:t>Instinct and study; love and hate;</a:t>
            </a:r>
            <a:br>
              <a:rPr lang="en-US" altLang="en-US" sz="1400" i="1" dirty="0"/>
            </a:br>
            <a:r>
              <a:rPr lang="en-US" altLang="en-US" sz="1400" i="1" dirty="0"/>
              <a:t>Audacity...reverence.  These must mate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-Herman Melville, </a:t>
            </a:r>
            <a:r>
              <a:rPr lang="en-US" altLang="en-US" sz="1400" i="1" dirty="0"/>
              <a:t>Art</a:t>
            </a:r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r>
              <a:rPr lang="en-US" altLang="en-US" sz="1400" i="1" dirty="0"/>
              <a:t>The only thing one can do with good advice is to pass it on. It is never of any use to oneself.</a:t>
            </a:r>
            <a:r>
              <a:rPr lang="en-US" altLang="en-US" sz="1400" dirty="0"/>
              <a:t/>
            </a:r>
            <a:br>
              <a:rPr lang="en-US" altLang="en-US" sz="1400" dirty="0"/>
            </a:br>
            <a:r>
              <a:rPr lang="en-US" altLang="en-US" sz="1400" dirty="0"/>
              <a:t>-Oscar Wilde </a:t>
            </a:r>
          </a:p>
          <a:p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37715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657350" y="4686300"/>
            <a:ext cx="14287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700" b="0">
              <a:solidFill>
                <a:srgbClr val="CF0E30"/>
              </a:solidFill>
              <a:latin typeface="Book Antiqua" panose="02040602050305030304" pitchFamily="18" charset="0"/>
            </a:endParaRP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486150" y="4686300"/>
            <a:ext cx="2171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700" b="0">
              <a:solidFill>
                <a:srgbClr val="CF0E30"/>
              </a:solidFill>
              <a:latin typeface="Book Antiqua" panose="02040602050305030304" pitchFamily="18" charset="0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smtClean="0"/>
              <a:t>Commit*</a:t>
            </a:r>
            <a:br>
              <a:rPr lang="en-US" altLang="en-US" sz="3200" smtClean="0"/>
            </a:br>
            <a:r>
              <a:rPr lang="en-US" altLang="en-US" sz="3200" smtClean="0"/>
              <a:t>End </a:t>
            </a:r>
            <a:r>
              <a:rPr lang="en-US" altLang="en-US" sz="3200" dirty="0"/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635427750"/>
      </p:ext>
    </p:extLst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CEBAC97C-41B9-7340-8D0A-3D484B4F5702}"/>
    </a:ext>
  </a:extLst>
</a:theme>
</file>

<file path=ppt/theme/theme2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541B27"/>
      </a:dk2>
      <a:lt2>
        <a:srgbClr val="AACDCA"/>
      </a:lt2>
      <a:accent1>
        <a:srgbClr val="D72C2F"/>
      </a:accent1>
      <a:accent2>
        <a:srgbClr val="44516F"/>
      </a:accent2>
      <a:accent3>
        <a:srgbClr val="79C6C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07066D9F-7382-EB44-B453-DDAD9AB5CA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Words>1080</Words>
  <Application>Microsoft Macintosh PowerPoint</Application>
  <PresentationFormat>On-screen Show (16:9)</PresentationFormat>
  <Paragraphs>318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Book Antiqua</vt:lpstr>
      <vt:lpstr>Calibri</vt:lpstr>
      <vt:lpstr>Calibri Light</vt:lpstr>
      <vt:lpstr>Century Gothic</vt:lpstr>
      <vt:lpstr>Gill Sans</vt:lpstr>
      <vt:lpstr>Helvetica</vt:lpstr>
      <vt:lpstr>Helvetica Neue</vt:lpstr>
      <vt:lpstr>MS PGothic</vt:lpstr>
      <vt:lpstr>ＭＳ Ｐゴシック</vt:lpstr>
      <vt:lpstr>Times New Roman</vt:lpstr>
      <vt:lpstr>Wingdings</vt:lpstr>
      <vt:lpstr>Arial</vt:lpstr>
      <vt:lpstr>Custom Design</vt:lpstr>
      <vt:lpstr>Office Theme</vt:lpstr>
      <vt:lpstr>Closing Thoughts</vt:lpstr>
      <vt:lpstr>Administrative Announcements</vt:lpstr>
      <vt:lpstr>Lessons</vt:lpstr>
      <vt:lpstr>What did we learn?</vt:lpstr>
      <vt:lpstr>Data is at the center of everything</vt:lpstr>
      <vt:lpstr>Data is at the center of everything</vt:lpstr>
      <vt:lpstr>PowerPoint Presentation</vt:lpstr>
      <vt:lpstr>Scaling across the memory hierarchy: to Pluto and beyond</vt:lpstr>
      <vt:lpstr>Spanning Decades of Technology</vt:lpstr>
      <vt:lpstr>The central concept of Rendezvous</vt:lpstr>
      <vt:lpstr>PowerPoint Presentation</vt:lpstr>
      <vt:lpstr>Together We Unpacked a  Data System  and  Explored Modular System Design</vt:lpstr>
      <vt:lpstr>Abstraction at Each Level</vt:lpstr>
      <vt:lpstr>We Studied Data Layout, Indexes, Caching</vt:lpstr>
      <vt:lpstr>We Learned How to Index Stored Data</vt:lpstr>
      <vt:lpstr>We Learned How to Index Stored Data</vt:lpstr>
      <vt:lpstr>We Learned How to Index Stored Data</vt:lpstr>
      <vt:lpstr>We Learned about Dataflow:  Algebra and Architecture</vt:lpstr>
      <vt:lpstr>We Learned about Dataflow:  Algebra and Architecture</vt:lpstr>
      <vt:lpstr>We Bridged from What to How</vt:lpstr>
      <vt:lpstr>We Bridged from What to How</vt:lpstr>
      <vt:lpstr>We Bridged from What to How</vt:lpstr>
      <vt:lpstr>Schema Design… for when it  needs to be right </vt:lpstr>
      <vt:lpstr>We Mastered Controlled Disorder with Transactions</vt:lpstr>
      <vt:lpstr>We Mastered Controlled Disorder with Transactions</vt:lpstr>
      <vt:lpstr>Went through WAL and  3-step Recovery Program </vt:lpstr>
      <vt:lpstr>Introduced to Massive Scaling</vt:lpstr>
      <vt:lpstr>What is it all for?</vt:lpstr>
      <vt:lpstr>All of CS is moving to Data Thinking</vt:lpstr>
      <vt:lpstr>All of Everything is moving to Data</vt:lpstr>
      <vt:lpstr>What you learned was a snapshot</vt:lpstr>
      <vt:lpstr>Changes Ahead</vt:lpstr>
      <vt:lpstr>You Have Enormous Value</vt:lpstr>
      <vt:lpstr>You Have Enormous Potential</vt:lpstr>
      <vt:lpstr>You Have Enormous Potential</vt:lpstr>
      <vt:lpstr>“More, more I’m still not satisfied”</vt:lpstr>
      <vt:lpstr>Special Thanks</vt:lpstr>
      <vt:lpstr>Parting Thoughts</vt:lpstr>
      <vt:lpstr>Commit* End Transaction</vt:lpstr>
    </vt:vector>
  </TitlesOfParts>
  <Manager/>
  <Company/>
  <LinksUpToDate>false</LinksUpToDate>
  <SharedDoc>false</SharedDoc>
  <HyperlinkBase/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Name of Course</dc:subject>
  <dc:creator>Daphne Nhuch</dc:creator>
  <cp:keywords/>
  <dc:description/>
  <cp:lastModifiedBy>Joseph Hellerstein</cp:lastModifiedBy>
  <cp:revision>117</cp:revision>
  <dcterms:created xsi:type="dcterms:W3CDTF">2018-03-13T04:30:50Z</dcterms:created>
  <dcterms:modified xsi:type="dcterms:W3CDTF">2018-11-29T22:55:33Z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</Properties>
</file>